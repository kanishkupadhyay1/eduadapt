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  <p:sldId id="382" r:id="rId127"/>
    <p:sldId id="383" r:id="rId128"/>
    <p:sldId id="384" r:id="rId129"/>
    <p:sldId id="385" r:id="rId130"/>
    <p:sldId id="386" r:id="rId131"/>
    <p:sldId id="387" r:id="rId132"/>
    <p:sldId id="388" r:id="rId133"/>
    <p:sldId id="389" r:id="rId134"/>
    <p:sldId id="390" r:id="rId135"/>
    <p:sldId id="391" r:id="rId136"/>
    <p:sldId id="392" r:id="rId137"/>
    <p:sldId id="393" r:id="rId138"/>
    <p:sldId id="394" r:id="rId139"/>
    <p:sldId id="395" r:id="rId140"/>
    <p:sldId id="396" r:id="rId141"/>
    <p:sldId id="397" r:id="rId142"/>
    <p:sldId id="398" r:id="rId143"/>
    <p:sldId id="399" r:id="rId144"/>
    <p:sldId id="400" r:id="rId145"/>
    <p:sldId id="401" r:id="rId146"/>
    <p:sldId id="402" r:id="rId147"/>
    <p:sldId id="403" r:id="rId148"/>
    <p:sldId id="404" r:id="rId149"/>
    <p:sldId id="405" r:id="rId150"/>
    <p:sldId id="406" r:id="rId151"/>
    <p:sldId id="407" r:id="rId152"/>
    <p:sldId id="408" r:id="rId153"/>
    <p:sldId id="409" r:id="rId154"/>
    <p:sldId id="410" r:id="rId155"/>
    <p:sldId id="411" r:id="rId156"/>
    <p:sldId id="412" r:id="rId157"/>
    <p:sldId id="417" r:id="rId158"/>
    <p:sldId id="418" r:id="rId159"/>
    <p:sldId id="419" r:id="rId160"/>
    <p:sldId id="420" r:id="rId161"/>
    <p:sldId id="421" r:id="rId162"/>
    <p:sldId id="422" r:id="rId163"/>
    <p:sldId id="423" r:id="rId164"/>
    <p:sldId id="424" r:id="rId165"/>
    <p:sldId id="425" r:id="rId166"/>
    <p:sldId id="426" r:id="rId167"/>
    <p:sldId id="427" r:id="rId168"/>
    <p:sldId id="428" r:id="rId169"/>
    <p:sldId id="429" r:id="rId170"/>
    <p:sldId id="430" r:id="rId171"/>
    <p:sldId id="431" r:id="rId172"/>
    <p:sldId id="432" r:id="rId173"/>
    <p:sldId id="433" r:id="rId174"/>
    <p:sldId id="434" r:id="rId175"/>
    <p:sldId id="435" r:id="rId176"/>
    <p:sldId id="436" r:id="rId177"/>
    <p:sldId id="437" r:id="rId178"/>
    <p:sldId id="438" r:id="rId179"/>
    <p:sldId id="439" r:id="rId180"/>
    <p:sldId id="440" r:id="rId181"/>
    <p:sldId id="441" r:id="rId182"/>
    <p:sldId id="442" r:id="rId183"/>
    <p:sldId id="443" r:id="rId184"/>
    <p:sldId id="444" r:id="rId185"/>
    <p:sldId id="445" r:id="rId186"/>
    <p:sldId id="446" r:id="rId187"/>
    <p:sldId id="447" r:id="rId188"/>
    <p:sldId id="448" r:id="rId189"/>
    <p:sldId id="449" r:id="rId190"/>
    <p:sldId id="450" r:id="rId191"/>
    <p:sldId id="451" r:id="rId192"/>
    <p:sldId id="452" r:id="rId193"/>
    <p:sldId id="453" r:id="rId194"/>
    <p:sldId id="454" r:id="rId195"/>
    <p:sldId id="455" r:id="rId196"/>
    <p:sldId id="456" r:id="rId197"/>
    <p:sldId id="457" r:id="rId198"/>
    <p:sldId id="458" r:id="rId199"/>
    <p:sldId id="459" r:id="rId200"/>
    <p:sldId id="460" r:id="rId201"/>
    <p:sldId id="461" r:id="rId202"/>
    <p:sldId id="462" r:id="rId203"/>
    <p:sldId id="463" r:id="rId204"/>
    <p:sldId id="464" r:id="rId205"/>
    <p:sldId id="465" r:id="rId206"/>
    <p:sldId id="466" r:id="rId207"/>
    <p:sldId id="468" r:id="rId20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109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1" Type="http://schemas.openxmlformats.org/officeDocument/2006/relationships/tableStyles" Target="tableStyles.xml"/><Relationship Id="rId210" Type="http://schemas.openxmlformats.org/officeDocument/2006/relationships/viewProps" Target="viewProps.xml"/><Relationship Id="rId21" Type="http://schemas.openxmlformats.org/officeDocument/2006/relationships/slide" Target="slides/slide19.xml"/><Relationship Id="rId209" Type="http://schemas.openxmlformats.org/officeDocument/2006/relationships/presProps" Target="presProps.xml"/><Relationship Id="rId208" Type="http://schemas.openxmlformats.org/officeDocument/2006/relationships/slide" Target="slides/slide206.xml"/><Relationship Id="rId207" Type="http://schemas.openxmlformats.org/officeDocument/2006/relationships/slide" Target="slides/slide205.xml"/><Relationship Id="rId206" Type="http://schemas.openxmlformats.org/officeDocument/2006/relationships/slide" Target="slides/slide204.xml"/><Relationship Id="rId205" Type="http://schemas.openxmlformats.org/officeDocument/2006/relationships/slide" Target="slides/slide203.xml"/><Relationship Id="rId204" Type="http://schemas.openxmlformats.org/officeDocument/2006/relationships/slide" Target="slides/slide202.xml"/><Relationship Id="rId203" Type="http://schemas.openxmlformats.org/officeDocument/2006/relationships/slide" Target="slides/slide201.xml"/><Relationship Id="rId202" Type="http://schemas.openxmlformats.org/officeDocument/2006/relationships/slide" Target="slides/slide200.xml"/><Relationship Id="rId201" Type="http://schemas.openxmlformats.org/officeDocument/2006/relationships/slide" Target="slides/slide199.xml"/><Relationship Id="rId200" Type="http://schemas.openxmlformats.org/officeDocument/2006/relationships/slide" Target="slides/slide198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9" Type="http://schemas.openxmlformats.org/officeDocument/2006/relationships/slide" Target="slides/slide197.xml"/><Relationship Id="rId198" Type="http://schemas.openxmlformats.org/officeDocument/2006/relationships/slide" Target="slides/slide196.xml"/><Relationship Id="rId197" Type="http://schemas.openxmlformats.org/officeDocument/2006/relationships/slide" Target="slides/slide195.xml"/><Relationship Id="rId196" Type="http://schemas.openxmlformats.org/officeDocument/2006/relationships/slide" Target="slides/slide194.xml"/><Relationship Id="rId195" Type="http://schemas.openxmlformats.org/officeDocument/2006/relationships/slide" Target="slides/slide193.xml"/><Relationship Id="rId194" Type="http://schemas.openxmlformats.org/officeDocument/2006/relationships/slide" Target="slides/slide192.xml"/><Relationship Id="rId193" Type="http://schemas.openxmlformats.org/officeDocument/2006/relationships/slide" Target="slides/slide191.xml"/><Relationship Id="rId192" Type="http://schemas.openxmlformats.org/officeDocument/2006/relationships/slide" Target="slides/slide190.xml"/><Relationship Id="rId191" Type="http://schemas.openxmlformats.org/officeDocument/2006/relationships/slide" Target="slides/slide189.xml"/><Relationship Id="rId190" Type="http://schemas.openxmlformats.org/officeDocument/2006/relationships/slide" Target="slides/slide188.xml"/><Relationship Id="rId19" Type="http://schemas.openxmlformats.org/officeDocument/2006/relationships/slide" Target="slides/slide17.xml"/><Relationship Id="rId189" Type="http://schemas.openxmlformats.org/officeDocument/2006/relationships/slide" Target="slides/slide187.xml"/><Relationship Id="rId188" Type="http://schemas.openxmlformats.org/officeDocument/2006/relationships/slide" Target="slides/slide186.xml"/><Relationship Id="rId187" Type="http://schemas.openxmlformats.org/officeDocument/2006/relationships/slide" Target="slides/slide185.xml"/><Relationship Id="rId186" Type="http://schemas.openxmlformats.org/officeDocument/2006/relationships/slide" Target="slides/slide184.xml"/><Relationship Id="rId185" Type="http://schemas.openxmlformats.org/officeDocument/2006/relationships/slide" Target="slides/slide183.xml"/><Relationship Id="rId184" Type="http://schemas.openxmlformats.org/officeDocument/2006/relationships/slide" Target="slides/slide182.xml"/><Relationship Id="rId183" Type="http://schemas.openxmlformats.org/officeDocument/2006/relationships/slide" Target="slides/slide181.xml"/><Relationship Id="rId182" Type="http://schemas.openxmlformats.org/officeDocument/2006/relationships/slide" Target="slides/slide180.xml"/><Relationship Id="rId181" Type="http://schemas.openxmlformats.org/officeDocument/2006/relationships/slide" Target="slides/slide179.xml"/><Relationship Id="rId180" Type="http://schemas.openxmlformats.org/officeDocument/2006/relationships/slide" Target="slides/slide178.xml"/><Relationship Id="rId18" Type="http://schemas.openxmlformats.org/officeDocument/2006/relationships/slide" Target="slides/slide16.xml"/><Relationship Id="rId179" Type="http://schemas.openxmlformats.org/officeDocument/2006/relationships/slide" Target="slides/slide177.xml"/><Relationship Id="rId178" Type="http://schemas.openxmlformats.org/officeDocument/2006/relationships/slide" Target="slides/slide176.xml"/><Relationship Id="rId177" Type="http://schemas.openxmlformats.org/officeDocument/2006/relationships/slide" Target="slides/slide175.xml"/><Relationship Id="rId176" Type="http://schemas.openxmlformats.org/officeDocument/2006/relationships/slide" Target="slides/slide174.xml"/><Relationship Id="rId175" Type="http://schemas.openxmlformats.org/officeDocument/2006/relationships/slide" Target="slides/slide173.xml"/><Relationship Id="rId174" Type="http://schemas.openxmlformats.org/officeDocument/2006/relationships/slide" Target="slides/slide172.xml"/><Relationship Id="rId173" Type="http://schemas.openxmlformats.org/officeDocument/2006/relationships/slide" Target="slides/slide171.xml"/><Relationship Id="rId172" Type="http://schemas.openxmlformats.org/officeDocument/2006/relationships/slide" Target="slides/slide170.xml"/><Relationship Id="rId171" Type="http://schemas.openxmlformats.org/officeDocument/2006/relationships/slide" Target="slides/slide169.xml"/><Relationship Id="rId170" Type="http://schemas.openxmlformats.org/officeDocument/2006/relationships/slide" Target="slides/slide168.xml"/><Relationship Id="rId17" Type="http://schemas.openxmlformats.org/officeDocument/2006/relationships/slide" Target="slides/slide15.xml"/><Relationship Id="rId169" Type="http://schemas.openxmlformats.org/officeDocument/2006/relationships/slide" Target="slides/slide167.xml"/><Relationship Id="rId168" Type="http://schemas.openxmlformats.org/officeDocument/2006/relationships/slide" Target="slides/slide166.xml"/><Relationship Id="rId167" Type="http://schemas.openxmlformats.org/officeDocument/2006/relationships/slide" Target="slides/slide165.xml"/><Relationship Id="rId166" Type="http://schemas.openxmlformats.org/officeDocument/2006/relationships/slide" Target="slides/slide164.xml"/><Relationship Id="rId165" Type="http://schemas.openxmlformats.org/officeDocument/2006/relationships/slide" Target="slides/slide163.xml"/><Relationship Id="rId164" Type="http://schemas.openxmlformats.org/officeDocument/2006/relationships/slide" Target="slides/slide162.xml"/><Relationship Id="rId163" Type="http://schemas.openxmlformats.org/officeDocument/2006/relationships/slide" Target="slides/slide161.xml"/><Relationship Id="rId162" Type="http://schemas.openxmlformats.org/officeDocument/2006/relationships/slide" Target="slides/slide160.xml"/><Relationship Id="rId161" Type="http://schemas.openxmlformats.org/officeDocument/2006/relationships/slide" Target="slides/slide159.xml"/><Relationship Id="rId160" Type="http://schemas.openxmlformats.org/officeDocument/2006/relationships/slide" Target="slides/slide158.xml"/><Relationship Id="rId16" Type="http://schemas.openxmlformats.org/officeDocument/2006/relationships/slide" Target="slides/slide14.xml"/><Relationship Id="rId159" Type="http://schemas.openxmlformats.org/officeDocument/2006/relationships/slide" Target="slides/slide157.xml"/><Relationship Id="rId158" Type="http://schemas.openxmlformats.org/officeDocument/2006/relationships/slide" Target="slides/slide156.xml"/><Relationship Id="rId157" Type="http://schemas.openxmlformats.org/officeDocument/2006/relationships/slide" Target="slides/slide155.xml"/><Relationship Id="rId156" Type="http://schemas.openxmlformats.org/officeDocument/2006/relationships/slide" Target="slides/slide154.xml"/><Relationship Id="rId155" Type="http://schemas.openxmlformats.org/officeDocument/2006/relationships/slide" Target="slides/slide153.xml"/><Relationship Id="rId154" Type="http://schemas.openxmlformats.org/officeDocument/2006/relationships/slide" Target="slides/slide152.xml"/><Relationship Id="rId153" Type="http://schemas.openxmlformats.org/officeDocument/2006/relationships/slide" Target="slides/slide151.xml"/><Relationship Id="rId152" Type="http://schemas.openxmlformats.org/officeDocument/2006/relationships/slide" Target="slides/slide150.xml"/><Relationship Id="rId151" Type="http://schemas.openxmlformats.org/officeDocument/2006/relationships/slide" Target="slides/slide149.xml"/><Relationship Id="rId150" Type="http://schemas.openxmlformats.org/officeDocument/2006/relationships/slide" Target="slides/slide148.xml"/><Relationship Id="rId15" Type="http://schemas.openxmlformats.org/officeDocument/2006/relationships/slide" Target="slides/slide13.xml"/><Relationship Id="rId149" Type="http://schemas.openxmlformats.org/officeDocument/2006/relationships/slide" Target="slides/slide147.xml"/><Relationship Id="rId148" Type="http://schemas.openxmlformats.org/officeDocument/2006/relationships/slide" Target="slides/slide146.xml"/><Relationship Id="rId147" Type="http://schemas.openxmlformats.org/officeDocument/2006/relationships/slide" Target="slides/slide145.xml"/><Relationship Id="rId146" Type="http://schemas.openxmlformats.org/officeDocument/2006/relationships/slide" Target="slides/slide144.xml"/><Relationship Id="rId145" Type="http://schemas.openxmlformats.org/officeDocument/2006/relationships/slide" Target="slides/slide143.xml"/><Relationship Id="rId144" Type="http://schemas.openxmlformats.org/officeDocument/2006/relationships/slide" Target="slides/slide142.xml"/><Relationship Id="rId143" Type="http://schemas.openxmlformats.org/officeDocument/2006/relationships/slide" Target="slides/slide141.xml"/><Relationship Id="rId142" Type="http://schemas.openxmlformats.org/officeDocument/2006/relationships/slide" Target="slides/slide140.xml"/><Relationship Id="rId141" Type="http://schemas.openxmlformats.org/officeDocument/2006/relationships/slide" Target="slides/slide139.xml"/><Relationship Id="rId140" Type="http://schemas.openxmlformats.org/officeDocument/2006/relationships/slide" Target="slides/slide138.xml"/><Relationship Id="rId14" Type="http://schemas.openxmlformats.org/officeDocument/2006/relationships/slide" Target="slides/slide12.xml"/><Relationship Id="rId139" Type="http://schemas.openxmlformats.org/officeDocument/2006/relationships/slide" Target="slides/slide137.xml"/><Relationship Id="rId138" Type="http://schemas.openxmlformats.org/officeDocument/2006/relationships/slide" Target="slides/slide136.xml"/><Relationship Id="rId137" Type="http://schemas.openxmlformats.org/officeDocument/2006/relationships/slide" Target="slides/slide135.xml"/><Relationship Id="rId136" Type="http://schemas.openxmlformats.org/officeDocument/2006/relationships/slide" Target="slides/slide134.xml"/><Relationship Id="rId135" Type="http://schemas.openxmlformats.org/officeDocument/2006/relationships/slide" Target="slides/slide133.xml"/><Relationship Id="rId134" Type="http://schemas.openxmlformats.org/officeDocument/2006/relationships/slide" Target="slides/slide132.xml"/><Relationship Id="rId133" Type="http://schemas.openxmlformats.org/officeDocument/2006/relationships/slide" Target="slides/slide131.xml"/><Relationship Id="rId132" Type="http://schemas.openxmlformats.org/officeDocument/2006/relationships/slide" Target="slides/slide130.xml"/><Relationship Id="rId131" Type="http://schemas.openxmlformats.org/officeDocument/2006/relationships/slide" Target="slides/slide129.xml"/><Relationship Id="rId130" Type="http://schemas.openxmlformats.org/officeDocument/2006/relationships/slide" Target="slides/slide128.xml"/><Relationship Id="rId13" Type="http://schemas.openxmlformats.org/officeDocument/2006/relationships/slide" Target="slides/slide11.xml"/><Relationship Id="rId129" Type="http://schemas.openxmlformats.org/officeDocument/2006/relationships/slide" Target="slides/slide127.xml"/><Relationship Id="rId128" Type="http://schemas.openxmlformats.org/officeDocument/2006/relationships/slide" Target="slides/slide126.xml"/><Relationship Id="rId127" Type="http://schemas.openxmlformats.org/officeDocument/2006/relationships/slide" Target="slides/slide125.xml"/><Relationship Id="rId126" Type="http://schemas.openxmlformats.org/officeDocument/2006/relationships/slide" Target="slides/slide124.xml"/><Relationship Id="rId125" Type="http://schemas.openxmlformats.org/officeDocument/2006/relationships/slide" Target="slides/slide123.xml"/><Relationship Id="rId124" Type="http://schemas.openxmlformats.org/officeDocument/2006/relationships/slide" Target="slides/slide122.xml"/><Relationship Id="rId123" Type="http://schemas.openxmlformats.org/officeDocument/2006/relationships/slide" Target="slides/slide121.xml"/><Relationship Id="rId122" Type="http://schemas.openxmlformats.org/officeDocument/2006/relationships/slide" Target="slides/slide120.xml"/><Relationship Id="rId121" Type="http://schemas.openxmlformats.org/officeDocument/2006/relationships/slide" Target="slides/slide119.xml"/><Relationship Id="rId120" Type="http://schemas.openxmlformats.org/officeDocument/2006/relationships/slide" Target="slides/slide118.xml"/><Relationship Id="rId12" Type="http://schemas.openxmlformats.org/officeDocument/2006/relationships/slide" Target="slides/slide10.xml"/><Relationship Id="rId119" Type="http://schemas.openxmlformats.org/officeDocument/2006/relationships/slide" Target="slides/slide117.xml"/><Relationship Id="rId118" Type="http://schemas.openxmlformats.org/officeDocument/2006/relationships/slide" Target="slides/slide116.xml"/><Relationship Id="rId117" Type="http://schemas.openxmlformats.org/officeDocument/2006/relationships/slide" Target="slides/slide115.xml"/><Relationship Id="rId116" Type="http://schemas.openxmlformats.org/officeDocument/2006/relationships/slide" Target="slides/slide114.xml"/><Relationship Id="rId115" Type="http://schemas.openxmlformats.org/officeDocument/2006/relationships/slide" Target="slides/slide113.xml"/><Relationship Id="rId114" Type="http://schemas.openxmlformats.org/officeDocument/2006/relationships/slide" Target="slides/slide112.xml"/><Relationship Id="rId113" Type="http://schemas.openxmlformats.org/officeDocument/2006/relationships/slide" Target="slides/slide111.xml"/><Relationship Id="rId112" Type="http://schemas.openxmlformats.org/officeDocument/2006/relationships/slide" Target="slides/slide110.xml"/><Relationship Id="rId111" Type="http://schemas.openxmlformats.org/officeDocument/2006/relationships/slide" Target="slides/slide109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007" y="69722"/>
            <a:ext cx="9013825" cy="6693534"/>
          </a:xfrm>
          <a:custGeom>
            <a:avLst/>
            <a:gdLst/>
            <a:ahLst/>
            <a:cxnLst/>
            <a:rect l="l" t="t" r="r" b="b"/>
            <a:pathLst>
              <a:path w="9013825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3498" y="0"/>
                </a:lnTo>
                <a:lnTo>
                  <a:pt x="8732228" y="3576"/>
                </a:lnTo>
                <a:lnTo>
                  <a:pt x="8778740" y="13967"/>
                </a:lnTo>
                <a:lnTo>
                  <a:pt x="8822525" y="30662"/>
                </a:lnTo>
                <a:lnTo>
                  <a:pt x="8863071" y="53151"/>
                </a:lnTo>
                <a:lnTo>
                  <a:pt x="8899868" y="80923"/>
                </a:lnTo>
                <a:lnTo>
                  <a:pt x="8932405" y="113468"/>
                </a:lnTo>
                <a:lnTo>
                  <a:pt x="8960172" y="150277"/>
                </a:lnTo>
                <a:lnTo>
                  <a:pt x="8982656" y="190840"/>
                </a:lnTo>
                <a:lnTo>
                  <a:pt x="8999349" y="234645"/>
                </a:lnTo>
                <a:lnTo>
                  <a:pt x="9009740" y="281184"/>
                </a:lnTo>
                <a:lnTo>
                  <a:pt x="9013317" y="329946"/>
                </a:lnTo>
                <a:lnTo>
                  <a:pt x="9013317" y="6363525"/>
                </a:lnTo>
                <a:lnTo>
                  <a:pt x="9009740" y="6412277"/>
                </a:lnTo>
                <a:lnTo>
                  <a:pt x="8999349" y="6458809"/>
                </a:lnTo>
                <a:lnTo>
                  <a:pt x="8982656" y="6502609"/>
                </a:lnTo>
                <a:lnTo>
                  <a:pt x="8960172" y="6543167"/>
                </a:lnTo>
                <a:lnTo>
                  <a:pt x="8932405" y="6579973"/>
                </a:lnTo>
                <a:lnTo>
                  <a:pt x="8899868" y="6612517"/>
                </a:lnTo>
                <a:lnTo>
                  <a:pt x="8863071" y="6640288"/>
                </a:lnTo>
                <a:lnTo>
                  <a:pt x="8822525" y="6662776"/>
                </a:lnTo>
                <a:lnTo>
                  <a:pt x="8778740" y="6679471"/>
                </a:lnTo>
                <a:lnTo>
                  <a:pt x="8732228" y="6689862"/>
                </a:lnTo>
                <a:lnTo>
                  <a:pt x="8683498" y="6693439"/>
                </a:lnTo>
                <a:lnTo>
                  <a:pt x="329920" y="6693439"/>
                </a:lnTo>
                <a:lnTo>
                  <a:pt x="281168" y="6689862"/>
                </a:lnTo>
                <a:lnTo>
                  <a:pt x="234636" y="6679471"/>
                </a:lnTo>
                <a:lnTo>
                  <a:pt x="190835" y="6662776"/>
                </a:lnTo>
                <a:lnTo>
                  <a:pt x="150276" y="6640288"/>
                </a:lnTo>
                <a:lnTo>
                  <a:pt x="113469" y="6612517"/>
                </a:lnTo>
                <a:lnTo>
                  <a:pt x="80925" y="6579973"/>
                </a:lnTo>
                <a:lnTo>
                  <a:pt x="53153" y="6543167"/>
                </a:lnTo>
                <a:lnTo>
                  <a:pt x="30664" y="6502609"/>
                </a:lnTo>
                <a:lnTo>
                  <a:pt x="13968" y="6458809"/>
                </a:lnTo>
                <a:lnTo>
                  <a:pt x="3577" y="6412277"/>
                </a:lnTo>
                <a:lnTo>
                  <a:pt x="0" y="6363525"/>
                </a:lnTo>
                <a:lnTo>
                  <a:pt x="0" y="329946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55694" y="51307"/>
            <a:ext cx="84772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4650" y="2203450"/>
            <a:ext cx="8248650" cy="3152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6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3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3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3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3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15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3.jpe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jpeg"/><Relationship Id="rId1" Type="http://schemas.openxmlformats.org/officeDocument/2006/relationships/image" Target="../media/image3.jpe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jpeg"/><Relationship Id="rId1" Type="http://schemas.openxmlformats.org/officeDocument/2006/relationships/image" Target="../media/image3.jpe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3.jpe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0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2.jpeg"/><Relationship Id="rId1" Type="http://schemas.openxmlformats.org/officeDocument/2006/relationships/image" Target="../media/image21.pn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22.jpe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image" Target="../media/image36.png"/><Relationship Id="rId7" Type="http://schemas.openxmlformats.org/officeDocument/2006/relationships/image" Target="../media/image35.png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4" Type="http://schemas.openxmlformats.org/officeDocument/2006/relationships/slideLayout" Target="../slideLayouts/slideLayout5.xml"/><Relationship Id="rId33" Type="http://schemas.openxmlformats.org/officeDocument/2006/relationships/image" Target="../media/image22.jpeg"/><Relationship Id="rId32" Type="http://schemas.openxmlformats.org/officeDocument/2006/relationships/image" Target="../media/image60.png"/><Relationship Id="rId31" Type="http://schemas.openxmlformats.org/officeDocument/2006/relationships/image" Target="../media/image59.png"/><Relationship Id="rId30" Type="http://schemas.openxmlformats.org/officeDocument/2006/relationships/image" Target="../media/image58.png"/><Relationship Id="rId3" Type="http://schemas.openxmlformats.org/officeDocument/2006/relationships/image" Target="../media/image31.png"/><Relationship Id="rId29" Type="http://schemas.openxmlformats.org/officeDocument/2006/relationships/image" Target="../media/image57.png"/><Relationship Id="rId28" Type="http://schemas.openxmlformats.org/officeDocument/2006/relationships/image" Target="../media/image56.png"/><Relationship Id="rId27" Type="http://schemas.openxmlformats.org/officeDocument/2006/relationships/image" Target="../media/image55.png"/><Relationship Id="rId26" Type="http://schemas.openxmlformats.org/officeDocument/2006/relationships/image" Target="../media/image54.png"/><Relationship Id="rId25" Type="http://schemas.openxmlformats.org/officeDocument/2006/relationships/image" Target="../media/image53.png"/><Relationship Id="rId24" Type="http://schemas.openxmlformats.org/officeDocument/2006/relationships/image" Target="../media/image52.png"/><Relationship Id="rId23" Type="http://schemas.openxmlformats.org/officeDocument/2006/relationships/image" Target="../media/image51.png"/><Relationship Id="rId22" Type="http://schemas.openxmlformats.org/officeDocument/2006/relationships/image" Target="../media/image50.png"/><Relationship Id="rId21" Type="http://schemas.openxmlformats.org/officeDocument/2006/relationships/image" Target="../media/image49.png"/><Relationship Id="rId20" Type="http://schemas.openxmlformats.org/officeDocument/2006/relationships/image" Target="../media/image48.png"/><Relationship Id="rId2" Type="http://schemas.openxmlformats.org/officeDocument/2006/relationships/image" Target="../media/image30.png"/><Relationship Id="rId19" Type="http://schemas.openxmlformats.org/officeDocument/2006/relationships/image" Target="../media/image47.png"/><Relationship Id="rId18" Type="http://schemas.openxmlformats.org/officeDocument/2006/relationships/image" Target="../media/image46.png"/><Relationship Id="rId17" Type="http://schemas.openxmlformats.org/officeDocument/2006/relationships/image" Target="../media/image45.png"/><Relationship Id="rId16" Type="http://schemas.openxmlformats.org/officeDocument/2006/relationships/image" Target="../media/image44.png"/><Relationship Id="rId15" Type="http://schemas.openxmlformats.org/officeDocument/2006/relationships/image" Target="../media/image43.png"/><Relationship Id="rId14" Type="http://schemas.openxmlformats.org/officeDocument/2006/relationships/image" Target="../media/image42.png"/><Relationship Id="rId13" Type="http://schemas.openxmlformats.org/officeDocument/2006/relationships/image" Target="../media/image41.png"/><Relationship Id="rId12" Type="http://schemas.openxmlformats.org/officeDocument/2006/relationships/image" Target="../media/image40.png"/><Relationship Id="rId11" Type="http://schemas.openxmlformats.org/officeDocument/2006/relationships/image" Target="../media/image39.png"/><Relationship Id="rId10" Type="http://schemas.openxmlformats.org/officeDocument/2006/relationships/image" Target="../media/image38.png"/><Relationship Id="rId1" Type="http://schemas.openxmlformats.org/officeDocument/2006/relationships/image" Target="../media/image29.png"/></Relationships>
</file>

<file path=ppt/slides/_rels/slide1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62.jpeg"/><Relationship Id="rId2" Type="http://schemas.openxmlformats.org/officeDocument/2006/relationships/image" Target="../media/image22.jpeg"/><Relationship Id="rId1" Type="http://schemas.openxmlformats.org/officeDocument/2006/relationships/image" Target="../media/image61.png"/></Relationships>
</file>

<file path=ppt/slides/_rels/slide1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1.png"/><Relationship Id="rId8" Type="http://schemas.openxmlformats.org/officeDocument/2006/relationships/image" Target="../media/image70.png"/><Relationship Id="rId7" Type="http://schemas.openxmlformats.org/officeDocument/2006/relationships/image" Target="../media/image69.png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9" Type="http://schemas.openxmlformats.org/officeDocument/2006/relationships/slideLayout" Target="../slideLayouts/slideLayout5.xml"/><Relationship Id="rId18" Type="http://schemas.openxmlformats.org/officeDocument/2006/relationships/image" Target="../media/image22.jpeg"/><Relationship Id="rId17" Type="http://schemas.openxmlformats.org/officeDocument/2006/relationships/image" Target="../media/image79.png"/><Relationship Id="rId16" Type="http://schemas.openxmlformats.org/officeDocument/2006/relationships/image" Target="../media/image78.png"/><Relationship Id="rId15" Type="http://schemas.openxmlformats.org/officeDocument/2006/relationships/image" Target="../media/image77.png"/><Relationship Id="rId14" Type="http://schemas.openxmlformats.org/officeDocument/2006/relationships/image" Target="../media/image76.png"/><Relationship Id="rId13" Type="http://schemas.openxmlformats.org/officeDocument/2006/relationships/image" Target="../media/image75.png"/><Relationship Id="rId12" Type="http://schemas.openxmlformats.org/officeDocument/2006/relationships/image" Target="../media/image74.png"/><Relationship Id="rId11" Type="http://schemas.openxmlformats.org/officeDocument/2006/relationships/image" Target="../media/image73.png"/><Relationship Id="rId10" Type="http://schemas.openxmlformats.org/officeDocument/2006/relationships/image" Target="../media/image72.png"/><Relationship Id="rId1" Type="http://schemas.openxmlformats.org/officeDocument/2006/relationships/image" Target="../media/image63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jpeg"/><Relationship Id="rId1" Type="http://schemas.openxmlformats.org/officeDocument/2006/relationships/image" Target="../media/image61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2.jpeg"/><Relationship Id="rId1" Type="http://schemas.openxmlformats.org/officeDocument/2006/relationships/image" Target="../media/image61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jpeg"/><Relationship Id="rId1" Type="http://schemas.openxmlformats.org/officeDocument/2006/relationships/image" Target="../media/image61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jpeg"/><Relationship Id="rId1" Type="http://schemas.openxmlformats.org/officeDocument/2006/relationships/image" Target="../media/image61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2.jpeg"/><Relationship Id="rId1" Type="http://schemas.openxmlformats.org/officeDocument/2006/relationships/image" Target="../media/image6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jpeg"/><Relationship Id="rId1" Type="http://schemas.openxmlformats.org/officeDocument/2006/relationships/image" Target="../media/image61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2.jpeg"/><Relationship Id="rId1" Type="http://schemas.openxmlformats.org/officeDocument/2006/relationships/image" Target="../media/image80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2.jpeg"/><Relationship Id="rId1" Type="http://schemas.openxmlformats.org/officeDocument/2006/relationships/image" Target="../media/image81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2.jpeg"/><Relationship Id="rId1" Type="http://schemas.openxmlformats.org/officeDocument/2006/relationships/image" Target="../media/image82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2.jpeg"/><Relationship Id="rId1" Type="http://schemas.openxmlformats.org/officeDocument/2006/relationships/image" Target="../media/image83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2.jpeg"/><Relationship Id="rId1" Type="http://schemas.openxmlformats.org/officeDocument/2006/relationships/image" Target="../media/image84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jpeg"/><Relationship Id="rId1" Type="http://schemas.openxmlformats.org/officeDocument/2006/relationships/image" Target="../media/image85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2.jpeg"/><Relationship Id="rId1" Type="http://schemas.openxmlformats.org/officeDocument/2006/relationships/image" Target="../media/image86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2.jpeg"/><Relationship Id="rId1" Type="http://schemas.openxmlformats.org/officeDocument/2006/relationships/image" Target="../media/image86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2.jpeg"/><Relationship Id="rId1" Type="http://schemas.openxmlformats.org/officeDocument/2006/relationships/image" Target="../media/image87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2.jpeg"/><Relationship Id="rId1" Type="http://schemas.openxmlformats.org/officeDocument/2006/relationships/image" Target="../media/image88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2.jpeg"/><Relationship Id="rId1" Type="http://schemas.openxmlformats.org/officeDocument/2006/relationships/image" Target="../media/image89.png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2.jpeg"/><Relationship Id="rId1" Type="http://schemas.openxmlformats.org/officeDocument/2006/relationships/image" Target="../media/image90.png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2.jpeg"/><Relationship Id="rId1" Type="http://schemas.openxmlformats.org/officeDocument/2006/relationships/image" Target="../media/image91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jpeg"/><Relationship Id="rId1" Type="http://schemas.openxmlformats.org/officeDocument/2006/relationships/image" Target="../media/image92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2.jpeg"/><Relationship Id="rId1" Type="http://schemas.openxmlformats.org/officeDocument/2006/relationships/image" Target="../media/image88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jpeg"/><Relationship Id="rId1" Type="http://schemas.openxmlformats.org/officeDocument/2006/relationships/image" Target="../media/image88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2.jpeg"/><Relationship Id="rId1" Type="http://schemas.openxmlformats.org/officeDocument/2006/relationships/image" Target="../media/image88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jpeg"/><Relationship Id="rId1" Type="http://schemas.openxmlformats.org/officeDocument/2006/relationships/image" Target="../media/image88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jpeg"/><Relationship Id="rId1" Type="http://schemas.openxmlformats.org/officeDocument/2006/relationships/image" Target="../media/image88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2.jpeg"/><Relationship Id="rId1" Type="http://schemas.openxmlformats.org/officeDocument/2006/relationships/image" Target="../media/image88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2.jpeg"/><Relationship Id="rId1" Type="http://schemas.openxmlformats.org/officeDocument/2006/relationships/image" Target="../media/image88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2.jpeg"/><Relationship Id="rId1" Type="http://schemas.openxmlformats.org/officeDocument/2006/relationships/image" Target="../media/image93.png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4.png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5.png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6.png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7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9.png"/><Relationship Id="rId1" Type="http://schemas.openxmlformats.org/officeDocument/2006/relationships/image" Target="../media/image98.png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0.png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1.png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2.jpeg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3.png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4.png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5.jpeg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006" y="77995"/>
            <a:ext cx="9022715" cy="6698615"/>
            <a:chOff x="62138" y="66547"/>
            <a:chExt cx="9022715" cy="669861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5313" y="69722"/>
              <a:ext cx="9013408" cy="669223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313" y="69722"/>
              <a:ext cx="9013825" cy="6692265"/>
            </a:xfrm>
            <a:custGeom>
              <a:avLst/>
              <a:gdLst/>
              <a:ahLst/>
              <a:cxnLst/>
              <a:rect l="l" t="t" r="r" b="b"/>
              <a:pathLst>
                <a:path w="9013825" h="6692265">
                  <a:moveTo>
                    <a:pt x="0" y="329946"/>
                  </a:moveTo>
                  <a:lnTo>
                    <a:pt x="3576" y="281184"/>
                  </a:lnTo>
                  <a:lnTo>
                    <a:pt x="13965" y="234645"/>
                  </a:lnTo>
                  <a:lnTo>
                    <a:pt x="30657" y="190840"/>
                  </a:lnTo>
                  <a:lnTo>
                    <a:pt x="53141" y="150277"/>
                  </a:lnTo>
                  <a:lnTo>
                    <a:pt x="80907" y="113468"/>
                  </a:lnTo>
                  <a:lnTo>
                    <a:pt x="113445" y="80923"/>
                  </a:lnTo>
                  <a:lnTo>
                    <a:pt x="150245" y="53151"/>
                  </a:lnTo>
                  <a:lnTo>
                    <a:pt x="190796" y="30662"/>
                  </a:lnTo>
                  <a:lnTo>
                    <a:pt x="234589" y="13967"/>
                  </a:lnTo>
                  <a:lnTo>
                    <a:pt x="281114" y="3576"/>
                  </a:lnTo>
                  <a:lnTo>
                    <a:pt x="329859" y="0"/>
                  </a:lnTo>
                  <a:lnTo>
                    <a:pt x="8683462" y="0"/>
                  </a:lnTo>
                  <a:lnTo>
                    <a:pt x="8732224" y="3576"/>
                  </a:lnTo>
                  <a:lnTo>
                    <a:pt x="8778762" y="13967"/>
                  </a:lnTo>
                  <a:lnTo>
                    <a:pt x="8822568" y="30662"/>
                  </a:lnTo>
                  <a:lnTo>
                    <a:pt x="8863130" y="53151"/>
                  </a:lnTo>
                  <a:lnTo>
                    <a:pt x="8899939" y="80923"/>
                  </a:lnTo>
                  <a:lnTo>
                    <a:pt x="8932485" y="113468"/>
                  </a:lnTo>
                  <a:lnTo>
                    <a:pt x="8960257" y="150277"/>
                  </a:lnTo>
                  <a:lnTo>
                    <a:pt x="8982745" y="190840"/>
                  </a:lnTo>
                  <a:lnTo>
                    <a:pt x="8999440" y="234645"/>
                  </a:lnTo>
                  <a:lnTo>
                    <a:pt x="9009831" y="281184"/>
                  </a:lnTo>
                  <a:lnTo>
                    <a:pt x="9013408" y="329946"/>
                  </a:lnTo>
                  <a:lnTo>
                    <a:pt x="9013408" y="6362369"/>
                  </a:lnTo>
                  <a:lnTo>
                    <a:pt x="9009831" y="6411115"/>
                  </a:lnTo>
                  <a:lnTo>
                    <a:pt x="8999440" y="6457639"/>
                  </a:lnTo>
                  <a:lnTo>
                    <a:pt x="8982745" y="6501432"/>
                  </a:lnTo>
                  <a:lnTo>
                    <a:pt x="8960257" y="6541984"/>
                  </a:lnTo>
                  <a:lnTo>
                    <a:pt x="8932485" y="6578785"/>
                  </a:lnTo>
                  <a:lnTo>
                    <a:pt x="8899939" y="6611323"/>
                  </a:lnTo>
                  <a:lnTo>
                    <a:pt x="8863130" y="6639090"/>
                  </a:lnTo>
                  <a:lnTo>
                    <a:pt x="8822568" y="6661574"/>
                  </a:lnTo>
                  <a:lnTo>
                    <a:pt x="8778762" y="6678266"/>
                  </a:lnTo>
                  <a:lnTo>
                    <a:pt x="8732224" y="6688655"/>
                  </a:lnTo>
                  <a:lnTo>
                    <a:pt x="8683462" y="6692231"/>
                  </a:lnTo>
                  <a:lnTo>
                    <a:pt x="329859" y="6692231"/>
                  </a:lnTo>
                  <a:lnTo>
                    <a:pt x="281114" y="6688655"/>
                  </a:lnTo>
                  <a:lnTo>
                    <a:pt x="234589" y="6678266"/>
                  </a:lnTo>
                  <a:lnTo>
                    <a:pt x="190796" y="6661574"/>
                  </a:lnTo>
                  <a:lnTo>
                    <a:pt x="150245" y="6639090"/>
                  </a:lnTo>
                  <a:lnTo>
                    <a:pt x="113445" y="6611323"/>
                  </a:lnTo>
                  <a:lnTo>
                    <a:pt x="80907" y="6578785"/>
                  </a:lnTo>
                  <a:lnTo>
                    <a:pt x="53141" y="6541984"/>
                  </a:lnTo>
                  <a:lnTo>
                    <a:pt x="30657" y="6501432"/>
                  </a:lnTo>
                  <a:lnTo>
                    <a:pt x="13965" y="6457639"/>
                  </a:lnTo>
                  <a:lnTo>
                    <a:pt x="3576" y="6411115"/>
                  </a:lnTo>
                  <a:lnTo>
                    <a:pt x="0" y="6362369"/>
                  </a:lnTo>
                  <a:lnTo>
                    <a:pt x="0" y="329946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2931" y="1396688"/>
              <a:ext cx="9022080" cy="120650"/>
            </a:xfrm>
            <a:custGeom>
              <a:avLst/>
              <a:gdLst/>
              <a:ahLst/>
              <a:cxnLst/>
              <a:rect l="l" t="t" r="r" b="b"/>
              <a:pathLst>
                <a:path w="9022080" h="120650">
                  <a:moveTo>
                    <a:pt x="9021572" y="0"/>
                  </a:moveTo>
                  <a:lnTo>
                    <a:pt x="0" y="0"/>
                  </a:lnTo>
                  <a:lnTo>
                    <a:pt x="0" y="120580"/>
                  </a:lnTo>
                  <a:lnTo>
                    <a:pt x="9021572" y="120580"/>
                  </a:lnTo>
                  <a:lnTo>
                    <a:pt x="9021572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2931" y="2976711"/>
              <a:ext cx="9022080" cy="111125"/>
            </a:xfrm>
            <a:custGeom>
              <a:avLst/>
              <a:gdLst/>
              <a:ahLst/>
              <a:cxnLst/>
              <a:rect l="l" t="t" r="r" b="b"/>
              <a:pathLst>
                <a:path w="9022080" h="111125">
                  <a:moveTo>
                    <a:pt x="9021572" y="0"/>
                  </a:moveTo>
                  <a:lnTo>
                    <a:pt x="0" y="0"/>
                  </a:lnTo>
                  <a:lnTo>
                    <a:pt x="0" y="110531"/>
                  </a:lnTo>
                  <a:lnTo>
                    <a:pt x="9021572" y="110531"/>
                  </a:lnTo>
                  <a:lnTo>
                    <a:pt x="9021572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326" y="188607"/>
            <a:ext cx="1040815" cy="108012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12" name="object 12"/>
          <p:cNvSpPr txBox="1"/>
          <p:nvPr/>
        </p:nvSpPr>
        <p:spPr>
          <a:xfrm>
            <a:off x="1422653" y="549605"/>
            <a:ext cx="6311900" cy="792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lang="en-US" sz="2400" b="1" spc="-145" dirty="0" smtClean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RAMAPURAM, </a:t>
            </a:r>
            <a:r>
              <a:rPr sz="2400" b="1" spc="-145" dirty="0" smtClean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</a:t>
            </a: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7"/>
          <p:cNvSpPr txBox="1"/>
          <p:nvPr/>
        </p:nvSpPr>
        <p:spPr>
          <a:xfrm>
            <a:off x="87234" y="1517338"/>
            <a:ext cx="9022080" cy="1228734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15875" rIns="0" bIns="0" rtlCol="0">
            <a:spAutoFit/>
          </a:bodyPr>
          <a:lstStyle/>
          <a:p>
            <a:pPr marL="514350" marR="935990" algn="ctr">
              <a:lnSpc>
                <a:spcPct val="150000"/>
              </a:lnSpc>
              <a:spcBef>
                <a:spcPts val="125"/>
              </a:spcBef>
            </a:pPr>
            <a:r>
              <a:rPr lang="en-US" sz="2800" b="1" dirty="0" smtClean="0">
                <a:solidFill>
                  <a:schemeClr val="bg1"/>
                </a:solidFill>
                <a:latin typeface="Cambria" panose="02040503050406030204"/>
                <a:cs typeface="Cambria" panose="02040503050406030204"/>
              </a:rPr>
              <a:t>Department of Computer Science and Engineering</a:t>
            </a:r>
            <a:endParaRPr sz="2800" b="1" dirty="0">
              <a:solidFill>
                <a:schemeClr val="bg1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5" name="object 7"/>
          <p:cNvSpPr txBox="1"/>
          <p:nvPr/>
        </p:nvSpPr>
        <p:spPr>
          <a:xfrm>
            <a:off x="56641" y="3581400"/>
            <a:ext cx="9022080" cy="1228734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15875" rIns="0" bIns="0" rtlCol="0">
            <a:spAutoFit/>
          </a:bodyPr>
          <a:lstStyle/>
          <a:p>
            <a:pPr marL="463550" marR="935990" algn="ctr">
              <a:lnSpc>
                <a:spcPct val="150000"/>
              </a:lnSpc>
              <a:spcBef>
                <a:spcPts val="125"/>
              </a:spcBef>
            </a:pPr>
            <a:r>
              <a:rPr sz="2800" b="1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18CSS101J</a:t>
            </a:r>
            <a:r>
              <a:rPr sz="2800" b="1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–</a:t>
            </a:r>
            <a:r>
              <a:rPr sz="2800" b="1" spc="-1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Programming</a:t>
            </a:r>
            <a:r>
              <a:rPr sz="2800" b="1" spc="1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2800" b="1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 smtClean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Problem</a:t>
            </a:r>
            <a:r>
              <a:rPr lang="en-US" sz="2800" b="1" spc="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 smtClean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Solving </a:t>
            </a:r>
            <a:r>
              <a:rPr sz="2800" b="1" spc="-600" dirty="0" smtClean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Unit</a:t>
            </a:r>
            <a:r>
              <a:rPr sz="2800" b="1" spc="-1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II</a:t>
            </a:r>
            <a:endParaRPr sz="2800" b="1" dirty="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8226425" cy="5265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3195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63195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2340"/>
              </a:spcBef>
            </a:pP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UNIT</a:t>
            </a:r>
            <a:r>
              <a:rPr sz="2400" b="1" spc="-5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II</a:t>
            </a:r>
            <a:endParaRPr sz="2400" dirty="0">
              <a:latin typeface="Cambria" panose="02040503050406030204"/>
              <a:cs typeface="Cambria" panose="02040503050406030204"/>
            </a:endParaRPr>
          </a:p>
          <a:p>
            <a:pPr marL="12700" algn="just">
              <a:lnSpc>
                <a:spcPct val="100000"/>
              </a:lnSpc>
              <a:spcBef>
                <a:spcPts val="905"/>
              </a:spcBef>
            </a:pPr>
            <a:r>
              <a:rPr sz="2000" spc="-5" dirty="0">
                <a:solidFill>
                  <a:srgbClr val="FF0000"/>
                </a:solidFill>
                <a:latin typeface="Cambria" panose="02040503050406030204"/>
                <a:cs typeface="Cambria" panose="02040503050406030204"/>
              </a:rPr>
              <a:t>Relational</a:t>
            </a:r>
            <a:r>
              <a:rPr sz="2000" dirty="0">
                <a:solidFill>
                  <a:srgbClr val="FF0000"/>
                </a:solidFill>
                <a:latin typeface="Cambria" panose="02040503050406030204"/>
                <a:cs typeface="Cambria" panose="02040503050406030204"/>
              </a:rPr>
              <a:t> and</a:t>
            </a:r>
            <a:r>
              <a:rPr sz="2000" spc="5" dirty="0">
                <a:solidFill>
                  <a:srgbClr val="FF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mbria" panose="02040503050406030204"/>
                <a:cs typeface="Cambria" panose="02040503050406030204"/>
              </a:rPr>
              <a:t>logical</a:t>
            </a:r>
            <a:r>
              <a:rPr sz="2000" spc="-5" dirty="0">
                <a:solidFill>
                  <a:srgbClr val="FF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mbria" panose="02040503050406030204"/>
                <a:cs typeface="Cambria" panose="02040503050406030204"/>
              </a:rPr>
              <a:t>Operators</a:t>
            </a:r>
            <a:r>
              <a:rPr sz="2000" spc="-5" dirty="0">
                <a:solidFill>
                  <a:srgbClr val="FF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 panose="02040503050406030204"/>
                <a:cs typeface="Cambria" panose="02040503050406030204"/>
              </a:rPr>
              <a:t>-</a:t>
            </a:r>
            <a:r>
              <a:rPr sz="2000" spc="5" dirty="0">
                <a:solidFill>
                  <a:srgbClr val="FF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ambria" panose="02040503050406030204"/>
                <a:cs typeface="Cambria" panose="02040503050406030204"/>
              </a:rPr>
              <a:t>Condition</a:t>
            </a:r>
            <a:r>
              <a:rPr sz="2000" dirty="0">
                <a:solidFill>
                  <a:srgbClr val="FF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mbria" panose="02040503050406030204"/>
                <a:cs typeface="Cambria" panose="02040503050406030204"/>
              </a:rPr>
              <a:t>Operators, </a:t>
            </a:r>
            <a:r>
              <a:rPr sz="2000" spc="-5" dirty="0">
                <a:solidFill>
                  <a:srgbClr val="FF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mbria" panose="02040503050406030204"/>
                <a:cs typeface="Cambria" panose="02040503050406030204"/>
              </a:rPr>
              <a:t>Operator </a:t>
            </a:r>
            <a:r>
              <a:rPr sz="2000" spc="-5" dirty="0">
                <a:solidFill>
                  <a:srgbClr val="FF0000"/>
                </a:solidFill>
                <a:latin typeface="Cambria" panose="02040503050406030204"/>
                <a:cs typeface="Cambria" panose="02040503050406030204"/>
              </a:rPr>
              <a:t>Precedence </a:t>
            </a:r>
            <a:r>
              <a:rPr sz="200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- </a:t>
            </a:r>
            <a:r>
              <a:rPr sz="2000" spc="-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Expressions with </a:t>
            </a:r>
            <a:r>
              <a:rPr sz="2000" spc="-1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pre </a:t>
            </a:r>
            <a:r>
              <a:rPr sz="200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/ </a:t>
            </a:r>
            <a:r>
              <a:rPr sz="2000" spc="-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post increment </a:t>
            </a:r>
            <a:r>
              <a:rPr sz="200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spc="-1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Operator</a:t>
            </a:r>
            <a:r>
              <a:rPr sz="2000" spc="-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-</a:t>
            </a:r>
            <a:r>
              <a:rPr sz="2000" spc="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spc="-1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Expression</a:t>
            </a:r>
            <a:r>
              <a:rPr sz="2000" spc="-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with</a:t>
            </a:r>
            <a:r>
              <a:rPr sz="200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conditional</a:t>
            </a:r>
            <a:r>
              <a:rPr sz="2000" spc="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2000" spc="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spc="-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assignment </a:t>
            </a:r>
            <a:r>
              <a:rPr sz="200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spc="-1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operators </a:t>
            </a:r>
            <a:r>
              <a:rPr sz="2000" dirty="0">
                <a:latin typeface="Cambria" panose="02040503050406030204"/>
                <a:cs typeface="Cambria" panose="02040503050406030204"/>
              </a:rPr>
              <a:t>- </a:t>
            </a:r>
            <a:r>
              <a:rPr sz="200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If </a:t>
            </a:r>
            <a:r>
              <a:rPr sz="2000" spc="-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statement </a:t>
            </a:r>
            <a:r>
              <a:rPr sz="200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in </a:t>
            </a:r>
            <a:r>
              <a:rPr sz="2000" spc="-1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expression </a:t>
            </a:r>
            <a:r>
              <a:rPr sz="200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- L </a:t>
            </a:r>
            <a:r>
              <a:rPr sz="2000" spc="-2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value </a:t>
            </a:r>
            <a:r>
              <a:rPr sz="200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and R </a:t>
            </a:r>
            <a:r>
              <a:rPr sz="2000" spc="-1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value </a:t>
            </a:r>
            <a:r>
              <a:rPr sz="2000" spc="-1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in </a:t>
            </a:r>
            <a:r>
              <a:rPr sz="2000" spc="-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spc="-1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expression</a:t>
            </a:r>
            <a:r>
              <a:rPr sz="2000" spc="-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dirty="0">
                <a:latin typeface="Cambria" panose="02040503050406030204"/>
                <a:cs typeface="Cambria" panose="02040503050406030204"/>
              </a:rPr>
              <a:t>-</a:t>
            </a:r>
            <a:r>
              <a:rPr sz="20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Control</a:t>
            </a:r>
            <a:r>
              <a:rPr sz="20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Statements</a:t>
            </a:r>
            <a:r>
              <a:rPr sz="20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dirty="0">
                <a:latin typeface="Cambria" panose="02040503050406030204"/>
                <a:cs typeface="Cambria" panose="02040503050406030204"/>
              </a:rPr>
              <a:t>–</a:t>
            </a:r>
            <a:r>
              <a:rPr sz="20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-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if</a:t>
            </a:r>
            <a:r>
              <a:rPr sz="200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and</a:t>
            </a:r>
            <a:r>
              <a:rPr sz="2000" spc="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else</a:t>
            </a:r>
            <a:r>
              <a:rPr sz="2000" spc="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-</a:t>
            </a:r>
            <a:r>
              <a:rPr sz="2000" spc="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else</a:t>
            </a:r>
            <a:r>
              <a:rPr sz="2000" spc="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spc="-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if</a:t>
            </a:r>
            <a:r>
              <a:rPr sz="2000" spc="51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and </a:t>
            </a:r>
            <a:r>
              <a:rPr sz="2000" spc="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spc="-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nested</a:t>
            </a:r>
            <a:r>
              <a:rPr sz="200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if,</a:t>
            </a:r>
            <a:r>
              <a:rPr sz="2000" spc="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spc="-1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switch</a:t>
            </a:r>
            <a:r>
              <a:rPr sz="2000" spc="-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case</a:t>
            </a:r>
            <a:r>
              <a:rPr sz="2000" spc="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dirty="0">
                <a:latin typeface="Cambria" panose="02040503050406030204"/>
                <a:cs typeface="Cambria" panose="02040503050406030204"/>
              </a:rPr>
              <a:t>-</a:t>
            </a:r>
            <a:r>
              <a:rPr sz="20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-10" dirty="0">
                <a:latin typeface="Cambria" panose="02040503050406030204"/>
                <a:cs typeface="Cambria" panose="02040503050406030204"/>
              </a:rPr>
              <a:t>Iterations,</a:t>
            </a:r>
            <a:r>
              <a:rPr sz="20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Conditional</a:t>
            </a:r>
            <a:r>
              <a:rPr sz="20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and </a:t>
            </a:r>
            <a:r>
              <a:rPr sz="200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Unconditional </a:t>
            </a:r>
            <a:r>
              <a:rPr sz="20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Branching </a:t>
            </a:r>
            <a:r>
              <a:rPr sz="200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- </a:t>
            </a:r>
            <a:r>
              <a:rPr sz="2000" spc="-3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2000" spc="-3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spc="-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loop </a:t>
            </a:r>
            <a:r>
              <a:rPr sz="200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- While </a:t>
            </a:r>
            <a:r>
              <a:rPr sz="2000" spc="-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loop </a:t>
            </a:r>
            <a:r>
              <a:rPr sz="200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- do </a:t>
            </a:r>
            <a:r>
              <a:rPr sz="2000" spc="-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while</a:t>
            </a:r>
            <a:r>
              <a:rPr sz="2000" spc="-5" dirty="0">
                <a:latin typeface="Cambria" panose="02040503050406030204"/>
                <a:cs typeface="Cambria" panose="02040503050406030204"/>
              </a:rPr>
              <a:t>, </a:t>
            </a:r>
            <a:r>
              <a:rPr sz="200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-1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goto,</a:t>
            </a:r>
            <a:r>
              <a:rPr sz="2000" spc="-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spc="-1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break,</a:t>
            </a:r>
            <a:r>
              <a:rPr sz="2000" spc="-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continue </a:t>
            </a:r>
            <a:r>
              <a:rPr sz="200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–</a:t>
            </a:r>
            <a:r>
              <a:rPr sz="2000" spc="-1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Array</a:t>
            </a:r>
            <a:r>
              <a:rPr sz="20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-</a:t>
            </a:r>
            <a:r>
              <a:rPr sz="200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Initialization</a:t>
            </a:r>
            <a:r>
              <a:rPr sz="2000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and </a:t>
            </a:r>
            <a:r>
              <a:rPr sz="2000" spc="-5" dirty="0" smtClean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Declaration-</a:t>
            </a:r>
            <a:r>
              <a:rPr lang="en-US" sz="2000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-</a:t>
            </a:r>
            <a:r>
              <a:rPr lang="en-US" sz="2000" spc="55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z="2000" spc="-5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Initialization:</a:t>
            </a:r>
            <a:r>
              <a:rPr lang="en-US" sz="2000" spc="65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z="2000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one</a:t>
            </a:r>
            <a:r>
              <a:rPr lang="en-US" sz="2000" spc="70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z="2000" spc="-5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Dimensional</a:t>
            </a:r>
            <a:r>
              <a:rPr lang="en-US" sz="2000" spc="55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z="2000" spc="-10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Array-Accessing,</a:t>
            </a:r>
            <a:r>
              <a:rPr lang="en-US" sz="2000" spc="60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z="2000" spc="-10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Indexing</a:t>
            </a:r>
            <a:r>
              <a:rPr lang="en-US" sz="2000" spc="60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z="2000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one </a:t>
            </a:r>
            <a:r>
              <a:rPr lang="en-US" sz="2000" spc="-515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z="2000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Dimensional</a:t>
            </a:r>
            <a:r>
              <a:rPr lang="en-US" sz="2000" spc="-25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z="2000" spc="-20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Array </a:t>
            </a:r>
            <a:r>
              <a:rPr lang="en-US" sz="2000" spc="-5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Operations</a:t>
            </a:r>
            <a:r>
              <a:rPr lang="en-US" sz="2000" spc="-30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z="2000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-</a:t>
            </a:r>
            <a:r>
              <a:rPr lang="en-US" sz="2000" spc="-10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z="2000" spc="-20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Array </a:t>
            </a:r>
            <a:r>
              <a:rPr lang="en-US" sz="2000" spc="-10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Programs</a:t>
            </a:r>
            <a:r>
              <a:rPr lang="en-US" sz="2000" spc="-15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lang="en-US" sz="2000" dirty="0" smtClean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–</a:t>
            </a:r>
            <a:r>
              <a:rPr sz="2000" spc="-5" dirty="0">
                <a:solidFill>
                  <a:srgbClr val="FF0000"/>
                </a:solidFill>
                <a:latin typeface="Cambria" panose="02040503050406030204"/>
                <a:cs typeface="Cambria" panose="02040503050406030204"/>
              </a:rPr>
              <a:t> 1D</a:t>
            </a:r>
            <a:r>
              <a:rPr sz="2000" spc="-5" dirty="0">
                <a:solidFill>
                  <a:srgbClr val="FF0000"/>
                </a:solidFill>
                <a:latin typeface="Cambria" panose="02040503050406030204"/>
                <a:cs typeface="Cambria" panose="02040503050406030204"/>
                <a:sym typeface="+mn-ea"/>
              </a:rPr>
              <a:t>nitializing and accessing of 2D Array – Initializing multidimensional</a:t>
            </a:r>
            <a:r>
              <a:rPr lang="en-US" sz="2000" spc="-5" dirty="0">
                <a:solidFill>
                  <a:srgbClr val="FF0000"/>
                </a:solidFill>
                <a:latin typeface="Cambria" panose="02040503050406030204"/>
                <a:cs typeface="Cambria" panose="02040503050406030204"/>
                <a:sym typeface="+mn-ea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ambria" panose="02040503050406030204"/>
                <a:cs typeface="Cambria" panose="02040503050406030204"/>
                <a:sym typeface="+mn-ea"/>
              </a:rPr>
              <a:t>Array – Array programs 2D – Array contiguous memory – Array</a:t>
            </a:r>
            <a:endParaRPr sz="2000" spc="-5" dirty="0">
              <a:solidFill>
                <a:srgbClr val="FF0000"/>
              </a:solidFill>
              <a:latin typeface="Cambria" panose="02040503050406030204"/>
              <a:cs typeface="Cambria" panose="02040503050406030204"/>
            </a:endParaRPr>
          </a:p>
          <a:p>
            <a:pPr marL="12700" marR="7620" algn="just">
              <a:lnSpc>
                <a:spcPct val="100000"/>
              </a:lnSpc>
            </a:pPr>
            <a:r>
              <a:rPr sz="2000" spc="-5" dirty="0">
                <a:solidFill>
                  <a:srgbClr val="FF0000"/>
                </a:solidFill>
                <a:latin typeface="Cambria" panose="02040503050406030204"/>
                <a:cs typeface="Cambria" panose="02040503050406030204"/>
                <a:sym typeface="+mn-ea"/>
              </a:rPr>
              <a:t>advantages and Limitations – Array construction for real-time  application common programming errors </a:t>
            </a:r>
            <a:endParaRPr sz="2000" spc="-5" dirty="0">
              <a:solidFill>
                <a:srgbClr val="FF0000"/>
              </a:solidFill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3006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1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Operators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in</a:t>
            </a:r>
            <a:r>
              <a:rPr sz="28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</a:t>
            </a:r>
            <a:endParaRPr sz="280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810"/>
              </a:spcBef>
              <a:buAutoNum type="alphaLcParenR"/>
              <a:tabLst>
                <a:tab pos="469900" algn="l"/>
                <a:tab pos="469900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Relational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Operators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320"/>
              </a:spcBef>
              <a:buAutoNum type="alphaLcParenR"/>
              <a:tabLst>
                <a:tab pos="469900" algn="l"/>
                <a:tab pos="46990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Logical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Operators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320"/>
              </a:spcBef>
              <a:buAutoNum type="alphaLcParenR"/>
              <a:tabLst>
                <a:tab pos="469900" algn="l"/>
                <a:tab pos="46990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Conditional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Operators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5521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1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Operators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in</a:t>
            </a:r>
            <a:r>
              <a:rPr sz="28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2800" b="1" spc="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Contd…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810"/>
              </a:spcBef>
              <a:buAutoNum type="alphaLcParenR"/>
              <a:tabLst>
                <a:tab pos="469900" algn="l"/>
                <a:tab pos="469900" algn="l"/>
              </a:tabLst>
            </a:pP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Relational</a:t>
            </a:r>
            <a:r>
              <a:rPr sz="2200" b="1" spc="-4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Operators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Binary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Operators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(or)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Boolean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Operators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Produces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an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integer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result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384300" lvl="2" indent="-457835">
              <a:lnSpc>
                <a:spcPct val="100000"/>
              </a:lnSpc>
              <a:spcBef>
                <a:spcPts val="1325"/>
              </a:spcBef>
              <a:buFont typeface="Wingdings" panose="05000000000000000000" pitchFamily="2" charset="2"/>
              <a:buChar char="Ø"/>
              <a:tabLst>
                <a:tab pos="1384300" algn="l"/>
                <a:tab pos="1384935" algn="l"/>
              </a:tabLst>
            </a:pPr>
            <a:r>
              <a:rPr sz="2200" b="1" spc="-1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Condition </a:t>
            </a:r>
            <a:r>
              <a:rPr sz="2200" b="1" spc="-2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True</a:t>
            </a:r>
            <a:r>
              <a:rPr sz="2200" b="1" spc="-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:</a:t>
            </a:r>
            <a:r>
              <a:rPr sz="2200" b="1" spc="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Integer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value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384300" lvl="2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1384300" algn="l"/>
                <a:tab pos="1384935" algn="l"/>
              </a:tabLst>
            </a:pPr>
            <a:r>
              <a:rPr sz="2200" b="1" spc="-1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Condition </a:t>
            </a:r>
            <a:r>
              <a:rPr sz="2200" b="1" spc="-2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False</a:t>
            </a:r>
            <a:r>
              <a:rPr sz="2200" b="1" spc="-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:</a:t>
            </a:r>
            <a:r>
              <a:rPr sz="2200" b="1" spc="5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Integer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value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Compares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384300" lvl="2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1384300" algn="l"/>
                <a:tab pos="1384935" algn="l"/>
              </a:tabLst>
            </a:pPr>
            <a:r>
              <a:rPr sz="2200" spc="-30" dirty="0">
                <a:latin typeface="Cambria" panose="02040503050406030204"/>
                <a:cs typeface="Cambria" panose="02040503050406030204"/>
              </a:rPr>
              <a:t>Values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between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two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variables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384300" lvl="2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1384300" algn="l"/>
                <a:tab pos="1384935" algn="l"/>
              </a:tabLst>
            </a:pPr>
            <a:r>
              <a:rPr sz="2200" spc="-30" dirty="0">
                <a:latin typeface="Cambria" panose="02040503050406030204"/>
                <a:cs typeface="Cambria" panose="02040503050406030204"/>
              </a:rPr>
              <a:t>Values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between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variables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and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constants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8221980" cy="3006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764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68275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1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Operators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in</a:t>
            </a:r>
            <a:r>
              <a:rPr sz="28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2800" b="1" spc="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Contd…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810"/>
              </a:spcBef>
              <a:buAutoNum type="alphaLcParenR"/>
              <a:tabLst>
                <a:tab pos="469900" algn="l"/>
                <a:tab pos="469900" algn="l"/>
              </a:tabLst>
            </a:pP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Relational</a:t>
            </a:r>
            <a:r>
              <a:rPr sz="2200" b="1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Operators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Contd…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800" marR="5080" lvl="1" indent="-3429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927100" algn="l"/>
                <a:tab pos="927735" algn="l"/>
                <a:tab pos="2494280" algn="l"/>
                <a:tab pos="4169410" algn="l"/>
                <a:tab pos="4565650" algn="l"/>
                <a:tab pos="5871845" algn="l"/>
                <a:tab pos="7545705" algn="l"/>
                <a:tab pos="7879080" algn="l"/>
              </a:tabLst>
            </a:pPr>
            <a:r>
              <a:rPr sz="2200" b="1" spc="-4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R</a:t>
            </a:r>
            <a:r>
              <a:rPr sz="22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elational</a:t>
            </a:r>
            <a:r>
              <a:rPr sz="22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	</a:t>
            </a:r>
            <a:r>
              <a:rPr sz="22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Ex</a:t>
            </a:r>
            <a:r>
              <a:rPr sz="22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p</a:t>
            </a:r>
            <a:r>
              <a:rPr sz="2200" b="1" spc="-5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r</a:t>
            </a:r>
            <a:r>
              <a:rPr sz="22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e</a:t>
            </a:r>
            <a:r>
              <a:rPr sz="22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</a:t>
            </a:r>
            <a:r>
              <a:rPr sz="22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sion</a:t>
            </a:r>
            <a:r>
              <a:rPr sz="22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	</a:t>
            </a:r>
            <a:r>
              <a:rPr sz="22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/</a:t>
            </a:r>
            <a:r>
              <a:rPr sz="22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	B</a:t>
            </a:r>
            <a:r>
              <a:rPr sz="22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oo</a:t>
            </a:r>
            <a:r>
              <a:rPr sz="22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l</a:t>
            </a:r>
            <a:r>
              <a:rPr sz="22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e</a:t>
            </a:r>
            <a:r>
              <a:rPr sz="22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22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n</a:t>
            </a:r>
            <a:r>
              <a:rPr sz="22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	</a:t>
            </a:r>
            <a:r>
              <a:rPr sz="22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E</a:t>
            </a:r>
            <a:r>
              <a:rPr sz="22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x</a:t>
            </a:r>
            <a:r>
              <a:rPr sz="22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p</a:t>
            </a:r>
            <a:r>
              <a:rPr sz="2200" b="1" spc="-5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r</a:t>
            </a:r>
            <a:r>
              <a:rPr sz="22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e</a:t>
            </a:r>
            <a:r>
              <a:rPr sz="22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</a:t>
            </a:r>
            <a:r>
              <a:rPr sz="22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sion</a:t>
            </a:r>
            <a:r>
              <a:rPr sz="22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	</a:t>
            </a:r>
            <a:r>
              <a:rPr sz="22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:</a:t>
            </a:r>
            <a:r>
              <a:rPr sz="22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An  expression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containing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relational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operator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126" y="3801694"/>
            <a:ext cx="7292594" cy="2829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8221345" cy="3006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8275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6891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1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Operators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in</a:t>
            </a:r>
            <a:r>
              <a:rPr sz="28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2800" b="1" spc="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Contd…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810"/>
              </a:spcBef>
              <a:buAutoNum type="alphaLcParenR"/>
              <a:tabLst>
                <a:tab pos="469900" algn="l"/>
                <a:tab pos="469900" algn="l"/>
              </a:tabLst>
            </a:pP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Relational</a:t>
            </a:r>
            <a:r>
              <a:rPr sz="2200" b="1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Operators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Contd…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marR="5080" lvl="1" indent="-4572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927100" algn="l"/>
                <a:tab pos="927735" algn="l"/>
                <a:tab pos="214947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Consider	a</a:t>
            </a:r>
            <a:r>
              <a:rPr sz="2200" spc="14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1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10</a:t>
            </a:r>
            <a:r>
              <a:rPr sz="2200" spc="1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and</a:t>
            </a:r>
            <a:r>
              <a:rPr sz="2200" spc="1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</a:t>
            </a:r>
            <a:r>
              <a:rPr sz="2200" spc="1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=4.</a:t>
            </a:r>
            <a:r>
              <a:rPr sz="2200" spc="1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relational</a:t>
            </a:r>
            <a:r>
              <a:rPr sz="2200" spc="1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expression</a:t>
            </a:r>
            <a:r>
              <a:rPr sz="2200" spc="1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returns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following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integer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values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181277" y="3743071"/>
          <a:ext cx="7057390" cy="2831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4550"/>
                <a:gridCol w="1584325"/>
                <a:gridCol w="2088515"/>
              </a:tblGrid>
              <a:tr h="45377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Relational</a:t>
                      </a:r>
                      <a:r>
                        <a:rPr sz="2000" b="1" spc="-4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Expression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Result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Return</a:t>
                      </a:r>
                      <a:r>
                        <a:rPr sz="2000" b="1" spc="-4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Values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latin typeface="Cambria" panose="02040503050406030204"/>
                          <a:cs typeface="Cambria" panose="02040503050406030204"/>
                        </a:rPr>
                        <a:t>a</a:t>
                      </a:r>
                      <a:r>
                        <a:rPr sz="2000" b="1" spc="-3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b="1" dirty="0">
                          <a:latin typeface="Cambria" panose="02040503050406030204"/>
                          <a:cs typeface="Cambria" panose="02040503050406030204"/>
                        </a:rPr>
                        <a:t>&lt;</a:t>
                      </a:r>
                      <a:r>
                        <a:rPr sz="2000" b="1" spc="-3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b="1" dirty="0">
                          <a:latin typeface="Cambria" panose="02040503050406030204"/>
                          <a:cs typeface="Cambria" panose="02040503050406030204"/>
                        </a:rPr>
                        <a:t>b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20" dirty="0">
                          <a:latin typeface="Cambria" panose="02040503050406030204"/>
                          <a:cs typeface="Cambria" panose="02040503050406030204"/>
                        </a:rPr>
                        <a:t>False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0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latin typeface="Cambria" panose="02040503050406030204"/>
                          <a:cs typeface="Cambria" panose="02040503050406030204"/>
                        </a:rPr>
                        <a:t>a</a:t>
                      </a:r>
                      <a:r>
                        <a:rPr sz="2000" b="1" spc="-3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b="1" dirty="0">
                          <a:latin typeface="Cambria" panose="02040503050406030204"/>
                          <a:cs typeface="Cambria" panose="02040503050406030204"/>
                        </a:rPr>
                        <a:t>&gt;</a:t>
                      </a:r>
                      <a:r>
                        <a:rPr sz="2000" b="1" spc="-3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b="1" dirty="0">
                          <a:latin typeface="Cambria" panose="02040503050406030204"/>
                          <a:cs typeface="Cambria" panose="02040503050406030204"/>
                        </a:rPr>
                        <a:t>b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20" dirty="0">
                          <a:latin typeface="Cambria" panose="02040503050406030204"/>
                          <a:cs typeface="Cambria" panose="02040503050406030204"/>
                        </a:rPr>
                        <a:t>True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1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latin typeface="Cambria" panose="02040503050406030204"/>
                          <a:cs typeface="Cambria" panose="02040503050406030204"/>
                        </a:rPr>
                        <a:t>a</a:t>
                      </a:r>
                      <a:r>
                        <a:rPr sz="2000" b="1" spc="-2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b="1" dirty="0">
                          <a:latin typeface="Cambria" panose="02040503050406030204"/>
                          <a:cs typeface="Cambria" panose="02040503050406030204"/>
                        </a:rPr>
                        <a:t>&lt;</a:t>
                      </a:r>
                      <a:r>
                        <a:rPr sz="2000" b="1" spc="-3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b="1" dirty="0">
                          <a:latin typeface="Cambria" panose="02040503050406030204"/>
                          <a:cs typeface="Cambria" panose="02040503050406030204"/>
                        </a:rPr>
                        <a:t>=</a:t>
                      </a:r>
                      <a:r>
                        <a:rPr sz="2000" b="1" spc="-2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b="1" dirty="0">
                          <a:latin typeface="Cambria" panose="02040503050406030204"/>
                          <a:cs typeface="Cambria" panose="02040503050406030204"/>
                        </a:rPr>
                        <a:t>b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20" dirty="0">
                          <a:latin typeface="Cambria" panose="02040503050406030204"/>
                          <a:cs typeface="Cambria" panose="02040503050406030204"/>
                        </a:rPr>
                        <a:t>False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0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3962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latin typeface="Cambria" panose="02040503050406030204"/>
                          <a:cs typeface="Cambria" panose="02040503050406030204"/>
                        </a:rPr>
                        <a:t>a</a:t>
                      </a:r>
                      <a:r>
                        <a:rPr sz="2000" b="1" spc="-3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b="1" dirty="0">
                          <a:latin typeface="Cambria" panose="02040503050406030204"/>
                          <a:cs typeface="Cambria" panose="02040503050406030204"/>
                        </a:rPr>
                        <a:t>&gt;</a:t>
                      </a:r>
                      <a:r>
                        <a:rPr sz="2000" b="1" spc="-2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b="1" dirty="0">
                          <a:latin typeface="Cambria" panose="02040503050406030204"/>
                          <a:cs typeface="Cambria" panose="02040503050406030204"/>
                        </a:rPr>
                        <a:t>=</a:t>
                      </a:r>
                      <a:r>
                        <a:rPr sz="2000" b="1" spc="-2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b="1" dirty="0">
                          <a:latin typeface="Cambria" panose="02040503050406030204"/>
                          <a:cs typeface="Cambria" panose="02040503050406030204"/>
                        </a:rPr>
                        <a:t>b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20" dirty="0">
                          <a:latin typeface="Cambria" panose="02040503050406030204"/>
                          <a:cs typeface="Cambria" panose="02040503050406030204"/>
                        </a:rPr>
                        <a:t>True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1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latin typeface="Cambria" panose="02040503050406030204"/>
                          <a:cs typeface="Cambria" panose="02040503050406030204"/>
                        </a:rPr>
                        <a:t>a</a:t>
                      </a:r>
                      <a:r>
                        <a:rPr sz="2000" b="1" spc="-3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b="1" dirty="0">
                          <a:latin typeface="Cambria" panose="02040503050406030204"/>
                          <a:cs typeface="Cambria" panose="02040503050406030204"/>
                        </a:rPr>
                        <a:t>=</a:t>
                      </a:r>
                      <a:r>
                        <a:rPr sz="2000" b="1" spc="-2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b="1" dirty="0">
                          <a:latin typeface="Cambria" panose="02040503050406030204"/>
                          <a:cs typeface="Cambria" panose="02040503050406030204"/>
                        </a:rPr>
                        <a:t>=</a:t>
                      </a:r>
                      <a:r>
                        <a:rPr sz="2000" b="1" spc="-2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b="1" dirty="0">
                          <a:latin typeface="Cambria" panose="02040503050406030204"/>
                          <a:cs typeface="Cambria" panose="02040503050406030204"/>
                        </a:rPr>
                        <a:t>b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20" dirty="0">
                          <a:latin typeface="Cambria" panose="02040503050406030204"/>
                          <a:cs typeface="Cambria" panose="02040503050406030204"/>
                        </a:rPr>
                        <a:t>False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0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396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latin typeface="Cambria" panose="02040503050406030204"/>
                          <a:cs typeface="Cambria" panose="02040503050406030204"/>
                        </a:rPr>
                        <a:t>a</a:t>
                      </a:r>
                      <a:r>
                        <a:rPr sz="2000" b="1" spc="-3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b="1" dirty="0">
                          <a:latin typeface="Cambria" panose="02040503050406030204"/>
                          <a:cs typeface="Cambria" panose="02040503050406030204"/>
                        </a:rPr>
                        <a:t>!</a:t>
                      </a:r>
                      <a:r>
                        <a:rPr sz="2000" b="1" spc="-2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b="1" dirty="0">
                          <a:latin typeface="Cambria" panose="02040503050406030204"/>
                          <a:cs typeface="Cambria" panose="02040503050406030204"/>
                        </a:rPr>
                        <a:t>=</a:t>
                      </a:r>
                      <a:r>
                        <a:rPr sz="2000" b="1" spc="-3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b="1" dirty="0">
                          <a:latin typeface="Cambria" panose="02040503050406030204"/>
                          <a:cs typeface="Cambria" panose="02040503050406030204"/>
                        </a:rPr>
                        <a:t>b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20" dirty="0">
                          <a:latin typeface="Cambria" panose="02040503050406030204"/>
                          <a:cs typeface="Cambria" panose="02040503050406030204"/>
                        </a:rPr>
                        <a:t>True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1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256628"/>
            <a:ext cx="8610600" cy="6125210"/>
          </a:xfrm>
          <a:custGeom>
            <a:avLst/>
            <a:gdLst/>
            <a:ahLst/>
            <a:cxnLst/>
            <a:rect l="l" t="t" r="r" b="b"/>
            <a:pathLst>
              <a:path w="8610600" h="6125210">
                <a:moveTo>
                  <a:pt x="0" y="6124702"/>
                </a:moveTo>
                <a:lnTo>
                  <a:pt x="8610600" y="6124702"/>
                </a:lnTo>
                <a:lnTo>
                  <a:pt x="8610600" y="0"/>
                </a:lnTo>
                <a:lnTo>
                  <a:pt x="0" y="0"/>
                </a:lnTo>
                <a:lnTo>
                  <a:pt x="0" y="612470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98194" y="282067"/>
            <a:ext cx="6112510" cy="6000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3764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/*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Program</a:t>
            </a:r>
            <a:r>
              <a:rPr sz="22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Relational</a:t>
            </a:r>
            <a:r>
              <a:rPr sz="220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Operations*/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224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#include&lt;stdio.h&gt;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main(</a:t>
            </a:r>
            <a:r>
              <a:rPr sz="2200" spc="-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41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>
              <a:lnSpc>
                <a:spcPct val="100000"/>
              </a:lnSpc>
              <a:spcBef>
                <a:spcPts val="3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8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a,b;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>
              <a:lnSpc>
                <a:spcPct val="100000"/>
              </a:lnSpc>
              <a:spcBef>
                <a:spcPts val="4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printf("Enter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two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Values</a:t>
            </a:r>
            <a:r>
              <a:rPr sz="2200" b="1" spc="-20" dirty="0">
                <a:latin typeface="Cambria" panose="02040503050406030204"/>
                <a:cs typeface="Cambria" panose="02040503050406030204"/>
              </a:rPr>
              <a:t>\n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");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>
              <a:lnSpc>
                <a:spcPct val="100000"/>
              </a:lnSpc>
              <a:spcBef>
                <a:spcPts val="4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scanf("%d%d",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&amp;a,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&amp;b);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>
              <a:lnSpc>
                <a:spcPct val="100000"/>
              </a:lnSpc>
              <a:spcBef>
                <a:spcPts val="4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printf(“a&gt;b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%d</a:t>
            </a:r>
            <a:r>
              <a:rPr sz="2200" b="1" spc="-45" dirty="0">
                <a:latin typeface="Cambria" panose="02040503050406030204"/>
                <a:cs typeface="Cambria" panose="02040503050406030204"/>
              </a:rPr>
              <a:t>\n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“,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(a&gt;b));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>
              <a:lnSpc>
                <a:spcPct val="100000"/>
              </a:lnSpc>
              <a:spcBef>
                <a:spcPts val="3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printf(“a&lt;b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%d</a:t>
            </a:r>
            <a:r>
              <a:rPr sz="2200" b="1" spc="-45" dirty="0">
                <a:latin typeface="Cambria" panose="02040503050406030204"/>
                <a:cs typeface="Cambria" panose="02040503050406030204"/>
              </a:rPr>
              <a:t>\n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“,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(a&lt;b));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 marR="1920875">
              <a:lnSpc>
                <a:spcPct val="115000"/>
              </a:lnSpc>
              <a:spcBef>
                <a:spcPts val="1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printf(“a&gt;=b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%d</a:t>
            </a:r>
            <a:r>
              <a:rPr sz="2200" b="1" spc="-45" dirty="0">
                <a:latin typeface="Cambria" panose="02040503050406030204"/>
                <a:cs typeface="Cambria" panose="02040503050406030204"/>
              </a:rPr>
              <a:t>\n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“,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(a&gt;=b));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printf(“a&lt;=b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%d</a:t>
            </a:r>
            <a:r>
              <a:rPr sz="2200" b="1" spc="-45" dirty="0">
                <a:latin typeface="Cambria" panose="02040503050406030204"/>
                <a:cs typeface="Cambria" panose="02040503050406030204"/>
              </a:rPr>
              <a:t>\n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“,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(a&lt;=b));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printf(“a==b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%d</a:t>
            </a:r>
            <a:r>
              <a:rPr sz="2200" b="1" spc="-45" dirty="0">
                <a:latin typeface="Cambria" panose="02040503050406030204"/>
                <a:cs typeface="Cambria" panose="02040503050406030204"/>
              </a:rPr>
              <a:t>\n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“,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(a==b));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printf(“a!=b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 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%d</a:t>
            </a:r>
            <a:r>
              <a:rPr sz="2200" b="1" spc="-45" dirty="0">
                <a:latin typeface="Cambria" panose="02040503050406030204"/>
                <a:cs typeface="Cambria" panose="02040503050406030204"/>
              </a:rPr>
              <a:t>\n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“,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(a!=b)); 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228600"/>
            <a:ext cx="8610600" cy="375539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295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4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2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 marR="6554470">
              <a:lnSpc>
                <a:spcPct val="123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&gt;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 </a:t>
            </a:r>
            <a:r>
              <a:rPr sz="2200" spc="-46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&lt;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 marR="6337935" algn="just">
              <a:lnSpc>
                <a:spcPct val="123000"/>
              </a:lnSpc>
              <a:spcBef>
                <a:spcPts val="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&gt;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 1 </a:t>
            </a:r>
            <a:r>
              <a:rPr sz="2200" spc="-47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&lt;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 0 </a:t>
            </a:r>
            <a:r>
              <a:rPr sz="2200" spc="-47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 0 </a:t>
            </a:r>
            <a:r>
              <a:rPr sz="2200" spc="-47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! =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3006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1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Operators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in</a:t>
            </a:r>
            <a:r>
              <a:rPr sz="28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2800" b="1" spc="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Contd…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810"/>
              </a:spcBef>
              <a:buAutoNum type="alphaLcParenR" startAt="2"/>
              <a:tabLst>
                <a:tab pos="469900" algn="l"/>
                <a:tab pos="469900" algn="l"/>
              </a:tabLst>
            </a:pP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Logical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Operators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Combines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two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or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more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relations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Used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testing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one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more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conditions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454" y="3891979"/>
            <a:ext cx="8233784" cy="26024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8223884" cy="35096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637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6637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170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1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Operators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in</a:t>
            </a:r>
            <a:r>
              <a:rPr sz="28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2800" b="1" spc="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Contd…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 algn="just">
              <a:lnSpc>
                <a:spcPct val="100000"/>
              </a:lnSpc>
              <a:spcBef>
                <a:spcPts val="1810"/>
              </a:spcBef>
              <a:buAutoNum type="alphaLcParenR" startAt="2"/>
              <a:tabLst>
                <a:tab pos="469900" algn="l"/>
              </a:tabLst>
            </a:pP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Logical </a:t>
            </a: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Operators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Contd…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marR="5080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927735" algn="l"/>
              </a:tabLst>
            </a:pPr>
            <a:r>
              <a:rPr sz="22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Logical </a:t>
            </a:r>
            <a:r>
              <a:rPr sz="22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Expression </a:t>
            </a:r>
            <a:r>
              <a:rPr sz="22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/ </a:t>
            </a:r>
            <a:r>
              <a:rPr sz="22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Compound </a:t>
            </a:r>
            <a:r>
              <a:rPr sz="22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Relational </a:t>
            </a:r>
            <a:r>
              <a:rPr sz="22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Expression </a:t>
            </a:r>
            <a:r>
              <a:rPr sz="22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: </a:t>
            </a:r>
            <a:r>
              <a:rPr sz="22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An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expression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which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combines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two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more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relational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expression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567307" y="4296790"/>
          <a:ext cx="5742305" cy="21501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4105"/>
                <a:gridCol w="1094105"/>
                <a:gridCol w="1848485"/>
                <a:gridCol w="1705610"/>
              </a:tblGrid>
              <a:tr h="426719">
                <a:tc>
                  <a:txBody>
                    <a:bodyPr/>
                    <a:lstStyle/>
                    <a:p>
                      <a:pPr marL="2838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Op1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Op2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Op1</a:t>
                      </a:r>
                      <a:r>
                        <a:rPr sz="2200" b="1" spc="-2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&amp;&amp;</a:t>
                      </a:r>
                      <a:r>
                        <a:rPr sz="2200" b="1" spc="-15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1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Op2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Op1</a:t>
                      </a:r>
                      <a:r>
                        <a:rPr sz="2200" b="1" spc="-3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||</a:t>
                      </a:r>
                      <a:r>
                        <a:rPr sz="2200" b="1" spc="-15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1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Op2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</a:tr>
              <a:tr h="430911">
                <a:tc>
                  <a:txBody>
                    <a:bodyPr/>
                    <a:lstStyle/>
                    <a:p>
                      <a:pPr marL="2565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F</a:t>
                      </a:r>
                      <a:r>
                        <a:rPr sz="2200" spc="-3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(0)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F</a:t>
                      </a:r>
                      <a:r>
                        <a:rPr sz="2200" spc="-3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(0)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F</a:t>
                      </a:r>
                      <a:r>
                        <a:rPr sz="2200" spc="-3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(0)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F</a:t>
                      </a:r>
                      <a:r>
                        <a:rPr sz="2200" spc="-3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(0)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430860">
                <a:tc>
                  <a:txBody>
                    <a:bodyPr/>
                    <a:lstStyle/>
                    <a:p>
                      <a:pPr marL="2565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F</a:t>
                      </a:r>
                      <a:r>
                        <a:rPr sz="2200" spc="-3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(0)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T</a:t>
                      </a:r>
                      <a:r>
                        <a:rPr sz="2200" spc="-4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(1)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F</a:t>
                      </a:r>
                      <a:r>
                        <a:rPr sz="2200" spc="-3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(0)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T</a:t>
                      </a:r>
                      <a:r>
                        <a:rPr sz="2200" spc="-4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(1)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  <a:tr h="430847">
                <a:tc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T</a:t>
                      </a:r>
                      <a:r>
                        <a:rPr sz="2200" spc="-4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(1)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F</a:t>
                      </a:r>
                      <a:r>
                        <a:rPr sz="2200" spc="-3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(0)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F</a:t>
                      </a:r>
                      <a:r>
                        <a:rPr sz="2200" spc="-3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(0)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T</a:t>
                      </a:r>
                      <a:r>
                        <a:rPr sz="2200" spc="-4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(1)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430860">
                <a:tc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T</a:t>
                      </a:r>
                      <a:r>
                        <a:rPr sz="2200" spc="-4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(1)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T</a:t>
                      </a:r>
                      <a:r>
                        <a:rPr sz="2200" spc="-4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(1)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T</a:t>
                      </a:r>
                      <a:r>
                        <a:rPr sz="2200" spc="-4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(1)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T</a:t>
                      </a:r>
                      <a:r>
                        <a:rPr sz="2200" spc="-4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(1)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8223250" cy="3006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637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67005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1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Operators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in</a:t>
            </a:r>
            <a:r>
              <a:rPr sz="28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2800" b="1" spc="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Contd…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810"/>
              </a:spcBef>
              <a:buAutoNum type="alphaLcParenR" startAt="2"/>
              <a:tabLst>
                <a:tab pos="469900" algn="l"/>
                <a:tab pos="469900" algn="l"/>
              </a:tabLst>
            </a:pP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Logical</a:t>
            </a:r>
            <a:r>
              <a:rPr sz="22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Operators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Contd…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marR="5080" lvl="1" indent="-4572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927100" algn="l"/>
                <a:tab pos="927735" algn="l"/>
                <a:tab pos="212344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Consider	a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10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and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=4.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Logical</a:t>
            </a:r>
            <a:r>
              <a:rPr sz="2200" spc="4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expression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returns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dirty="0">
                <a:latin typeface="Cambria" panose="02040503050406030204"/>
                <a:cs typeface="Cambria" panose="02040503050406030204"/>
              </a:rPr>
              <a:t>the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following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integer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values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03350" y="3669157"/>
          <a:ext cx="7127875" cy="29938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7690"/>
                <a:gridCol w="1784985"/>
                <a:gridCol w="2235200"/>
              </a:tblGrid>
              <a:tr h="433578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Relational</a:t>
                      </a:r>
                      <a:r>
                        <a:rPr sz="2200" b="1" spc="-3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1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Expression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15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Result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Return</a:t>
                      </a:r>
                      <a:r>
                        <a:rPr sz="2200" b="1" spc="-45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3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Values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</a:tr>
              <a:tr h="4267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a</a:t>
                      </a:r>
                      <a:r>
                        <a:rPr sz="2200" b="1" spc="-1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&lt;</a:t>
                      </a:r>
                      <a:r>
                        <a:rPr sz="2200" b="1" spc="-2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5</a:t>
                      </a:r>
                      <a:r>
                        <a:rPr sz="2200" b="1" spc="-1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&amp;&amp;</a:t>
                      </a:r>
                      <a:r>
                        <a:rPr sz="2200" b="1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b</a:t>
                      </a:r>
                      <a:r>
                        <a:rPr sz="2200" b="1" spc="-1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&gt;</a:t>
                      </a:r>
                      <a:r>
                        <a:rPr sz="2200" b="1" spc="-1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2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5" dirty="0">
                          <a:latin typeface="Cambria" panose="02040503050406030204"/>
                          <a:cs typeface="Cambria" panose="02040503050406030204"/>
                        </a:rPr>
                        <a:t>True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dirty="0">
                          <a:latin typeface="Cambria" panose="02040503050406030204"/>
                          <a:cs typeface="Cambria" panose="02040503050406030204"/>
                        </a:rPr>
                        <a:t>1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4267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a &lt;</a:t>
                      </a:r>
                      <a:r>
                        <a:rPr sz="2200" b="1" spc="-2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5</a:t>
                      </a:r>
                      <a:r>
                        <a:rPr sz="2200" b="1" spc="47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&amp;&amp; b</a:t>
                      </a:r>
                      <a:r>
                        <a:rPr sz="2200" b="1" spc="-1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&lt;</a:t>
                      </a:r>
                      <a:r>
                        <a:rPr sz="2200" b="1" spc="-1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2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5" dirty="0">
                          <a:latin typeface="Cambria" panose="02040503050406030204"/>
                          <a:cs typeface="Cambria" panose="02040503050406030204"/>
                        </a:rPr>
                        <a:t>False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dirty="0">
                          <a:latin typeface="Cambria" panose="02040503050406030204"/>
                          <a:cs typeface="Cambria" panose="02040503050406030204"/>
                        </a:rPr>
                        <a:t>0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  <a:tr h="4267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a</a:t>
                      </a:r>
                      <a:r>
                        <a:rPr sz="2200" b="1" spc="-1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&gt;5</a:t>
                      </a:r>
                      <a:r>
                        <a:rPr sz="2200" b="1" spc="-2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&amp;&amp;</a:t>
                      </a:r>
                      <a:r>
                        <a:rPr sz="2200" b="1" spc="-2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b</a:t>
                      </a:r>
                      <a:r>
                        <a:rPr sz="2200" b="1" spc="-1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&lt;</a:t>
                      </a:r>
                      <a:r>
                        <a:rPr sz="2200" b="1" spc="-2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2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5" dirty="0">
                          <a:latin typeface="Cambria" panose="02040503050406030204"/>
                          <a:cs typeface="Cambria" panose="02040503050406030204"/>
                        </a:rPr>
                        <a:t>False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dirty="0">
                          <a:latin typeface="Cambria" panose="02040503050406030204"/>
                          <a:cs typeface="Cambria" panose="02040503050406030204"/>
                        </a:rPr>
                        <a:t>0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4266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a</a:t>
                      </a:r>
                      <a:r>
                        <a:rPr sz="2200" b="1" spc="-1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&gt;5</a:t>
                      </a:r>
                      <a:r>
                        <a:rPr sz="2200" b="1" spc="-2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||</a:t>
                      </a:r>
                      <a:r>
                        <a:rPr sz="2200" b="1" spc="-2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b</a:t>
                      </a:r>
                      <a:r>
                        <a:rPr sz="2200" b="1" spc="-1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&lt;</a:t>
                      </a:r>
                      <a:r>
                        <a:rPr sz="2200" b="1" spc="-2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2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5" dirty="0">
                          <a:latin typeface="Cambria" panose="02040503050406030204"/>
                          <a:cs typeface="Cambria" panose="02040503050406030204"/>
                        </a:rPr>
                        <a:t>True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dirty="0">
                          <a:latin typeface="Cambria" panose="02040503050406030204"/>
                          <a:cs typeface="Cambria" panose="02040503050406030204"/>
                        </a:rPr>
                        <a:t>1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a</a:t>
                      </a:r>
                      <a:r>
                        <a:rPr sz="2200" b="1" spc="-1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&lt;5</a:t>
                      </a:r>
                      <a:r>
                        <a:rPr sz="2200" b="1" spc="-2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||</a:t>
                      </a:r>
                      <a:r>
                        <a:rPr sz="2200" b="1" spc="-2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b</a:t>
                      </a:r>
                      <a:r>
                        <a:rPr sz="2200" b="1" spc="-1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&lt;</a:t>
                      </a:r>
                      <a:r>
                        <a:rPr sz="2200" b="1" spc="-2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2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5" dirty="0">
                          <a:latin typeface="Cambria" panose="02040503050406030204"/>
                          <a:cs typeface="Cambria" panose="02040503050406030204"/>
                        </a:rPr>
                        <a:t>False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dirty="0">
                          <a:latin typeface="Cambria" panose="02040503050406030204"/>
                          <a:cs typeface="Cambria" panose="02040503050406030204"/>
                        </a:rPr>
                        <a:t>0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a &gt;</a:t>
                      </a:r>
                      <a:r>
                        <a:rPr sz="2200" b="1" spc="-2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5</a:t>
                      </a:r>
                      <a:r>
                        <a:rPr sz="2200" b="1" spc="-1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||</a:t>
                      </a:r>
                      <a:r>
                        <a:rPr sz="2200" b="1" spc="-1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b</a:t>
                      </a:r>
                      <a:r>
                        <a:rPr sz="2200" b="1" spc="-1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&lt;</a:t>
                      </a:r>
                      <a:r>
                        <a:rPr sz="2200" b="1" spc="-1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latin typeface="Cambria" panose="02040503050406030204"/>
                          <a:cs typeface="Cambria" panose="02040503050406030204"/>
                        </a:rPr>
                        <a:t>2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5" dirty="0">
                          <a:latin typeface="Cambria" panose="02040503050406030204"/>
                          <a:cs typeface="Cambria" panose="02040503050406030204"/>
                        </a:rPr>
                        <a:t>True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dirty="0">
                          <a:latin typeface="Cambria" panose="02040503050406030204"/>
                          <a:cs typeface="Cambria" panose="02040503050406030204"/>
                        </a:rPr>
                        <a:t>1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44004"/>
            <a:ext cx="8610600" cy="6109335"/>
          </a:xfrm>
          <a:custGeom>
            <a:avLst/>
            <a:gdLst/>
            <a:ahLst/>
            <a:cxnLst/>
            <a:rect l="l" t="t" r="r" b="b"/>
            <a:pathLst>
              <a:path w="8610600" h="6109335">
                <a:moveTo>
                  <a:pt x="0" y="6109335"/>
                </a:moveTo>
                <a:lnTo>
                  <a:pt x="8610600" y="6109335"/>
                </a:lnTo>
                <a:lnTo>
                  <a:pt x="8610600" y="0"/>
                </a:lnTo>
                <a:lnTo>
                  <a:pt x="0" y="0"/>
                </a:lnTo>
                <a:lnTo>
                  <a:pt x="0" y="610933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98194" y="369569"/>
            <a:ext cx="5932805" cy="5984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16075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/*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Program</a:t>
            </a:r>
            <a:r>
              <a:rPr sz="220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for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Logical</a:t>
            </a:r>
            <a:r>
              <a:rPr sz="220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Operations*/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212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#include&lt;stdio.h&gt;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main(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41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>
              <a:lnSpc>
                <a:spcPct val="100000"/>
              </a:lnSpc>
              <a:spcBef>
                <a:spcPts val="3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age,height;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 marR="1156335">
              <a:lnSpc>
                <a:spcPts val="3050"/>
              </a:lnSpc>
              <a:spcBef>
                <a:spcPts val="15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printf("Enter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Age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Candidate:</a:t>
            </a:r>
            <a:r>
              <a:rPr sz="2200" b="1" spc="-10" dirty="0">
                <a:latin typeface="Cambria" panose="02040503050406030204"/>
                <a:cs typeface="Cambria" panose="02040503050406030204"/>
              </a:rPr>
              <a:t>\n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");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scanf("%d",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&amp;age);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>
              <a:lnSpc>
                <a:spcPct val="100000"/>
              </a:lnSpc>
              <a:spcBef>
                <a:spcPts val="23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printf(“Enter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Height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Candidate:</a:t>
            </a:r>
            <a:r>
              <a:rPr sz="2200" b="1" spc="-10" dirty="0">
                <a:latin typeface="Cambria" panose="02040503050406030204"/>
                <a:cs typeface="Cambria" panose="02040503050406030204"/>
              </a:rPr>
              <a:t>\n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“);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>
              <a:lnSpc>
                <a:spcPct val="100000"/>
              </a:lnSpc>
              <a:spcBef>
                <a:spcPts val="3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scanf("%d", &amp;height);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>
              <a:lnSpc>
                <a:spcPct val="100000"/>
              </a:lnSpc>
              <a:spcBef>
                <a:spcPts val="41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if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((age&gt;=18)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&amp;&amp; (height&gt;=5))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 marR="779145" indent="457200">
              <a:lnSpc>
                <a:spcPct val="115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printf(“The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Candidate</a:t>
            </a:r>
            <a:r>
              <a:rPr sz="2200" spc="4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Selected”);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else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7100">
              <a:lnSpc>
                <a:spcPct val="100000"/>
              </a:lnSpc>
              <a:spcBef>
                <a:spcPts val="410"/>
              </a:spcBef>
            </a:pPr>
            <a:r>
              <a:rPr sz="2200" spc="-20" dirty="0">
                <a:latin typeface="Cambria" panose="02040503050406030204"/>
                <a:cs typeface="Cambria" panose="02040503050406030204"/>
              </a:rPr>
              <a:t>printf(“Sorry,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Candidate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not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Selected”);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>
              <a:lnSpc>
                <a:spcPct val="100000"/>
              </a:lnSpc>
              <a:spcBef>
                <a:spcPts val="39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700" y="228600"/>
            <a:ext cx="8610600" cy="375539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295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</a:t>
            </a:r>
            <a:r>
              <a:rPr sz="2200" b="1" i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1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 marR="4232910">
              <a:lnSpc>
                <a:spcPct val="123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Age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Candidate: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18 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Height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Candidate: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6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Candidate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Selected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25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</a:t>
            </a:r>
            <a:r>
              <a:rPr sz="2200" b="1" i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2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 marR="4232910">
              <a:lnSpc>
                <a:spcPct val="123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Age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Candidate: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19 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Height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Candidate: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4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5"/>
              </a:spcBef>
            </a:pPr>
            <a:r>
              <a:rPr sz="2200" spc="-35" dirty="0">
                <a:latin typeface="Cambria" panose="02040503050406030204"/>
                <a:cs typeface="Cambria" panose="02040503050406030204"/>
              </a:rPr>
              <a:t>Sorry,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Candidate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not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Selected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1044" y="5040071"/>
            <a:ext cx="7769225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469265" algn="l"/>
                <a:tab pos="469900" algn="l"/>
                <a:tab pos="803275" algn="l"/>
                <a:tab pos="2257425" algn="l"/>
                <a:tab pos="2571750" algn="l"/>
                <a:tab pos="2931160" algn="l"/>
                <a:tab pos="3591560" algn="l"/>
                <a:tab pos="4292600" algn="l"/>
                <a:tab pos="4839335" algn="l"/>
                <a:tab pos="5636895" algn="l"/>
                <a:tab pos="6859270" algn="l"/>
                <a:tab pos="746442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f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x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p</a:t>
            </a:r>
            <a:r>
              <a:rPr sz="2200" spc="-40" dirty="0">
                <a:latin typeface="Cambria" panose="02040503050406030204"/>
                <a:cs typeface="Cambria" panose="02040503050406030204"/>
              </a:rPr>
              <a:t>r</a:t>
            </a:r>
            <a:r>
              <a:rPr sz="2200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tru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h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en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he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v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alu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r</a:t>
            </a:r>
            <a:r>
              <a:rPr sz="2200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tur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n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ed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wi</a:t>
            </a:r>
            <a:r>
              <a:rPr sz="2200" dirty="0">
                <a:latin typeface="Cambria" panose="02040503050406030204"/>
                <a:cs typeface="Cambria" panose="02040503050406030204"/>
              </a:rPr>
              <a:t>l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l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be 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expression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469265" indent="-45720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469265" algn="l"/>
                <a:tab pos="46990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Otherwise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value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returned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will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expression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3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4" name="object 4"/>
          <p:cNvSpPr txBox="1"/>
          <p:nvPr/>
        </p:nvSpPr>
        <p:spPr>
          <a:xfrm>
            <a:off x="383540" y="549605"/>
            <a:ext cx="7350759" cy="40125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1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Operators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in</a:t>
            </a:r>
            <a:r>
              <a:rPr sz="28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2800" b="1" spc="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Contd…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810"/>
              </a:spcBef>
              <a:buAutoNum type="alphaLcParenR" startAt="3"/>
              <a:tabLst>
                <a:tab pos="469900" algn="l"/>
                <a:tab pos="469900" algn="l"/>
              </a:tabLst>
            </a:pP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Conditional</a:t>
            </a: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Operators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?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and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are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Conditional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Operators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Also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called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as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Ternary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Operators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5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Shorter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form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 if-then-else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b="1" i="1" spc="-10" dirty="0">
                <a:solidFill>
                  <a:srgbClr val="003300"/>
                </a:solidFill>
                <a:latin typeface="Cambria" panose="02040503050406030204"/>
                <a:cs typeface="Cambria" panose="02040503050406030204"/>
              </a:rPr>
              <a:t>Syntax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09927" y="4623536"/>
            <a:ext cx="5788025" cy="4622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marL="243205">
              <a:lnSpc>
                <a:spcPct val="100000"/>
              </a:lnSpc>
              <a:spcBef>
                <a:spcPts val="30"/>
              </a:spcBef>
            </a:pPr>
            <a:r>
              <a:rPr sz="2400" b="1" spc="-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Expression</a:t>
            </a:r>
            <a:r>
              <a:rPr sz="24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400" b="1" spc="-6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3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?</a:t>
            </a:r>
            <a:r>
              <a:rPr sz="24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Expression</a:t>
            </a:r>
            <a:r>
              <a:rPr sz="24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4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400" b="1" spc="-1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expression</a:t>
            </a:r>
            <a:r>
              <a:rPr sz="24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7537" y="2276906"/>
            <a:ext cx="3570604" cy="35496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91440" marR="1307465">
              <a:lnSpc>
                <a:spcPts val="3050"/>
              </a:lnSpc>
              <a:spcBef>
                <a:spcPts val="6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#inclu</a:t>
            </a:r>
            <a:r>
              <a:rPr sz="2200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&lt;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dirty="0">
                <a:latin typeface="Cambria" panose="02040503050406030204"/>
                <a:cs typeface="Cambria" panose="02040503050406030204"/>
              </a:rPr>
              <a:t>.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h&gt;  int main(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1440">
              <a:lnSpc>
                <a:spcPct val="100000"/>
              </a:lnSpc>
              <a:spcBef>
                <a:spcPts val="22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48640">
              <a:lnSpc>
                <a:spcPct val="100000"/>
              </a:lnSpc>
              <a:spcBef>
                <a:spcPts val="3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x,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y;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48640">
              <a:lnSpc>
                <a:spcPct val="100000"/>
              </a:lnSpc>
              <a:spcBef>
                <a:spcPts val="41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scanf("%d",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&amp;x);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48640">
              <a:lnSpc>
                <a:spcPct val="100000"/>
              </a:lnSpc>
              <a:spcBef>
                <a:spcPts val="3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y=(x &gt;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5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?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3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: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4);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48640" marR="1198880">
              <a:lnSpc>
                <a:spcPts val="3050"/>
              </a:lnSpc>
              <a:spcBef>
                <a:spcPts val="155"/>
              </a:spcBef>
            </a:pPr>
            <a:r>
              <a:rPr sz="2200" spc="-25" dirty="0">
                <a:latin typeface="Cambria" panose="02040503050406030204"/>
                <a:cs typeface="Cambria" panose="02040503050406030204"/>
              </a:rPr>
              <a:t>printf(“%d”,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y);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1440">
              <a:lnSpc>
                <a:spcPct val="100000"/>
              </a:lnSpc>
              <a:spcBef>
                <a:spcPts val="23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62397" y="1806155"/>
            <a:ext cx="3570604" cy="471932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92075" marR="1306195">
              <a:lnSpc>
                <a:spcPts val="3050"/>
              </a:lnSpc>
              <a:spcBef>
                <a:spcPts val="6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#inclu</a:t>
            </a:r>
            <a:r>
              <a:rPr sz="2200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&lt;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dirty="0">
                <a:latin typeface="Cambria" panose="02040503050406030204"/>
                <a:cs typeface="Cambria" panose="02040503050406030204"/>
              </a:rPr>
              <a:t>.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h&gt;  int main(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075">
              <a:lnSpc>
                <a:spcPct val="100000"/>
              </a:lnSpc>
              <a:spcBef>
                <a:spcPts val="22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49275">
              <a:lnSpc>
                <a:spcPct val="100000"/>
              </a:lnSpc>
              <a:spcBef>
                <a:spcPts val="3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x,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y;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49275" marR="1035050">
              <a:lnSpc>
                <a:spcPct val="115000"/>
              </a:lnSpc>
              <a:spcBef>
                <a:spcPts val="1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scanf("%d",</a:t>
            </a:r>
            <a:r>
              <a:rPr sz="2200" spc="-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&amp;x);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if(x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&gt;5)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6475">
              <a:lnSpc>
                <a:spcPct val="100000"/>
              </a:lnSpc>
              <a:spcBef>
                <a:spcPts val="4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y=3;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49275">
              <a:lnSpc>
                <a:spcPct val="100000"/>
              </a:lnSpc>
              <a:spcBef>
                <a:spcPts val="41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else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6475">
              <a:lnSpc>
                <a:spcPct val="100000"/>
              </a:lnSpc>
              <a:spcBef>
                <a:spcPts val="39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y=4;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49275">
              <a:lnSpc>
                <a:spcPct val="100000"/>
              </a:lnSpc>
              <a:spcBef>
                <a:spcPts val="395"/>
              </a:spcBef>
            </a:pPr>
            <a:r>
              <a:rPr sz="2200" spc="-25" dirty="0">
                <a:latin typeface="Cambria" panose="02040503050406030204"/>
                <a:cs typeface="Cambria" panose="02040503050406030204"/>
              </a:rPr>
              <a:t>printf(“%d”,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y);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49275">
              <a:lnSpc>
                <a:spcPct val="100000"/>
              </a:lnSpc>
              <a:spcBef>
                <a:spcPts val="41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075">
              <a:lnSpc>
                <a:spcPct val="100000"/>
              </a:lnSpc>
              <a:spcBef>
                <a:spcPts val="3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5" name="object 5"/>
          <p:cNvSpPr txBox="1"/>
          <p:nvPr/>
        </p:nvSpPr>
        <p:spPr>
          <a:xfrm>
            <a:off x="1422653" y="549605"/>
            <a:ext cx="6311900" cy="792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149852" y="3782695"/>
            <a:ext cx="763270" cy="661035"/>
            <a:chOff x="4149852" y="3782695"/>
            <a:chExt cx="763270" cy="661035"/>
          </a:xfrm>
        </p:grpSpPr>
        <p:sp>
          <p:nvSpPr>
            <p:cNvPr id="8" name="object 8"/>
            <p:cNvSpPr/>
            <p:nvPr/>
          </p:nvSpPr>
          <p:spPr>
            <a:xfrm>
              <a:off x="4156202" y="3789045"/>
              <a:ext cx="750570" cy="648335"/>
            </a:xfrm>
            <a:custGeom>
              <a:avLst/>
              <a:gdLst/>
              <a:ahLst/>
              <a:cxnLst/>
              <a:rect l="l" t="t" r="r" b="b"/>
              <a:pathLst>
                <a:path w="750570" h="648335">
                  <a:moveTo>
                    <a:pt x="426338" y="0"/>
                  </a:moveTo>
                  <a:lnTo>
                    <a:pt x="426338" y="162051"/>
                  </a:lnTo>
                  <a:lnTo>
                    <a:pt x="0" y="162051"/>
                  </a:lnTo>
                  <a:lnTo>
                    <a:pt x="0" y="486028"/>
                  </a:lnTo>
                  <a:lnTo>
                    <a:pt x="426338" y="486028"/>
                  </a:lnTo>
                  <a:lnTo>
                    <a:pt x="426338" y="648080"/>
                  </a:lnTo>
                  <a:lnTo>
                    <a:pt x="750443" y="323976"/>
                  </a:lnTo>
                  <a:lnTo>
                    <a:pt x="426338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156202" y="3789045"/>
              <a:ext cx="750570" cy="648335"/>
            </a:xfrm>
            <a:custGeom>
              <a:avLst/>
              <a:gdLst/>
              <a:ahLst/>
              <a:cxnLst/>
              <a:rect l="l" t="t" r="r" b="b"/>
              <a:pathLst>
                <a:path w="750570" h="648335">
                  <a:moveTo>
                    <a:pt x="0" y="162051"/>
                  </a:moveTo>
                  <a:lnTo>
                    <a:pt x="426338" y="162051"/>
                  </a:lnTo>
                  <a:lnTo>
                    <a:pt x="426338" y="0"/>
                  </a:lnTo>
                  <a:lnTo>
                    <a:pt x="750443" y="323976"/>
                  </a:lnTo>
                  <a:lnTo>
                    <a:pt x="426338" y="648080"/>
                  </a:lnTo>
                  <a:lnTo>
                    <a:pt x="426338" y="486028"/>
                  </a:lnTo>
                  <a:lnTo>
                    <a:pt x="0" y="486028"/>
                  </a:lnTo>
                  <a:lnTo>
                    <a:pt x="0" y="162051"/>
                  </a:lnTo>
                  <a:close/>
                </a:path>
              </a:pathLst>
            </a:custGeom>
            <a:ln w="12699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52453"/>
            <a:ext cx="8610600" cy="6663690"/>
          </a:xfrm>
          <a:custGeom>
            <a:avLst/>
            <a:gdLst/>
            <a:ahLst/>
            <a:cxnLst/>
            <a:rect l="l" t="t" r="r" b="b"/>
            <a:pathLst>
              <a:path w="8610600" h="6663690">
                <a:moveTo>
                  <a:pt x="0" y="6663308"/>
                </a:moveTo>
                <a:lnTo>
                  <a:pt x="8610600" y="6663308"/>
                </a:lnTo>
                <a:lnTo>
                  <a:pt x="8610600" y="0"/>
                </a:lnTo>
                <a:lnTo>
                  <a:pt x="0" y="0"/>
                </a:lnTo>
                <a:lnTo>
                  <a:pt x="0" y="666330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3540" y="101124"/>
            <a:ext cx="8009890" cy="661098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990725">
              <a:lnSpc>
                <a:spcPct val="100000"/>
              </a:lnSpc>
              <a:spcBef>
                <a:spcPts val="700"/>
              </a:spcBef>
            </a:pP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/*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Program</a:t>
            </a:r>
            <a:r>
              <a:rPr sz="22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Addition</a:t>
            </a:r>
            <a:r>
              <a:rPr sz="220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(or)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Multiplication*/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#include&lt;stdio.h&gt;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main(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  <a:tabLst>
                <a:tab pos="144081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	a, b,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result,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choice;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7100" marR="3260090">
              <a:lnSpc>
                <a:spcPct val="123000"/>
              </a:lnSpc>
              <a:spcBef>
                <a:spcPts val="5"/>
              </a:spcBef>
              <a:tabLst>
                <a:tab pos="260858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printf(“Enter	first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\n”);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scanf(“%d”,&amp;a);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printf(”Enter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second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number\n”);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200" spc="-20" dirty="0">
                <a:latin typeface="Cambria" panose="02040503050406030204"/>
                <a:cs typeface="Cambria" panose="02040503050406030204"/>
              </a:rPr>
              <a:t>scanf(“%d”,&amp;b);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7100" marR="574040">
              <a:lnSpc>
                <a:spcPct val="123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printf(“Enter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for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addition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for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multiplication\n”);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scanf(“%d”,&amp;choice);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7100" marR="5080">
              <a:lnSpc>
                <a:spcPts val="3240"/>
              </a:lnSpc>
              <a:spcBef>
                <a:spcPts val="21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result</a:t>
            </a:r>
            <a:r>
              <a:rPr sz="2200" spc="4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(choice==1)?a+b:(choice==2)?a*b:printf(“Invalid”);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if(choice==1||choice==2)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7100" marR="2658110">
              <a:lnSpc>
                <a:spcPts val="324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printf(“The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result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%d\n\n”,result); </a:t>
            </a:r>
            <a:r>
              <a:rPr sz="2200" spc="-46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700" y="228600"/>
            <a:ext cx="8610600" cy="31394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295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50">
              <a:latin typeface="Cambria" panose="02040503050406030204"/>
              <a:cs typeface="Cambria" panose="02040503050406030204"/>
            </a:endParaRPr>
          </a:p>
          <a:p>
            <a:pPr marL="1005840" marR="5373370">
              <a:lnSpc>
                <a:spcPct val="100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Enter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first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10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second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3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 marR="2563495">
              <a:lnSpc>
                <a:spcPct val="100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for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addition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or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multiplication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result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 30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52438"/>
            <a:ext cx="8610600" cy="5847715"/>
          </a:xfrm>
          <a:custGeom>
            <a:avLst/>
            <a:gdLst/>
            <a:ahLst/>
            <a:cxnLst/>
            <a:rect l="l" t="t" r="r" b="b"/>
            <a:pathLst>
              <a:path w="8610600" h="5847715">
                <a:moveTo>
                  <a:pt x="0" y="5847714"/>
                </a:moveTo>
                <a:lnTo>
                  <a:pt x="8610600" y="5847714"/>
                </a:lnTo>
                <a:lnTo>
                  <a:pt x="8610600" y="0"/>
                </a:lnTo>
                <a:lnTo>
                  <a:pt x="0" y="0"/>
                </a:lnTo>
                <a:lnTo>
                  <a:pt x="0" y="584771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3540" y="177799"/>
            <a:ext cx="8345170" cy="5725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5410" algn="ctr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/*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Program</a:t>
            </a:r>
            <a:r>
              <a:rPr sz="2200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to</a:t>
            </a:r>
            <a:r>
              <a:rPr sz="22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find</a:t>
            </a:r>
            <a:r>
              <a:rPr sz="220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sz="220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maximum</a:t>
            </a:r>
            <a:r>
              <a:rPr sz="220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of 3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Numbers*/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50">
              <a:latin typeface="Cambria" panose="02040503050406030204"/>
              <a:cs typeface="Cambria" panose="02040503050406030204"/>
            </a:endParaRPr>
          </a:p>
          <a:p>
            <a:pPr marL="74930" marR="6096635" indent="-62865">
              <a:lnSpc>
                <a:spcPct val="146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#include</a:t>
            </a:r>
            <a:r>
              <a:rPr sz="2200" spc="-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&lt;stdio.h&gt; </a:t>
            </a:r>
            <a:r>
              <a:rPr sz="2200" spc="-46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main(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74930">
              <a:lnSpc>
                <a:spcPct val="100000"/>
              </a:lnSpc>
              <a:spcBef>
                <a:spcPts val="12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32130">
              <a:lnSpc>
                <a:spcPct val="100000"/>
              </a:lnSpc>
              <a:spcBef>
                <a:spcPts val="12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a,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b,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c,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max;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printf("Enter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three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numbers: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");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scanf("%d%d%d",&amp;a,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&amp;b, &amp;c);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max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(a &gt;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 &amp;&amp;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 &gt; c)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? a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: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(b &gt;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dirty="0">
                <a:latin typeface="Cambria" panose="02040503050406030204"/>
                <a:cs typeface="Cambria" panose="02040503050406030204"/>
              </a:rPr>
              <a:t>c)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? b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: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printf("\n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Maximum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between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%d,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%d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and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%d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 %d",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a,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b,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c,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max);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>
              <a:lnSpc>
                <a:spcPct val="100000"/>
              </a:lnSpc>
              <a:spcBef>
                <a:spcPts val="120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700" y="228600"/>
            <a:ext cx="8610600" cy="16160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44145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1135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 marR="3564255">
              <a:lnSpc>
                <a:spcPct val="150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three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numbers: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30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10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40 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Maximum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between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a,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and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c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40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8226425" cy="60248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3195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63195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2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Operator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Precedence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810"/>
              </a:spcBef>
              <a:buFont typeface="Wingdings" panose="05000000000000000000" pitchFamily="2" charset="2"/>
              <a:buChar char="Ø"/>
              <a:tabLst>
                <a:tab pos="469900" algn="l"/>
                <a:tab pos="469900" algn="l"/>
                <a:tab pos="1823085" algn="l"/>
                <a:tab pos="3451225" algn="l"/>
                <a:tab pos="3855085" algn="l"/>
                <a:tab pos="4627880" algn="l"/>
                <a:tab pos="5073015" algn="l"/>
                <a:tab pos="6516370" algn="l"/>
                <a:tab pos="7105650" algn="l"/>
                <a:tab pos="7978140" algn="l"/>
              </a:tabLst>
            </a:pPr>
            <a:r>
              <a:rPr sz="2200" b="1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</a:t>
            </a:r>
            <a:r>
              <a:rPr sz="2200" b="1" i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</a:t>
            </a:r>
            <a:r>
              <a:rPr sz="2200" b="1" i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r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2200" b="1" i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</a:t>
            </a:r>
            <a:r>
              <a:rPr sz="2200" b="1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r</a:t>
            </a:r>
            <a:r>
              <a:rPr sz="2200" b="1" i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	P</a:t>
            </a:r>
            <a:r>
              <a:rPr sz="2200" b="1" i="1" spc="-4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r</a:t>
            </a:r>
            <a:r>
              <a:rPr sz="2200" b="1" i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</a:t>
            </a:r>
            <a:r>
              <a:rPr sz="2200" b="1" i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ede</a:t>
            </a:r>
            <a:r>
              <a:rPr sz="2200" b="1" i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n</a:t>
            </a:r>
            <a:r>
              <a:rPr sz="2200" b="1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</a:t>
            </a:r>
            <a:r>
              <a:rPr sz="2200" b="1" i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	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use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er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m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dirty="0">
                <a:latin typeface="Cambria" panose="02040503050406030204"/>
                <a:cs typeface="Cambria" panose="02040503050406030204"/>
              </a:rPr>
              <a:t>n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he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er</a:t>
            </a:r>
            <a:r>
              <a:rPr sz="2200" dirty="0">
                <a:latin typeface="Cambria" panose="02040503050406030204"/>
                <a:cs typeface="Cambria" panose="02040503050406030204"/>
              </a:rPr>
              <a:t>	of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800" indent="-34290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operators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evaluated</a:t>
            </a:r>
            <a:r>
              <a:rPr sz="2200" spc="4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an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expression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25" dirty="0">
                <a:latin typeface="Cambria" panose="02040503050406030204"/>
                <a:cs typeface="Cambria" panose="02040503050406030204"/>
              </a:rPr>
              <a:t>Every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operator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has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precedence</a:t>
            </a:r>
            <a:r>
              <a:rPr sz="2200" spc="4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(Priority)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marR="6350" lvl="1" indent="-457200">
              <a:lnSpc>
                <a:spcPct val="150000"/>
              </a:lnSpc>
              <a:spcBef>
                <a:spcPts val="5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Operator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with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higher precedence is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evaluated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first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and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dirty="0">
                <a:latin typeface="Cambria" panose="02040503050406030204"/>
                <a:cs typeface="Cambria" panose="02040503050406030204"/>
              </a:rPr>
              <a:t>the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operator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with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least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precedence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evaluated</a:t>
            </a:r>
            <a:r>
              <a:rPr sz="2200" spc="6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last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469900" marR="7620" indent="-457835">
              <a:lnSpc>
                <a:spcPts val="3960"/>
              </a:lnSpc>
              <a:spcBef>
                <a:spcPts val="350"/>
              </a:spcBef>
              <a:buFont typeface="Wingdings" panose="05000000000000000000" pitchFamily="2" charset="2"/>
              <a:buChar char="Ø"/>
              <a:tabLst>
                <a:tab pos="469900" algn="l"/>
                <a:tab pos="469900" algn="l"/>
              </a:tabLst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Associativity</a:t>
            </a:r>
            <a:r>
              <a:rPr sz="2200" b="1" i="1" spc="37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37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used</a:t>
            </a:r>
            <a:r>
              <a:rPr sz="2200" spc="38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when</a:t>
            </a:r>
            <a:r>
              <a:rPr sz="2200" spc="38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two</a:t>
            </a:r>
            <a:r>
              <a:rPr sz="2200" spc="36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operators</a:t>
            </a:r>
            <a:r>
              <a:rPr sz="2200" spc="39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38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dirty="0">
                <a:latin typeface="Cambria" panose="02040503050406030204"/>
                <a:cs typeface="Cambria" panose="02040503050406030204"/>
              </a:rPr>
              <a:t>same</a:t>
            </a:r>
            <a:r>
              <a:rPr sz="2200" spc="36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precedence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appear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an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expression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97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Determines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order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evaluation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those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operators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Associativity</a:t>
            </a:r>
            <a:r>
              <a:rPr sz="2200" spc="5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can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either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Left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Right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or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Right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Left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8224520" cy="5521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65735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Operator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Precedence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Contd…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810"/>
              </a:spcBef>
              <a:buFont typeface="Wingdings" panose="05000000000000000000" pitchFamily="2" charset="2"/>
              <a:buChar char="Ø"/>
              <a:tabLst>
                <a:tab pos="469900" algn="l"/>
                <a:tab pos="469900" algn="l"/>
              </a:tabLst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Operators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are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listed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descending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order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precedence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469900" marR="5080" indent="-457835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469900" algn="l"/>
                <a:tab pos="469900" algn="l"/>
                <a:tab pos="1022985" algn="l"/>
                <a:tab pos="2568575" algn="l"/>
                <a:tab pos="3208655" algn="l"/>
                <a:tab pos="4324350" algn="l"/>
                <a:tab pos="5398770" algn="l"/>
                <a:tab pos="6787515" algn="l"/>
                <a:tab pos="755586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x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p</a:t>
            </a:r>
            <a:r>
              <a:rPr sz="2200" spc="-40" dirty="0">
                <a:latin typeface="Cambria" panose="02040503050406030204"/>
                <a:cs typeface="Cambria" panose="02040503050406030204"/>
              </a:rPr>
              <a:t>r</a:t>
            </a:r>
            <a:r>
              <a:rPr sz="2200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ion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c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ntai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v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r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l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p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r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r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th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equ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al  precedence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marR="6350" lvl="1" indent="-457200">
              <a:lnSpc>
                <a:spcPct val="150000"/>
              </a:lnSpc>
              <a:spcBef>
                <a:spcPts val="5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  <a:tab pos="2343150" algn="l"/>
                <a:tab pos="3577590" algn="l"/>
                <a:tab pos="4894580" algn="l"/>
                <a:tab pos="5281930" algn="l"/>
                <a:tab pos="5814060" algn="l"/>
                <a:tab pos="7446645" algn="l"/>
                <a:tab pos="7825740" algn="l"/>
              </a:tabLst>
            </a:pPr>
            <a:r>
              <a:rPr sz="2200" spc="-60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v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al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u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atio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p</a:t>
            </a:r>
            <a:r>
              <a:rPr sz="2200" spc="-40" dirty="0">
                <a:latin typeface="Cambria" panose="02040503050406030204"/>
                <a:cs typeface="Cambria" panose="02040503050406030204"/>
              </a:rPr>
              <a:t>r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oc</a:t>
            </a:r>
            <a:r>
              <a:rPr sz="2200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eds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dirty="0">
                <a:latin typeface="Cambria" panose="02040503050406030204"/>
                <a:cs typeface="Cambria" panose="02040503050406030204"/>
              </a:rPr>
              <a:t>c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</a:t>
            </a:r>
            <a:r>
              <a:rPr sz="2200" spc="-40" dirty="0">
                <a:latin typeface="Cambria" panose="02040503050406030204"/>
                <a:cs typeface="Cambria" panose="02040503050406030204"/>
              </a:rPr>
              <a:t>r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g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he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soc</a:t>
            </a:r>
            <a:r>
              <a:rPr sz="2200" dirty="0">
                <a:latin typeface="Cambria" panose="02040503050406030204"/>
                <a:cs typeface="Cambria" panose="02040503050406030204"/>
              </a:rPr>
              <a:t>ia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40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vi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y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f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 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operator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i.e.,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384300" lvl="2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1384300" algn="l"/>
                <a:tab pos="1384935" algn="l"/>
              </a:tabLst>
            </a:pPr>
            <a:r>
              <a:rPr sz="2200" spc="-25" dirty="0">
                <a:latin typeface="Cambria" panose="02040503050406030204"/>
                <a:cs typeface="Cambria" panose="02040503050406030204"/>
              </a:rPr>
              <a:t>From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Right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Left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(or)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384300" lvl="2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1384300" algn="l"/>
                <a:tab pos="1384935" algn="l"/>
              </a:tabLst>
            </a:pPr>
            <a:r>
              <a:rPr sz="2200" spc="-25" dirty="0">
                <a:latin typeface="Cambria" panose="02040503050406030204"/>
                <a:cs typeface="Cambria" panose="02040503050406030204"/>
              </a:rPr>
              <a:t>From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Left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Right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469900" algn="l"/>
                <a:tab pos="469900" algn="l"/>
              </a:tabLst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Note:</a:t>
            </a:r>
            <a:r>
              <a:rPr sz="2200" b="1" i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Order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operations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not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defined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by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language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60540" y="1772818"/>
            <a:ext cx="8631936" cy="485546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4" name="object 4"/>
          <p:cNvSpPr txBox="1"/>
          <p:nvPr/>
        </p:nvSpPr>
        <p:spPr>
          <a:xfrm>
            <a:off x="1422653" y="549605"/>
            <a:ext cx="6311900" cy="792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914005" cy="6058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5615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47625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195"/>
              </a:spcBef>
            </a:pP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3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Expressions using</a:t>
            </a:r>
            <a:r>
              <a:rPr sz="24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Pre/Post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Increment </a:t>
            </a:r>
            <a:r>
              <a:rPr sz="24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Operator</a:t>
            </a:r>
            <a:endParaRPr sz="24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Ø"/>
              <a:tabLst>
                <a:tab pos="469900" algn="l"/>
                <a:tab pos="469900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Increment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operators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increase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value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variable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by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one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469900" algn="l"/>
                <a:tab pos="469900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Decrement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operators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decrease</a:t>
            </a:r>
            <a:r>
              <a:rPr sz="2200" spc="4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value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variable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by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one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469900" algn="l"/>
                <a:tab pos="469900" algn="l"/>
              </a:tabLst>
            </a:pPr>
            <a:r>
              <a:rPr sz="2200" b="1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Syntax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327785" marR="668020" indent="-342900">
              <a:lnSpc>
                <a:spcPct val="150000"/>
              </a:lnSpc>
              <a:spcBef>
                <a:spcPts val="5"/>
              </a:spcBef>
              <a:buFont typeface="Wingdings" panose="05000000000000000000" pitchFamily="2" charset="2"/>
              <a:buChar char="Ø"/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Increment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operator: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++var_name;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(or)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var_name++;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Decrement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operator: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–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-var_name;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(or)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var_name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–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-;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469900" algn="l"/>
                <a:tab pos="469900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Example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2406650" marR="1746885" indent="-3429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5535930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Increment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operator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:</a:t>
            </a:r>
            <a:r>
              <a:rPr sz="2200" spc="50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++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 smtClean="0">
                <a:latin typeface="Cambria" panose="02040503050406030204"/>
                <a:cs typeface="Cambria" panose="02040503050406030204"/>
              </a:rPr>
              <a:t>;i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++ 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Decrement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operator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 smtClean="0">
                <a:latin typeface="Cambria" panose="02040503050406030204"/>
                <a:cs typeface="Cambria" panose="02040503050406030204"/>
              </a:rPr>
              <a:t>:–</a:t>
            </a:r>
            <a:r>
              <a:rPr sz="2200" spc="10" dirty="0" smtClean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–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 smtClean="0">
                <a:latin typeface="Cambria" panose="02040503050406030204"/>
                <a:cs typeface="Cambria" panose="02040503050406030204"/>
              </a:rPr>
              <a:t>;i</a:t>
            </a:r>
            <a:r>
              <a:rPr sz="2200" spc="-20" dirty="0" smtClean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–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 smtClean="0">
                <a:latin typeface="Cambria" panose="02040503050406030204"/>
                <a:cs typeface="Cambria" panose="02040503050406030204"/>
              </a:rPr>
              <a:t>–</a:t>
            </a:r>
            <a:r>
              <a:rPr sz="2200" spc="-30" dirty="0" smtClean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 smtClean="0">
                <a:latin typeface="Cambria" panose="02040503050406030204"/>
                <a:cs typeface="Cambria" panose="02040503050406030204"/>
              </a:rPr>
              <a:t>;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52400"/>
            <a:ext cx="8625205" cy="6537959"/>
          </a:xfrm>
          <a:custGeom>
            <a:avLst/>
            <a:gdLst/>
            <a:ahLst/>
            <a:cxnLst/>
            <a:rect l="l" t="t" r="r" b="b"/>
            <a:pathLst>
              <a:path w="8625205" h="6537959">
                <a:moveTo>
                  <a:pt x="0" y="4847463"/>
                </a:moveTo>
                <a:lnTo>
                  <a:pt x="8610600" y="4847463"/>
                </a:lnTo>
                <a:lnTo>
                  <a:pt x="8610600" y="0"/>
                </a:lnTo>
                <a:lnTo>
                  <a:pt x="0" y="0"/>
                </a:lnTo>
                <a:lnTo>
                  <a:pt x="0" y="4847463"/>
                </a:lnTo>
                <a:close/>
              </a:path>
              <a:path w="8625205" h="6537959">
                <a:moveTo>
                  <a:pt x="14312" y="6537350"/>
                </a:moveTo>
                <a:lnTo>
                  <a:pt x="8624912" y="6537350"/>
                </a:lnTo>
                <a:lnTo>
                  <a:pt x="8624912" y="4890795"/>
                </a:lnTo>
                <a:lnTo>
                  <a:pt x="14312" y="4890795"/>
                </a:lnTo>
                <a:lnTo>
                  <a:pt x="14312" y="65373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41044" y="177799"/>
            <a:ext cx="6672580" cy="6395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7503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/*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Expresssions</a:t>
            </a:r>
            <a:r>
              <a:rPr sz="2200" spc="4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using</a:t>
            </a:r>
            <a:r>
              <a:rPr sz="22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Pre-Increment</a:t>
            </a:r>
            <a:r>
              <a:rPr sz="2200" spc="3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Operator*/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Cambria" panose="02040503050406030204"/>
              <a:cs typeface="Cambria" panose="02040503050406030204"/>
            </a:endParaRPr>
          </a:p>
          <a:p>
            <a:pPr marL="12700" marR="4488180">
              <a:lnSpc>
                <a:spcPct val="123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#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inc</a:t>
            </a:r>
            <a:r>
              <a:rPr sz="2200" dirty="0">
                <a:latin typeface="Cambria" panose="02040503050406030204"/>
                <a:cs typeface="Cambria" panose="02040503050406030204"/>
              </a:rPr>
              <a:t>l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ude&lt;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o.</a:t>
            </a:r>
            <a:r>
              <a:rPr sz="2200" dirty="0">
                <a:latin typeface="Cambria" panose="02040503050406030204"/>
                <a:cs typeface="Cambria" panose="02040503050406030204"/>
              </a:rPr>
              <a:t>h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&gt;  int main(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6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x,i;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i=10;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x=++i;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printf("x: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%d",x);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 marR="3797300">
              <a:lnSpc>
                <a:spcPct val="123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printf("i: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%d",i);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>
              <a:latin typeface="Cambria" panose="02040503050406030204"/>
              <a:cs typeface="Cambria" panose="02040503050406030204"/>
            </a:endParaRPr>
          </a:p>
          <a:p>
            <a:pPr marL="483870">
              <a:lnSpc>
                <a:spcPct val="100000"/>
              </a:lnSpc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83870">
              <a:lnSpc>
                <a:spcPct val="100000"/>
              </a:lnSpc>
              <a:spcBef>
                <a:spcPts val="168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x: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11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83870">
              <a:lnSpc>
                <a:spcPct val="100000"/>
              </a:lnSpc>
              <a:spcBef>
                <a:spcPts val="12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i: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11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52400"/>
            <a:ext cx="8610600" cy="4847590"/>
          </a:xfrm>
          <a:custGeom>
            <a:avLst/>
            <a:gdLst/>
            <a:ahLst/>
            <a:cxnLst/>
            <a:rect l="l" t="t" r="r" b="b"/>
            <a:pathLst>
              <a:path w="8610600" h="4847590">
                <a:moveTo>
                  <a:pt x="0" y="4847463"/>
                </a:moveTo>
                <a:lnTo>
                  <a:pt x="8610600" y="4847463"/>
                </a:lnTo>
                <a:lnTo>
                  <a:pt x="8610600" y="0"/>
                </a:lnTo>
                <a:lnTo>
                  <a:pt x="0" y="0"/>
                </a:lnTo>
                <a:lnTo>
                  <a:pt x="0" y="484746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41044" y="177799"/>
            <a:ext cx="6727190" cy="4728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19785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/*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Expresssions</a:t>
            </a:r>
            <a:r>
              <a:rPr sz="2200" spc="4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using</a:t>
            </a:r>
            <a:r>
              <a:rPr sz="2200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Post-Increment</a:t>
            </a:r>
            <a:r>
              <a:rPr sz="2200" spc="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Operator*/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Cambria" panose="02040503050406030204"/>
              <a:cs typeface="Cambria" panose="02040503050406030204"/>
            </a:endParaRPr>
          </a:p>
          <a:p>
            <a:pPr marL="12700" marR="4543425">
              <a:lnSpc>
                <a:spcPct val="123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#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inc</a:t>
            </a:r>
            <a:r>
              <a:rPr sz="2200" dirty="0">
                <a:latin typeface="Cambria" panose="02040503050406030204"/>
                <a:cs typeface="Cambria" panose="02040503050406030204"/>
              </a:rPr>
              <a:t>l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ude&lt;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o.</a:t>
            </a:r>
            <a:r>
              <a:rPr sz="2200" dirty="0">
                <a:latin typeface="Cambria" panose="02040503050406030204"/>
                <a:cs typeface="Cambria" panose="02040503050406030204"/>
              </a:rPr>
              <a:t>h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&gt;  int main(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6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x,i;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i=10;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x=i++;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printf("x: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%d",x);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 marR="3851910">
              <a:lnSpc>
                <a:spcPct val="123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printf("i: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%d",i);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9112" y="5047957"/>
            <a:ext cx="8610600" cy="16465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45415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1145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168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x: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10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12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i: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11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52400"/>
            <a:ext cx="8625205" cy="6542405"/>
          </a:xfrm>
          <a:custGeom>
            <a:avLst/>
            <a:gdLst/>
            <a:ahLst/>
            <a:cxnLst/>
            <a:rect l="l" t="t" r="r" b="b"/>
            <a:pathLst>
              <a:path w="8625205" h="6542405">
                <a:moveTo>
                  <a:pt x="0" y="5001387"/>
                </a:moveTo>
                <a:lnTo>
                  <a:pt x="8610600" y="5001387"/>
                </a:lnTo>
                <a:lnTo>
                  <a:pt x="8610600" y="0"/>
                </a:lnTo>
                <a:lnTo>
                  <a:pt x="0" y="0"/>
                </a:lnTo>
                <a:lnTo>
                  <a:pt x="0" y="5001387"/>
                </a:lnTo>
                <a:close/>
              </a:path>
              <a:path w="8625205" h="6542405">
                <a:moveTo>
                  <a:pt x="14312" y="6542112"/>
                </a:moveTo>
                <a:lnTo>
                  <a:pt x="8624912" y="6542112"/>
                </a:lnTo>
                <a:lnTo>
                  <a:pt x="8624912" y="4895557"/>
                </a:lnTo>
                <a:lnTo>
                  <a:pt x="14312" y="4895557"/>
                </a:lnTo>
                <a:lnTo>
                  <a:pt x="14312" y="65421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41044" y="177799"/>
            <a:ext cx="6711315" cy="6400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82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/*</a:t>
            </a:r>
            <a:r>
              <a:rPr sz="22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Expresssions</a:t>
            </a:r>
            <a:r>
              <a:rPr sz="2200" spc="4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using</a:t>
            </a:r>
            <a:r>
              <a:rPr sz="2200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Pre-Decrement</a:t>
            </a:r>
            <a:r>
              <a:rPr sz="2200" spc="4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Operator*/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Cambria" panose="02040503050406030204"/>
              <a:cs typeface="Cambria" panose="02040503050406030204"/>
            </a:endParaRPr>
          </a:p>
          <a:p>
            <a:pPr marL="12700" marR="4526915">
              <a:lnSpc>
                <a:spcPct val="123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#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inc</a:t>
            </a:r>
            <a:r>
              <a:rPr sz="2200" dirty="0">
                <a:latin typeface="Cambria" panose="02040503050406030204"/>
                <a:cs typeface="Cambria" panose="02040503050406030204"/>
              </a:rPr>
              <a:t>l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ude&lt;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o.</a:t>
            </a:r>
            <a:r>
              <a:rPr sz="2200" dirty="0">
                <a:latin typeface="Cambria" panose="02040503050406030204"/>
                <a:cs typeface="Cambria" panose="02040503050406030204"/>
              </a:rPr>
              <a:t>h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&gt;  int main(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6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x,i;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i=10;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x=--i;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printf("x: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%d",x);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 marR="3836035">
              <a:lnSpc>
                <a:spcPct val="123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printf("i: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%d",i);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>
              <a:latin typeface="Cambria" panose="02040503050406030204"/>
              <a:cs typeface="Cambria" panose="02040503050406030204"/>
            </a:endParaRPr>
          </a:p>
          <a:p>
            <a:pPr marL="483870">
              <a:lnSpc>
                <a:spcPct val="100000"/>
              </a:lnSpc>
              <a:spcBef>
                <a:spcPts val="5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83870">
              <a:lnSpc>
                <a:spcPct val="100000"/>
              </a:lnSpc>
              <a:spcBef>
                <a:spcPts val="168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x: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9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83870">
              <a:lnSpc>
                <a:spcPct val="100000"/>
              </a:lnSpc>
              <a:spcBef>
                <a:spcPts val="12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i:</a:t>
            </a:r>
            <a:r>
              <a:rPr sz="2200" spc="-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9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52400"/>
            <a:ext cx="8610600" cy="5001895"/>
          </a:xfrm>
          <a:custGeom>
            <a:avLst/>
            <a:gdLst/>
            <a:ahLst/>
            <a:cxnLst/>
            <a:rect l="l" t="t" r="r" b="b"/>
            <a:pathLst>
              <a:path w="8610600" h="5001895">
                <a:moveTo>
                  <a:pt x="0" y="5001387"/>
                </a:moveTo>
                <a:lnTo>
                  <a:pt x="8610600" y="5001387"/>
                </a:lnTo>
                <a:lnTo>
                  <a:pt x="8610600" y="0"/>
                </a:lnTo>
                <a:lnTo>
                  <a:pt x="0" y="0"/>
                </a:lnTo>
                <a:lnTo>
                  <a:pt x="0" y="500138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41044" y="177799"/>
            <a:ext cx="6765925" cy="4728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359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/*</a:t>
            </a:r>
            <a:r>
              <a:rPr sz="22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Expresssions</a:t>
            </a:r>
            <a:r>
              <a:rPr sz="2200" spc="5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using</a:t>
            </a:r>
            <a:r>
              <a:rPr sz="2200" spc="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Post-Decrement</a:t>
            </a:r>
            <a:r>
              <a:rPr sz="2200" spc="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Operator*/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Cambria" panose="02040503050406030204"/>
              <a:cs typeface="Cambria" panose="02040503050406030204"/>
            </a:endParaRPr>
          </a:p>
          <a:p>
            <a:pPr marL="12700" marR="4581525">
              <a:lnSpc>
                <a:spcPct val="123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#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inc</a:t>
            </a:r>
            <a:r>
              <a:rPr sz="2200" dirty="0">
                <a:latin typeface="Cambria" panose="02040503050406030204"/>
                <a:cs typeface="Cambria" panose="02040503050406030204"/>
              </a:rPr>
              <a:t>l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ude&lt;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o.</a:t>
            </a:r>
            <a:r>
              <a:rPr sz="2200" dirty="0">
                <a:latin typeface="Cambria" panose="02040503050406030204"/>
                <a:cs typeface="Cambria" panose="02040503050406030204"/>
              </a:rPr>
              <a:t>h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&gt;  int main(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6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x,i;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i=10;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x=i--;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printf("x: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%d",x);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 marR="3890645">
              <a:lnSpc>
                <a:spcPct val="123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printf("i: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%d",i);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9112" y="5214911"/>
            <a:ext cx="8610600" cy="158559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45415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1145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168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x: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10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12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i:</a:t>
            </a:r>
            <a:r>
              <a:rPr sz="2200" spc="-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9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52347"/>
            <a:ext cx="8610600" cy="6678930"/>
          </a:xfrm>
          <a:custGeom>
            <a:avLst/>
            <a:gdLst/>
            <a:ahLst/>
            <a:cxnLst/>
            <a:rect l="l" t="t" r="r" b="b"/>
            <a:pathLst>
              <a:path w="8610600" h="6678930">
                <a:moveTo>
                  <a:pt x="0" y="6678803"/>
                </a:moveTo>
                <a:lnTo>
                  <a:pt x="8610600" y="6678803"/>
                </a:lnTo>
                <a:lnTo>
                  <a:pt x="8610600" y="0"/>
                </a:lnTo>
                <a:lnTo>
                  <a:pt x="0" y="0"/>
                </a:lnTo>
                <a:lnTo>
                  <a:pt x="0" y="667880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09268" y="177799"/>
            <a:ext cx="69977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0" spc="-5" dirty="0">
                <a:latin typeface="Cambria" panose="02040503050406030204"/>
                <a:cs typeface="Cambria" panose="02040503050406030204"/>
              </a:rPr>
              <a:t>/* </a:t>
            </a:r>
            <a:r>
              <a:rPr sz="2200" b="0" spc="-10" dirty="0">
                <a:latin typeface="Cambria" panose="02040503050406030204"/>
                <a:cs typeface="Cambria" panose="02040503050406030204"/>
              </a:rPr>
              <a:t>Expresssions</a:t>
            </a:r>
            <a:r>
              <a:rPr sz="2200" b="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0" spc="-10" dirty="0">
                <a:latin typeface="Cambria" panose="02040503050406030204"/>
                <a:cs typeface="Cambria" panose="02040503050406030204"/>
              </a:rPr>
              <a:t>using</a:t>
            </a:r>
            <a:r>
              <a:rPr sz="2200" b="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0" spc="-10" dirty="0">
                <a:latin typeface="Cambria" panose="02040503050406030204"/>
                <a:cs typeface="Cambria" panose="02040503050406030204"/>
              </a:rPr>
              <a:t>Increment</a:t>
            </a:r>
            <a:r>
              <a:rPr sz="2200" b="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0" spc="-5" dirty="0">
                <a:latin typeface="Cambria" panose="02040503050406030204"/>
                <a:cs typeface="Cambria" panose="02040503050406030204"/>
              </a:rPr>
              <a:t>/</a:t>
            </a:r>
            <a:r>
              <a:rPr sz="2200" b="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0" spc="-10" dirty="0">
                <a:latin typeface="Cambria" panose="02040503050406030204"/>
                <a:cs typeface="Cambria" panose="02040503050406030204"/>
              </a:rPr>
              <a:t>Decrement</a:t>
            </a:r>
            <a:r>
              <a:rPr sz="2200" b="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0" spc="-10" dirty="0">
                <a:latin typeface="Cambria" panose="02040503050406030204"/>
                <a:cs typeface="Cambria" panose="02040503050406030204"/>
              </a:rPr>
              <a:t>Operators*/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1044" y="767841"/>
            <a:ext cx="4416425" cy="5818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423795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mbria" panose="02040503050406030204"/>
                <a:cs typeface="Cambria" panose="02040503050406030204"/>
              </a:rPr>
              <a:t>#</a:t>
            </a:r>
            <a:r>
              <a:rPr sz="2000" dirty="0">
                <a:latin typeface="Cambria" panose="02040503050406030204"/>
                <a:cs typeface="Cambria" panose="02040503050406030204"/>
              </a:rPr>
              <a:t>i</a:t>
            </a:r>
            <a:r>
              <a:rPr sz="2000" spc="-10" dirty="0">
                <a:latin typeface="Cambria" panose="02040503050406030204"/>
                <a:cs typeface="Cambria" panose="02040503050406030204"/>
              </a:rPr>
              <a:t>n</a:t>
            </a:r>
            <a:r>
              <a:rPr sz="2000" dirty="0">
                <a:latin typeface="Cambria" panose="02040503050406030204"/>
                <a:cs typeface="Cambria" panose="02040503050406030204"/>
              </a:rPr>
              <a:t>clude</a:t>
            </a:r>
            <a:r>
              <a:rPr sz="2000" spc="-15" dirty="0">
                <a:latin typeface="Cambria" panose="02040503050406030204"/>
                <a:cs typeface="Cambria" panose="02040503050406030204"/>
              </a:rPr>
              <a:t>&lt;</a:t>
            </a:r>
            <a:r>
              <a:rPr sz="2000" dirty="0">
                <a:latin typeface="Cambria" panose="02040503050406030204"/>
                <a:cs typeface="Cambria" panose="02040503050406030204"/>
              </a:rPr>
              <a:t>stdio.</a:t>
            </a:r>
            <a:r>
              <a:rPr sz="2000" spc="-5" dirty="0">
                <a:latin typeface="Cambria" panose="02040503050406030204"/>
                <a:cs typeface="Cambria" panose="02040503050406030204"/>
              </a:rPr>
              <a:t>h</a:t>
            </a:r>
            <a:r>
              <a:rPr sz="2000" dirty="0">
                <a:latin typeface="Cambria" panose="02040503050406030204"/>
                <a:cs typeface="Cambria" panose="02040503050406030204"/>
              </a:rPr>
              <a:t>&gt;  </a:t>
            </a:r>
            <a:r>
              <a:rPr sz="20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0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-5" dirty="0">
                <a:latin typeface="Cambria" panose="02040503050406030204"/>
                <a:cs typeface="Cambria" panose="02040503050406030204"/>
              </a:rPr>
              <a:t>main(</a:t>
            </a:r>
            <a:r>
              <a:rPr sz="20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dirty="0">
                <a:latin typeface="Cambria" panose="02040503050406030204"/>
                <a:cs typeface="Cambria" panose="02040503050406030204"/>
              </a:rPr>
              <a:t>)</a:t>
            </a:r>
            <a:endParaRPr sz="20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mbria" panose="02040503050406030204"/>
                <a:cs typeface="Cambria" panose="02040503050406030204"/>
              </a:rPr>
              <a:t>{</a:t>
            </a:r>
            <a:endParaRPr sz="20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</a:pPr>
            <a:r>
              <a:rPr sz="20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000" spc="38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-5" dirty="0">
                <a:latin typeface="Cambria" panose="02040503050406030204"/>
                <a:cs typeface="Cambria" panose="02040503050406030204"/>
              </a:rPr>
              <a:t>p,q,x,y;</a:t>
            </a:r>
            <a:endParaRPr sz="20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</a:pPr>
            <a:r>
              <a:rPr sz="2000" spc="-5" dirty="0">
                <a:latin typeface="Cambria" panose="02040503050406030204"/>
                <a:cs typeface="Cambria" panose="02040503050406030204"/>
              </a:rPr>
              <a:t>printf(“Enter</a:t>
            </a:r>
            <a:r>
              <a:rPr sz="2000" spc="-55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0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-15" dirty="0">
                <a:latin typeface="Cambria" panose="02040503050406030204"/>
                <a:cs typeface="Cambria" panose="02040503050406030204"/>
              </a:rPr>
              <a:t>value</a:t>
            </a:r>
            <a:r>
              <a:rPr sz="20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dirty="0">
                <a:latin typeface="Cambria" panose="02040503050406030204"/>
                <a:cs typeface="Cambria" panose="02040503050406030204"/>
              </a:rPr>
              <a:t>of</a:t>
            </a:r>
            <a:r>
              <a:rPr sz="20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dirty="0">
                <a:latin typeface="Cambria" panose="02040503050406030204"/>
                <a:cs typeface="Cambria" panose="02040503050406030204"/>
              </a:rPr>
              <a:t>x </a:t>
            </a:r>
            <a:r>
              <a:rPr sz="2000" spc="-15" dirty="0">
                <a:latin typeface="Cambria" panose="02040503050406030204"/>
                <a:cs typeface="Cambria" panose="02040503050406030204"/>
              </a:rPr>
              <a:t>\n”);</a:t>
            </a:r>
            <a:endParaRPr sz="20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</a:pPr>
            <a:r>
              <a:rPr sz="2000" spc="-5" dirty="0">
                <a:latin typeface="Cambria" panose="02040503050406030204"/>
                <a:cs typeface="Cambria" panose="02040503050406030204"/>
              </a:rPr>
              <a:t>scanf(“%d”</a:t>
            </a:r>
            <a:r>
              <a:rPr sz="2000" spc="-9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-5" dirty="0">
                <a:latin typeface="Cambria" panose="02040503050406030204"/>
                <a:cs typeface="Cambria" panose="02040503050406030204"/>
              </a:rPr>
              <a:t>,&amp;x);</a:t>
            </a:r>
            <a:endParaRPr sz="2000">
              <a:latin typeface="Cambria" panose="02040503050406030204"/>
              <a:cs typeface="Cambria" panose="02040503050406030204"/>
            </a:endParaRPr>
          </a:p>
          <a:p>
            <a:pPr marL="926465" marR="5080">
              <a:lnSpc>
                <a:spcPct val="100000"/>
              </a:lnSpc>
            </a:pPr>
            <a:r>
              <a:rPr sz="2000" spc="-5" dirty="0">
                <a:latin typeface="Cambria" panose="02040503050406030204"/>
                <a:cs typeface="Cambria" panose="02040503050406030204"/>
              </a:rPr>
              <a:t>printf(“Enter</a:t>
            </a:r>
            <a:r>
              <a:rPr sz="2000" spc="-6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dirty="0">
                <a:latin typeface="Cambria" panose="02040503050406030204"/>
                <a:cs typeface="Cambria" panose="02040503050406030204"/>
              </a:rPr>
              <a:t>the</a:t>
            </a:r>
            <a:r>
              <a:rPr sz="20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-15" dirty="0">
                <a:latin typeface="Cambria" panose="02040503050406030204"/>
                <a:cs typeface="Cambria" panose="02040503050406030204"/>
              </a:rPr>
              <a:t>value</a:t>
            </a:r>
            <a:r>
              <a:rPr sz="200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dirty="0">
                <a:latin typeface="Cambria" panose="02040503050406030204"/>
                <a:cs typeface="Cambria" panose="02040503050406030204"/>
              </a:rPr>
              <a:t>of</a:t>
            </a:r>
            <a:r>
              <a:rPr sz="20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dirty="0">
                <a:latin typeface="Cambria" panose="02040503050406030204"/>
                <a:cs typeface="Cambria" panose="02040503050406030204"/>
              </a:rPr>
              <a:t>y</a:t>
            </a:r>
            <a:r>
              <a:rPr sz="20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-15" dirty="0">
                <a:latin typeface="Cambria" panose="02040503050406030204"/>
                <a:cs typeface="Cambria" panose="02040503050406030204"/>
              </a:rPr>
              <a:t>\n”); </a:t>
            </a:r>
            <a:r>
              <a:rPr sz="2000" spc="-425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-5" dirty="0">
                <a:latin typeface="Cambria" panose="02040503050406030204"/>
                <a:cs typeface="Cambria" panose="02040503050406030204"/>
              </a:rPr>
              <a:t>scanf(“%d”</a:t>
            </a:r>
            <a:r>
              <a:rPr sz="2000" spc="-5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-5" dirty="0">
                <a:latin typeface="Cambria" panose="02040503050406030204"/>
                <a:cs typeface="Cambria" panose="02040503050406030204"/>
              </a:rPr>
              <a:t>,&amp;y);</a:t>
            </a:r>
            <a:endParaRPr sz="20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</a:pPr>
            <a:r>
              <a:rPr sz="2000" spc="-15" dirty="0">
                <a:latin typeface="Cambria" panose="02040503050406030204"/>
                <a:cs typeface="Cambria" panose="02040503050406030204"/>
              </a:rPr>
              <a:t>printf(“x=%d\ny=%d\n”,x,y);</a:t>
            </a:r>
            <a:endParaRPr sz="20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Cambria" panose="02040503050406030204"/>
                <a:cs typeface="Cambria" panose="02040503050406030204"/>
              </a:rPr>
              <a:t>p=x++;</a:t>
            </a:r>
            <a:endParaRPr sz="20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</a:pPr>
            <a:r>
              <a:rPr sz="2000" spc="-5" dirty="0">
                <a:latin typeface="Cambria" panose="02040503050406030204"/>
                <a:cs typeface="Cambria" panose="02040503050406030204"/>
              </a:rPr>
              <a:t>q=y++;</a:t>
            </a:r>
            <a:endParaRPr sz="2000">
              <a:latin typeface="Cambria" panose="02040503050406030204"/>
              <a:cs typeface="Cambria" panose="02040503050406030204"/>
            </a:endParaRPr>
          </a:p>
          <a:p>
            <a:pPr marL="926465" marR="304165" algn="just">
              <a:lnSpc>
                <a:spcPct val="100000"/>
              </a:lnSpc>
            </a:pPr>
            <a:r>
              <a:rPr sz="2000" spc="-15" dirty="0">
                <a:latin typeface="Cambria" panose="02040503050406030204"/>
                <a:cs typeface="Cambria" panose="02040503050406030204"/>
              </a:rPr>
              <a:t>printf(“x=%d\ty=%d\n”,x,y); </a:t>
            </a:r>
            <a:r>
              <a:rPr sz="2000" spc="-43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-15" dirty="0">
                <a:latin typeface="Cambria" panose="02040503050406030204"/>
                <a:cs typeface="Cambria" panose="02040503050406030204"/>
              </a:rPr>
              <a:t>printf(“x=%d\tq=%d\n”,p,q); </a:t>
            </a:r>
            <a:r>
              <a:rPr sz="2000" spc="-43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-5" dirty="0">
                <a:latin typeface="Cambria" panose="02040503050406030204"/>
                <a:cs typeface="Cambria" panose="02040503050406030204"/>
              </a:rPr>
              <a:t>p=--x;</a:t>
            </a:r>
            <a:endParaRPr sz="20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</a:pPr>
            <a:r>
              <a:rPr sz="2000" spc="-10" dirty="0">
                <a:latin typeface="Cambria" panose="02040503050406030204"/>
                <a:cs typeface="Cambria" panose="02040503050406030204"/>
              </a:rPr>
              <a:t>q=--y;</a:t>
            </a:r>
            <a:endParaRPr sz="2000">
              <a:latin typeface="Cambria" panose="02040503050406030204"/>
              <a:cs typeface="Cambria" panose="02040503050406030204"/>
            </a:endParaRPr>
          </a:p>
          <a:p>
            <a:pPr marL="926465" marR="285750" algn="just">
              <a:lnSpc>
                <a:spcPct val="100000"/>
              </a:lnSpc>
            </a:pPr>
            <a:r>
              <a:rPr sz="2000" spc="-15" dirty="0">
                <a:latin typeface="Cambria" panose="02040503050406030204"/>
                <a:cs typeface="Cambria" panose="02040503050406030204"/>
              </a:rPr>
              <a:t>printf(“x=%d\ty=%d\n”,x,y); </a:t>
            </a:r>
            <a:r>
              <a:rPr sz="20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-15" dirty="0">
                <a:latin typeface="Cambria" panose="02040503050406030204"/>
                <a:cs typeface="Cambria" panose="02040503050406030204"/>
              </a:rPr>
              <a:t>printf(“p=%d\tq=%d\n”,p,q); </a:t>
            </a:r>
            <a:r>
              <a:rPr sz="2000" spc="-43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-5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000" spc="-45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-5" dirty="0">
                <a:latin typeface="Cambria" panose="02040503050406030204"/>
                <a:cs typeface="Cambria" panose="02040503050406030204"/>
              </a:rPr>
              <a:t>0;</a:t>
            </a:r>
            <a:endParaRPr sz="20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mbria" panose="02040503050406030204"/>
                <a:cs typeface="Cambria" panose="02040503050406030204"/>
              </a:rPr>
              <a:t>}</a:t>
            </a:r>
            <a:endParaRPr sz="20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6700" y="228600"/>
            <a:ext cx="8610600" cy="4540250"/>
          </a:xfrm>
          <a:custGeom>
            <a:avLst/>
            <a:gdLst/>
            <a:ahLst/>
            <a:cxnLst/>
            <a:rect l="l" t="t" r="r" b="b"/>
            <a:pathLst>
              <a:path w="8610600" h="4540250">
                <a:moveTo>
                  <a:pt x="0" y="4539742"/>
                </a:moveTo>
                <a:lnTo>
                  <a:pt x="8610600" y="4539742"/>
                </a:lnTo>
                <a:lnTo>
                  <a:pt x="8610600" y="0"/>
                </a:lnTo>
                <a:lnTo>
                  <a:pt x="0" y="0"/>
                </a:lnTo>
                <a:lnTo>
                  <a:pt x="0" y="453974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60094" y="360679"/>
            <a:ext cx="2701290" cy="2372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 marR="5080" algn="just">
              <a:lnSpc>
                <a:spcPct val="146000"/>
              </a:lnSpc>
              <a:spcBef>
                <a:spcPts val="48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Enter the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value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 x 10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Enter the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value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 y 20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x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10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 algn="just">
              <a:lnSpc>
                <a:spcPct val="100000"/>
              </a:lnSpc>
              <a:spcBef>
                <a:spcPts val="12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y</a:t>
            </a:r>
            <a:r>
              <a:rPr sz="2200" spc="-5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20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0094" y="2707665"/>
            <a:ext cx="807720" cy="197675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x</a:t>
            </a:r>
            <a:r>
              <a:rPr sz="2200" spc="-5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11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5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10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x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4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10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10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7833" y="2707665"/>
            <a:ext cx="970915" cy="197675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y</a:t>
            </a:r>
            <a:r>
              <a:rPr sz="2200" spc="459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459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21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33655">
              <a:lnSpc>
                <a:spcPct val="100000"/>
              </a:lnSpc>
              <a:spcBef>
                <a:spcPts val="12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q</a:t>
            </a:r>
            <a:r>
              <a:rPr sz="2200" spc="44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20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74930">
              <a:lnSpc>
                <a:spcPct val="100000"/>
              </a:lnSpc>
              <a:spcBef>
                <a:spcPts val="12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y</a:t>
            </a:r>
            <a:r>
              <a:rPr sz="2200" spc="45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44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20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6520">
              <a:lnSpc>
                <a:spcPct val="100000"/>
              </a:lnSpc>
              <a:spcBef>
                <a:spcPts val="12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q</a:t>
            </a:r>
            <a:r>
              <a:rPr sz="2200" spc="4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4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20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8226425" cy="3560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3195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6383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195"/>
              </a:spcBef>
            </a:pP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4</a:t>
            </a:r>
            <a:r>
              <a:rPr sz="24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Expressions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using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Conditional</a:t>
            </a:r>
            <a:r>
              <a:rPr sz="2400" b="1" spc="-4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Operator</a:t>
            </a:r>
            <a:endParaRPr sz="24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Ø"/>
              <a:tabLst>
                <a:tab pos="469900" algn="l"/>
                <a:tab pos="469900" algn="l"/>
              </a:tabLst>
            </a:pPr>
            <a:r>
              <a:rPr sz="2200" spc="-20" dirty="0">
                <a:latin typeface="Cambria" panose="02040503050406030204"/>
                <a:cs typeface="Cambria" panose="02040503050406030204"/>
              </a:rPr>
              <a:t>Any</a:t>
            </a:r>
            <a:r>
              <a:rPr sz="2200" spc="4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operator</a:t>
            </a:r>
            <a:r>
              <a:rPr sz="2200" spc="434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4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used</a:t>
            </a:r>
            <a:r>
              <a:rPr sz="2200" spc="44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on</a:t>
            </a:r>
            <a:r>
              <a:rPr sz="2200" spc="434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three</a:t>
            </a:r>
            <a:r>
              <a:rPr sz="2200" spc="4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operands</a:t>
            </a:r>
            <a:r>
              <a:rPr sz="2200" spc="4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or</a:t>
            </a:r>
            <a:r>
              <a:rPr sz="2200" spc="4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variable</a:t>
            </a:r>
            <a:r>
              <a:rPr sz="2200" spc="4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434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known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800" indent="-34290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as </a:t>
            </a:r>
            <a:r>
              <a:rPr sz="2200" b="1" spc="-35" dirty="0">
                <a:latin typeface="Cambria" panose="02040503050406030204"/>
                <a:cs typeface="Cambria" panose="02040503050406030204"/>
              </a:rPr>
              <a:t>Ternary</a:t>
            </a:r>
            <a:r>
              <a:rPr sz="2200" b="1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20" dirty="0">
                <a:latin typeface="Cambria" panose="02040503050406030204"/>
                <a:cs typeface="Cambria" panose="02040503050406030204"/>
              </a:rPr>
              <a:t>Operator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469900" marR="8255" indent="-457835">
              <a:lnSpc>
                <a:spcPts val="3960"/>
              </a:lnSpc>
              <a:spcBef>
                <a:spcPts val="155"/>
              </a:spcBef>
              <a:buFont typeface="Wingdings" panose="05000000000000000000" pitchFamily="2" charset="2"/>
              <a:buChar char="Ø"/>
              <a:tabLst>
                <a:tab pos="469900" algn="l"/>
                <a:tab pos="46990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It</a:t>
            </a:r>
            <a:r>
              <a:rPr sz="2200" spc="30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can</a:t>
            </a:r>
            <a:r>
              <a:rPr sz="2200" spc="3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be</a:t>
            </a:r>
            <a:r>
              <a:rPr sz="2200" spc="3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represented</a:t>
            </a:r>
            <a:r>
              <a:rPr sz="2200" spc="3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dirty="0">
                <a:latin typeface="Cambria" panose="02040503050406030204"/>
                <a:cs typeface="Cambria" panose="02040503050406030204"/>
              </a:rPr>
              <a:t>with</a:t>
            </a:r>
            <a:r>
              <a:rPr sz="2200" spc="3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latin typeface="Cambria" panose="02040503050406030204"/>
                <a:cs typeface="Cambria" panose="02040503050406030204"/>
              </a:rPr>
              <a:t>?</a:t>
            </a:r>
            <a:r>
              <a:rPr sz="2200" b="1" spc="3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latin typeface="Cambria" panose="02040503050406030204"/>
                <a:cs typeface="Cambria" panose="02040503050406030204"/>
              </a:rPr>
              <a:t>:</a:t>
            </a:r>
            <a:r>
              <a:rPr sz="2200" b="1" spc="30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.</a:t>
            </a:r>
            <a:r>
              <a:rPr sz="2200" spc="3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It</a:t>
            </a:r>
            <a:r>
              <a:rPr sz="2200" spc="3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3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also</a:t>
            </a:r>
            <a:r>
              <a:rPr sz="2200" spc="3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dirty="0">
                <a:latin typeface="Cambria" panose="02040503050406030204"/>
                <a:cs typeface="Cambria" panose="02040503050406030204"/>
              </a:rPr>
              <a:t>called</a:t>
            </a:r>
            <a:r>
              <a:rPr sz="2200" spc="3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as</a:t>
            </a:r>
            <a:r>
              <a:rPr sz="2200" spc="3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latin typeface="Cambria" panose="02040503050406030204"/>
                <a:cs typeface="Cambria" panose="02040503050406030204"/>
              </a:rPr>
              <a:t>conditional </a:t>
            </a:r>
            <a:r>
              <a:rPr sz="2200" b="1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20" dirty="0">
                <a:latin typeface="Cambria" panose="02040503050406030204"/>
                <a:cs typeface="Cambria" panose="02040503050406030204"/>
              </a:rPr>
              <a:t>operator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2998" y="4143337"/>
            <a:ext cx="5390260" cy="250037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52400"/>
            <a:ext cx="8610600" cy="4709160"/>
          </a:xfrm>
          <a:custGeom>
            <a:avLst/>
            <a:gdLst/>
            <a:ahLst/>
            <a:cxnLst/>
            <a:rect l="l" t="t" r="r" b="b"/>
            <a:pathLst>
              <a:path w="8610600" h="4709160">
                <a:moveTo>
                  <a:pt x="0" y="4709033"/>
                </a:moveTo>
                <a:lnTo>
                  <a:pt x="8610600" y="4709033"/>
                </a:lnTo>
                <a:lnTo>
                  <a:pt x="8610600" y="0"/>
                </a:lnTo>
                <a:lnTo>
                  <a:pt x="0" y="0"/>
                </a:lnTo>
                <a:lnTo>
                  <a:pt x="0" y="470903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41044" y="177799"/>
            <a:ext cx="6591934" cy="4591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55675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/*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Program</a:t>
            </a:r>
            <a:r>
              <a:rPr sz="22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Printing</a:t>
            </a:r>
            <a:r>
              <a:rPr sz="220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Odd</a:t>
            </a:r>
            <a:r>
              <a:rPr sz="220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or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Even</a:t>
            </a:r>
            <a:r>
              <a:rPr sz="2200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Number*/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00">
              <a:latin typeface="Cambria" panose="02040503050406030204"/>
              <a:cs typeface="Cambria" panose="02040503050406030204"/>
            </a:endParaRPr>
          </a:p>
          <a:p>
            <a:pPr marL="12700" marR="4407535">
              <a:lnSpc>
                <a:spcPct val="146000"/>
              </a:lnSpc>
              <a:spcBef>
                <a:spcPts val="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#inclu</a:t>
            </a:r>
            <a:r>
              <a:rPr sz="2200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&lt;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o.</a:t>
            </a:r>
            <a:r>
              <a:rPr sz="2200" dirty="0">
                <a:latin typeface="Cambria" panose="02040503050406030204"/>
                <a:cs typeface="Cambria" panose="02040503050406030204"/>
              </a:rPr>
              <a:t>h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&gt;  int main(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printf("Enter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: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");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 marR="1100455">
              <a:lnSpc>
                <a:spcPct val="146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scanf("%d",&amp;num); 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(num%2==0)?printf("Even\n"):printf("Odd");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74930">
              <a:lnSpc>
                <a:spcPct val="100000"/>
              </a:lnSpc>
              <a:spcBef>
                <a:spcPts val="12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1124" y="5008536"/>
            <a:ext cx="8610600" cy="158559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45415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1145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 marR="4939665">
              <a:lnSpc>
                <a:spcPct val="146000"/>
              </a:lnSpc>
              <a:spcBef>
                <a:spcPts val="47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Number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: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10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Even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52400"/>
            <a:ext cx="8616950" cy="6441440"/>
          </a:xfrm>
          <a:custGeom>
            <a:avLst/>
            <a:gdLst/>
            <a:ahLst/>
            <a:cxnLst/>
            <a:rect l="l" t="t" r="r" b="b"/>
            <a:pathLst>
              <a:path w="8616950" h="6441440">
                <a:moveTo>
                  <a:pt x="0" y="4924425"/>
                </a:moveTo>
                <a:lnTo>
                  <a:pt x="8610600" y="4924425"/>
                </a:lnTo>
                <a:lnTo>
                  <a:pt x="8610600" y="0"/>
                </a:lnTo>
                <a:lnTo>
                  <a:pt x="0" y="0"/>
                </a:lnTo>
                <a:lnTo>
                  <a:pt x="0" y="4924425"/>
                </a:lnTo>
                <a:close/>
              </a:path>
              <a:path w="8616950" h="6441440">
                <a:moveTo>
                  <a:pt x="6324" y="6441224"/>
                </a:moveTo>
                <a:lnTo>
                  <a:pt x="8616924" y="6441224"/>
                </a:lnTo>
                <a:lnTo>
                  <a:pt x="8616924" y="4856137"/>
                </a:lnTo>
                <a:lnTo>
                  <a:pt x="6324" y="4856137"/>
                </a:lnTo>
                <a:lnTo>
                  <a:pt x="6324" y="64412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3540" y="177799"/>
            <a:ext cx="8308975" cy="6360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1605" algn="ctr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/*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Program</a:t>
            </a:r>
            <a:r>
              <a:rPr sz="22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Eligibility</a:t>
            </a:r>
            <a:r>
              <a:rPr sz="2200" spc="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to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4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Vote*/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50">
              <a:latin typeface="Cambria" panose="02040503050406030204"/>
              <a:cs typeface="Cambria" panose="02040503050406030204"/>
            </a:endParaRPr>
          </a:p>
          <a:p>
            <a:pPr marL="74930" marR="6124575" indent="-62865">
              <a:lnSpc>
                <a:spcPct val="123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#inclu</a:t>
            </a:r>
            <a:r>
              <a:rPr sz="2200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&lt;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o.h&gt;  int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main(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3589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age;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35890" marR="3182620" indent="62230">
              <a:lnSpc>
                <a:spcPct val="123000"/>
              </a:lnSpc>
              <a:spcBef>
                <a:spcPts val="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printf("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Please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your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age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here: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\n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");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scanf("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%d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",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&amp;age);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7493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(age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&gt;=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18)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?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printf("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70" dirty="0">
                <a:latin typeface="Cambria" panose="02040503050406030204"/>
                <a:cs typeface="Cambria" panose="02040503050406030204"/>
              </a:rPr>
              <a:t>You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are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eligible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0" dirty="0">
                <a:latin typeface="Cambria" panose="02040503050406030204"/>
                <a:cs typeface="Cambria" panose="02040503050406030204"/>
              </a:rPr>
              <a:t>Vote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")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: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printf("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70" dirty="0">
                <a:latin typeface="Cambria" panose="02040503050406030204"/>
                <a:cs typeface="Cambria" panose="02040503050406030204"/>
              </a:rPr>
              <a:t>You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are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not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6181090">
              <a:lnSpc>
                <a:spcPct val="100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eligible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0" dirty="0">
                <a:latin typeface="Cambria" panose="02040503050406030204"/>
                <a:cs typeface="Cambria" panose="02040503050406030204"/>
              </a:rPr>
              <a:t>Vote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");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74930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33450">
              <a:lnSpc>
                <a:spcPct val="100000"/>
              </a:lnSpc>
              <a:spcBef>
                <a:spcPts val="2000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33450" marR="3747135">
              <a:lnSpc>
                <a:spcPct val="146000"/>
              </a:lnSpc>
              <a:spcBef>
                <a:spcPts val="48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Please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your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age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here: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19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70" dirty="0">
                <a:latin typeface="Cambria" panose="02040503050406030204"/>
                <a:cs typeface="Cambria" panose="02040503050406030204"/>
              </a:rPr>
              <a:t>You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are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eligible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0" dirty="0">
                <a:latin typeface="Cambria" panose="02040503050406030204"/>
                <a:cs typeface="Cambria" panose="02040503050406030204"/>
              </a:rPr>
              <a:t>Vote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52400"/>
            <a:ext cx="8610600" cy="4785995"/>
          </a:xfrm>
          <a:custGeom>
            <a:avLst/>
            <a:gdLst/>
            <a:ahLst/>
            <a:cxnLst/>
            <a:rect l="l" t="t" r="r" b="b"/>
            <a:pathLst>
              <a:path w="8610600" h="4785995">
                <a:moveTo>
                  <a:pt x="0" y="4785868"/>
                </a:moveTo>
                <a:lnTo>
                  <a:pt x="8610600" y="4785868"/>
                </a:lnTo>
                <a:lnTo>
                  <a:pt x="8610600" y="0"/>
                </a:lnTo>
                <a:lnTo>
                  <a:pt x="0" y="0"/>
                </a:lnTo>
                <a:lnTo>
                  <a:pt x="0" y="478586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3540" y="177799"/>
            <a:ext cx="8291195" cy="4552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8750" algn="ctr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/*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Program</a:t>
            </a:r>
            <a:r>
              <a:rPr sz="2200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Finding</a:t>
            </a:r>
            <a:r>
              <a:rPr sz="220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Biggest</a:t>
            </a:r>
            <a:r>
              <a:rPr sz="2200" spc="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of 2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Numbers*/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50">
              <a:latin typeface="Cambria" panose="02040503050406030204"/>
              <a:cs typeface="Cambria" panose="02040503050406030204"/>
            </a:endParaRPr>
          </a:p>
          <a:p>
            <a:pPr marL="12700" marR="6106795">
              <a:lnSpc>
                <a:spcPct val="123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#inclu</a:t>
            </a:r>
            <a:r>
              <a:rPr sz="2200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&lt;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o.h&gt;  int main(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 marR="5363210">
              <a:lnSpc>
                <a:spcPct val="123000"/>
              </a:lnSpc>
              <a:spcBef>
                <a:spcPts val="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a,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b,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max;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printf("Enter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and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b: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");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scanf("%d%d",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&amp;a, &amp;b);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max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 a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&gt; b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?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: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b;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printf("Largest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two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numbers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%d\n", max);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1124" y="5008536"/>
            <a:ext cx="8610600" cy="158559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45415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1145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168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and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b: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10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20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12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Largest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the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two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 20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8226425" cy="5521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3195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6383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195"/>
              </a:spcBef>
            </a:pP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4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5</a:t>
            </a:r>
            <a:r>
              <a:rPr sz="24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Expressions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using</a:t>
            </a:r>
            <a:r>
              <a:rPr sz="24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Assignment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Operator</a:t>
            </a:r>
            <a:endParaRPr sz="2400" dirty="0">
              <a:latin typeface="Cambria" panose="02040503050406030204"/>
              <a:cs typeface="Cambria" panose="02040503050406030204"/>
            </a:endParaRPr>
          </a:p>
          <a:p>
            <a:pPr marL="355600" indent="-342900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Assignment</a:t>
            </a:r>
            <a:r>
              <a:rPr sz="2200" spc="4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Operator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used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assign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value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an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variable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355600" indent="-34290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Assignment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Operator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denoted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by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equal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sign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355600" marR="5080" indent="-342900">
              <a:lnSpc>
                <a:spcPts val="3960"/>
              </a:lnSpc>
              <a:spcBef>
                <a:spcPts val="355"/>
              </a:spcBef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Assignment</a:t>
            </a:r>
            <a:r>
              <a:rPr sz="2200" spc="35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Operator</a:t>
            </a:r>
            <a:r>
              <a:rPr sz="2200" spc="3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34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binary</a:t>
            </a:r>
            <a:r>
              <a:rPr sz="2200" spc="3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operator</a:t>
            </a:r>
            <a:r>
              <a:rPr sz="2200" spc="3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which</a:t>
            </a:r>
            <a:r>
              <a:rPr sz="2200" spc="35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operates</a:t>
            </a:r>
            <a:r>
              <a:rPr sz="2200" spc="3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on</a:t>
            </a:r>
            <a:r>
              <a:rPr sz="2200" spc="3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two </a:t>
            </a:r>
            <a:r>
              <a:rPr sz="2200" spc="-46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operands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355600" indent="-342900">
              <a:lnSpc>
                <a:spcPct val="100000"/>
              </a:lnSpc>
              <a:spcBef>
                <a:spcPts val="970"/>
              </a:spcBef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Assignment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Operator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have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Two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Values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–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L-Value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and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R-Value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800" lvl="1" indent="-3435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813435" algn="l"/>
              </a:tabLst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Operator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copies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R-Value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into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L-Value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355600" marR="7620" indent="-3429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Assignment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Operator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have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lower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precedence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dirty="0">
                <a:latin typeface="Cambria" panose="02040503050406030204"/>
                <a:cs typeface="Cambria" panose="02040503050406030204"/>
              </a:rPr>
              <a:t>than</a:t>
            </a:r>
            <a:r>
              <a:rPr sz="2200" spc="47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all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available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operators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but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has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higher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precedence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than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comma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Operator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4310"/>
            <a:ext cx="9143999" cy="680834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8223884" cy="56380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735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6637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195"/>
              </a:spcBef>
            </a:pP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6</a:t>
            </a:r>
            <a:r>
              <a:rPr sz="24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2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L-Value</a:t>
            </a:r>
            <a:r>
              <a:rPr sz="24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2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R-Value</a:t>
            </a:r>
            <a:r>
              <a:rPr sz="24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24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Expression</a:t>
            </a:r>
            <a:endParaRPr sz="24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800"/>
              </a:spcBef>
              <a:buAutoNum type="alphaLcParenR"/>
              <a:tabLst>
                <a:tab pos="469900" algn="l"/>
                <a:tab pos="469900" algn="l"/>
              </a:tabLst>
            </a:pPr>
            <a:r>
              <a:rPr sz="2200" spc="-25" dirty="0">
                <a:latin typeface="Cambria" panose="02040503050406030204"/>
                <a:cs typeface="Cambria" panose="02040503050406030204"/>
              </a:rPr>
              <a:t>L-Value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stands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1" u="heavy" spc="-10" dirty="0">
                <a:uFill>
                  <a:solidFill>
                    <a:srgbClr val="000000"/>
                  </a:solidFill>
                </a:uFill>
                <a:latin typeface="Cambria" panose="02040503050406030204"/>
                <a:cs typeface="Cambria" panose="02040503050406030204"/>
              </a:rPr>
              <a:t>left</a:t>
            </a:r>
            <a:r>
              <a:rPr sz="2200" b="1" u="heavy" spc="-20" dirty="0">
                <a:uFill>
                  <a:solidFill>
                    <a:srgbClr val="000000"/>
                  </a:solidFill>
                </a:uFill>
                <a:latin typeface="Cambria" panose="02040503050406030204"/>
                <a:cs typeface="Cambria" panose="02040503050406030204"/>
              </a:rPr>
              <a:t> </a:t>
            </a:r>
            <a:r>
              <a:rPr sz="2200" b="1" u="heavy" spc="-15" dirty="0">
                <a:uFill>
                  <a:solidFill>
                    <a:srgbClr val="000000"/>
                  </a:solidFill>
                </a:uFill>
                <a:latin typeface="Cambria" panose="02040503050406030204"/>
                <a:cs typeface="Cambria" panose="02040503050406030204"/>
              </a:rPr>
              <a:t>value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800" lvl="1" indent="-3435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813435" algn="l"/>
              </a:tabLst>
            </a:pPr>
            <a:r>
              <a:rPr sz="2200" spc="-25" dirty="0">
                <a:latin typeface="Cambria" panose="02040503050406030204"/>
                <a:cs typeface="Cambria" panose="02040503050406030204"/>
              </a:rPr>
              <a:t>L-Value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Expressions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refer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memory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locations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800" marR="5080" lvl="1" indent="-342900">
              <a:lnSpc>
                <a:spcPts val="3960"/>
              </a:lnSpc>
              <a:spcBef>
                <a:spcPts val="355"/>
              </a:spcBef>
              <a:buFont typeface="Wingdings" panose="05000000000000000000" pitchFamily="2" charset="2"/>
              <a:buChar char="Ø"/>
              <a:tabLst>
                <a:tab pos="8134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</a:t>
            </a:r>
            <a:r>
              <a:rPr sz="2200" spc="9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any</a:t>
            </a:r>
            <a:r>
              <a:rPr sz="2200" spc="10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assignment</a:t>
            </a:r>
            <a:r>
              <a:rPr sz="2200" spc="1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statement</a:t>
            </a:r>
            <a:r>
              <a:rPr sz="2200" spc="114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L-Value</a:t>
            </a:r>
            <a:r>
              <a:rPr sz="2200" spc="1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10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Expression</a:t>
            </a:r>
            <a:r>
              <a:rPr sz="2200" spc="1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must</a:t>
            </a:r>
            <a:r>
              <a:rPr sz="2200" spc="1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be</a:t>
            </a:r>
            <a:r>
              <a:rPr sz="2200" spc="10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container(i.e.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must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have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ability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hold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data)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800" marR="5080" lvl="1" indent="-342900">
              <a:lnSpc>
                <a:spcPts val="3960"/>
              </a:lnSpc>
              <a:buFont typeface="Wingdings" panose="05000000000000000000" pitchFamily="2" charset="2"/>
              <a:buChar char="Ø"/>
              <a:tabLst>
                <a:tab pos="813435" algn="l"/>
              </a:tabLst>
            </a:pPr>
            <a:r>
              <a:rPr sz="2200" spc="-25" dirty="0">
                <a:latin typeface="Cambria" panose="02040503050406030204"/>
                <a:cs typeface="Cambria" panose="02040503050406030204"/>
              </a:rPr>
              <a:t>Variable</a:t>
            </a:r>
            <a:r>
              <a:rPr sz="2200" spc="16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6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5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only</a:t>
            </a:r>
            <a:r>
              <a:rPr sz="2200" spc="16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container</a:t>
            </a:r>
            <a:r>
              <a:rPr sz="2200" spc="1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</a:t>
            </a:r>
            <a:r>
              <a:rPr sz="2200" spc="16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</a:t>
            </a:r>
            <a:r>
              <a:rPr sz="2200" spc="15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programming</a:t>
            </a:r>
            <a:r>
              <a:rPr sz="2200" spc="16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dirty="0">
                <a:latin typeface="Cambria" panose="02040503050406030204"/>
                <a:cs typeface="Cambria" panose="02040503050406030204"/>
              </a:rPr>
              <a:t>thus</a:t>
            </a:r>
            <a:r>
              <a:rPr sz="2200" spc="15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L</a:t>
            </a:r>
            <a:r>
              <a:rPr sz="2200" spc="16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Value </a:t>
            </a:r>
            <a:r>
              <a:rPr sz="2200" spc="-46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must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any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Variable.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800" marR="5715" lvl="1" indent="-342900">
              <a:lnSpc>
                <a:spcPts val="3960"/>
              </a:lnSpc>
              <a:buFont typeface="Wingdings" panose="05000000000000000000" pitchFamily="2" charset="2"/>
              <a:buChar char="Ø"/>
              <a:tabLst>
                <a:tab pos="8134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L</a:t>
            </a:r>
            <a:r>
              <a:rPr sz="2200" spc="8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Value</a:t>
            </a:r>
            <a:r>
              <a:rPr sz="2200" spc="8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cannot</a:t>
            </a:r>
            <a:r>
              <a:rPr sz="2200" spc="9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dirty="0">
                <a:latin typeface="Cambria" panose="02040503050406030204"/>
                <a:cs typeface="Cambria" panose="02040503050406030204"/>
              </a:rPr>
              <a:t>be</a:t>
            </a:r>
            <a:r>
              <a:rPr sz="2200" spc="9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8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dirty="0">
                <a:latin typeface="Cambria" panose="02040503050406030204"/>
                <a:cs typeface="Cambria" panose="02040503050406030204"/>
              </a:rPr>
              <a:t>Constant,</a:t>
            </a:r>
            <a:r>
              <a:rPr sz="2200" spc="9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Function</a:t>
            </a:r>
            <a:r>
              <a:rPr sz="2200" spc="8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or</a:t>
            </a:r>
            <a:r>
              <a:rPr sz="2200" spc="10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any</a:t>
            </a:r>
            <a:r>
              <a:rPr sz="2200" spc="9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9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available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data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type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20008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195"/>
              </a:spcBef>
            </a:pP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6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2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L-Value</a:t>
            </a:r>
            <a:r>
              <a:rPr sz="24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2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R-Value</a:t>
            </a:r>
            <a:r>
              <a:rPr sz="24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Expression</a:t>
            </a:r>
            <a:r>
              <a:rPr sz="24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Contd…</a:t>
            </a:r>
            <a:endParaRPr sz="2400" dirty="0">
              <a:latin typeface="Cambria" panose="02040503050406030204"/>
              <a:cs typeface="Cambria" panose="02040503050406030204"/>
            </a:endParaRPr>
          </a:p>
          <a:p>
            <a:pPr marL="355600" indent="-342900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Diagram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Showing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L-Value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Expression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: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2704" y="2963417"/>
            <a:ext cx="3314700" cy="199072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1437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195"/>
              </a:spcBef>
            </a:pP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6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2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L-Value</a:t>
            </a:r>
            <a:r>
              <a:rPr sz="24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2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R-Value</a:t>
            </a:r>
            <a:r>
              <a:rPr sz="24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Expression</a:t>
            </a:r>
            <a:r>
              <a:rPr sz="24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Contd…</a:t>
            </a:r>
            <a:endParaRPr sz="240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9044" y="2377313"/>
            <a:ext cx="2536825" cy="29241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#include&lt;stdio.h&gt;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1440">
              <a:lnSpc>
                <a:spcPct val="100000"/>
              </a:lnSpc>
              <a:spcBef>
                <a:spcPts val="605"/>
              </a:spcBef>
            </a:pPr>
            <a:r>
              <a:rPr sz="2200" b="1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b="1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main(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144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48640">
              <a:lnSpc>
                <a:spcPct val="100000"/>
              </a:lnSpc>
              <a:spcBef>
                <a:spcPts val="600"/>
              </a:spcBef>
            </a:pPr>
            <a:r>
              <a:rPr sz="2200" b="1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b="1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48640">
              <a:lnSpc>
                <a:spcPct val="100000"/>
              </a:lnSpc>
              <a:spcBef>
                <a:spcPts val="605"/>
              </a:spcBef>
            </a:pPr>
            <a:r>
              <a:rPr sz="2200" b="1" i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num</a:t>
            </a:r>
            <a:r>
              <a:rPr sz="2200" b="1" i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=</a:t>
            </a:r>
            <a:r>
              <a:rPr sz="2200" b="1" i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5;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48640">
              <a:lnSpc>
                <a:spcPct val="100000"/>
              </a:lnSpc>
              <a:spcBef>
                <a:spcPts val="595"/>
              </a:spcBef>
            </a:pPr>
            <a:r>
              <a:rPr sz="2200" b="1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(0);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1440">
              <a:lnSpc>
                <a:spcPct val="100000"/>
              </a:lnSpc>
              <a:spcBef>
                <a:spcPts val="6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5539536"/>
            <a:ext cx="213741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7805">
              <a:lnSpc>
                <a:spcPct val="100000"/>
              </a:lnSpc>
              <a:spcBef>
                <a:spcPts val="95"/>
              </a:spcBef>
            </a:pPr>
            <a:r>
              <a:rPr sz="2200" b="1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Example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of L- </a:t>
            </a:r>
            <a:r>
              <a:rPr sz="2200" b="1" i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3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Value</a:t>
            </a:r>
            <a:r>
              <a:rPr sz="2200" b="1" i="1" spc="-6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Expression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53029" y="2374264"/>
            <a:ext cx="2753360" cy="28473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#include&lt;stdio.h&gt;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075">
              <a:lnSpc>
                <a:spcPct val="100000"/>
              </a:lnSpc>
              <a:spcBef>
                <a:spcPts val="505"/>
              </a:spcBef>
            </a:pPr>
            <a:r>
              <a:rPr sz="2200" b="1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b="1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main(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075">
              <a:lnSpc>
                <a:spcPct val="100000"/>
              </a:lnSpc>
              <a:spcBef>
                <a:spcPts val="5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49275">
              <a:lnSpc>
                <a:spcPct val="100000"/>
              </a:lnSpc>
              <a:spcBef>
                <a:spcPts val="490"/>
              </a:spcBef>
            </a:pPr>
            <a:r>
              <a:rPr sz="2200" b="1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b="1" spc="-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49275">
              <a:lnSpc>
                <a:spcPct val="100000"/>
              </a:lnSpc>
              <a:spcBef>
                <a:spcPts val="505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5</a:t>
            </a:r>
            <a:r>
              <a:rPr sz="2200" b="1" i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=</a:t>
            </a:r>
            <a:r>
              <a:rPr sz="2200" b="1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num;</a:t>
            </a:r>
            <a:r>
              <a:rPr sz="2200" b="1" i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//Error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49275">
              <a:lnSpc>
                <a:spcPct val="100000"/>
              </a:lnSpc>
              <a:spcBef>
                <a:spcPts val="505"/>
              </a:spcBef>
            </a:pPr>
            <a:r>
              <a:rPr sz="2200" b="1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(0);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54305">
              <a:lnSpc>
                <a:spcPct val="100000"/>
              </a:lnSpc>
              <a:spcBef>
                <a:spcPts val="49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50082" y="5545327"/>
            <a:ext cx="22326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9580" marR="5080" indent="-437515">
              <a:lnSpc>
                <a:spcPct val="100000"/>
              </a:lnSpc>
              <a:spcBef>
                <a:spcPts val="95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L-value</a:t>
            </a:r>
            <a:r>
              <a:rPr sz="2200" b="1" i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cannot</a:t>
            </a:r>
            <a:r>
              <a:rPr sz="2200" b="1" i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be </a:t>
            </a:r>
            <a:r>
              <a:rPr sz="2200" b="1" i="1" spc="-47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2200" b="1" i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Constant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39688" y="2374264"/>
            <a:ext cx="2825115" cy="280860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#include&lt;stdio.h&gt;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075">
              <a:lnSpc>
                <a:spcPct val="100000"/>
              </a:lnSpc>
              <a:spcBef>
                <a:spcPts val="505"/>
              </a:spcBef>
            </a:pPr>
            <a:r>
              <a:rPr sz="2200" b="1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b="1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main(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075">
              <a:lnSpc>
                <a:spcPct val="100000"/>
              </a:lnSpc>
              <a:spcBef>
                <a:spcPts val="5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49275">
              <a:lnSpc>
                <a:spcPct val="100000"/>
              </a:lnSpc>
              <a:spcBef>
                <a:spcPts val="395"/>
              </a:spcBef>
            </a:pPr>
            <a:r>
              <a:rPr sz="2200" b="1" spc="-10" dirty="0">
                <a:latin typeface="Cambria" panose="02040503050406030204"/>
                <a:cs typeface="Cambria" panose="02040503050406030204"/>
              </a:rPr>
              <a:t>const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49275">
              <a:lnSpc>
                <a:spcPct val="100000"/>
              </a:lnSpc>
              <a:spcBef>
                <a:spcPts val="395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num</a:t>
            </a:r>
            <a:r>
              <a:rPr sz="2200" b="1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=</a:t>
            </a:r>
            <a:r>
              <a:rPr sz="2200" b="1" i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20;</a:t>
            </a:r>
            <a:r>
              <a:rPr sz="2200" b="1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spc="-5" dirty="0">
                <a:latin typeface="Cambria" panose="02040503050406030204"/>
                <a:cs typeface="Cambria" panose="02040503050406030204"/>
              </a:rPr>
              <a:t>//Error</a:t>
            </a:r>
            <a:endParaRPr sz="2000">
              <a:latin typeface="Cambria" panose="02040503050406030204"/>
              <a:cs typeface="Cambria" panose="02040503050406030204"/>
            </a:endParaRPr>
          </a:p>
          <a:p>
            <a:pPr marL="549275">
              <a:lnSpc>
                <a:spcPct val="100000"/>
              </a:lnSpc>
              <a:spcBef>
                <a:spcPts val="410"/>
              </a:spcBef>
            </a:pPr>
            <a:r>
              <a:rPr sz="2200" b="1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(0);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54940">
              <a:lnSpc>
                <a:spcPct val="100000"/>
              </a:lnSpc>
              <a:spcBef>
                <a:spcPts val="49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37503" y="5545327"/>
            <a:ext cx="2232660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L-value</a:t>
            </a:r>
            <a:r>
              <a:rPr sz="2200" b="1" i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cannot</a:t>
            </a:r>
            <a:r>
              <a:rPr sz="2200" b="1" i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be </a:t>
            </a:r>
            <a:r>
              <a:rPr sz="2200" b="1" i="1" spc="-47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 </a:t>
            </a:r>
            <a:r>
              <a:rPr sz="2200" b="1" i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Constant </a:t>
            </a:r>
            <a:r>
              <a:rPr sz="2200" b="1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Variable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1437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195"/>
              </a:spcBef>
            </a:pP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6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2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L-Value</a:t>
            </a:r>
            <a:r>
              <a:rPr sz="24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2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R-Value</a:t>
            </a:r>
            <a:r>
              <a:rPr sz="24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Expression</a:t>
            </a:r>
            <a:r>
              <a:rPr sz="24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Contd…</a:t>
            </a:r>
            <a:endParaRPr sz="240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99591" y="2377313"/>
            <a:ext cx="2792730" cy="29546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#include&lt;stdio.h&gt;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1440">
              <a:lnSpc>
                <a:spcPct val="100000"/>
              </a:lnSpc>
              <a:spcBef>
                <a:spcPts val="60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#define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MAX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20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1440">
              <a:lnSpc>
                <a:spcPct val="100000"/>
              </a:lnSpc>
              <a:spcBef>
                <a:spcPts val="600"/>
              </a:spcBef>
            </a:pPr>
            <a:r>
              <a:rPr sz="2200" b="1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b="1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main(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144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48640">
              <a:lnSpc>
                <a:spcPct val="100000"/>
              </a:lnSpc>
              <a:spcBef>
                <a:spcPts val="605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MAX</a:t>
            </a:r>
            <a:r>
              <a:rPr sz="2200" b="1" i="1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=</a:t>
            </a:r>
            <a:r>
              <a:rPr sz="2200" b="1" i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20;</a:t>
            </a:r>
            <a:r>
              <a:rPr sz="2200" b="1" i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00" spc="-5" dirty="0">
                <a:latin typeface="Cambria" panose="02040503050406030204"/>
                <a:cs typeface="Cambria" panose="02040503050406030204"/>
              </a:rPr>
              <a:t>//Error</a:t>
            </a:r>
            <a:endParaRPr sz="2000">
              <a:latin typeface="Cambria" panose="02040503050406030204"/>
              <a:cs typeface="Cambria" panose="02040503050406030204"/>
            </a:endParaRPr>
          </a:p>
          <a:p>
            <a:pPr marL="548640">
              <a:lnSpc>
                <a:spcPct val="100000"/>
              </a:lnSpc>
              <a:spcBef>
                <a:spcPts val="595"/>
              </a:spcBef>
            </a:pPr>
            <a:r>
              <a:rPr sz="2200" b="1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(0);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1440">
              <a:lnSpc>
                <a:spcPct val="100000"/>
              </a:lnSpc>
              <a:spcBef>
                <a:spcPts val="6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6065" y="5539536"/>
            <a:ext cx="22326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3720" marR="5080" indent="-541655">
              <a:lnSpc>
                <a:spcPct val="100000"/>
              </a:lnSpc>
              <a:spcBef>
                <a:spcPts val="95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L-value</a:t>
            </a:r>
            <a:r>
              <a:rPr sz="2200" b="1" i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cannot</a:t>
            </a:r>
            <a:r>
              <a:rPr sz="2200" b="1" i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be </a:t>
            </a:r>
            <a:r>
              <a:rPr sz="2200" b="1" i="1" spc="-47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2200" b="1" i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MACRO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73271" y="2374264"/>
            <a:ext cx="3723640" cy="293941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#include&lt;stdio.h&gt;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075">
              <a:lnSpc>
                <a:spcPct val="100000"/>
              </a:lnSpc>
              <a:spcBef>
                <a:spcPts val="505"/>
              </a:spcBef>
            </a:pPr>
            <a:r>
              <a:rPr sz="2200" b="1" spc="-10" dirty="0">
                <a:latin typeface="Cambria" panose="02040503050406030204"/>
                <a:cs typeface="Cambria" panose="02040503050406030204"/>
              </a:rPr>
              <a:t>enum</a:t>
            </a:r>
            <a:r>
              <a:rPr sz="2200" b="1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{JAN,FEB,MARCH};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075">
              <a:lnSpc>
                <a:spcPct val="100000"/>
              </a:lnSpc>
              <a:spcBef>
                <a:spcPts val="505"/>
              </a:spcBef>
            </a:pPr>
            <a:r>
              <a:rPr sz="2200" b="1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b="1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main(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075">
              <a:lnSpc>
                <a:spcPct val="100000"/>
              </a:lnSpc>
              <a:spcBef>
                <a:spcPts val="49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49275">
              <a:lnSpc>
                <a:spcPct val="100000"/>
              </a:lnSpc>
              <a:spcBef>
                <a:spcPts val="505"/>
              </a:spcBef>
            </a:pPr>
            <a:r>
              <a:rPr sz="2200" b="1" i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JAN</a:t>
            </a:r>
            <a:r>
              <a:rPr sz="2200" b="1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=</a:t>
            </a:r>
            <a:r>
              <a:rPr sz="2200" b="1" i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20;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//Error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49275">
              <a:lnSpc>
                <a:spcPct val="100000"/>
              </a:lnSpc>
              <a:spcBef>
                <a:spcPts val="505"/>
              </a:spcBef>
            </a:pPr>
            <a:r>
              <a:rPr sz="2200" b="1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(0);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54305">
              <a:lnSpc>
                <a:spcPct val="100000"/>
              </a:lnSpc>
              <a:spcBef>
                <a:spcPts val="49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69307" y="5545327"/>
            <a:ext cx="22326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515" marR="5080" indent="-44450">
              <a:lnSpc>
                <a:spcPct val="100000"/>
              </a:lnSpc>
              <a:spcBef>
                <a:spcPts val="95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L-value</a:t>
            </a:r>
            <a:r>
              <a:rPr sz="2200" b="1" i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cannot</a:t>
            </a:r>
            <a:r>
              <a:rPr sz="2200" b="1" i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be </a:t>
            </a:r>
            <a:r>
              <a:rPr sz="2200" b="1" i="1" spc="-47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2200" b="1" i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Enum</a:t>
            </a:r>
            <a:r>
              <a:rPr sz="2200" b="1" i="1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Constant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8225155" cy="35096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6510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2195"/>
              </a:spcBef>
            </a:pP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6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2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L-Value</a:t>
            </a:r>
            <a:r>
              <a:rPr sz="24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2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R-Value</a:t>
            </a:r>
            <a:r>
              <a:rPr sz="24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Expression</a:t>
            </a:r>
            <a:r>
              <a:rPr sz="24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Contd…</a:t>
            </a:r>
            <a:endParaRPr sz="2400" dirty="0">
              <a:latin typeface="Cambria" panose="02040503050406030204"/>
              <a:cs typeface="Cambria" panose="02040503050406030204"/>
            </a:endParaRPr>
          </a:p>
          <a:p>
            <a:pPr marL="469900" indent="-457835" algn="just">
              <a:lnSpc>
                <a:spcPct val="100000"/>
              </a:lnSpc>
              <a:spcBef>
                <a:spcPts val="1800"/>
              </a:spcBef>
              <a:buAutoNum type="alphaLcParenR" startAt="2"/>
              <a:tabLst>
                <a:tab pos="46990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R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Value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stands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Cambria" panose="02040503050406030204"/>
                <a:cs typeface="Cambria" panose="02040503050406030204"/>
              </a:rPr>
              <a:t>Right </a:t>
            </a:r>
            <a:r>
              <a:rPr sz="2200" b="1" u="heavy" spc="-15" dirty="0">
                <a:uFill>
                  <a:solidFill>
                    <a:srgbClr val="000000"/>
                  </a:solidFill>
                </a:uFill>
                <a:latin typeface="Cambria" panose="02040503050406030204"/>
                <a:cs typeface="Cambria" panose="02040503050406030204"/>
              </a:rPr>
              <a:t>value</a:t>
            </a:r>
            <a:r>
              <a:rPr sz="2200" b="1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expression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800" marR="508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8134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any </a:t>
            </a:r>
            <a:r>
              <a:rPr sz="2200" b="1" spc="-5" dirty="0">
                <a:latin typeface="Cambria" panose="02040503050406030204"/>
                <a:cs typeface="Cambria" panose="02040503050406030204"/>
              </a:rPr>
              <a:t>Assignment </a:t>
            </a:r>
            <a:r>
              <a:rPr sz="2200" b="1" spc="-10" dirty="0">
                <a:latin typeface="Cambria" panose="02040503050406030204"/>
                <a:cs typeface="Cambria" panose="02040503050406030204"/>
              </a:rPr>
              <a:t>statement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R-Value </a:t>
            </a:r>
            <a:r>
              <a:rPr sz="2200" dirty="0">
                <a:latin typeface="Cambria" panose="02040503050406030204"/>
                <a:cs typeface="Cambria" panose="02040503050406030204"/>
              </a:rPr>
              <a:t>of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Expression must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be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anything</a:t>
            </a:r>
            <a:r>
              <a:rPr sz="2200" spc="36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which</a:t>
            </a:r>
            <a:r>
              <a:rPr sz="2200" spc="36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3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capable</a:t>
            </a:r>
            <a:r>
              <a:rPr sz="2200" spc="35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36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returning</a:t>
            </a:r>
            <a:r>
              <a:rPr sz="2200" spc="35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Constant</a:t>
            </a:r>
            <a:r>
              <a:rPr sz="2200" spc="36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Expression </a:t>
            </a:r>
            <a:r>
              <a:rPr sz="2200" spc="-47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Constant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Value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9766" y="3933050"/>
            <a:ext cx="3686175" cy="263842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1044" y="4545482"/>
            <a:ext cx="6316345" cy="153543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420"/>
              </a:spcBef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R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value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may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be a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Constant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Constant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Expression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355600" indent="-342900">
              <a:lnSpc>
                <a:spcPct val="100000"/>
              </a:lnSpc>
              <a:spcBef>
                <a:spcPts val="1325"/>
              </a:spcBef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R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value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may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MACRO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355600" indent="-34290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R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Value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may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variable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4" name="object 4"/>
          <p:cNvSpPr txBox="1"/>
          <p:nvPr/>
        </p:nvSpPr>
        <p:spPr>
          <a:xfrm>
            <a:off x="383540" y="549605"/>
            <a:ext cx="7350759" cy="1437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195"/>
              </a:spcBef>
            </a:pP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6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2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L-Value</a:t>
            </a:r>
            <a:r>
              <a:rPr sz="24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2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R-Value</a:t>
            </a:r>
            <a:r>
              <a:rPr sz="24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Expression</a:t>
            </a:r>
            <a:r>
              <a:rPr sz="24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Contd…</a:t>
            </a:r>
            <a:endParaRPr sz="240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181277" y="2342514"/>
          <a:ext cx="6648450" cy="20162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4225"/>
                <a:gridCol w="3324225"/>
              </a:tblGrid>
              <a:tr h="504063">
                <a:tc gridSpan="2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Examples</a:t>
                      </a:r>
                      <a:r>
                        <a:rPr sz="2200" b="1" spc="1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of</a:t>
                      </a:r>
                      <a:r>
                        <a:rPr sz="2200" b="1" spc="-1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3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R-Value</a:t>
                      </a:r>
                      <a:r>
                        <a:rPr sz="2200" b="1" spc="-1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of</a:t>
                      </a:r>
                      <a:r>
                        <a:rPr sz="2200" b="1" spc="-1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 Expression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 hMerge="1">
                  <a:tcPr marL="0" marR="0" marT="0" marB="0"/>
                </a:tc>
              </a:tr>
              <a:tr h="50406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5" dirty="0">
                          <a:latin typeface="Cambria" panose="02040503050406030204"/>
                          <a:cs typeface="Cambria" panose="02040503050406030204"/>
                        </a:rPr>
                        <a:t>Variable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Constant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50406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15" dirty="0">
                          <a:latin typeface="Cambria" panose="02040503050406030204"/>
                          <a:cs typeface="Cambria" panose="02040503050406030204"/>
                        </a:rPr>
                        <a:t>Function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15" dirty="0">
                          <a:latin typeface="Cambria" panose="02040503050406030204"/>
                          <a:cs typeface="Cambria" panose="02040503050406030204"/>
                        </a:rPr>
                        <a:t>Macro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  <a:tr h="50406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10" dirty="0">
                          <a:latin typeface="Cambria" panose="02040503050406030204"/>
                          <a:cs typeface="Cambria" panose="02040503050406030204"/>
                        </a:rPr>
                        <a:t>Enum</a:t>
                      </a:r>
                      <a:r>
                        <a:rPr sz="2200" spc="-2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Constant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5" dirty="0">
                          <a:latin typeface="Cambria" panose="02040503050406030204"/>
                          <a:cs typeface="Cambria" panose="02040503050406030204"/>
                        </a:rPr>
                        <a:t>Any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 other</a:t>
                      </a:r>
                      <a:r>
                        <a:rPr sz="2200" spc="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data</a:t>
                      </a:r>
                      <a:r>
                        <a:rPr sz="2200" spc="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10" dirty="0">
                          <a:latin typeface="Cambria" panose="02040503050406030204"/>
                          <a:cs typeface="Cambria" panose="02040503050406030204"/>
                        </a:rPr>
                        <a:t>type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4515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83540" indent="-371475">
              <a:lnSpc>
                <a:spcPct val="100000"/>
              </a:lnSpc>
              <a:spcBef>
                <a:spcPts val="1735"/>
              </a:spcBef>
              <a:buAutoNum type="arabicPeriod" startAt="2"/>
              <a:tabLst>
                <a:tab pos="384175" algn="l"/>
              </a:tabLst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7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Control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Statements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78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Also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called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as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Conditional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Decides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order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execution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based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on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conditions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Helps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repeat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group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statements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5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Modifies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control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flow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program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Decision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Making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Branching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5521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2. 7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Control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Statements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780"/>
              </a:spcBef>
              <a:buFont typeface="Wingdings" panose="05000000000000000000" pitchFamily="2" charset="2"/>
              <a:buChar char="Ø"/>
              <a:tabLst>
                <a:tab pos="469900" algn="l"/>
                <a:tab pos="469900" algn="l"/>
              </a:tabLst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Types</a:t>
            </a:r>
            <a:r>
              <a:rPr sz="2200" b="1" i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2200" b="1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Branching</a:t>
            </a:r>
            <a:r>
              <a:rPr sz="2200" b="1" i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Statements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AutoNum type="alphaLcParenR"/>
              <a:tabLst>
                <a:tab pos="927100" algn="l"/>
                <a:tab pos="9277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if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442085" lvl="2" indent="-515620">
              <a:lnSpc>
                <a:spcPct val="100000"/>
              </a:lnSpc>
              <a:spcBef>
                <a:spcPts val="1320"/>
              </a:spcBef>
              <a:buAutoNum type="romanLcPeriod"/>
              <a:tabLst>
                <a:tab pos="1442085" algn="l"/>
                <a:tab pos="144272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Simple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if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442085" lvl="2" indent="-515620">
              <a:lnSpc>
                <a:spcPct val="100000"/>
              </a:lnSpc>
              <a:spcBef>
                <a:spcPts val="1325"/>
              </a:spcBef>
              <a:buAutoNum type="romanLcPeriod"/>
              <a:tabLst>
                <a:tab pos="1442085" algn="l"/>
                <a:tab pos="144272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if…else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442085" lvl="2" indent="-515620">
              <a:lnSpc>
                <a:spcPct val="100000"/>
              </a:lnSpc>
              <a:spcBef>
                <a:spcPts val="1320"/>
              </a:spcBef>
              <a:buAutoNum type="romanLcPeriod"/>
              <a:tabLst>
                <a:tab pos="1442085" algn="l"/>
                <a:tab pos="1442720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nested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if…else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442085" lvl="2" indent="-515620">
              <a:lnSpc>
                <a:spcPct val="100000"/>
              </a:lnSpc>
              <a:spcBef>
                <a:spcPts val="1320"/>
              </a:spcBef>
              <a:buAutoNum type="romanLcPeriod"/>
              <a:tabLst>
                <a:tab pos="1442085" algn="l"/>
                <a:tab pos="144272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else…if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AutoNum type="alphaLcParenR"/>
              <a:tabLst>
                <a:tab pos="927100" algn="l"/>
                <a:tab pos="9277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switch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AutoNum type="alphaLcParenR"/>
              <a:tabLst>
                <a:tab pos="927100" algn="l"/>
                <a:tab pos="927735" algn="l"/>
              </a:tabLst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goto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629525" cy="5394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60095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76073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2. 7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Control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Statements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615"/>
              </a:spcBef>
              <a:buAutoNum type="alphaLcParenR"/>
              <a:tabLst>
                <a:tab pos="469900" algn="l"/>
                <a:tab pos="469900" algn="l"/>
              </a:tabLst>
            </a:pP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if</a:t>
            </a:r>
            <a:r>
              <a:rPr sz="2200" b="1" spc="-4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205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Condition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“True"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-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Statement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block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will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executed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Condition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“False“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-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Statement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block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will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not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executed.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b="1" spc="-2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Variations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442085" lvl="2" indent="-515620">
              <a:lnSpc>
                <a:spcPct val="100000"/>
              </a:lnSpc>
              <a:spcBef>
                <a:spcPts val="1200"/>
              </a:spcBef>
              <a:buAutoNum type="romanLcPeriod"/>
              <a:tabLst>
                <a:tab pos="1442085" algn="l"/>
                <a:tab pos="144272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Simple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if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442085" lvl="2" indent="-515620">
              <a:lnSpc>
                <a:spcPct val="100000"/>
              </a:lnSpc>
              <a:spcBef>
                <a:spcPts val="1200"/>
              </a:spcBef>
              <a:buAutoNum type="romanLcPeriod"/>
              <a:tabLst>
                <a:tab pos="1442085" algn="l"/>
                <a:tab pos="144272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if…else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442085" lvl="2" indent="-515620">
              <a:lnSpc>
                <a:spcPct val="100000"/>
              </a:lnSpc>
              <a:spcBef>
                <a:spcPts val="1205"/>
              </a:spcBef>
              <a:buAutoNum type="romanLcPeriod"/>
              <a:tabLst>
                <a:tab pos="1442085" algn="l"/>
                <a:tab pos="1442720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nested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if…else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442085" lvl="2" indent="-515620">
              <a:lnSpc>
                <a:spcPct val="100000"/>
              </a:lnSpc>
              <a:spcBef>
                <a:spcPts val="1200"/>
              </a:spcBef>
              <a:buAutoNum type="romanLcPeriod"/>
              <a:tabLst>
                <a:tab pos="1442085" algn="l"/>
                <a:tab pos="144272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else…if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40125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2. 7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Control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Statements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514985" marR="4340860" indent="-514985" algn="r">
              <a:lnSpc>
                <a:spcPct val="100000"/>
              </a:lnSpc>
              <a:spcBef>
                <a:spcPts val="1780"/>
              </a:spcBef>
              <a:buAutoNum type="romanLcPeriod"/>
              <a:tabLst>
                <a:tab pos="514350" algn="l"/>
                <a:tab pos="515620" algn="l"/>
              </a:tabLst>
            </a:pP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Simple</a:t>
            </a: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if</a:t>
            </a:r>
            <a:r>
              <a:rPr sz="2200" b="1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456565" marR="4303395" lvl="1" indent="-456565" algn="r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456565" algn="l"/>
                <a:tab pos="457200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Basic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if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What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is a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condition?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5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Executes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statement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block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only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if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condition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true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Syntax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14625" y="4684991"/>
            <a:ext cx="2856865" cy="18161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3330"/>
              </a:lnSpc>
            </a:pPr>
            <a:r>
              <a:rPr sz="2800" b="1" i="1" spc="-30" dirty="0">
                <a:solidFill>
                  <a:srgbClr val="336600"/>
                </a:solidFill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2800" b="1" i="1" spc="-100" dirty="0">
                <a:solidFill>
                  <a:srgbClr val="3366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45" dirty="0">
                <a:solidFill>
                  <a:srgbClr val="336600"/>
                </a:solidFill>
                <a:latin typeface="Times New Roman" panose="02020603050405020304"/>
                <a:cs typeface="Times New Roman" panose="02020603050405020304"/>
              </a:rPr>
              <a:t>(condition)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1440">
              <a:lnSpc>
                <a:spcPct val="100000"/>
              </a:lnSpc>
            </a:pPr>
            <a:r>
              <a:rPr sz="2800" b="1" i="1" spc="125" dirty="0">
                <a:solidFill>
                  <a:srgbClr val="33660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005840">
              <a:lnSpc>
                <a:spcPct val="100000"/>
              </a:lnSpc>
            </a:pPr>
            <a:r>
              <a:rPr sz="2800" b="1" i="1" spc="-70" dirty="0">
                <a:solidFill>
                  <a:srgbClr val="336600"/>
                </a:solidFill>
                <a:latin typeface="Times New Roman" panose="02020603050405020304"/>
                <a:cs typeface="Times New Roman" panose="02020603050405020304"/>
              </a:rPr>
              <a:t>Statements;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1440">
              <a:lnSpc>
                <a:spcPct val="100000"/>
              </a:lnSpc>
            </a:pPr>
            <a:r>
              <a:rPr sz="2800" b="1" i="1" spc="125" dirty="0">
                <a:solidFill>
                  <a:srgbClr val="336600"/>
                </a:solidFill>
                <a:latin typeface="Times New Roman" panose="02020603050405020304"/>
                <a:cs typeface="Times New Roman" panose="02020603050405020304"/>
              </a:rPr>
              <a:t>}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29769" y="449066"/>
            <a:ext cx="4552315" cy="5962650"/>
            <a:chOff x="2229769" y="449066"/>
            <a:chExt cx="4552315" cy="596265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229769" y="449066"/>
              <a:ext cx="4471888" cy="596251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029200" y="5257799"/>
              <a:ext cx="1752600" cy="457200"/>
            </a:xfrm>
            <a:custGeom>
              <a:avLst/>
              <a:gdLst/>
              <a:ahLst/>
              <a:cxnLst/>
              <a:rect l="l" t="t" r="r" b="b"/>
              <a:pathLst>
                <a:path w="1752600" h="457200">
                  <a:moveTo>
                    <a:pt x="17526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752600" y="457200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228600"/>
            <a:ext cx="8686800" cy="4909185"/>
          </a:xfrm>
          <a:custGeom>
            <a:avLst/>
            <a:gdLst/>
            <a:ahLst/>
            <a:cxnLst/>
            <a:rect l="l" t="t" r="r" b="b"/>
            <a:pathLst>
              <a:path w="8686800" h="4909185">
                <a:moveTo>
                  <a:pt x="0" y="4909058"/>
                </a:moveTo>
                <a:lnTo>
                  <a:pt x="8686800" y="4909058"/>
                </a:lnTo>
                <a:lnTo>
                  <a:pt x="8686800" y="0"/>
                </a:lnTo>
                <a:lnTo>
                  <a:pt x="0" y="0"/>
                </a:lnTo>
                <a:lnTo>
                  <a:pt x="0" y="490905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2044" y="131216"/>
            <a:ext cx="7343775" cy="4869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7970">
              <a:lnSpc>
                <a:spcPct val="136000"/>
              </a:lnSpc>
              <a:spcBef>
                <a:spcPts val="100"/>
              </a:spcBef>
            </a:pP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/* Simple if</a:t>
            </a:r>
            <a:r>
              <a:rPr sz="220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–</a:t>
            </a:r>
            <a:r>
              <a:rPr sz="220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Program</a:t>
            </a:r>
            <a:r>
              <a:rPr sz="22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to</a:t>
            </a:r>
            <a:r>
              <a:rPr sz="22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check</a:t>
            </a:r>
            <a:r>
              <a:rPr sz="2200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whether</a:t>
            </a:r>
            <a:r>
              <a:rPr sz="22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22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number</a:t>
            </a:r>
            <a:r>
              <a:rPr sz="22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is</a:t>
            </a:r>
            <a:r>
              <a:rPr sz="220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Odd*/ </a:t>
            </a:r>
            <a:r>
              <a:rPr sz="2200" spc="-47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#include&lt;stdio.h&gt;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main(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ts val="2515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ts val="2745"/>
              </a:lnSpc>
            </a:pP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400" spc="-17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400" spc="30" dirty="0">
                <a:latin typeface="Times New Roman" panose="02020603050405020304"/>
                <a:cs typeface="Times New Roman" panose="02020603050405020304"/>
              </a:rPr>
              <a:t>;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469265" marR="3599815">
              <a:lnSpc>
                <a:spcPts val="2880"/>
              </a:lnSpc>
              <a:spcBef>
                <a:spcPts val="85"/>
              </a:spcBef>
            </a:pP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400" spc="2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intf</a:t>
            </a:r>
            <a:r>
              <a:rPr sz="2400" spc="-185" dirty="0">
                <a:latin typeface="Times New Roman" panose="02020603050405020304"/>
                <a:cs typeface="Times New Roman" panose="02020603050405020304"/>
              </a:rPr>
              <a:t>(“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Numbe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400" spc="3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40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85" dirty="0">
                <a:latin typeface="Times New Roman" panose="02020603050405020304"/>
                <a:cs typeface="Times New Roman" panose="02020603050405020304"/>
              </a:rPr>
              <a:t>”)</a:t>
            </a:r>
            <a:r>
              <a:rPr sz="2400" spc="30" dirty="0">
                <a:latin typeface="Times New Roman" panose="02020603050405020304"/>
                <a:cs typeface="Times New Roman" panose="02020603050405020304"/>
              </a:rPr>
              <a:t>;  </a:t>
            </a:r>
            <a:r>
              <a:rPr sz="2400" spc="-150" dirty="0">
                <a:latin typeface="Times New Roman" panose="02020603050405020304"/>
                <a:cs typeface="Times New Roman" panose="02020603050405020304"/>
              </a:rPr>
              <a:t>sca</a:t>
            </a:r>
            <a:r>
              <a:rPr sz="2400" spc="-17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400" spc="-180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400" spc="-185" dirty="0">
                <a:latin typeface="Times New Roman" panose="02020603050405020304"/>
                <a:cs typeface="Times New Roman" panose="02020603050405020304"/>
              </a:rPr>
              <a:t>(“</a:t>
            </a:r>
            <a:r>
              <a:rPr sz="2400" spc="-200" dirty="0">
                <a:latin typeface="Times New Roman" panose="02020603050405020304"/>
                <a:cs typeface="Times New Roman" panose="02020603050405020304"/>
              </a:rPr>
              <a:t>%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d,</a:t>
            </a:r>
            <a:r>
              <a:rPr sz="2400" spc="-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20" dirty="0">
                <a:latin typeface="Times New Roman" panose="02020603050405020304"/>
                <a:cs typeface="Times New Roman" panose="02020603050405020304"/>
              </a:rPr>
              <a:t>&amp;n</a:t>
            </a:r>
            <a:r>
              <a:rPr sz="2400" spc="-165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400" spc="-17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er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400" spc="30" dirty="0">
                <a:latin typeface="Times New Roman" panose="02020603050405020304"/>
                <a:cs typeface="Times New Roman" panose="02020603050405020304"/>
              </a:rPr>
              <a:t>;  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if(number%2==0)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469265">
              <a:lnSpc>
                <a:spcPts val="2785"/>
              </a:lnSpc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{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926465">
              <a:lnSpc>
                <a:spcPct val="100000"/>
              </a:lnSpc>
              <a:spcBef>
                <a:spcPts val="5"/>
              </a:spcBef>
            </a:pP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400" spc="2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400" spc="-145" dirty="0">
                <a:latin typeface="Times New Roman" panose="02020603050405020304"/>
                <a:cs typeface="Times New Roman" panose="02020603050405020304"/>
              </a:rPr>
              <a:t>(“The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5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4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400" spc="-254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2400" spc="-150" dirty="0">
                <a:latin typeface="Times New Roman" panose="02020603050405020304"/>
                <a:cs typeface="Times New Roman" panose="02020603050405020304"/>
              </a:rPr>
              <a:t>en”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400" spc="30" dirty="0">
                <a:latin typeface="Times New Roman" panose="02020603050405020304"/>
                <a:cs typeface="Times New Roman" panose="02020603050405020304"/>
              </a:rPr>
              <a:t>;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469265">
              <a:lnSpc>
                <a:spcPct val="100000"/>
              </a:lnSpc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}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469265">
              <a:lnSpc>
                <a:spcPct val="100000"/>
              </a:lnSpc>
            </a:pP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0;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}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600" y="5288521"/>
            <a:ext cx="8686800" cy="13544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35"/>
              </a:spcBef>
            </a:pPr>
            <a:r>
              <a:rPr sz="2400" b="1" i="1" spc="-2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Output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005840" marR="5328920">
              <a:lnSpc>
                <a:spcPct val="121000"/>
              </a:lnSpc>
            </a:pP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9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45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alu</a:t>
            </a:r>
            <a:r>
              <a:rPr sz="2400" spc="-13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3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400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4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2  </a:t>
            </a:r>
            <a:r>
              <a:rPr sz="2400" spc="-14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400" spc="-17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er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5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4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400" spc="-254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en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60553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2. 7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Control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Statements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57200" marR="1591310" indent="-457200" algn="r">
              <a:lnSpc>
                <a:spcPct val="100000"/>
              </a:lnSpc>
              <a:spcBef>
                <a:spcPts val="1780"/>
              </a:spcBef>
              <a:buFont typeface="Wingdings" panose="05000000000000000000" pitchFamily="2" charset="2"/>
              <a:buChar char="Ø"/>
              <a:tabLst>
                <a:tab pos="457200" algn="l"/>
                <a:tab pos="457200" algn="l"/>
              </a:tabLst>
            </a:pPr>
            <a:r>
              <a:rPr sz="2200" b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Try</a:t>
            </a:r>
            <a:r>
              <a:rPr sz="2200" b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it 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</a:t>
            </a:r>
            <a:r>
              <a:rPr sz="22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Yourself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!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Write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 C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program</a:t>
            </a:r>
            <a:r>
              <a:rPr sz="2200" b="1" spc="4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to: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456565" marR="1572895" lvl="1" indent="-456565" algn="r">
              <a:lnSpc>
                <a:spcPct val="100000"/>
              </a:lnSpc>
              <a:spcBef>
                <a:spcPts val="1920"/>
              </a:spcBef>
              <a:buAutoNum type="arabicParenR"/>
              <a:tabLst>
                <a:tab pos="456565" algn="l"/>
                <a:tab pos="45720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Check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whether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given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Even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925"/>
              </a:spcBef>
              <a:buAutoNum type="arabicParenR"/>
              <a:tabLst>
                <a:tab pos="927100" algn="l"/>
                <a:tab pos="927735" algn="l"/>
              </a:tabLst>
            </a:pPr>
            <a:r>
              <a:rPr sz="2200" spc="-100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check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whether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given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Greater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920"/>
              </a:spcBef>
              <a:buAutoNum type="arabicParenR"/>
              <a:tabLst>
                <a:tab pos="927100" algn="l"/>
                <a:tab pos="927735" algn="l"/>
              </a:tabLst>
            </a:pPr>
            <a:r>
              <a:rPr sz="2200" spc="-100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check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whether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given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Smaller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920"/>
              </a:spcBef>
              <a:buAutoNum type="arabicParenR"/>
              <a:tabLst>
                <a:tab pos="927100" algn="l"/>
                <a:tab pos="927735" algn="l"/>
              </a:tabLst>
            </a:pPr>
            <a:r>
              <a:rPr sz="2200" spc="-100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check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whether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given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positive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920"/>
              </a:spcBef>
              <a:buAutoNum type="arabicParenR"/>
              <a:tabLst>
                <a:tab pos="927100" algn="l"/>
                <a:tab pos="927735" algn="l"/>
              </a:tabLst>
            </a:pPr>
            <a:r>
              <a:rPr sz="2200" spc="-100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check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whether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given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negative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920"/>
              </a:spcBef>
              <a:buAutoNum type="arabicParenR"/>
              <a:tabLst>
                <a:tab pos="927100" algn="l"/>
                <a:tab pos="927735" algn="l"/>
              </a:tabLst>
            </a:pPr>
            <a:r>
              <a:rPr sz="2200" spc="-100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check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whether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given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zero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925"/>
              </a:spcBef>
              <a:buAutoNum type="arabicParenR"/>
              <a:tabLst>
                <a:tab pos="927100" algn="l"/>
                <a:tab pos="927735" algn="l"/>
              </a:tabLst>
            </a:pPr>
            <a:r>
              <a:rPr sz="2200" spc="-100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check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whether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two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numbers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are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equal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4515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2. 7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Control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Statements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527685" indent="-515620">
              <a:lnSpc>
                <a:spcPct val="100000"/>
              </a:lnSpc>
              <a:spcBef>
                <a:spcPts val="1780"/>
              </a:spcBef>
              <a:buAutoNum type="romanLcPeriod" startAt="2"/>
              <a:tabLst>
                <a:tab pos="527685" algn="l"/>
                <a:tab pos="528320" algn="l"/>
              </a:tabLst>
            </a:pP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If else</a:t>
            </a: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Extension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basic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if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50" dirty="0">
                <a:latin typeface="Cambria" panose="02040503050406030204"/>
                <a:cs typeface="Cambria" panose="02040503050406030204"/>
              </a:rPr>
              <a:t>Takes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care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True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and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False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condition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5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Statement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Blocks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-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384300" lvl="2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1384300" algn="l"/>
                <a:tab pos="13849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Block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 –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True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Condition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384300" lvl="2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1384300" algn="l"/>
                <a:tab pos="13849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Block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 –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False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Condition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1371600"/>
            <a:ext cx="2750820" cy="3970654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3320"/>
              </a:lnSpc>
            </a:pPr>
            <a:r>
              <a:rPr sz="2800" b="1" i="1" spc="-30" dirty="0">
                <a:solidFill>
                  <a:srgbClr val="336600"/>
                </a:solidFill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2800" b="1" i="1" spc="-100" dirty="0">
                <a:solidFill>
                  <a:srgbClr val="3366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45" dirty="0">
                <a:solidFill>
                  <a:srgbClr val="336600"/>
                </a:solidFill>
                <a:latin typeface="Times New Roman" panose="02020603050405020304"/>
                <a:cs typeface="Times New Roman" panose="02020603050405020304"/>
              </a:rPr>
              <a:t>(condition)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0805">
              <a:lnSpc>
                <a:spcPct val="100000"/>
              </a:lnSpc>
            </a:pPr>
            <a:r>
              <a:rPr sz="2800" b="1" i="1" spc="125" dirty="0">
                <a:solidFill>
                  <a:srgbClr val="33660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005840">
              <a:lnSpc>
                <a:spcPct val="100000"/>
              </a:lnSpc>
            </a:pPr>
            <a:r>
              <a:rPr sz="2800" b="1" i="1" spc="-70" dirty="0">
                <a:solidFill>
                  <a:srgbClr val="336600"/>
                </a:solidFill>
                <a:latin typeface="Times New Roman" panose="02020603050405020304"/>
                <a:cs typeface="Times New Roman" panose="02020603050405020304"/>
              </a:rPr>
              <a:t>Statements;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0805">
              <a:lnSpc>
                <a:spcPct val="100000"/>
              </a:lnSpc>
            </a:pPr>
            <a:r>
              <a:rPr sz="2800" b="1" i="1" spc="125" dirty="0">
                <a:solidFill>
                  <a:srgbClr val="336600"/>
                </a:solidFill>
                <a:latin typeface="Times New Roman" panose="02020603050405020304"/>
                <a:cs typeface="Times New Roman" panose="02020603050405020304"/>
              </a:rPr>
              <a:t>}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0805">
              <a:lnSpc>
                <a:spcPct val="100000"/>
              </a:lnSpc>
            </a:pPr>
            <a:r>
              <a:rPr sz="2800" b="1" i="1" spc="-140" dirty="0">
                <a:solidFill>
                  <a:srgbClr val="336600"/>
                </a:solidFill>
                <a:latin typeface="Times New Roman" panose="02020603050405020304"/>
                <a:cs typeface="Times New Roman" panose="02020603050405020304"/>
              </a:rPr>
              <a:t>Else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2800" b="1" i="1" spc="125" dirty="0">
                <a:solidFill>
                  <a:srgbClr val="33660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005840">
              <a:lnSpc>
                <a:spcPct val="100000"/>
              </a:lnSpc>
            </a:pPr>
            <a:r>
              <a:rPr sz="2800" b="1" i="1" spc="-70" dirty="0">
                <a:solidFill>
                  <a:srgbClr val="336600"/>
                </a:solidFill>
                <a:latin typeface="Times New Roman" panose="02020603050405020304"/>
                <a:cs typeface="Times New Roman" panose="02020603050405020304"/>
              </a:rPr>
              <a:t>Statements;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0805">
              <a:lnSpc>
                <a:spcPct val="100000"/>
              </a:lnSpc>
            </a:pPr>
            <a:r>
              <a:rPr sz="2800" b="1" i="1" spc="125" dirty="0">
                <a:solidFill>
                  <a:srgbClr val="336600"/>
                </a:solidFill>
                <a:latin typeface="Times New Roman" panose="02020603050405020304"/>
                <a:cs typeface="Times New Roman" panose="02020603050405020304"/>
              </a:rPr>
              <a:t>}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413052" y="639528"/>
            <a:ext cx="5458085" cy="5639981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228637"/>
            <a:ext cx="8686800" cy="6622415"/>
          </a:xfrm>
          <a:custGeom>
            <a:avLst/>
            <a:gdLst/>
            <a:ahLst/>
            <a:cxnLst/>
            <a:rect l="l" t="t" r="r" b="b"/>
            <a:pathLst>
              <a:path w="8686800" h="6622415">
                <a:moveTo>
                  <a:pt x="0" y="6622288"/>
                </a:moveTo>
                <a:lnTo>
                  <a:pt x="8686800" y="6622288"/>
                </a:lnTo>
                <a:lnTo>
                  <a:pt x="8686800" y="0"/>
                </a:lnTo>
                <a:lnTo>
                  <a:pt x="0" y="0"/>
                </a:lnTo>
                <a:lnTo>
                  <a:pt x="0" y="6622288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2044" y="253999"/>
            <a:ext cx="7082155" cy="6403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42925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/*</a:t>
            </a:r>
            <a:r>
              <a:rPr sz="22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if</a:t>
            </a:r>
            <a:r>
              <a:rPr sz="22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else</a:t>
            </a:r>
            <a:r>
              <a:rPr sz="2200" spc="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4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–To</a:t>
            </a:r>
            <a:r>
              <a:rPr sz="220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check</a:t>
            </a:r>
            <a:r>
              <a:rPr sz="2200" spc="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whether</a:t>
            </a:r>
            <a:r>
              <a:rPr sz="2200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</a:t>
            </a:r>
            <a:r>
              <a:rPr sz="22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number</a:t>
            </a:r>
            <a:r>
              <a:rPr sz="2200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is</a:t>
            </a:r>
            <a:r>
              <a:rPr sz="22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Odd</a:t>
            </a:r>
            <a:r>
              <a:rPr sz="22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or</a:t>
            </a:r>
            <a:r>
              <a:rPr sz="220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3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Even*/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 marR="4897755">
              <a:lnSpc>
                <a:spcPct val="107000"/>
              </a:lnSpc>
              <a:spcBef>
                <a:spcPts val="213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#inclu</a:t>
            </a:r>
            <a:r>
              <a:rPr sz="2200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&lt;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dirty="0">
                <a:latin typeface="Cambria" panose="02040503050406030204"/>
                <a:cs typeface="Cambria" panose="02040503050406030204"/>
              </a:rPr>
              <a:t>.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h&gt;  int main(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21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 marR="3135630">
              <a:lnSpc>
                <a:spcPts val="2840"/>
              </a:lnSpc>
              <a:spcBef>
                <a:spcPts val="12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printf(“Enter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Number: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”);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scanf(“%d,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&amp;number); 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if(number%2==0)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7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2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printf(“The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Number is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Even”);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2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19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else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21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89330">
              <a:lnSpc>
                <a:spcPct val="100000"/>
              </a:lnSpc>
              <a:spcBef>
                <a:spcPts val="2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printf(“The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Odd”);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19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20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152400"/>
            <a:ext cx="8686800" cy="29241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295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</a:t>
            </a:r>
            <a:r>
              <a:rPr sz="2200" b="1" i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1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: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10341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number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 Odd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5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</a:t>
            </a:r>
            <a:r>
              <a:rPr sz="2200" b="1" i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2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 marR="4554220">
              <a:lnSpc>
                <a:spcPct val="123000"/>
              </a:lnSpc>
              <a:spcBef>
                <a:spcPts val="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: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10342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Even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718425" cy="3738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71195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67183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2. 7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Control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Statements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780"/>
              </a:spcBef>
              <a:buFont typeface="Wingdings" panose="05000000000000000000" pitchFamily="2" charset="2"/>
              <a:buChar char="Ø"/>
              <a:tabLst>
                <a:tab pos="469900" algn="l"/>
                <a:tab pos="469900" algn="l"/>
              </a:tabLst>
            </a:pPr>
            <a:r>
              <a:rPr sz="2200" b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Try</a:t>
            </a:r>
            <a:r>
              <a:rPr sz="2200" b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it 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</a:t>
            </a:r>
            <a:r>
              <a:rPr sz="22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Yourself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!</a:t>
            </a: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Write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 C </a:t>
            </a:r>
            <a:r>
              <a:rPr sz="2200" b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program</a:t>
            </a:r>
            <a:r>
              <a:rPr sz="2200" b="1" spc="3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to: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920"/>
              </a:spcBef>
              <a:buAutoNum type="arabicParenR"/>
              <a:tabLst>
                <a:tab pos="927100" algn="l"/>
                <a:tab pos="927735" algn="l"/>
              </a:tabLst>
            </a:pPr>
            <a:r>
              <a:rPr sz="2200" spc="-100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check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whether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given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Greater</a:t>
            </a:r>
            <a:r>
              <a:rPr sz="2200" spc="4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Smaller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925"/>
              </a:spcBef>
              <a:buAutoNum type="arabicParenR"/>
              <a:tabLst>
                <a:tab pos="927100" algn="l"/>
                <a:tab pos="927735" algn="l"/>
              </a:tabLst>
            </a:pPr>
            <a:r>
              <a:rPr sz="2200" spc="-100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check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whether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given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+ve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or </a:t>
            </a:r>
            <a:r>
              <a:rPr sz="2200" spc="-40" dirty="0">
                <a:latin typeface="Cambria" panose="02040503050406030204"/>
                <a:cs typeface="Cambria" panose="02040503050406030204"/>
              </a:rPr>
              <a:t>-ve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920"/>
              </a:spcBef>
              <a:buAutoNum type="arabicParenR"/>
              <a:tabLst>
                <a:tab pos="927100" algn="l"/>
                <a:tab pos="927735" algn="l"/>
              </a:tabLst>
            </a:pPr>
            <a:r>
              <a:rPr sz="2200" spc="-100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check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whether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two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numbers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are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equal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or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not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5521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2. 7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Control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Statements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12700" algn="just">
              <a:lnSpc>
                <a:spcPct val="100000"/>
              </a:lnSpc>
              <a:spcBef>
                <a:spcPts val="1780"/>
              </a:spcBef>
            </a:pP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iii.</a:t>
            </a:r>
            <a:r>
              <a:rPr sz="2200" b="1" spc="50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Nested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if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else</a:t>
            </a:r>
            <a:r>
              <a:rPr sz="22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469900" marR="3104515" indent="-457835" algn="just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46990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Used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when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 </a:t>
            </a:r>
            <a:r>
              <a:rPr sz="2200" dirty="0">
                <a:latin typeface="Cambria" panose="02040503050406030204"/>
                <a:cs typeface="Cambria" panose="02040503050406030204"/>
              </a:rPr>
              <a:t>series of decisions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are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involved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469900" marR="3104515" indent="-457835" algn="just">
              <a:lnSpc>
                <a:spcPct val="150000"/>
              </a:lnSpc>
              <a:spcBef>
                <a:spcPts val="5"/>
              </a:spcBef>
              <a:buFont typeface="Wingdings" panose="05000000000000000000" pitchFamily="2" charset="2"/>
              <a:buChar char="Ø"/>
              <a:tabLst>
                <a:tab pos="469900" algn="l"/>
              </a:tabLst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Makes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47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choice</a:t>
            </a:r>
            <a:r>
              <a:rPr sz="2200" spc="47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between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several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alternatives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469900" marR="3105150" indent="-457835" algn="just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46990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New if </a:t>
            </a:r>
            <a:r>
              <a:rPr sz="2200" dirty="0">
                <a:latin typeface="Cambria" panose="02040503050406030204"/>
                <a:cs typeface="Cambria" panose="02040503050406030204"/>
              </a:rPr>
              <a:t>else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statement block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 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used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within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existing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if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else 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statement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block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0625" y="2152637"/>
            <a:ext cx="3857625" cy="431482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9600" y="104773"/>
            <a:ext cx="7924800" cy="664845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228626"/>
            <a:ext cx="8686800" cy="6555740"/>
          </a:xfrm>
          <a:custGeom>
            <a:avLst/>
            <a:gdLst/>
            <a:ahLst/>
            <a:cxnLst/>
            <a:rect l="l" t="t" r="r" b="b"/>
            <a:pathLst>
              <a:path w="8686800" h="6555740">
                <a:moveTo>
                  <a:pt x="0" y="6555613"/>
                </a:moveTo>
                <a:lnTo>
                  <a:pt x="8686800" y="6555613"/>
                </a:lnTo>
                <a:lnTo>
                  <a:pt x="8686800" y="0"/>
                </a:lnTo>
                <a:lnTo>
                  <a:pt x="0" y="0"/>
                </a:lnTo>
                <a:lnTo>
                  <a:pt x="0" y="655561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83763" y="360679"/>
            <a:ext cx="36906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0" spc="-15" dirty="0">
                <a:latin typeface="Cambria" panose="02040503050406030204"/>
                <a:cs typeface="Cambria" panose="02040503050406030204"/>
              </a:rPr>
              <a:t>/*Program</a:t>
            </a:r>
            <a:r>
              <a:rPr sz="2200" b="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b="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0" spc="-10" dirty="0">
                <a:latin typeface="Cambria" panose="02040503050406030204"/>
                <a:cs typeface="Cambria" panose="02040503050406030204"/>
              </a:rPr>
              <a:t>Nested</a:t>
            </a:r>
            <a:r>
              <a:rPr sz="2200" b="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0" spc="-5" dirty="0">
                <a:latin typeface="Cambria" panose="02040503050406030204"/>
                <a:cs typeface="Cambria" panose="02040503050406030204"/>
              </a:rPr>
              <a:t>if else</a:t>
            </a:r>
            <a:r>
              <a:rPr sz="2200" b="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0" spc="-10" dirty="0">
                <a:latin typeface="Cambria" panose="02040503050406030204"/>
                <a:cs typeface="Cambria" panose="02040503050406030204"/>
              </a:rPr>
              <a:t>*/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1016254"/>
            <a:ext cx="3420745" cy="5603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#include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&lt;stdio.h&gt;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</a:pPr>
            <a:endParaRPr sz="215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</a:pPr>
            <a:r>
              <a:rPr sz="2200" spc="-20" dirty="0">
                <a:latin typeface="Cambria" panose="02040503050406030204"/>
                <a:cs typeface="Cambria" panose="02040503050406030204"/>
              </a:rPr>
              <a:t>void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main(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</a:pPr>
            <a:endParaRPr sz="215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</a:pPr>
            <a:endParaRPr sz="2150">
              <a:latin typeface="Cambria" panose="02040503050406030204"/>
              <a:cs typeface="Cambria" panose="02040503050406030204"/>
            </a:endParaRPr>
          </a:p>
          <a:p>
            <a:pPr marL="469900">
              <a:lnSpc>
                <a:spcPct val="100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char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username;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 marR="5080">
              <a:lnSpc>
                <a:spcPct val="196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password;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printf("Username:");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scanf("%c",&amp;username);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printf("Password:");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dirty="0">
                <a:latin typeface="Cambria" panose="02040503050406030204"/>
                <a:cs typeface="Cambria" panose="02040503050406030204"/>
              </a:rPr>
              <a:t>c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anf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("%d"</a:t>
            </a:r>
            <a:r>
              <a:rPr sz="2200" dirty="0">
                <a:latin typeface="Cambria" panose="02040503050406030204"/>
                <a:cs typeface="Cambria" panose="02040503050406030204"/>
              </a:rPr>
              <a:t>,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&amp;pass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w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spc="-40" dirty="0">
                <a:latin typeface="Cambria" panose="02040503050406030204"/>
                <a:cs typeface="Cambria" panose="02040503050406030204"/>
              </a:rPr>
              <a:t>r</a:t>
            </a:r>
            <a:r>
              <a:rPr sz="2200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);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228549"/>
            <a:ext cx="8686800" cy="6258560"/>
          </a:xfrm>
          <a:custGeom>
            <a:avLst/>
            <a:gdLst/>
            <a:ahLst/>
            <a:cxnLst/>
            <a:rect l="l" t="t" r="r" b="b"/>
            <a:pathLst>
              <a:path w="8686800" h="6258560">
                <a:moveTo>
                  <a:pt x="0" y="6258179"/>
                </a:moveTo>
                <a:lnTo>
                  <a:pt x="8686800" y="6258179"/>
                </a:lnTo>
                <a:lnTo>
                  <a:pt x="8686800" y="0"/>
                </a:lnTo>
                <a:lnTo>
                  <a:pt x="0" y="0"/>
                </a:lnTo>
                <a:lnTo>
                  <a:pt x="0" y="625817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07340" y="227561"/>
            <a:ext cx="6885940" cy="61595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if(username=='a')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7100">
              <a:lnSpc>
                <a:spcPct val="100000"/>
              </a:lnSpc>
              <a:spcBef>
                <a:spcPts val="2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20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if(password==12345)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9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2756535">
              <a:lnSpc>
                <a:spcPct val="100000"/>
              </a:lnSpc>
              <a:spcBef>
                <a:spcPts val="2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printf("Login successful");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2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else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2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205"/>
              </a:spcBef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printf("Password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incorrect,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Try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again.");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7100">
              <a:lnSpc>
                <a:spcPct val="100000"/>
              </a:lnSpc>
              <a:spcBef>
                <a:spcPts val="2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else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7100">
              <a:lnSpc>
                <a:spcPct val="100000"/>
              </a:lnSpc>
              <a:spcBef>
                <a:spcPts val="19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7100">
              <a:lnSpc>
                <a:spcPct val="100000"/>
              </a:lnSpc>
              <a:spcBef>
                <a:spcPts val="2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printf("Username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incorrect,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Try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again.");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7100">
              <a:lnSpc>
                <a:spcPct val="100000"/>
              </a:lnSpc>
              <a:spcBef>
                <a:spcPts val="2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219398"/>
            <a:ext cx="8686800" cy="6555740"/>
          </a:xfrm>
          <a:custGeom>
            <a:avLst/>
            <a:gdLst/>
            <a:ahLst/>
            <a:cxnLst/>
            <a:rect l="l" t="t" r="r" b="b"/>
            <a:pathLst>
              <a:path w="8686800" h="6555740">
                <a:moveTo>
                  <a:pt x="0" y="6555613"/>
                </a:moveTo>
                <a:lnTo>
                  <a:pt x="8686800" y="6555613"/>
                </a:lnTo>
                <a:lnTo>
                  <a:pt x="8686800" y="0"/>
                </a:lnTo>
                <a:lnTo>
                  <a:pt x="0" y="0"/>
                </a:lnTo>
                <a:lnTo>
                  <a:pt x="0" y="655561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2044" y="91845"/>
            <a:ext cx="3943985" cy="6473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61185">
              <a:lnSpc>
                <a:spcPct val="146000"/>
              </a:lnSpc>
              <a:spcBef>
                <a:spcPts val="100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 1 </a:t>
            </a:r>
            <a:r>
              <a:rPr sz="2200" b="1" i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Username: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 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Password: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12345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Login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Successful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00">
              <a:latin typeface="Cambria" panose="02040503050406030204"/>
              <a:cs typeface="Cambria" panose="02040503050406030204"/>
            </a:endParaRPr>
          </a:p>
          <a:p>
            <a:pPr marL="12700" marR="1861185">
              <a:lnSpc>
                <a:spcPct val="146000"/>
              </a:lnSpc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</a:t>
            </a:r>
            <a:r>
              <a:rPr sz="2200" b="1" i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2 </a:t>
            </a:r>
            <a:r>
              <a:rPr sz="2200" b="1" i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Username: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 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Password: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54321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200" spc="-20" dirty="0">
                <a:latin typeface="Cambria" panose="02040503050406030204"/>
                <a:cs typeface="Cambria" panose="02040503050406030204"/>
              </a:rPr>
              <a:t>Password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incorrect,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Try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again.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ambria" panose="02040503050406030204"/>
              <a:cs typeface="Cambria" panose="02040503050406030204"/>
            </a:endParaRPr>
          </a:p>
          <a:p>
            <a:pPr marL="12700" marR="1861185">
              <a:lnSpc>
                <a:spcPct val="146000"/>
              </a:lnSpc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 3 </a:t>
            </a:r>
            <a:r>
              <a:rPr sz="2200" b="1" i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Username: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 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Password: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54321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Username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incorrect,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Try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again.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8225790" cy="5521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4465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64465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2. 7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Control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Statements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355600" marR="5080" indent="-342900" algn="just">
              <a:lnSpc>
                <a:spcPct val="150000"/>
              </a:lnSpc>
              <a:spcBef>
                <a:spcPts val="460"/>
              </a:spcBef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Step 1: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First if condition will be true, if the </a:t>
            </a:r>
            <a:r>
              <a:rPr sz="2200" dirty="0">
                <a:latin typeface="Cambria" panose="02040503050406030204"/>
                <a:cs typeface="Cambria" panose="02040503050406030204"/>
              </a:rPr>
              <a:t>user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has typed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'a' </a:t>
            </a:r>
            <a:r>
              <a:rPr sz="2200" dirty="0">
                <a:latin typeface="Cambria" panose="02040503050406030204"/>
                <a:cs typeface="Cambria" panose="02040503050406030204"/>
              </a:rPr>
              <a:t>as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 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username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then the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program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control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moves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second if </a:t>
            </a:r>
            <a:r>
              <a:rPr sz="2200" dirty="0">
                <a:latin typeface="Cambria" panose="02040503050406030204"/>
                <a:cs typeface="Cambria" panose="02040503050406030204"/>
              </a:rPr>
              <a:t>condition 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and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checks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password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43280" lvl="1" indent="-374015" algn="just">
              <a:lnSpc>
                <a:spcPct val="100000"/>
              </a:lnSpc>
              <a:spcBef>
                <a:spcPts val="1325"/>
              </a:spcBef>
              <a:buFont typeface="Wingdings" panose="05000000000000000000" pitchFamily="2" charset="2"/>
              <a:buChar char="Ø"/>
              <a:tabLst>
                <a:tab pos="84391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if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it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true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it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will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print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'login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successful’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800" marR="6985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8134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else </a:t>
            </a:r>
            <a:r>
              <a:rPr sz="2200" dirty="0">
                <a:latin typeface="Cambria" panose="02040503050406030204"/>
                <a:cs typeface="Cambria" panose="02040503050406030204"/>
              </a:rPr>
              <a:t>it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will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execute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block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statement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'Password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 Incorrect, 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Try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60" dirty="0">
                <a:latin typeface="Cambria" panose="02040503050406030204"/>
                <a:cs typeface="Cambria" panose="02040503050406030204"/>
              </a:rPr>
              <a:t>again.‘.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355600" marR="6985" indent="-342900" algn="just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Step 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2: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If the </a:t>
            </a:r>
            <a:r>
              <a:rPr sz="2200" dirty="0">
                <a:latin typeface="Cambria" panose="02040503050406030204"/>
                <a:cs typeface="Cambria" panose="02040503050406030204"/>
              </a:rPr>
              <a:t>first if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condition is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false </a:t>
            </a:r>
            <a:r>
              <a:rPr sz="2200" dirty="0">
                <a:latin typeface="Cambria" panose="02040503050406030204"/>
                <a:cs typeface="Cambria" panose="02040503050406030204"/>
              </a:rPr>
              <a:t>then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it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executes </a:t>
            </a:r>
            <a:r>
              <a:rPr sz="2200" dirty="0">
                <a:latin typeface="Cambria" panose="02040503050406030204"/>
                <a:cs typeface="Cambria" panose="02040503050406030204"/>
              </a:rPr>
              <a:t>last else 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block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thus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printing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'Username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Incorrect,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Try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again.‘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8224520" cy="3006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65735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2. 7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Control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Statements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355600" marR="5080" indent="-342900" algn="just">
              <a:lnSpc>
                <a:spcPct val="150000"/>
              </a:lnSpc>
              <a:spcBef>
                <a:spcPts val="460"/>
              </a:spcBef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Step 3: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 </a:t>
            </a:r>
            <a:r>
              <a:rPr sz="2200" dirty="0">
                <a:latin typeface="Cambria" panose="02040503050406030204"/>
                <a:cs typeface="Cambria" panose="02040503050406030204"/>
              </a:rPr>
              <a:t>this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above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example we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have </a:t>
            </a:r>
            <a:r>
              <a:rPr sz="2200" dirty="0">
                <a:latin typeface="Cambria" panose="02040503050406030204"/>
                <a:cs typeface="Cambria" panose="02040503050406030204"/>
              </a:rPr>
              <a:t>use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username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as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single 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character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use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multiple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character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username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we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need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use 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string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data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type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8222615" cy="60248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764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6764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2. 7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Control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Statements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780"/>
              </a:spcBef>
              <a:buAutoNum type="alphaLcParenR" startAt="2"/>
              <a:tabLst>
                <a:tab pos="469900" algn="l"/>
                <a:tab pos="469900" algn="l"/>
              </a:tabLst>
            </a:pP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Switch</a:t>
            </a:r>
            <a:r>
              <a:rPr sz="2200" b="1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Allows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make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decisions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from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choices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Also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called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as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Switch-Case-Default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5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25" dirty="0">
                <a:latin typeface="Cambria" panose="02040503050406030204"/>
                <a:cs typeface="Cambria" panose="02040503050406030204"/>
              </a:rPr>
              <a:t>Faster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than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nested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if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else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Easier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understand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Rules</a:t>
            </a:r>
            <a:r>
              <a:rPr sz="2200" b="1" spc="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22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writing</a:t>
            </a:r>
            <a:r>
              <a:rPr sz="2200" b="1" spc="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switch</a:t>
            </a:r>
            <a:r>
              <a:rPr sz="22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(</a:t>
            </a:r>
            <a:r>
              <a:rPr sz="22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)</a:t>
            </a:r>
            <a:r>
              <a:rPr sz="22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384300" marR="5080" lvl="2" indent="-4572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1384300" algn="l"/>
                <a:tab pos="1384935" algn="l"/>
                <a:tab pos="2861310" algn="l"/>
                <a:tab pos="3251200" algn="l"/>
                <a:tab pos="4192270" algn="l"/>
                <a:tab pos="4951095" algn="l"/>
                <a:tab pos="5397500" algn="l"/>
                <a:tab pos="5845810" algn="l"/>
                <a:tab pos="6858000" algn="l"/>
                <a:tab pos="7651750" algn="l"/>
                <a:tab pos="807275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x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p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r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ession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ch</a:t>
            </a:r>
            <a:r>
              <a:rPr sz="2200" dirty="0">
                <a:latin typeface="Cambria" panose="02040503050406030204"/>
                <a:cs typeface="Cambria" panose="02040503050406030204"/>
              </a:rPr>
              <a:t>	m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us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b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eger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60" dirty="0">
                <a:latin typeface="Cambria" panose="02040503050406030204"/>
                <a:cs typeface="Cambria" panose="02040503050406030204"/>
              </a:rPr>
              <a:t>v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al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u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r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 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character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constant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384300" lvl="2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1384300" algn="l"/>
                <a:tab pos="1384935" algn="l"/>
              </a:tabLst>
            </a:pPr>
            <a:r>
              <a:rPr sz="2200" dirty="0">
                <a:latin typeface="Cambria" panose="02040503050406030204"/>
                <a:cs typeface="Cambria" panose="02040503050406030204"/>
              </a:rPr>
              <a:t>No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real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used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Expression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8225155" cy="4515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6510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83540" indent="-371475">
              <a:lnSpc>
                <a:spcPct val="100000"/>
              </a:lnSpc>
              <a:spcBef>
                <a:spcPts val="1735"/>
              </a:spcBef>
              <a:buAutoNum type="arabicPeriod" startAt="2"/>
              <a:tabLst>
                <a:tab pos="384175" algn="l"/>
              </a:tabLst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7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Control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Statements</a:t>
            </a:r>
            <a:r>
              <a:rPr sz="28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78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  <a:tab pos="1649095" algn="l"/>
                <a:tab pos="2315845" algn="l"/>
                <a:tab pos="3111500" algn="l"/>
                <a:tab pos="3706495" algn="l"/>
                <a:tab pos="4692015" algn="l"/>
                <a:tab pos="5488940" algn="l"/>
                <a:tab pos="6238875" algn="l"/>
                <a:tab pos="6835775" algn="l"/>
                <a:tab pos="7527290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ch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c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as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dirty="0">
                <a:latin typeface="Cambria" panose="02040503050406030204"/>
                <a:cs typeface="Cambria" panose="02040503050406030204"/>
              </a:rPr>
              <a:t>	b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loc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k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n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40" dirty="0">
                <a:latin typeface="Cambria" panose="02040503050406030204"/>
                <a:cs typeface="Cambria" panose="02040503050406030204"/>
              </a:rPr>
              <a:t>f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aul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bloc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k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mus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n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wit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b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r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ak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270000" indent="-34290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statements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Default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 optional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5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Case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keyword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must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end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with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colon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( :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Default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may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be placed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anywhere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switch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dirty="0">
                <a:latin typeface="Cambria" panose="02040503050406030204"/>
                <a:cs typeface="Cambria" panose="02040503050406030204"/>
              </a:rPr>
              <a:t>No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two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case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constants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are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identical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3540" y="549605"/>
            <a:ext cx="7350759" cy="59182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2. 7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Control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Statements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50">
              <a:latin typeface="Cambria" panose="02040503050406030204"/>
              <a:cs typeface="Cambria" panose="02040503050406030204"/>
            </a:endParaRPr>
          </a:p>
          <a:p>
            <a:pPr marL="1384300">
              <a:lnSpc>
                <a:spcPct val="100000"/>
              </a:lnSpc>
            </a:pPr>
            <a:r>
              <a:rPr sz="2200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switch(variable</a:t>
            </a:r>
            <a:r>
              <a:rPr sz="2200" i="1" spc="3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or </a:t>
            </a:r>
            <a:r>
              <a:rPr sz="2200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expression)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384300">
              <a:lnSpc>
                <a:spcPct val="100000"/>
              </a:lnSpc>
            </a:pPr>
            <a:r>
              <a:rPr sz="2200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</a:pPr>
            <a:r>
              <a:rPr sz="2200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case constant</a:t>
            </a:r>
            <a:r>
              <a:rPr sz="2200" i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1: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2756535">
              <a:lnSpc>
                <a:spcPct val="100000"/>
              </a:lnSpc>
              <a:spcBef>
                <a:spcPts val="5"/>
              </a:spcBef>
            </a:pPr>
            <a:r>
              <a:rPr sz="2200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statements;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</a:pPr>
            <a:r>
              <a:rPr sz="2200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break;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</a:pPr>
            <a:r>
              <a:rPr sz="2200" i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….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</a:pPr>
            <a:r>
              <a:rPr sz="2200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case constant</a:t>
            </a:r>
            <a:r>
              <a:rPr sz="2200" i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N;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2756535">
              <a:lnSpc>
                <a:spcPct val="100000"/>
              </a:lnSpc>
            </a:pPr>
            <a:r>
              <a:rPr sz="2200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statements;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841500" marR="4606925">
              <a:lnSpc>
                <a:spcPct val="100000"/>
              </a:lnSpc>
            </a:pPr>
            <a:r>
              <a:rPr sz="2200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break; </a:t>
            </a:r>
            <a:r>
              <a:rPr sz="2200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default: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2756535">
              <a:lnSpc>
                <a:spcPct val="100000"/>
              </a:lnSpc>
            </a:pPr>
            <a:r>
              <a:rPr sz="2200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statements;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384300">
              <a:lnSpc>
                <a:spcPct val="100000"/>
              </a:lnSpc>
            </a:pPr>
            <a:r>
              <a:rPr sz="2200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228536"/>
            <a:ext cx="8686800" cy="6165850"/>
          </a:xfrm>
          <a:custGeom>
            <a:avLst/>
            <a:gdLst/>
            <a:ahLst/>
            <a:cxnLst/>
            <a:rect l="l" t="t" r="r" b="b"/>
            <a:pathLst>
              <a:path w="8686800" h="6165850">
                <a:moveTo>
                  <a:pt x="0" y="6165850"/>
                </a:moveTo>
                <a:lnTo>
                  <a:pt x="8686800" y="6165850"/>
                </a:lnTo>
                <a:lnTo>
                  <a:pt x="8686800" y="0"/>
                </a:lnTo>
                <a:lnTo>
                  <a:pt x="0" y="0"/>
                </a:lnTo>
                <a:lnTo>
                  <a:pt x="0" y="61658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2044" y="253999"/>
            <a:ext cx="5560695" cy="6041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65655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/*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Program</a:t>
            </a:r>
            <a:r>
              <a:rPr sz="22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for Switch</a:t>
            </a:r>
            <a:r>
              <a:rPr sz="220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Case*/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</a:pPr>
            <a:endParaRPr sz="2950">
              <a:latin typeface="Cambria" panose="02040503050406030204"/>
              <a:cs typeface="Cambria" panose="02040503050406030204"/>
            </a:endParaRPr>
          </a:p>
          <a:p>
            <a:pPr marL="12700" marR="3376295">
              <a:lnSpc>
                <a:spcPct val="130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#inclu</a:t>
            </a:r>
            <a:r>
              <a:rPr sz="2200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&lt;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dirty="0">
                <a:latin typeface="Cambria" panose="02040503050406030204"/>
                <a:cs typeface="Cambria" panose="02040503050406030204"/>
              </a:rPr>
              <a:t>.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h&gt;  int main(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8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a, b,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choice;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 marR="1070610">
              <a:lnSpc>
                <a:spcPts val="3450"/>
              </a:lnSpc>
              <a:spcBef>
                <a:spcPts val="23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printf(“\nEnter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Two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Numbers: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”); </a:t>
            </a:r>
            <a:r>
              <a:rPr sz="2200" spc="-46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scanf(“%d%d”,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&amp;a,&amp;b);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 marR="825500">
              <a:lnSpc>
                <a:spcPts val="3430"/>
              </a:lnSpc>
              <a:spcBef>
                <a:spcPts val="1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printf(“\n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Addition”);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printf(“\n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Subtraction”);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56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printf(“\n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3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Multiplication”);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 marR="1235075">
              <a:lnSpc>
                <a:spcPct val="130000"/>
              </a:lnSpc>
              <a:spcBef>
                <a:spcPts val="1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printf(“\n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Enter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4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Division”);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printf(“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your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Choice”); 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scanf(“%d”,&amp;choice);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228574"/>
            <a:ext cx="8686800" cy="6248400"/>
          </a:xfrm>
          <a:custGeom>
            <a:avLst/>
            <a:gdLst/>
            <a:ahLst/>
            <a:cxnLst/>
            <a:rect l="l" t="t" r="r" b="b"/>
            <a:pathLst>
              <a:path w="8686800" h="6248400">
                <a:moveTo>
                  <a:pt x="0" y="6247891"/>
                </a:moveTo>
                <a:lnTo>
                  <a:pt x="8686800" y="6247891"/>
                </a:lnTo>
                <a:lnTo>
                  <a:pt x="8686800" y="0"/>
                </a:lnTo>
                <a:lnTo>
                  <a:pt x="0" y="0"/>
                </a:lnTo>
                <a:lnTo>
                  <a:pt x="0" y="62478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679194" y="177324"/>
            <a:ext cx="5607685" cy="57873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switch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(choice)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case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1: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384300" marR="1117600">
              <a:lnSpc>
                <a:spcPct val="123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printf(“Sum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 :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60" dirty="0">
                <a:latin typeface="Cambria" panose="02040503050406030204"/>
                <a:cs typeface="Cambria" panose="02040503050406030204"/>
              </a:rPr>
              <a:t>%d”,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a+b);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break;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>
              <a:lnSpc>
                <a:spcPct val="100000"/>
              </a:lnSpc>
              <a:spcBef>
                <a:spcPts val="6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case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2: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384300" marR="474345">
              <a:lnSpc>
                <a:spcPct val="123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printf(“Difference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 : </a:t>
            </a:r>
            <a:r>
              <a:rPr sz="2200" spc="-60" dirty="0">
                <a:latin typeface="Cambria" panose="02040503050406030204"/>
                <a:cs typeface="Cambria" panose="02040503050406030204"/>
              </a:rPr>
              <a:t>%d”,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a-b);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break;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case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3: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384300" marR="5080">
              <a:lnSpc>
                <a:spcPct val="123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printf(“Multiplication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: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60" dirty="0">
                <a:latin typeface="Cambria" panose="02040503050406030204"/>
                <a:cs typeface="Cambria" panose="02040503050406030204"/>
              </a:rPr>
              <a:t>%d”,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a*b);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break;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case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4: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384300" marR="429895">
              <a:lnSpc>
                <a:spcPct val="123000"/>
              </a:lnSpc>
              <a:spcBef>
                <a:spcPts val="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printf(“Difference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: </a:t>
            </a:r>
            <a:r>
              <a:rPr sz="2200" spc="-60" dirty="0">
                <a:latin typeface="Cambria" panose="02040503050406030204"/>
                <a:cs typeface="Cambria" panose="02040503050406030204"/>
              </a:rPr>
              <a:t>%d”,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a/b); </a:t>
            </a:r>
            <a:r>
              <a:rPr sz="2200" spc="-46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break;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228600"/>
            <a:ext cx="8686800" cy="209296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R="3931920" algn="ctr">
              <a:lnSpc>
                <a:spcPct val="100000"/>
              </a:lnSpc>
              <a:spcBef>
                <a:spcPts val="29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default: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R="75565" algn="ctr">
              <a:lnSpc>
                <a:spcPct val="100000"/>
              </a:lnSpc>
              <a:spcBef>
                <a:spcPts val="600"/>
              </a:spcBef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printf(“Invalid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Choice:”);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R="5644515" algn="ctr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R="5672455" algn="ctr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getch(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R="6558280" algn="ctr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600" y="2590787"/>
            <a:ext cx="8686800" cy="375539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3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two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numbers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20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0"/>
              </a:spcBef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10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 marR="4655185">
              <a:lnSpc>
                <a:spcPct val="123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for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Addition 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for Subtraction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3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Multiplication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 marR="5246370">
              <a:lnSpc>
                <a:spcPct val="123000"/>
              </a:lnSpc>
              <a:spcBef>
                <a:spcPts val="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4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Division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your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Choice: 3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Product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: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200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8223250" cy="35096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637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67005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2. 7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Control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Statements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780"/>
              </a:spcBef>
              <a:buFont typeface="Wingdings" panose="05000000000000000000" pitchFamily="2" charset="2"/>
              <a:buChar char="Ø"/>
              <a:tabLst>
                <a:tab pos="469900" algn="l"/>
                <a:tab pos="469900" algn="l"/>
              </a:tabLst>
            </a:pP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Nested </a:t>
            </a: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Switch</a:t>
            </a:r>
            <a:r>
              <a:rPr sz="2200" b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Inner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switch(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can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part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an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outer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switch(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marR="5080" lvl="1" indent="-457200">
              <a:lnSpc>
                <a:spcPts val="3960"/>
              </a:lnSpc>
              <a:spcBef>
                <a:spcPts val="155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Inner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switch(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and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outer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switch(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dirty="0">
                <a:latin typeface="Cambria" panose="02040503050406030204"/>
                <a:cs typeface="Cambria" panose="02040503050406030204"/>
              </a:rPr>
              <a:t>case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constants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may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dirty="0">
                <a:latin typeface="Cambria" panose="02040503050406030204"/>
                <a:cs typeface="Cambria" panose="02040503050406030204"/>
              </a:rPr>
              <a:t>be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same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264883"/>
            <a:ext cx="8686800" cy="6332855"/>
          </a:xfrm>
          <a:custGeom>
            <a:avLst/>
            <a:gdLst/>
            <a:ahLst/>
            <a:cxnLst/>
            <a:rect l="l" t="t" r="r" b="b"/>
            <a:pathLst>
              <a:path w="8686800" h="6332855">
                <a:moveTo>
                  <a:pt x="0" y="6332474"/>
                </a:moveTo>
                <a:lnTo>
                  <a:pt x="8686800" y="6332474"/>
                </a:lnTo>
                <a:lnTo>
                  <a:pt x="8686800" y="0"/>
                </a:lnTo>
                <a:lnTo>
                  <a:pt x="0" y="0"/>
                </a:lnTo>
                <a:lnTo>
                  <a:pt x="0" y="633247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2044" y="290322"/>
            <a:ext cx="6007735" cy="6205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17345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/*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Program</a:t>
            </a:r>
            <a:r>
              <a:rPr sz="2200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Nested</a:t>
            </a:r>
            <a:r>
              <a:rPr sz="2200" spc="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Switch</a:t>
            </a:r>
            <a:r>
              <a:rPr sz="220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Case*/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000">
              <a:latin typeface="Cambria" panose="02040503050406030204"/>
              <a:cs typeface="Cambria" panose="02040503050406030204"/>
            </a:endParaRPr>
          </a:p>
          <a:p>
            <a:pPr marL="12700" marR="3823335">
              <a:lnSpc>
                <a:spcPct val="134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#inclu</a:t>
            </a:r>
            <a:r>
              <a:rPr sz="2200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&lt;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dirty="0">
                <a:latin typeface="Cambria" panose="02040503050406030204"/>
                <a:cs typeface="Cambria" panose="02040503050406030204"/>
              </a:rPr>
              <a:t>.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h&gt;  int main(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 marR="1626870">
              <a:lnSpc>
                <a:spcPct val="134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square,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i,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n,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fact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1,choice; 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printf(“\n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Enter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Any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Number: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”); </a:t>
            </a:r>
            <a:r>
              <a:rPr sz="2200" spc="-46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scanf(“%d”,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&amp;n);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 marR="2619375">
              <a:lnSpc>
                <a:spcPct val="134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 1.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Square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\n”);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printf(“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2.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Factorial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\n”);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9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3.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Find </a:t>
            </a:r>
            <a:r>
              <a:rPr sz="2200" dirty="0">
                <a:latin typeface="Cambria" panose="02040503050406030204"/>
                <a:cs typeface="Cambria" panose="02040503050406030204"/>
              </a:rPr>
              <a:t>Odd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or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Even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\n”);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9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4.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Exit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\n”);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 marR="2152650">
              <a:lnSpc>
                <a:spcPct val="134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your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Choice”);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scanf(“%d”,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&amp;choice);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0314" y="282409"/>
            <a:ext cx="8686800" cy="6170930"/>
          </a:xfrm>
          <a:custGeom>
            <a:avLst/>
            <a:gdLst/>
            <a:ahLst/>
            <a:cxnLst/>
            <a:rect l="l" t="t" r="r" b="b"/>
            <a:pathLst>
              <a:path w="8686800" h="6170930">
                <a:moveTo>
                  <a:pt x="0" y="6170929"/>
                </a:moveTo>
                <a:lnTo>
                  <a:pt x="8686800" y="6170929"/>
                </a:lnTo>
                <a:lnTo>
                  <a:pt x="8686800" y="0"/>
                </a:lnTo>
                <a:lnTo>
                  <a:pt x="0" y="0"/>
                </a:lnTo>
                <a:lnTo>
                  <a:pt x="0" y="617092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3568" y="642779"/>
            <a:ext cx="7616190" cy="57111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switch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(choice)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case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1: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square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=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*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  <a:tabLst>
                <a:tab pos="2456180" algn="l"/>
                <a:tab pos="3460115" algn="l"/>
                <a:tab pos="3870325" algn="l"/>
                <a:tab pos="4432935" algn="l"/>
                <a:tab pos="5281930" algn="l"/>
                <a:tab pos="6405245" algn="l"/>
                <a:tab pos="678180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printf(“The	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Square	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	</a:t>
            </a:r>
            <a:r>
              <a:rPr sz="2200" dirty="0">
                <a:latin typeface="Cambria" panose="02040503050406030204"/>
                <a:cs typeface="Cambria" panose="02040503050406030204"/>
              </a:rPr>
              <a:t>the	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Given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	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	</a:t>
            </a:r>
            <a:r>
              <a:rPr sz="2200" spc="-55" dirty="0">
                <a:latin typeface="Cambria" panose="02040503050406030204"/>
                <a:cs typeface="Cambria" panose="02040503050406030204"/>
              </a:rPr>
              <a:t>%d\n”,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square);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900" marR="5925820" indent="457200">
              <a:lnSpc>
                <a:spcPct val="123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b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r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k;  case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2: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for(i=1;i&lt;=n;i++)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600"/>
              </a:spcBef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fact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fact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*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7100">
              <a:lnSpc>
                <a:spcPct val="100000"/>
              </a:lnSpc>
              <a:spcBef>
                <a:spcPts val="6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printf(“The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Factorial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given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5" dirty="0">
                <a:latin typeface="Cambria" panose="02040503050406030204"/>
                <a:cs typeface="Cambria" panose="02040503050406030204"/>
              </a:rPr>
              <a:t>%d\n”,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fact);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break;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228612"/>
            <a:ext cx="8686800" cy="5832475"/>
          </a:xfrm>
          <a:custGeom>
            <a:avLst/>
            <a:gdLst/>
            <a:ahLst/>
            <a:cxnLst/>
            <a:rect l="l" t="t" r="r" b="b"/>
            <a:pathLst>
              <a:path w="8686800" h="5832475">
                <a:moveTo>
                  <a:pt x="0" y="5832348"/>
                </a:moveTo>
                <a:lnTo>
                  <a:pt x="8686800" y="5832348"/>
                </a:lnTo>
                <a:lnTo>
                  <a:pt x="8686800" y="0"/>
                </a:lnTo>
                <a:lnTo>
                  <a:pt x="0" y="0"/>
                </a:lnTo>
                <a:lnTo>
                  <a:pt x="0" y="583234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2044" y="177324"/>
            <a:ext cx="6086475" cy="57873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7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switch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(n%2)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case</a:t>
            </a:r>
            <a:r>
              <a:rPr sz="2200" spc="-7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0: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841500" marR="154305">
              <a:lnSpc>
                <a:spcPct val="123000"/>
              </a:lnSpc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printf(“Given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Even\n”);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case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1: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605"/>
              </a:spcBef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printf(“Given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Odd\n”);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case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3: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exit(0);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default: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600"/>
              </a:spcBef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printf(“Invalid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Choice.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Please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try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again\n”);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R="5030470" algn="ctr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R="4994910" algn="ctr">
              <a:lnSpc>
                <a:spcPct val="100000"/>
              </a:lnSpc>
              <a:spcBef>
                <a:spcPts val="60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R="5944870" algn="ctr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228600"/>
            <a:ext cx="8686800" cy="375539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29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Enter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any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5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463040" indent="-45783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1463040" algn="l"/>
                <a:tab pos="1463675" algn="l"/>
              </a:tabLst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Square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463040" indent="-45783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1463040" algn="l"/>
                <a:tab pos="1463675" algn="l"/>
              </a:tabLst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Factorial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463040" indent="-45783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1463040" algn="l"/>
                <a:tab pos="146367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Find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Odd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or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Even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463040" indent="-457835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1463040" algn="l"/>
                <a:tab pos="146367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Exit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 marR="5573395">
              <a:lnSpc>
                <a:spcPct val="123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Enter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your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choice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factorial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given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is: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120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5521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2. 7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Control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Statements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780"/>
              </a:spcBef>
              <a:buAutoNum type="alphaLcParenR" startAt="3"/>
              <a:tabLst>
                <a:tab pos="469900" algn="l"/>
                <a:tab pos="469900" algn="l"/>
              </a:tabLst>
            </a:pP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sz="2200" b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goto</a:t>
            </a:r>
            <a:r>
              <a:rPr sz="2200" b="1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25" dirty="0">
                <a:latin typeface="Cambria" panose="02040503050406030204"/>
                <a:cs typeface="Cambria" panose="02040503050406030204"/>
              </a:rPr>
              <a:t>Transfers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control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from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one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point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another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Syntax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325"/>
              </a:spcBef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goto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label;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2756535">
              <a:lnSpc>
                <a:spcPct val="100000"/>
              </a:lnSpc>
              <a:spcBef>
                <a:spcPts val="132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statements;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2756535">
              <a:lnSpc>
                <a:spcPct val="100000"/>
              </a:lnSpc>
              <a:spcBef>
                <a:spcPts val="132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……………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label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2756535">
              <a:lnSpc>
                <a:spcPct val="100000"/>
              </a:lnSpc>
              <a:spcBef>
                <a:spcPts val="132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statements;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8223250" cy="5521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637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6637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8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Looping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Statements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780"/>
              </a:spcBef>
              <a:buFont typeface="Wingdings" panose="05000000000000000000" pitchFamily="2" charset="2"/>
              <a:buChar char="Ø"/>
              <a:tabLst>
                <a:tab pos="469900" algn="l"/>
                <a:tab pos="46990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Loop</a:t>
            </a:r>
            <a:r>
              <a:rPr sz="2200" spc="409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–</a:t>
            </a:r>
            <a:r>
              <a:rPr sz="2200" spc="4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409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segment</a:t>
            </a:r>
            <a:r>
              <a:rPr sz="2200" spc="4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4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4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program</a:t>
            </a:r>
            <a:r>
              <a:rPr sz="2200" spc="4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dirty="0">
                <a:latin typeface="Cambria" panose="02040503050406030204"/>
                <a:cs typeface="Cambria" panose="02040503050406030204"/>
              </a:rPr>
              <a:t>that</a:t>
            </a:r>
            <a:r>
              <a:rPr sz="2200" spc="4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4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executed</a:t>
            </a:r>
            <a:r>
              <a:rPr sz="2200" spc="4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repeatedly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800" indent="-34290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until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 condition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satisfied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469900" algn="l"/>
                <a:tab pos="46990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Classification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–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Entry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Controlled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&amp;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Exit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Controlled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325"/>
              </a:spcBef>
              <a:buFont typeface="Wingdings" panose="05000000000000000000" pitchFamily="2" charset="2"/>
              <a:buChar char="Ø"/>
              <a:tabLst>
                <a:tab pos="469900" algn="l"/>
                <a:tab pos="469900" algn="l"/>
              </a:tabLst>
            </a:pP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Types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3843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1384300" algn="l"/>
                <a:tab pos="13849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while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dirty="0">
                <a:latin typeface="Cambria" panose="02040503050406030204"/>
                <a:cs typeface="Cambria" panose="02040503050406030204"/>
              </a:rPr>
              <a:t>do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loop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384300" lvl="1" indent="-457835">
              <a:lnSpc>
                <a:spcPct val="100000"/>
              </a:lnSpc>
              <a:spcBef>
                <a:spcPts val="1320"/>
              </a:spcBef>
              <a:buAutoNum type="alphaLcParenR"/>
              <a:tabLst>
                <a:tab pos="1384300" algn="l"/>
                <a:tab pos="1384935" algn="l"/>
              </a:tabLst>
            </a:pPr>
            <a:r>
              <a:rPr sz="2200" dirty="0">
                <a:latin typeface="Cambria" panose="02040503050406030204"/>
                <a:cs typeface="Cambria" panose="02040503050406030204"/>
              </a:rPr>
              <a:t>do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while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loop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384300" lvl="1" indent="-457835">
              <a:lnSpc>
                <a:spcPct val="100000"/>
              </a:lnSpc>
              <a:spcBef>
                <a:spcPts val="1320"/>
              </a:spcBef>
              <a:buAutoNum type="alphaLcParenR"/>
              <a:tabLst>
                <a:tab pos="1384300" algn="l"/>
                <a:tab pos="1384935" algn="l"/>
              </a:tabLst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spc="-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loop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99285" lvl="2" indent="-515620">
              <a:lnSpc>
                <a:spcPct val="100000"/>
              </a:lnSpc>
              <a:spcBef>
                <a:spcPts val="1320"/>
              </a:spcBef>
              <a:buAutoNum type="romanLcPeriod"/>
              <a:tabLst>
                <a:tab pos="1899285" algn="l"/>
                <a:tab pos="1899920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Nested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loop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8221980" cy="5521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764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68275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2. 8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Looping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Statements</a:t>
            </a:r>
            <a:r>
              <a:rPr sz="28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780"/>
              </a:spcBef>
              <a:buAutoNum type="alphaLcParenR"/>
              <a:tabLst>
                <a:tab pos="469900" algn="l"/>
                <a:tab pos="469900" algn="l"/>
              </a:tabLst>
            </a:pP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sz="2200" b="1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While</a:t>
            </a:r>
            <a:r>
              <a:rPr sz="2200" b="1" spc="-3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Loop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Simplest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looping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structure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marR="5080" lvl="1" indent="-457200">
              <a:lnSpc>
                <a:spcPts val="3960"/>
              </a:lnSpc>
              <a:spcBef>
                <a:spcPts val="355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  <a:tab pos="2396490" algn="l"/>
                <a:tab pos="2762250" algn="l"/>
                <a:tab pos="3279140" algn="l"/>
                <a:tab pos="4443730" algn="l"/>
                <a:tab pos="5080635" algn="l"/>
                <a:tab pos="5796915" algn="l"/>
                <a:tab pos="6169025" algn="l"/>
                <a:tab pos="7072630" algn="l"/>
                <a:tab pos="7550150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St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emen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h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p</a:t>
            </a:r>
            <a:r>
              <a:rPr sz="2200" spc="-40" dirty="0">
                <a:latin typeface="Cambria" panose="02040503050406030204"/>
                <a:cs typeface="Cambria" panose="02040503050406030204"/>
              </a:rPr>
              <a:t>r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g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r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m</a:t>
            </a:r>
            <a:r>
              <a:rPr sz="2200" dirty="0">
                <a:latin typeface="Cambria" panose="02040503050406030204"/>
                <a:cs typeface="Cambria" panose="02040503050406030204"/>
              </a:rPr>
              <a:t>	m</a:t>
            </a:r>
            <a:r>
              <a:rPr sz="2200" spc="-50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y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eed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r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ep</a:t>
            </a:r>
            <a:r>
              <a:rPr sz="2200" dirty="0">
                <a:latin typeface="Cambria" panose="02040503050406030204"/>
                <a:cs typeface="Cambria" panose="02040503050406030204"/>
              </a:rPr>
              <a:t>ea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f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or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ma</a:t>
            </a:r>
            <a:r>
              <a:rPr sz="2200" spc="-50" dirty="0">
                <a:latin typeface="Cambria" panose="02040503050406030204"/>
                <a:cs typeface="Cambria" panose="02040503050406030204"/>
              </a:rPr>
              <a:t>n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y  times.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e.g.,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calculate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value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i="1" spc="-5" dirty="0">
                <a:latin typeface="Cambria" panose="02040503050406030204"/>
                <a:cs typeface="Cambria" panose="02040503050406030204"/>
              </a:rPr>
              <a:t>n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!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97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Loop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consists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two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segments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384300" lvl="2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1384300" algn="l"/>
                <a:tab pos="13849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Control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384300" lvl="2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1384300" algn="l"/>
                <a:tab pos="1384935" algn="l"/>
              </a:tabLst>
            </a:pPr>
            <a:r>
              <a:rPr sz="2200" spc="-20" dirty="0">
                <a:latin typeface="Cambria" panose="02040503050406030204"/>
                <a:cs typeface="Cambria" panose="02040503050406030204"/>
              </a:rPr>
              <a:t>Body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the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Loop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How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while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loop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works?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8178" y="1540266"/>
            <a:ext cx="3898900" cy="5031105"/>
            <a:chOff x="398178" y="1540266"/>
            <a:chExt cx="3898900" cy="503110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98178" y="1540266"/>
              <a:ext cx="3898532" cy="503077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514600" y="4419600"/>
              <a:ext cx="1447800" cy="228600"/>
            </a:xfrm>
            <a:custGeom>
              <a:avLst/>
              <a:gdLst/>
              <a:ahLst/>
              <a:cxnLst/>
              <a:rect l="l" t="t" r="r" b="b"/>
              <a:pathLst>
                <a:path w="1447800" h="228600">
                  <a:moveTo>
                    <a:pt x="14478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447800" y="22860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4495800" y="1904974"/>
            <a:ext cx="4419600" cy="39243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110"/>
              </a:spcBef>
            </a:pP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Initialize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loo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coun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400" spc="2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45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400" spc="-130" dirty="0">
                <a:latin typeface="Times New Roman" panose="02020603050405020304"/>
                <a:cs typeface="Times New Roman" panose="02020603050405020304"/>
              </a:rPr>
              <a:t>ia</a:t>
            </a:r>
            <a:r>
              <a:rPr sz="2400" spc="-21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le;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92075">
              <a:lnSpc>
                <a:spcPct val="100000"/>
              </a:lnSpc>
              <a:spcBef>
                <a:spcPts val="1440"/>
              </a:spcBef>
            </a:pP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while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(c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itio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)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92075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{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006475">
              <a:lnSpc>
                <a:spcPct val="100000"/>
              </a:lnSpc>
              <a:spcBef>
                <a:spcPts val="1440"/>
              </a:spcBef>
            </a:pP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Statements;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006475">
              <a:lnSpc>
                <a:spcPct val="100000"/>
              </a:lnSpc>
              <a:spcBef>
                <a:spcPts val="1440"/>
              </a:spcBef>
            </a:pP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inc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ement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53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4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ement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lo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p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2331085">
              <a:lnSpc>
                <a:spcPct val="100000"/>
              </a:lnSpc>
              <a:spcBef>
                <a:spcPts val="1445"/>
              </a:spcBef>
            </a:pP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cou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nter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45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400" spc="-130" dirty="0">
                <a:latin typeface="Times New Roman" panose="02020603050405020304"/>
                <a:cs typeface="Times New Roman" panose="02020603050405020304"/>
              </a:rPr>
              <a:t>ia</a:t>
            </a:r>
            <a:r>
              <a:rPr sz="2400" spc="-21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le;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92075">
              <a:lnSpc>
                <a:spcPct val="100000"/>
              </a:lnSpc>
              <a:spcBef>
                <a:spcPts val="1435"/>
              </a:spcBef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}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7" name="object 7"/>
          <p:cNvSpPr txBox="1"/>
          <p:nvPr/>
        </p:nvSpPr>
        <p:spPr>
          <a:xfrm>
            <a:off x="1422653" y="549605"/>
            <a:ext cx="6311900" cy="792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228600"/>
            <a:ext cx="8686800" cy="6369050"/>
          </a:xfrm>
          <a:custGeom>
            <a:avLst/>
            <a:gdLst/>
            <a:ahLst/>
            <a:cxnLst/>
            <a:rect l="l" t="t" r="r" b="b"/>
            <a:pathLst>
              <a:path w="8686800" h="6369050">
                <a:moveTo>
                  <a:pt x="0" y="5001387"/>
                </a:moveTo>
                <a:lnTo>
                  <a:pt x="8686800" y="5001387"/>
                </a:lnTo>
                <a:lnTo>
                  <a:pt x="8686800" y="0"/>
                </a:lnTo>
                <a:lnTo>
                  <a:pt x="0" y="0"/>
                </a:lnTo>
                <a:lnTo>
                  <a:pt x="0" y="5001387"/>
                </a:lnTo>
                <a:close/>
              </a:path>
              <a:path w="8686800" h="6369050">
                <a:moveTo>
                  <a:pt x="0" y="6368770"/>
                </a:moveTo>
                <a:lnTo>
                  <a:pt x="8686800" y="6368770"/>
                </a:lnTo>
                <a:lnTo>
                  <a:pt x="8686800" y="4952974"/>
                </a:lnTo>
                <a:lnTo>
                  <a:pt x="0" y="4952974"/>
                </a:lnTo>
                <a:lnTo>
                  <a:pt x="0" y="636877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2044" y="253999"/>
            <a:ext cx="5735955" cy="6289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8849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/*</a:t>
            </a:r>
            <a:r>
              <a:rPr sz="2200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Program</a:t>
            </a:r>
            <a:r>
              <a:rPr sz="220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to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Add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3</a:t>
            </a:r>
            <a:r>
              <a:rPr sz="2200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Numbers*/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50">
              <a:latin typeface="Cambria" panose="02040503050406030204"/>
              <a:cs typeface="Cambria" panose="02040503050406030204"/>
            </a:endParaRPr>
          </a:p>
          <a:p>
            <a:pPr marL="12700" marR="3551555">
              <a:lnSpc>
                <a:spcPct val="123000"/>
              </a:lnSpc>
              <a:spcBef>
                <a:spcPts val="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#inclu</a:t>
            </a:r>
            <a:r>
              <a:rPr sz="2200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&lt;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dirty="0">
                <a:latin typeface="Cambria" panose="02040503050406030204"/>
                <a:cs typeface="Cambria" panose="02040503050406030204"/>
              </a:rPr>
              <a:t>.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h&gt;  int main(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3213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a, b,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c,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sum;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 marR="548640">
              <a:lnSpc>
                <a:spcPct val="123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printf(“\n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Three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Numbers: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”);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scanf(“%d%d%d”,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&amp;a,&amp;b,&amp;c);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6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sum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a+b+c;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 marR="56515">
              <a:lnSpc>
                <a:spcPct val="123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printf(“The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sum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 3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Numbers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60" dirty="0">
                <a:latin typeface="Cambria" panose="02040503050406030204"/>
                <a:cs typeface="Cambria" panose="02040503050406030204"/>
              </a:rPr>
              <a:t>%d”,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sum);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 marR="1492885">
              <a:lnSpc>
                <a:spcPts val="3840"/>
              </a:lnSpc>
              <a:spcBef>
                <a:spcPts val="12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Three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Numbers: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10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20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30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sum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3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Numbers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is: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60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228574"/>
            <a:ext cx="8686800" cy="6471285"/>
          </a:xfrm>
          <a:custGeom>
            <a:avLst/>
            <a:gdLst/>
            <a:ahLst/>
            <a:cxnLst/>
            <a:rect l="l" t="t" r="r" b="b"/>
            <a:pathLst>
              <a:path w="8686800" h="6471284">
                <a:moveTo>
                  <a:pt x="0" y="6471031"/>
                </a:moveTo>
                <a:lnTo>
                  <a:pt x="8686800" y="6471031"/>
                </a:lnTo>
                <a:lnTo>
                  <a:pt x="8686800" y="0"/>
                </a:lnTo>
                <a:lnTo>
                  <a:pt x="0" y="0"/>
                </a:lnTo>
                <a:lnTo>
                  <a:pt x="0" y="647103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2044" y="253999"/>
            <a:ext cx="5758815" cy="6343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8722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/*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Program</a:t>
            </a:r>
            <a:r>
              <a:rPr sz="220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to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Add</a:t>
            </a:r>
            <a:r>
              <a:rPr sz="22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n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Numbers*/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>
              <a:latin typeface="Cambria" panose="02040503050406030204"/>
              <a:cs typeface="Cambria" panose="02040503050406030204"/>
            </a:endParaRPr>
          </a:p>
          <a:p>
            <a:pPr marL="12700" marR="3574415">
              <a:lnSpc>
                <a:spcPct val="119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#inclu</a:t>
            </a:r>
            <a:r>
              <a:rPr sz="2200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&lt;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dirty="0">
                <a:latin typeface="Cambria" panose="02040503050406030204"/>
                <a:cs typeface="Cambria" panose="02040503050406030204"/>
              </a:rPr>
              <a:t>.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h&gt;  int main(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32130">
              <a:lnSpc>
                <a:spcPct val="100000"/>
              </a:lnSpc>
              <a:spcBef>
                <a:spcPts val="51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i=1,n,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sum=0;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 marR="1177290">
              <a:lnSpc>
                <a:spcPts val="3140"/>
              </a:lnSpc>
              <a:spcBef>
                <a:spcPts val="18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printf(“\n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value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n: ”);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scanf(“%d”,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&amp;n);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32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while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(i&lt;=n)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49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 marR="3103880">
              <a:lnSpc>
                <a:spcPct val="119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sum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sum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+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i++;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4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 marR="5080">
              <a:lnSpc>
                <a:spcPct val="119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printf(“The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sum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 n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Numbers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is: </a:t>
            </a:r>
            <a:r>
              <a:rPr sz="2200" spc="-60" dirty="0">
                <a:latin typeface="Cambria" panose="02040503050406030204"/>
                <a:cs typeface="Cambria" panose="02040503050406030204"/>
              </a:rPr>
              <a:t>%d”,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sum);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228587"/>
            <a:ext cx="8686800" cy="12623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295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value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n: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5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The sum of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 Numbers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is: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15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60553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2. 8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Looping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Statements</a:t>
            </a:r>
            <a:r>
              <a:rPr sz="28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780"/>
              </a:spcBef>
              <a:buFont typeface="Wingdings" panose="05000000000000000000" pitchFamily="2" charset="2"/>
              <a:buChar char="Ø"/>
              <a:tabLst>
                <a:tab pos="469900" algn="l"/>
                <a:tab pos="469900" algn="l"/>
              </a:tabLst>
            </a:pPr>
            <a:r>
              <a:rPr sz="2200" b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Try</a:t>
            </a:r>
            <a:r>
              <a:rPr sz="2200" b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it 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</a:t>
            </a:r>
            <a:r>
              <a:rPr sz="22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Yourself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!</a:t>
            </a: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Write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 C </a:t>
            </a:r>
            <a:r>
              <a:rPr sz="2200" b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program</a:t>
            </a:r>
            <a:r>
              <a:rPr sz="2200" b="1" spc="3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to: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920"/>
              </a:spcBef>
              <a:buAutoNum type="arabicParenR"/>
              <a:tabLst>
                <a:tab pos="927100" algn="l"/>
                <a:tab pos="927735" algn="l"/>
              </a:tabLst>
            </a:pPr>
            <a:r>
              <a:rPr sz="2200" spc="-100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print all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even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numbers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from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to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100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925"/>
              </a:spcBef>
              <a:buAutoNum type="arabicParenR"/>
              <a:tabLst>
                <a:tab pos="927100" algn="l"/>
                <a:tab pos="927735" algn="l"/>
              </a:tabLst>
            </a:pPr>
            <a:r>
              <a:rPr sz="2200" spc="-100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print all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even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numbers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from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to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920"/>
              </a:spcBef>
              <a:buAutoNum type="arabicParenR"/>
              <a:tabLst>
                <a:tab pos="927100" algn="l"/>
                <a:tab pos="927735" algn="l"/>
              </a:tabLst>
            </a:pPr>
            <a:r>
              <a:rPr sz="2200" spc="-100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print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table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any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920"/>
              </a:spcBef>
              <a:buAutoNum type="arabicParenR"/>
              <a:tabLst>
                <a:tab pos="927100" algn="l"/>
                <a:tab pos="927735" algn="l"/>
              </a:tabLst>
            </a:pPr>
            <a:r>
              <a:rPr sz="2200" spc="-100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calculate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sum of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its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digits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920"/>
              </a:spcBef>
              <a:buAutoNum type="arabicParenR"/>
              <a:tabLst>
                <a:tab pos="927100" algn="l"/>
                <a:tab pos="927735" algn="l"/>
              </a:tabLst>
            </a:pPr>
            <a:r>
              <a:rPr sz="2200" spc="-100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check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whether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entered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Prime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not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920"/>
              </a:spcBef>
              <a:buAutoNum type="arabicParenR"/>
              <a:tabLst>
                <a:tab pos="927100" algn="l"/>
                <a:tab pos="927735" algn="l"/>
              </a:tabLst>
            </a:pPr>
            <a:r>
              <a:rPr sz="2200" spc="-100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get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as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input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and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print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it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reverse.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925"/>
              </a:spcBef>
              <a:buAutoNum type="arabicParenR"/>
              <a:tabLst>
                <a:tab pos="927100" algn="l"/>
                <a:tab pos="927735" algn="l"/>
              </a:tabLst>
            </a:pPr>
            <a:r>
              <a:rPr sz="2200" spc="-100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check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whether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Armstrong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5521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2. 8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Looping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Statements</a:t>
            </a:r>
            <a:r>
              <a:rPr sz="28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780"/>
              </a:spcBef>
              <a:buAutoNum type="alphaLcParenR" startAt="2"/>
              <a:tabLst>
                <a:tab pos="469900" algn="l"/>
                <a:tab pos="469900" algn="l"/>
              </a:tabLst>
            </a:pP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sz="2200" b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Do</a:t>
            </a:r>
            <a:r>
              <a:rPr sz="2200" b="1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While</a:t>
            </a: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Loop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body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loop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executed</a:t>
            </a:r>
            <a:r>
              <a:rPr sz="2200" spc="5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at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least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once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Syntax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325"/>
              </a:spcBef>
            </a:pPr>
            <a:r>
              <a:rPr sz="2200" dirty="0">
                <a:latin typeface="Cambria" panose="02040503050406030204"/>
                <a:cs typeface="Cambria" panose="02040503050406030204"/>
              </a:rPr>
              <a:t>do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32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R="440690" algn="ctr">
              <a:lnSpc>
                <a:spcPct val="100000"/>
              </a:lnSpc>
              <a:spcBef>
                <a:spcPts val="132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statements;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32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while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(condition);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1422653" y="549605"/>
            <a:ext cx="6311900" cy="792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064" y="2104948"/>
            <a:ext cx="4119204" cy="44577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495800" y="1857298"/>
            <a:ext cx="4419600" cy="45243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92075" marR="889000">
              <a:lnSpc>
                <a:spcPts val="4320"/>
              </a:lnSpc>
              <a:spcBef>
                <a:spcPts val="50"/>
              </a:spcBef>
            </a:pP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Initial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400" spc="-145" dirty="0">
                <a:latin typeface="Times New Roman" panose="02020603050405020304"/>
                <a:cs typeface="Times New Roman" panose="02020603050405020304"/>
              </a:rPr>
              <a:t>z</a:t>
            </a:r>
            <a:r>
              <a:rPr sz="2400" spc="-14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lo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coun</a:t>
            </a:r>
            <a:r>
              <a:rPr sz="2400" spc="-15" dirty="0">
                <a:latin typeface="Times New Roman" panose="02020603050405020304"/>
                <a:cs typeface="Times New Roman" panose="02020603050405020304"/>
              </a:rPr>
              <a:t>ter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45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400" spc="-130" dirty="0">
                <a:latin typeface="Times New Roman" panose="02020603050405020304"/>
                <a:cs typeface="Times New Roman" panose="02020603050405020304"/>
              </a:rPr>
              <a:t>ia</a:t>
            </a:r>
            <a:r>
              <a:rPr sz="2400" spc="-21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le;  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do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92075">
              <a:lnSpc>
                <a:spcPct val="100000"/>
              </a:lnSpc>
              <a:spcBef>
                <a:spcPts val="1060"/>
              </a:spcBef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{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006475">
              <a:lnSpc>
                <a:spcPct val="100000"/>
              </a:lnSpc>
              <a:spcBef>
                <a:spcPts val="1440"/>
              </a:spcBef>
            </a:pP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Statements;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006475">
              <a:lnSpc>
                <a:spcPct val="100000"/>
              </a:lnSpc>
              <a:spcBef>
                <a:spcPts val="1440"/>
              </a:spcBef>
            </a:pP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inc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ement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53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4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ement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lo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p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2331085">
              <a:lnSpc>
                <a:spcPct val="100000"/>
              </a:lnSpc>
              <a:spcBef>
                <a:spcPts val="1440"/>
              </a:spcBef>
            </a:pP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cou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nter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45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400" spc="-130" dirty="0">
                <a:latin typeface="Times New Roman" panose="02020603050405020304"/>
                <a:cs typeface="Times New Roman" panose="02020603050405020304"/>
              </a:rPr>
              <a:t>ia</a:t>
            </a:r>
            <a:r>
              <a:rPr sz="2400" spc="-21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le;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92075">
              <a:lnSpc>
                <a:spcPct val="100000"/>
              </a:lnSpc>
              <a:spcBef>
                <a:spcPts val="1445"/>
              </a:spcBef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}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92075">
              <a:lnSpc>
                <a:spcPct val="100000"/>
              </a:lnSpc>
              <a:spcBef>
                <a:spcPts val="1440"/>
              </a:spcBef>
            </a:pP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while</a:t>
            </a:r>
            <a:r>
              <a:rPr sz="2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(c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itio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)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1439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2. 8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Looping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Statements</a:t>
            </a:r>
            <a:r>
              <a:rPr sz="28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74650" y="2203450"/>
          <a:ext cx="8229600" cy="31394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800"/>
                <a:gridCol w="4114800"/>
              </a:tblGrid>
              <a:tr h="516000">
                <a:tc>
                  <a:txBody>
                    <a:bodyPr/>
                    <a:lstStyle/>
                    <a:p>
                      <a:pPr marL="103568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While</a:t>
                      </a:r>
                      <a:r>
                        <a:rPr sz="2400" b="1" spc="-35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Do</a:t>
                      </a:r>
                      <a:r>
                        <a:rPr sz="2400" b="1" spc="-35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Loop</a:t>
                      </a:r>
                      <a:endParaRPr sz="24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03632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Do</a:t>
                      </a:r>
                      <a:r>
                        <a:rPr sz="2400" b="1" spc="-4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While</a:t>
                      </a:r>
                      <a:r>
                        <a:rPr sz="2400" b="1" spc="-25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Loop</a:t>
                      </a:r>
                      <a:endParaRPr sz="24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</a:tr>
              <a:tr h="51587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Entry</a:t>
                      </a:r>
                      <a:r>
                        <a:rPr sz="2000" spc="-3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Controlled</a:t>
                      </a:r>
                      <a:r>
                        <a:rPr sz="2000" spc="-5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Loop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990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Exit</a:t>
                      </a:r>
                      <a:r>
                        <a:rPr sz="2000" spc="-4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Controlled</a:t>
                      </a:r>
                      <a:r>
                        <a:rPr sz="2000" spc="-4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Loop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990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890524">
                <a:tc>
                  <a:txBody>
                    <a:bodyPr/>
                    <a:lstStyle/>
                    <a:p>
                      <a:pPr marL="91440" marR="83820">
                        <a:lnSpc>
                          <a:spcPct val="100000"/>
                        </a:lnSpc>
                        <a:spcBef>
                          <a:spcPts val="1055"/>
                        </a:spcBef>
                        <a:tabLst>
                          <a:tab pos="714375" algn="l"/>
                          <a:tab pos="1918335" algn="l"/>
                          <a:tab pos="2270760" algn="l"/>
                          <a:tab pos="3325495" algn="l"/>
                        </a:tabLst>
                      </a:pPr>
                      <a:r>
                        <a:rPr sz="2000" spc="-160" dirty="0">
                          <a:latin typeface="Cambria" panose="02040503050406030204"/>
                          <a:cs typeface="Cambria" panose="02040503050406030204"/>
                        </a:rPr>
                        <a:t>T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est	co</a:t>
                      </a:r>
                      <a:r>
                        <a:rPr sz="2000" spc="-10" dirty="0">
                          <a:latin typeface="Cambria" panose="02040503050406030204"/>
                          <a:cs typeface="Cambria" panose="02040503050406030204"/>
                        </a:rPr>
                        <a:t>n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d</a:t>
                      </a:r>
                      <a:r>
                        <a:rPr sz="2000" spc="-15" dirty="0">
                          <a:latin typeface="Cambria" panose="02040503050406030204"/>
                          <a:cs typeface="Cambria" panose="02040503050406030204"/>
                        </a:rPr>
                        <a:t>i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t</a:t>
                      </a:r>
                      <a:r>
                        <a:rPr sz="2000" spc="-20" dirty="0">
                          <a:latin typeface="Cambria" panose="02040503050406030204"/>
                          <a:cs typeface="Cambria" panose="02040503050406030204"/>
                        </a:rPr>
                        <a:t>i</a:t>
                      </a:r>
                      <a:r>
                        <a:rPr sz="2000" spc="-10" dirty="0">
                          <a:latin typeface="Cambria" panose="02040503050406030204"/>
                          <a:cs typeface="Cambria" panose="02040503050406030204"/>
                        </a:rPr>
                        <a:t>o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n	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i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s	che</a:t>
                      </a:r>
                      <a:r>
                        <a:rPr sz="2000" spc="-15" dirty="0">
                          <a:latin typeface="Cambria" panose="02040503050406030204"/>
                          <a:cs typeface="Cambria" panose="02040503050406030204"/>
                        </a:rPr>
                        <a:t>c</a:t>
                      </a:r>
                      <a:r>
                        <a:rPr sz="2000" spc="-35" dirty="0">
                          <a:latin typeface="Cambria" panose="02040503050406030204"/>
                          <a:cs typeface="Cambria" panose="02040503050406030204"/>
                        </a:rPr>
                        <a:t>k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ed	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b</a:t>
                      </a:r>
                      <a:r>
                        <a:rPr sz="2000" spc="-15" dirty="0">
                          <a:latin typeface="Cambria" panose="02040503050406030204"/>
                          <a:cs typeface="Cambria" panose="02040503050406030204"/>
                        </a:rPr>
                        <a:t>e</a:t>
                      </a:r>
                      <a:r>
                        <a:rPr sz="2000" spc="-20" dirty="0">
                          <a:latin typeface="Cambria" panose="02040503050406030204"/>
                          <a:cs typeface="Cambria" panose="02040503050406030204"/>
                        </a:rPr>
                        <a:t>f</a:t>
                      </a:r>
                      <a:r>
                        <a:rPr sz="2000" spc="-10" dirty="0">
                          <a:latin typeface="Cambria" panose="02040503050406030204"/>
                          <a:cs typeface="Cambria" panose="02040503050406030204"/>
                        </a:rPr>
                        <a:t>o</a:t>
                      </a:r>
                      <a:r>
                        <a:rPr sz="2000" spc="-30" dirty="0">
                          <a:latin typeface="Cambria" panose="02040503050406030204"/>
                          <a:cs typeface="Cambria" panose="02040503050406030204"/>
                        </a:rPr>
                        <a:t>r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e  </a:t>
                      </a:r>
                      <a:r>
                        <a:rPr sz="2000" spc="-10" dirty="0">
                          <a:latin typeface="Cambria" panose="02040503050406030204"/>
                          <a:cs typeface="Cambria" panose="02040503050406030204"/>
                        </a:rPr>
                        <a:t>body</a:t>
                      </a:r>
                      <a:r>
                        <a:rPr sz="2000" spc="-1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of</a:t>
                      </a:r>
                      <a:r>
                        <a:rPr sz="2000" spc="-2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the</a:t>
                      </a:r>
                      <a:r>
                        <a:rPr sz="2000" spc="-1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loop</a:t>
                      </a:r>
                      <a:r>
                        <a:rPr sz="2000" spc="-2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is</a:t>
                      </a:r>
                      <a:r>
                        <a:rPr sz="2000" spc="-10" dirty="0">
                          <a:latin typeface="Cambria" panose="02040503050406030204"/>
                          <a:cs typeface="Cambria" panose="02040503050406030204"/>
                        </a:rPr>
                        <a:t> executed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128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spc="-40" dirty="0">
                          <a:latin typeface="Cambria" panose="02040503050406030204"/>
                          <a:cs typeface="Cambria" panose="02040503050406030204"/>
                        </a:rPr>
                        <a:t>Test</a:t>
                      </a:r>
                      <a:r>
                        <a:rPr sz="2000" spc="-1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condition</a:t>
                      </a:r>
                      <a:r>
                        <a:rPr sz="2000" spc="38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is</a:t>
                      </a:r>
                      <a:r>
                        <a:rPr sz="2000" spc="38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checked</a:t>
                      </a:r>
                      <a:r>
                        <a:rPr sz="2000" spc="36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10" dirty="0">
                          <a:latin typeface="Cambria" panose="02040503050406030204"/>
                          <a:cs typeface="Cambria" panose="02040503050406030204"/>
                        </a:rPr>
                        <a:t>after</a:t>
                      </a:r>
                      <a:r>
                        <a:rPr sz="2000" spc="37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the </a:t>
                      </a:r>
                      <a:r>
                        <a:rPr sz="2000" spc="-43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10" dirty="0">
                          <a:latin typeface="Cambria" panose="02040503050406030204"/>
                          <a:cs typeface="Cambria" panose="02040503050406030204"/>
                        </a:rPr>
                        <a:t>body</a:t>
                      </a:r>
                      <a:r>
                        <a:rPr sz="2000" spc="-1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of</a:t>
                      </a:r>
                      <a:r>
                        <a:rPr sz="2000" spc="-2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the</a:t>
                      </a:r>
                      <a:r>
                        <a:rPr sz="2000" spc="-1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loop</a:t>
                      </a:r>
                      <a:r>
                        <a:rPr sz="2000" spc="-1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is</a:t>
                      </a:r>
                      <a:r>
                        <a:rPr sz="2000" spc="-10" dirty="0">
                          <a:latin typeface="Cambria" panose="02040503050406030204"/>
                          <a:cs typeface="Cambria" panose="02040503050406030204"/>
                        </a:rPr>
                        <a:t> executed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  <a:tr h="701039">
                <a:tc>
                  <a:txBody>
                    <a:bodyPr/>
                    <a:lstStyle/>
                    <a:p>
                      <a:pPr marL="91440" marR="85725">
                        <a:lnSpc>
                          <a:spcPct val="100000"/>
                        </a:lnSpc>
                        <a:spcBef>
                          <a:spcPts val="310"/>
                        </a:spcBef>
                        <a:tabLst>
                          <a:tab pos="889635" algn="l"/>
                          <a:tab pos="1540510" algn="l"/>
                          <a:tab pos="2153285" algn="l"/>
                          <a:tab pos="2665730" algn="l"/>
                          <a:tab pos="3877310" algn="l"/>
                        </a:tabLst>
                      </a:pP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L</a:t>
                      </a:r>
                      <a:r>
                        <a:rPr sz="2000" spc="5" dirty="0">
                          <a:latin typeface="Cambria" panose="02040503050406030204"/>
                          <a:cs typeface="Cambria" panose="02040503050406030204"/>
                        </a:rPr>
                        <a:t>o</a:t>
                      </a:r>
                      <a:r>
                        <a:rPr sz="2000" spc="-10" dirty="0">
                          <a:latin typeface="Cambria" panose="02040503050406030204"/>
                          <a:cs typeface="Cambria" panose="02040503050406030204"/>
                        </a:rPr>
                        <a:t>o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p	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w</a:t>
                      </a:r>
                      <a:r>
                        <a:rPr sz="2000" spc="-10" dirty="0">
                          <a:latin typeface="Cambria" panose="02040503050406030204"/>
                          <a:cs typeface="Cambria" panose="02040503050406030204"/>
                        </a:rPr>
                        <a:t>i</a:t>
                      </a:r>
                      <a:r>
                        <a:rPr sz="2000" spc="-20" dirty="0">
                          <a:latin typeface="Cambria" panose="02040503050406030204"/>
                          <a:cs typeface="Cambria" panose="02040503050406030204"/>
                        </a:rPr>
                        <a:t>l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l	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n</a:t>
                      </a:r>
                      <a:r>
                        <a:rPr sz="2000" spc="-15" dirty="0">
                          <a:latin typeface="Cambria" panose="02040503050406030204"/>
                          <a:cs typeface="Cambria" panose="02040503050406030204"/>
                        </a:rPr>
                        <a:t>o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t	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b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e	</a:t>
                      </a:r>
                      <a:r>
                        <a:rPr sz="2000" spc="-30" dirty="0">
                          <a:latin typeface="Cambria" panose="02040503050406030204"/>
                          <a:cs typeface="Cambria" panose="02040503050406030204"/>
                        </a:rPr>
                        <a:t>e</a:t>
                      </a:r>
                      <a:r>
                        <a:rPr sz="2000" spc="-45" dirty="0">
                          <a:latin typeface="Cambria" panose="02040503050406030204"/>
                          <a:cs typeface="Cambria" panose="02040503050406030204"/>
                        </a:rPr>
                        <a:t>x</a:t>
                      </a:r>
                      <a:r>
                        <a:rPr sz="2000" spc="-20" dirty="0">
                          <a:latin typeface="Cambria" panose="02040503050406030204"/>
                          <a:cs typeface="Cambria" panose="02040503050406030204"/>
                        </a:rPr>
                        <a:t>e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c</a:t>
                      </a:r>
                      <a:r>
                        <a:rPr sz="2000" spc="-10" dirty="0">
                          <a:latin typeface="Cambria" panose="02040503050406030204"/>
                          <a:cs typeface="Cambria" panose="02040503050406030204"/>
                        </a:rPr>
                        <a:t>u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t</a:t>
                      </a:r>
                      <a:r>
                        <a:rPr sz="2000" spc="-15" dirty="0">
                          <a:latin typeface="Cambria" panose="02040503050406030204"/>
                          <a:cs typeface="Cambria" panose="02040503050406030204"/>
                        </a:rPr>
                        <a:t>e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d	</a:t>
                      </a:r>
                      <a:r>
                        <a:rPr sz="2000" spc="-20" dirty="0">
                          <a:latin typeface="Cambria" panose="02040503050406030204"/>
                          <a:cs typeface="Cambria" panose="02040503050406030204"/>
                        </a:rPr>
                        <a:t>if  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condition</a:t>
                      </a:r>
                      <a:r>
                        <a:rPr sz="2000" spc="-3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is</a:t>
                      </a:r>
                      <a:r>
                        <a:rPr sz="2000" spc="-10" dirty="0">
                          <a:latin typeface="Cambria" panose="02040503050406030204"/>
                          <a:cs typeface="Cambria" panose="02040503050406030204"/>
                        </a:rPr>
                        <a:t> false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19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Loop</a:t>
                      </a:r>
                      <a:r>
                        <a:rPr sz="2000" spc="24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will</a:t>
                      </a:r>
                      <a:r>
                        <a:rPr sz="2000" spc="229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be</a:t>
                      </a:r>
                      <a:r>
                        <a:rPr sz="2000" spc="23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15" dirty="0">
                          <a:latin typeface="Cambria" panose="02040503050406030204"/>
                          <a:cs typeface="Cambria" panose="02040503050406030204"/>
                        </a:rPr>
                        <a:t>executed</a:t>
                      </a:r>
                      <a:r>
                        <a:rPr sz="2000" spc="24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at</a:t>
                      </a:r>
                      <a:r>
                        <a:rPr sz="2000" spc="24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10" dirty="0">
                          <a:latin typeface="Cambria" panose="02040503050406030204"/>
                          <a:cs typeface="Cambria" panose="02040503050406030204"/>
                        </a:rPr>
                        <a:t>least</a:t>
                      </a:r>
                      <a:r>
                        <a:rPr sz="2000" spc="25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once </a:t>
                      </a:r>
                      <a:r>
                        <a:rPr sz="2000" spc="-42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20" dirty="0">
                          <a:latin typeface="Cambria" panose="02040503050406030204"/>
                          <a:cs typeface="Cambria" panose="02040503050406030204"/>
                        </a:rPr>
                        <a:t>even</a:t>
                      </a:r>
                      <a:r>
                        <a:rPr sz="2000" spc="-1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if</a:t>
                      </a:r>
                      <a:r>
                        <a:rPr sz="2000" spc="-2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condition</a:t>
                      </a:r>
                      <a:r>
                        <a:rPr sz="2000" spc="-3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is</a:t>
                      </a:r>
                      <a:r>
                        <a:rPr sz="2000" spc="-10" dirty="0">
                          <a:latin typeface="Cambria" panose="02040503050406030204"/>
                          <a:cs typeface="Cambria" panose="02040503050406030204"/>
                        </a:rPr>
                        <a:t> false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51600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2000" spc="-55" dirty="0">
                          <a:latin typeface="Cambria" panose="02040503050406030204"/>
                          <a:cs typeface="Cambria" panose="02040503050406030204"/>
                        </a:rPr>
                        <a:t>Top</a:t>
                      </a:r>
                      <a:r>
                        <a:rPr sz="2000" spc="-3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tested</a:t>
                      </a:r>
                      <a:r>
                        <a:rPr sz="2000" spc="-5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loop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Bottom</a:t>
                      </a:r>
                      <a:r>
                        <a:rPr sz="2000" spc="-6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tested</a:t>
                      </a:r>
                      <a:r>
                        <a:rPr sz="2000" spc="-4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5" dirty="0">
                          <a:latin typeface="Cambria" panose="02040503050406030204"/>
                          <a:cs typeface="Cambria" panose="02040503050406030204"/>
                        </a:rPr>
                        <a:t>loop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1439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2. 8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Looping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Statements</a:t>
            </a:r>
            <a:r>
              <a:rPr sz="28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2121661"/>
            <a:ext cx="6181927" cy="4431538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5521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2. 8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Looping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Statements</a:t>
            </a:r>
            <a:r>
              <a:rPr sz="28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780"/>
              </a:spcBef>
              <a:buAutoNum type="alphaLcParenR" startAt="3"/>
              <a:tabLst>
                <a:tab pos="469900" algn="l"/>
                <a:tab pos="469900" algn="l"/>
              </a:tabLst>
            </a:pP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sz="2200" b="1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2200" b="1" spc="-4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loop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Most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commonly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and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popularly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used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loop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structure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Structure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loop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384300" lvl="2" indent="-457835">
              <a:lnSpc>
                <a:spcPct val="100000"/>
              </a:lnSpc>
              <a:spcBef>
                <a:spcPts val="1325"/>
              </a:spcBef>
              <a:buFont typeface="Wingdings" panose="05000000000000000000" pitchFamily="2" charset="2"/>
              <a:buChar char="Ø"/>
              <a:tabLst>
                <a:tab pos="1384300" algn="l"/>
                <a:tab pos="13849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Initialize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loop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counter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variable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384300" lvl="2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1384300" algn="l"/>
                <a:tab pos="13849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Check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for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condition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384300" lvl="2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1384300" algn="l"/>
                <a:tab pos="13849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Increment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/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Decrement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loop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counter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variable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Syntax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582295" algn="ctr">
              <a:lnSpc>
                <a:spcPct val="100000"/>
              </a:lnSpc>
              <a:spcBef>
                <a:spcPts val="1320"/>
              </a:spcBef>
            </a:pPr>
            <a:r>
              <a:rPr sz="2200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for(initialization;</a:t>
            </a:r>
            <a:r>
              <a:rPr sz="2200" i="1" spc="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condition;</a:t>
            </a:r>
            <a:r>
              <a:rPr sz="2200" i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increment</a:t>
            </a:r>
            <a:r>
              <a:rPr sz="2200" i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/</a:t>
            </a:r>
            <a:r>
              <a:rPr sz="2200" i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decrement)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1439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2. 8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Looping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Statements</a:t>
            </a:r>
            <a:r>
              <a:rPr sz="28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6129" y="1945030"/>
            <a:ext cx="4796282" cy="477012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5863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2. 8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Looping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Statements</a:t>
            </a:r>
            <a:r>
              <a:rPr sz="28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780"/>
              </a:spcBef>
              <a:buFont typeface="Wingdings" panose="05000000000000000000" pitchFamily="2" charset="2"/>
              <a:buChar char="Ø"/>
              <a:tabLst>
                <a:tab pos="469900" algn="l"/>
                <a:tab pos="469900" algn="l"/>
              </a:tabLst>
            </a:pP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Examples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84885" lvl="1" indent="-515620">
              <a:lnSpc>
                <a:spcPct val="100000"/>
              </a:lnSpc>
              <a:spcBef>
                <a:spcPts val="1585"/>
              </a:spcBef>
              <a:buAutoNum type="romanLcPeriod"/>
              <a:tabLst>
                <a:tab pos="984885" algn="l"/>
                <a:tab pos="98488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for(i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0; i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&lt; n;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i++)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1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2756535">
              <a:lnSpc>
                <a:spcPct val="100000"/>
              </a:lnSpc>
              <a:spcBef>
                <a:spcPts val="109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Statements;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1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84885" lvl="1" indent="-515620">
              <a:lnSpc>
                <a:spcPct val="100000"/>
              </a:lnSpc>
              <a:spcBef>
                <a:spcPts val="1100"/>
              </a:spcBef>
              <a:buAutoNum type="romanLcPeriod" startAt="2"/>
              <a:tabLst>
                <a:tab pos="984885" algn="l"/>
                <a:tab pos="98488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for(count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0;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count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&gt;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n;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count--)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0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2756535">
              <a:lnSpc>
                <a:spcPct val="100000"/>
              </a:lnSpc>
              <a:spcBef>
                <a:spcPts val="110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Statements;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1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228650"/>
            <a:ext cx="8686800" cy="5888990"/>
          </a:xfrm>
          <a:custGeom>
            <a:avLst/>
            <a:gdLst/>
            <a:ahLst/>
            <a:cxnLst/>
            <a:rect l="l" t="t" r="r" b="b"/>
            <a:pathLst>
              <a:path w="8686800" h="5888990">
                <a:moveTo>
                  <a:pt x="0" y="5888735"/>
                </a:moveTo>
                <a:lnTo>
                  <a:pt x="8686800" y="5888735"/>
                </a:lnTo>
                <a:lnTo>
                  <a:pt x="8686800" y="0"/>
                </a:lnTo>
                <a:lnTo>
                  <a:pt x="0" y="0"/>
                </a:lnTo>
                <a:lnTo>
                  <a:pt x="0" y="5888735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2044" y="253999"/>
            <a:ext cx="6618605" cy="5767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0457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/*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Program</a:t>
            </a:r>
            <a:r>
              <a:rPr sz="2200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to</a:t>
            </a:r>
            <a:r>
              <a:rPr sz="22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Add</a:t>
            </a:r>
            <a:r>
              <a:rPr sz="220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n</a:t>
            </a:r>
            <a:r>
              <a:rPr sz="22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Numbers</a:t>
            </a:r>
            <a:r>
              <a:rPr sz="220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using</a:t>
            </a:r>
            <a:r>
              <a:rPr sz="2200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loop</a:t>
            </a:r>
            <a:r>
              <a:rPr sz="2200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*/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</a:pPr>
            <a:endParaRPr sz="2600">
              <a:latin typeface="Cambria" panose="02040503050406030204"/>
              <a:cs typeface="Cambria" panose="02040503050406030204"/>
            </a:endParaRPr>
          </a:p>
          <a:p>
            <a:pPr marL="12700" marR="4434205">
              <a:lnSpc>
                <a:spcPct val="115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#inclu</a:t>
            </a:r>
            <a:r>
              <a:rPr sz="2200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&lt;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dirty="0">
                <a:latin typeface="Cambria" panose="02040503050406030204"/>
                <a:cs typeface="Cambria" panose="02040503050406030204"/>
              </a:rPr>
              <a:t>.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h&gt;  int main(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41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4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i,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n, sum=0;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 marR="2036445">
              <a:lnSpc>
                <a:spcPts val="3050"/>
              </a:lnSpc>
              <a:spcBef>
                <a:spcPts val="15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printf(“\n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value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n: ”);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scanf(“%d”,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&amp;n);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225"/>
              </a:spcBef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for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(i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=1;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i&lt;=n;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i++)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3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41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sum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sum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+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07365">
              <a:lnSpc>
                <a:spcPct val="100000"/>
              </a:lnSpc>
              <a:spcBef>
                <a:spcPts val="3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07365">
              <a:lnSpc>
                <a:spcPct val="100000"/>
              </a:lnSpc>
              <a:spcBef>
                <a:spcPts val="4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printf(“The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sum of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Numbers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is: </a:t>
            </a:r>
            <a:r>
              <a:rPr sz="2200" spc="-60" dirty="0">
                <a:latin typeface="Cambria" panose="02040503050406030204"/>
                <a:cs typeface="Cambria" panose="02040503050406030204"/>
              </a:rPr>
              <a:t>%d”,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sum);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40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228587"/>
            <a:ext cx="8686800" cy="12623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295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value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n: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5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The sum of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 Numbers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is: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15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60553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2. 8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Looping</a:t>
            </a:r>
            <a:r>
              <a:rPr sz="28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Statements</a:t>
            </a:r>
            <a:r>
              <a:rPr sz="2800" b="1" spc="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780"/>
              </a:spcBef>
              <a:buFont typeface="Wingdings" panose="05000000000000000000" pitchFamily="2" charset="2"/>
              <a:buChar char="Ø"/>
              <a:tabLst>
                <a:tab pos="469900" algn="l"/>
                <a:tab pos="469900" algn="l"/>
              </a:tabLst>
            </a:pPr>
            <a:r>
              <a:rPr sz="2200" b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Try</a:t>
            </a:r>
            <a:r>
              <a:rPr sz="2200" b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it 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</a:t>
            </a:r>
            <a:r>
              <a:rPr sz="22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Yourself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!</a:t>
            </a: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Write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 C </a:t>
            </a:r>
            <a:r>
              <a:rPr sz="2200" b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program</a:t>
            </a:r>
            <a:r>
              <a:rPr sz="2200" b="1" spc="3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to: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920"/>
              </a:spcBef>
              <a:buAutoNum type="arabicParenR"/>
              <a:tabLst>
                <a:tab pos="927100" algn="l"/>
                <a:tab pos="927735" algn="l"/>
              </a:tabLst>
            </a:pPr>
            <a:r>
              <a:rPr sz="2200" spc="-100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print all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even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numbers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from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to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100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925"/>
              </a:spcBef>
              <a:buAutoNum type="arabicParenR"/>
              <a:tabLst>
                <a:tab pos="927100" algn="l"/>
                <a:tab pos="927735" algn="l"/>
              </a:tabLst>
            </a:pPr>
            <a:r>
              <a:rPr sz="2200" spc="-100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print all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even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numbers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from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to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920"/>
              </a:spcBef>
              <a:buAutoNum type="arabicParenR"/>
              <a:tabLst>
                <a:tab pos="927100" algn="l"/>
                <a:tab pos="927735" algn="l"/>
              </a:tabLst>
            </a:pPr>
            <a:r>
              <a:rPr sz="2200" spc="-100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print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table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any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920"/>
              </a:spcBef>
              <a:buAutoNum type="arabicParenR"/>
              <a:tabLst>
                <a:tab pos="927100" algn="l"/>
                <a:tab pos="927735" algn="l"/>
              </a:tabLst>
            </a:pPr>
            <a:r>
              <a:rPr sz="2200" spc="-100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calculate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sum of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its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digits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920"/>
              </a:spcBef>
              <a:buAutoNum type="arabicParenR"/>
              <a:tabLst>
                <a:tab pos="927100" algn="l"/>
                <a:tab pos="927735" algn="l"/>
              </a:tabLst>
            </a:pPr>
            <a:r>
              <a:rPr sz="2200" spc="-100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check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whether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entered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Prime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not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920"/>
              </a:spcBef>
              <a:buAutoNum type="arabicParenR"/>
              <a:tabLst>
                <a:tab pos="927100" algn="l"/>
                <a:tab pos="927735" algn="l"/>
              </a:tabLst>
            </a:pPr>
            <a:r>
              <a:rPr sz="2200" spc="-100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get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as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input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and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print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it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reverse.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925"/>
              </a:spcBef>
              <a:buAutoNum type="arabicParenR"/>
              <a:tabLst>
                <a:tab pos="927100" algn="l"/>
                <a:tab pos="927735" algn="l"/>
              </a:tabLst>
            </a:pPr>
            <a:r>
              <a:rPr sz="2200" spc="-100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check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whether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Armstrong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8223884" cy="40125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735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6637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9</a:t>
            </a:r>
            <a:r>
              <a:rPr sz="28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Arrays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355600" indent="-342900">
              <a:lnSpc>
                <a:spcPct val="100000"/>
              </a:lnSpc>
              <a:spcBef>
                <a:spcPts val="1780"/>
              </a:spcBef>
              <a:buFont typeface="Wingdings" panose="05000000000000000000" pitchFamily="2" charset="2"/>
              <a:buChar char="Ø"/>
              <a:tabLst>
                <a:tab pos="325120" algn="l"/>
              </a:tabLst>
            </a:pP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Definition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469900" marR="5080">
              <a:lnSpc>
                <a:spcPct val="150000"/>
              </a:lnSpc>
              <a:tabLst>
                <a:tab pos="1073150" algn="l"/>
                <a:tab pos="1984375" algn="l"/>
                <a:tab pos="2457450" algn="l"/>
                <a:tab pos="3633470" algn="l"/>
                <a:tab pos="4163695" algn="l"/>
                <a:tab pos="5120005" algn="l"/>
                <a:tab pos="6431280" algn="l"/>
                <a:tab pos="7961630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</a:t>
            </a:r>
            <a:r>
              <a:rPr sz="2200" dirty="0">
                <a:latin typeface="Cambria" panose="02040503050406030204"/>
                <a:cs typeface="Cambria" panose="02040503050406030204"/>
              </a:rPr>
              <a:t>	a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r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r</a:t>
            </a:r>
            <a:r>
              <a:rPr sz="2200" spc="-50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y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defi</a:t>
            </a:r>
            <a:r>
              <a:rPr sz="2200" dirty="0">
                <a:latin typeface="Cambria" panose="02040503050406030204"/>
                <a:cs typeface="Cambria" panose="02040503050406030204"/>
              </a:rPr>
              <a:t>n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ed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b="1" spc="-10" dirty="0">
                <a:latin typeface="Cambria" panose="02040503050406030204"/>
                <a:cs typeface="Cambria" panose="02040503050406030204"/>
              </a:rPr>
              <a:t>f</a:t>
            </a:r>
            <a:r>
              <a:rPr sz="2200" b="1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b="1" spc="-5" dirty="0">
                <a:latin typeface="Cambria" panose="02040503050406030204"/>
                <a:cs typeface="Cambria" panose="02040503050406030204"/>
              </a:rPr>
              <a:t>ni</a:t>
            </a:r>
            <a:r>
              <a:rPr sz="2200" b="1" spc="-30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b="1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b="1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b="1" spc="-10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b="1" spc="-50" dirty="0">
                <a:latin typeface="Cambria" panose="02040503050406030204"/>
                <a:cs typeface="Cambria" panose="02040503050406030204"/>
              </a:rPr>
              <a:t>r</a:t>
            </a:r>
            <a:r>
              <a:rPr sz="2200" b="1" spc="-10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b="1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b="1" spc="-50" dirty="0">
                <a:latin typeface="Cambria" panose="02040503050406030204"/>
                <a:cs typeface="Cambria" panose="02040503050406030204"/>
              </a:rPr>
              <a:t>r</a:t>
            </a:r>
            <a:r>
              <a:rPr sz="2200" b="1" spc="-5" dirty="0">
                <a:latin typeface="Cambria" panose="02040503050406030204"/>
                <a:cs typeface="Cambria" panose="02040503050406030204"/>
              </a:rPr>
              <a:t>ed</a:t>
            </a:r>
            <a:r>
              <a:rPr sz="2200" b="1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b="1" spc="-20" dirty="0">
                <a:latin typeface="Cambria" panose="02040503050406030204"/>
                <a:cs typeface="Cambria" panose="02040503050406030204"/>
              </a:rPr>
              <a:t>c</a:t>
            </a:r>
            <a:r>
              <a:rPr sz="2200" b="1" spc="-10" dirty="0">
                <a:latin typeface="Cambria" panose="02040503050406030204"/>
                <a:cs typeface="Cambria" panose="02040503050406030204"/>
              </a:rPr>
              <a:t>ol</a:t>
            </a:r>
            <a:r>
              <a:rPr sz="2200" b="1" spc="-20" dirty="0">
                <a:latin typeface="Cambria" panose="02040503050406030204"/>
                <a:cs typeface="Cambria" panose="02040503050406030204"/>
              </a:rPr>
              <a:t>l</a:t>
            </a:r>
            <a:r>
              <a:rPr sz="2200" b="1" spc="-5" dirty="0">
                <a:latin typeface="Cambria" panose="02040503050406030204"/>
                <a:cs typeface="Cambria" panose="02040503050406030204"/>
              </a:rPr>
              <a:t>ect</a:t>
            </a:r>
            <a:r>
              <a:rPr sz="2200" b="1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b="1" spc="-10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b="1" spc="-5" dirty="0">
                <a:latin typeface="Cambria" panose="02040503050406030204"/>
                <a:cs typeface="Cambria" panose="02040503050406030204"/>
              </a:rPr>
              <a:t>n</a:t>
            </a:r>
            <a:r>
              <a:rPr sz="2200" b="1" dirty="0">
                <a:latin typeface="Cambria" panose="02040503050406030204"/>
                <a:cs typeface="Cambria" panose="02040503050406030204"/>
              </a:rPr>
              <a:t>	</a:t>
            </a:r>
            <a:r>
              <a:rPr sz="2200" b="1" spc="-10" dirty="0">
                <a:latin typeface="Cambria" panose="02040503050406030204"/>
                <a:cs typeface="Cambria" panose="02040503050406030204"/>
              </a:rPr>
              <a:t>of  </a:t>
            </a:r>
            <a:r>
              <a:rPr sz="2200" b="1" spc="-5" dirty="0">
                <a:latin typeface="Cambria" panose="02040503050406030204"/>
                <a:cs typeface="Cambria" panose="02040503050406030204"/>
              </a:rPr>
              <a:t>homogenous</a:t>
            </a:r>
            <a:r>
              <a:rPr sz="2200" b="1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data,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stored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contiguous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memory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locations.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209040" lvl="1" indent="-282575">
              <a:lnSpc>
                <a:spcPct val="100000"/>
              </a:lnSpc>
              <a:spcBef>
                <a:spcPts val="1325"/>
              </a:spcBef>
              <a:buFont typeface="Wingdings" panose="05000000000000000000"/>
              <a:buChar char=""/>
              <a:tabLst>
                <a:tab pos="1209675" algn="l"/>
              </a:tabLst>
            </a:pPr>
            <a:r>
              <a:rPr sz="2200" spc="-25" dirty="0">
                <a:latin typeface="Cambria" panose="02040503050406030204"/>
                <a:cs typeface="Cambria" panose="02040503050406030204"/>
              </a:rPr>
              <a:t>Array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used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store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collection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data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209040" lvl="1" indent="-282575">
              <a:lnSpc>
                <a:spcPct val="100000"/>
              </a:lnSpc>
              <a:spcBef>
                <a:spcPts val="1320"/>
              </a:spcBef>
              <a:buFont typeface="Wingdings" panose="05000000000000000000"/>
              <a:buChar char=""/>
              <a:tabLst>
                <a:tab pos="1209675" algn="l"/>
              </a:tabLst>
            </a:pPr>
            <a:r>
              <a:rPr sz="2200" spc="-25" dirty="0">
                <a:latin typeface="Cambria" panose="02040503050406030204"/>
                <a:cs typeface="Cambria" panose="02040503050406030204"/>
              </a:rPr>
              <a:t>Array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collection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variables</a:t>
            </a:r>
            <a:r>
              <a:rPr sz="2200" spc="4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same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type.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0920" y="4776038"/>
            <a:ext cx="12954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95" dirty="0">
                <a:latin typeface="Times New Roman" panose="02020603050405020304"/>
                <a:cs typeface="Times New Roman" panose="02020603050405020304"/>
              </a:rPr>
              <a:t>Fi</a:t>
            </a:r>
            <a:r>
              <a:rPr sz="1800" b="1" spc="-8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800" b="1" spc="-2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8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2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lem</a:t>
            </a:r>
            <a:r>
              <a:rPr sz="1800" b="1" spc="2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800" b="1" spc="1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800" b="1" spc="20" dirty="0">
                <a:latin typeface="Times New Roman" panose="02020603050405020304"/>
                <a:cs typeface="Times New Roman" panose="02020603050405020304"/>
              </a:rPr>
              <a:t>t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670367" y="5793041"/>
          <a:ext cx="6096000" cy="5601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560158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b="1" spc="-20" dirty="0">
                          <a:latin typeface="Times New Roman" panose="02020603050405020304"/>
                          <a:cs typeface="Times New Roman" panose="02020603050405020304"/>
                        </a:rPr>
                        <a:t>Numbers[0]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7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9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b="1" spc="-20" dirty="0">
                          <a:latin typeface="Times New Roman" panose="02020603050405020304"/>
                          <a:cs typeface="Times New Roman" panose="02020603050405020304"/>
                        </a:rPr>
                        <a:t>Numbers[1]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7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498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b="1" spc="285" dirty="0">
                          <a:latin typeface="Trebuchet MS" panose="020B0603020202020204"/>
                          <a:cs typeface="Trebuchet MS" panose="020B0603020202020204"/>
                        </a:rPr>
                        <a:t>…….</a:t>
                      </a:r>
                      <a:endParaRPr sz="2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107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b="1" spc="-10" dirty="0">
                          <a:latin typeface="Times New Roman" panose="02020603050405020304"/>
                          <a:cs typeface="Times New Roman" panose="02020603050405020304"/>
                        </a:rPr>
                        <a:t>Numbers[n]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7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2003679" y="4903215"/>
            <a:ext cx="103505" cy="854075"/>
          </a:xfrm>
          <a:custGeom>
            <a:avLst/>
            <a:gdLst/>
            <a:ahLst/>
            <a:cxnLst/>
            <a:rect l="l" t="t" r="r" b="b"/>
            <a:pathLst>
              <a:path w="103505" h="854075">
                <a:moveTo>
                  <a:pt x="7112" y="757351"/>
                </a:moveTo>
                <a:lnTo>
                  <a:pt x="4063" y="759104"/>
                </a:lnTo>
                <a:lnTo>
                  <a:pt x="1143" y="760869"/>
                </a:lnTo>
                <a:lnTo>
                  <a:pt x="0" y="764755"/>
                </a:lnTo>
                <a:lnTo>
                  <a:pt x="51562" y="853478"/>
                </a:lnTo>
                <a:lnTo>
                  <a:pt x="58945" y="840892"/>
                </a:lnTo>
                <a:lnTo>
                  <a:pt x="45212" y="840866"/>
                </a:lnTo>
                <a:lnTo>
                  <a:pt x="45258" y="817224"/>
                </a:lnTo>
                <a:lnTo>
                  <a:pt x="12513" y="760869"/>
                </a:lnTo>
                <a:lnTo>
                  <a:pt x="11048" y="758380"/>
                </a:lnTo>
                <a:lnTo>
                  <a:pt x="7112" y="757351"/>
                </a:lnTo>
                <a:close/>
              </a:path>
              <a:path w="103505" h="854075">
                <a:moveTo>
                  <a:pt x="45258" y="817224"/>
                </a:moveTo>
                <a:lnTo>
                  <a:pt x="45212" y="840866"/>
                </a:lnTo>
                <a:lnTo>
                  <a:pt x="57912" y="840892"/>
                </a:lnTo>
                <a:lnTo>
                  <a:pt x="57918" y="837691"/>
                </a:lnTo>
                <a:lnTo>
                  <a:pt x="46100" y="837666"/>
                </a:lnTo>
                <a:lnTo>
                  <a:pt x="51640" y="828209"/>
                </a:lnTo>
                <a:lnTo>
                  <a:pt x="45258" y="817224"/>
                </a:lnTo>
                <a:close/>
              </a:path>
              <a:path w="103505" h="854075">
                <a:moveTo>
                  <a:pt x="96393" y="757516"/>
                </a:moveTo>
                <a:lnTo>
                  <a:pt x="92456" y="758532"/>
                </a:lnTo>
                <a:lnTo>
                  <a:pt x="57958" y="817425"/>
                </a:lnTo>
                <a:lnTo>
                  <a:pt x="57912" y="840892"/>
                </a:lnTo>
                <a:lnTo>
                  <a:pt x="58945" y="840892"/>
                </a:lnTo>
                <a:lnTo>
                  <a:pt x="103504" y="764946"/>
                </a:lnTo>
                <a:lnTo>
                  <a:pt x="102488" y="761060"/>
                </a:lnTo>
                <a:lnTo>
                  <a:pt x="96393" y="757516"/>
                </a:lnTo>
                <a:close/>
              </a:path>
              <a:path w="103505" h="854075">
                <a:moveTo>
                  <a:pt x="51640" y="828209"/>
                </a:moveTo>
                <a:lnTo>
                  <a:pt x="46100" y="837666"/>
                </a:lnTo>
                <a:lnTo>
                  <a:pt x="57150" y="837691"/>
                </a:lnTo>
                <a:lnTo>
                  <a:pt x="51640" y="828209"/>
                </a:lnTo>
                <a:close/>
              </a:path>
              <a:path w="103505" h="854075">
                <a:moveTo>
                  <a:pt x="57958" y="817425"/>
                </a:moveTo>
                <a:lnTo>
                  <a:pt x="51640" y="828209"/>
                </a:lnTo>
                <a:lnTo>
                  <a:pt x="57150" y="837691"/>
                </a:lnTo>
                <a:lnTo>
                  <a:pt x="57918" y="837691"/>
                </a:lnTo>
                <a:lnTo>
                  <a:pt x="57958" y="817425"/>
                </a:lnTo>
                <a:close/>
              </a:path>
              <a:path w="103505" h="854075">
                <a:moveTo>
                  <a:pt x="59562" y="0"/>
                </a:moveTo>
                <a:lnTo>
                  <a:pt x="46862" y="0"/>
                </a:lnTo>
                <a:lnTo>
                  <a:pt x="45375" y="757351"/>
                </a:lnTo>
                <a:lnTo>
                  <a:pt x="45375" y="817425"/>
                </a:lnTo>
                <a:lnTo>
                  <a:pt x="51640" y="828209"/>
                </a:lnTo>
                <a:lnTo>
                  <a:pt x="57958" y="817425"/>
                </a:lnTo>
                <a:lnTo>
                  <a:pt x="595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881368" y="4903215"/>
            <a:ext cx="103505" cy="854075"/>
          </a:xfrm>
          <a:custGeom>
            <a:avLst/>
            <a:gdLst/>
            <a:ahLst/>
            <a:cxnLst/>
            <a:rect l="l" t="t" r="r" b="b"/>
            <a:pathLst>
              <a:path w="103504" h="854075">
                <a:moveTo>
                  <a:pt x="7111" y="757351"/>
                </a:moveTo>
                <a:lnTo>
                  <a:pt x="1015" y="760869"/>
                </a:lnTo>
                <a:lnTo>
                  <a:pt x="0" y="764755"/>
                </a:lnTo>
                <a:lnTo>
                  <a:pt x="51561" y="853478"/>
                </a:lnTo>
                <a:lnTo>
                  <a:pt x="58926" y="840892"/>
                </a:lnTo>
                <a:lnTo>
                  <a:pt x="45211" y="840866"/>
                </a:lnTo>
                <a:lnTo>
                  <a:pt x="45251" y="817431"/>
                </a:lnTo>
                <a:lnTo>
                  <a:pt x="12386" y="760869"/>
                </a:lnTo>
                <a:lnTo>
                  <a:pt x="10922" y="758380"/>
                </a:lnTo>
                <a:lnTo>
                  <a:pt x="7111" y="757351"/>
                </a:lnTo>
                <a:close/>
              </a:path>
              <a:path w="103504" h="854075">
                <a:moveTo>
                  <a:pt x="45254" y="817435"/>
                </a:moveTo>
                <a:lnTo>
                  <a:pt x="45211" y="840866"/>
                </a:lnTo>
                <a:lnTo>
                  <a:pt x="57911" y="840892"/>
                </a:lnTo>
                <a:lnTo>
                  <a:pt x="57917" y="837691"/>
                </a:lnTo>
                <a:lnTo>
                  <a:pt x="46100" y="837666"/>
                </a:lnTo>
                <a:lnTo>
                  <a:pt x="51577" y="828318"/>
                </a:lnTo>
                <a:lnTo>
                  <a:pt x="45254" y="817435"/>
                </a:lnTo>
                <a:close/>
              </a:path>
              <a:path w="103504" h="854075">
                <a:moveTo>
                  <a:pt x="96265" y="757516"/>
                </a:moveTo>
                <a:lnTo>
                  <a:pt x="92455" y="758532"/>
                </a:lnTo>
                <a:lnTo>
                  <a:pt x="57954" y="817431"/>
                </a:lnTo>
                <a:lnTo>
                  <a:pt x="57911" y="840892"/>
                </a:lnTo>
                <a:lnTo>
                  <a:pt x="58926" y="840892"/>
                </a:lnTo>
                <a:lnTo>
                  <a:pt x="103377" y="764946"/>
                </a:lnTo>
                <a:lnTo>
                  <a:pt x="102361" y="761060"/>
                </a:lnTo>
                <a:lnTo>
                  <a:pt x="96265" y="757516"/>
                </a:lnTo>
                <a:close/>
              </a:path>
              <a:path w="103504" h="854075">
                <a:moveTo>
                  <a:pt x="51577" y="828318"/>
                </a:moveTo>
                <a:lnTo>
                  <a:pt x="46100" y="837666"/>
                </a:lnTo>
                <a:lnTo>
                  <a:pt x="57023" y="837691"/>
                </a:lnTo>
                <a:lnTo>
                  <a:pt x="51577" y="828318"/>
                </a:lnTo>
                <a:close/>
              </a:path>
              <a:path w="103504" h="854075">
                <a:moveTo>
                  <a:pt x="57954" y="817431"/>
                </a:moveTo>
                <a:lnTo>
                  <a:pt x="51577" y="828318"/>
                </a:lnTo>
                <a:lnTo>
                  <a:pt x="57023" y="837691"/>
                </a:lnTo>
                <a:lnTo>
                  <a:pt x="57917" y="837691"/>
                </a:lnTo>
                <a:lnTo>
                  <a:pt x="57954" y="817431"/>
                </a:lnTo>
                <a:close/>
              </a:path>
              <a:path w="103504" h="854075">
                <a:moveTo>
                  <a:pt x="59435" y="0"/>
                </a:moveTo>
                <a:lnTo>
                  <a:pt x="46735" y="0"/>
                </a:lnTo>
                <a:lnTo>
                  <a:pt x="45254" y="817435"/>
                </a:lnTo>
                <a:lnTo>
                  <a:pt x="51577" y="828318"/>
                </a:lnTo>
                <a:lnTo>
                  <a:pt x="57951" y="817435"/>
                </a:lnTo>
                <a:lnTo>
                  <a:pt x="594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089140" y="4759832"/>
            <a:ext cx="1245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9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800" b="1" spc="-7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b="1" spc="-5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800" b="1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8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1800" b="1" spc="20" dirty="0">
                <a:latin typeface="Times New Roman" panose="02020603050405020304"/>
                <a:cs typeface="Times New Roman" panose="02020603050405020304"/>
              </a:rPr>
              <a:t>ent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666990" cy="5521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2263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723265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9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Arrays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355600" indent="-342900">
              <a:lnSpc>
                <a:spcPct val="100000"/>
              </a:lnSpc>
              <a:spcBef>
                <a:spcPts val="1780"/>
              </a:spcBef>
              <a:buFont typeface="Wingdings" panose="05000000000000000000" pitchFamily="2" charset="2"/>
              <a:buChar char="Ø"/>
              <a:tabLst>
                <a:tab pos="32512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Need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for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165" lvl="1" indent="-34290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78295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Used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represent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list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numbers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/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names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165" lvl="1" indent="-34290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78295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Used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represent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tabular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data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2,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3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or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more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dimensions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165" lvl="1" indent="-342900">
              <a:lnSpc>
                <a:spcPct val="100000"/>
              </a:lnSpc>
              <a:spcBef>
                <a:spcPts val="1325"/>
              </a:spcBef>
              <a:buFont typeface="Wingdings" panose="05000000000000000000" pitchFamily="2" charset="2"/>
              <a:buChar char="Ø"/>
              <a:tabLst>
                <a:tab pos="78295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Important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Data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Structure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any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programming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language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355600" indent="-34290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325120" algn="l"/>
              </a:tabLst>
            </a:pP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Definition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165" lvl="1" indent="-34290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78295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Collection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elements</a:t>
            </a:r>
            <a:r>
              <a:rPr sz="2200" spc="4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similar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data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types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165" lvl="1" indent="-34290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78295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Each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element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located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separate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memory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locations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165" lvl="1" indent="-34290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78295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Each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element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share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 common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name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8224520" cy="5521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735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65735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9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Arrays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355600" indent="-342900">
              <a:lnSpc>
                <a:spcPct val="100000"/>
              </a:lnSpc>
              <a:spcBef>
                <a:spcPts val="1780"/>
              </a:spcBef>
              <a:buFont typeface="Wingdings" panose="05000000000000000000" pitchFamily="2" charset="2"/>
              <a:buChar char="Ø"/>
              <a:tabLst>
                <a:tab pos="325120" algn="l"/>
              </a:tabLst>
            </a:pP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Characteristics</a:t>
            </a:r>
            <a:r>
              <a:rPr sz="2200" b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2200" b="1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Arrays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165" lvl="1" indent="-34290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78295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All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elements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arrays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share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 common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name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165" lvl="1" indent="-34290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78295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Elements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distinguished</a:t>
            </a:r>
            <a:r>
              <a:rPr sz="2200" spc="4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by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index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800" marR="5080" lvl="1" indent="-342900">
              <a:lnSpc>
                <a:spcPct val="150000"/>
              </a:lnSpc>
              <a:spcBef>
                <a:spcPts val="5"/>
              </a:spcBef>
              <a:buFont typeface="Wingdings" panose="05000000000000000000" pitchFamily="2" charset="2"/>
              <a:buChar char="Ø"/>
              <a:tabLst>
                <a:tab pos="78168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Index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(or)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element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an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array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plays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vital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role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for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calling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each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element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165" lvl="1" indent="-34290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78295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Specific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elements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can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be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modified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165" lvl="1" indent="-34290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782955" algn="l"/>
              </a:tabLst>
            </a:pPr>
            <a:r>
              <a:rPr sz="2200" spc="-35" dirty="0">
                <a:latin typeface="Cambria" panose="02040503050406030204"/>
                <a:cs typeface="Cambria" panose="02040503050406030204"/>
              </a:rPr>
              <a:t>Value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element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can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assigned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variables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165" lvl="1" indent="-34290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782955" algn="l"/>
              </a:tabLst>
            </a:pPr>
            <a:r>
              <a:rPr sz="2200" spc="-25" dirty="0">
                <a:latin typeface="Cambria" panose="02040503050406030204"/>
                <a:cs typeface="Cambria" panose="02040503050406030204"/>
              </a:rPr>
              <a:t>Array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elements</a:t>
            </a:r>
            <a:r>
              <a:rPr sz="2200" spc="5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stored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continuous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memory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locations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43608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9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Arrays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355600" indent="-342900">
              <a:lnSpc>
                <a:spcPct val="100000"/>
              </a:lnSpc>
              <a:spcBef>
                <a:spcPts val="1780"/>
              </a:spcBef>
              <a:buFont typeface="Wingdings" panose="05000000000000000000" pitchFamily="2" charset="2"/>
              <a:buChar char="Ø"/>
              <a:tabLst>
                <a:tab pos="325120" algn="l"/>
              </a:tabLst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Storage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space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depends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on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its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data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type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and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size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532765" indent="-342900" algn="ctr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</a:pPr>
            <a:r>
              <a:rPr sz="2200" b="1" i="1" spc="-4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Total</a:t>
            </a:r>
            <a:r>
              <a:rPr sz="2200" b="1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bytes</a:t>
            </a:r>
            <a:r>
              <a:rPr sz="2200" b="1" i="1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=</a:t>
            </a:r>
            <a:r>
              <a:rPr sz="2200" b="1" i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sizeof</a:t>
            </a:r>
            <a:r>
              <a:rPr sz="2200" b="1" i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(Data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type)</a:t>
            </a:r>
            <a:r>
              <a:rPr sz="2200" b="1" i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x</a:t>
            </a:r>
            <a:r>
              <a:rPr sz="2200" b="1" i="1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Size</a:t>
            </a:r>
            <a:r>
              <a:rPr sz="2200" b="1" i="1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2200" b="1" i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Array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165" lvl="1" indent="-34290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78295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Example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2184400" indent="-342900">
              <a:lnSpc>
                <a:spcPct val="100000"/>
              </a:lnSpc>
              <a:spcBef>
                <a:spcPts val="1325"/>
              </a:spcBef>
              <a:buFont typeface="Wingdings" panose="05000000000000000000" pitchFamily="2" charset="2"/>
              <a:buChar char="Ø"/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[5];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2184400" indent="-34290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</a:pPr>
            <a:r>
              <a:rPr sz="2200" spc="-40" dirty="0">
                <a:latin typeface="Cambria" panose="02040503050406030204"/>
                <a:cs typeface="Cambria" panose="02040503050406030204"/>
              </a:rPr>
              <a:t>Total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bytes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sizeof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(int)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x 5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x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5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10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bytes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12594" y="5361533"/>
            <a:ext cx="1903730" cy="949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1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numbers[5];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char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name[20];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56428" y="5361533"/>
            <a:ext cx="1951355" cy="949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1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float</a:t>
            </a:r>
            <a:r>
              <a:rPr sz="2200" spc="-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marks[50];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double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a[i];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5" name="object 5"/>
          <p:cNvSpPr txBox="1"/>
          <p:nvPr/>
        </p:nvSpPr>
        <p:spPr>
          <a:xfrm>
            <a:off x="383540" y="549605"/>
            <a:ext cx="7350759" cy="48361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9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Arrays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780"/>
              </a:spcBef>
              <a:buAutoNum type="alphaLcParenR"/>
              <a:tabLst>
                <a:tab pos="469900" algn="l"/>
                <a:tab pos="469900" algn="l"/>
              </a:tabLst>
            </a:pPr>
            <a:r>
              <a:rPr sz="2200" b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Array</a:t>
            </a:r>
            <a:r>
              <a:rPr sz="2200" b="1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Declaration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165" lvl="1" indent="-342900">
              <a:lnSpc>
                <a:spcPct val="100000"/>
              </a:lnSpc>
              <a:spcBef>
                <a:spcPts val="1490"/>
              </a:spcBef>
              <a:buClr>
                <a:srgbClr val="336600"/>
              </a:buClr>
              <a:buFont typeface="Wingdings" panose="05000000000000000000" pitchFamily="2" charset="2"/>
              <a:buChar char="Ø"/>
              <a:tabLst>
                <a:tab pos="782955" algn="l"/>
              </a:tabLst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Syntax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2184400" indent="-342900">
              <a:lnSpc>
                <a:spcPct val="100000"/>
              </a:lnSpc>
              <a:spcBef>
                <a:spcPts val="995"/>
              </a:spcBef>
              <a:buFont typeface="Wingdings" panose="05000000000000000000" pitchFamily="2" charset="2"/>
              <a:buChar char="Ø"/>
            </a:pPr>
            <a:r>
              <a:rPr sz="2200" b="1" spc="-5" dirty="0">
                <a:solidFill>
                  <a:srgbClr val="001F5F"/>
                </a:solidFill>
                <a:latin typeface="Cambria" panose="02040503050406030204"/>
                <a:cs typeface="Cambria" panose="02040503050406030204"/>
              </a:rPr>
              <a:t>Datatype</a:t>
            </a:r>
            <a:r>
              <a:rPr sz="2200" b="1" spc="-30" dirty="0">
                <a:solidFill>
                  <a:srgbClr val="001F5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20" dirty="0">
                <a:solidFill>
                  <a:srgbClr val="001F5F"/>
                </a:solidFill>
                <a:latin typeface="Cambria" panose="02040503050406030204"/>
                <a:cs typeface="Cambria" panose="02040503050406030204"/>
              </a:rPr>
              <a:t>arrayname</a:t>
            </a:r>
            <a:r>
              <a:rPr sz="2200" b="1" spc="10" dirty="0">
                <a:solidFill>
                  <a:srgbClr val="001F5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Cambria" panose="02040503050406030204"/>
                <a:cs typeface="Cambria" panose="02040503050406030204"/>
              </a:rPr>
              <a:t>[size/subscript];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165" lvl="1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tabLst>
                <a:tab pos="782955" algn="l"/>
              </a:tabLst>
            </a:pPr>
            <a:r>
              <a:rPr sz="22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Data</a:t>
            </a:r>
            <a:r>
              <a:rPr sz="22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Type:</a:t>
            </a:r>
            <a:r>
              <a:rPr sz="22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int,</a:t>
            </a:r>
            <a:r>
              <a:rPr sz="2200" dirty="0">
                <a:latin typeface="Cambria" panose="02040503050406030204"/>
                <a:cs typeface="Cambria" panose="02040503050406030204"/>
              </a:rPr>
              <a:t> float,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double,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char,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structure,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union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165" lvl="1" indent="-342900">
              <a:lnSpc>
                <a:spcPct val="100000"/>
              </a:lnSpc>
              <a:spcBef>
                <a:spcPts val="1005"/>
              </a:spcBef>
              <a:buClr>
                <a:srgbClr val="000000"/>
              </a:buClr>
              <a:buFont typeface="Wingdings" panose="05000000000000000000" pitchFamily="2" charset="2"/>
              <a:buChar char="Ø"/>
              <a:tabLst>
                <a:tab pos="782955" algn="l"/>
              </a:tabLst>
            </a:pPr>
            <a:r>
              <a:rPr sz="22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Array</a:t>
            </a:r>
            <a:r>
              <a:rPr sz="2200" b="1" spc="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Name:</a:t>
            </a:r>
            <a:r>
              <a:rPr sz="2200" b="1" spc="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Name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given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variable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165" lvl="1" indent="-342900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Ø"/>
              <a:tabLst>
                <a:tab pos="782955" algn="l"/>
              </a:tabLst>
            </a:pPr>
            <a:r>
              <a:rPr sz="22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Size</a:t>
            </a:r>
            <a:r>
              <a:rPr sz="22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/</a:t>
            </a:r>
            <a:r>
              <a:rPr sz="22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Subscript:</a:t>
            </a:r>
            <a:r>
              <a:rPr sz="2200" b="1" spc="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values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an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can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hold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812165" lvl="1" indent="-342900">
              <a:lnSpc>
                <a:spcPct val="100000"/>
              </a:lnSpc>
              <a:spcBef>
                <a:spcPts val="995"/>
              </a:spcBef>
              <a:buClr>
                <a:srgbClr val="000000"/>
              </a:buClr>
              <a:buFont typeface="Wingdings" panose="05000000000000000000" pitchFamily="2" charset="2"/>
              <a:buChar char="Ø"/>
              <a:tabLst>
                <a:tab pos="782955" algn="l"/>
              </a:tabLst>
            </a:pP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Examples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2714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9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Arrays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845"/>
              </a:spcBef>
              <a:buFont typeface="Wingdings" panose="05000000000000000000" pitchFamily="2" charset="2"/>
              <a:buChar char="Ø"/>
              <a:tabLst>
                <a:tab pos="469900" algn="l"/>
                <a:tab pos="469900" algn="l"/>
              </a:tabLst>
            </a:pPr>
            <a:r>
              <a:rPr sz="2400" spc="-5" dirty="0">
                <a:latin typeface="Cambria" panose="02040503050406030204"/>
                <a:cs typeface="Cambria" panose="02040503050406030204"/>
              </a:rPr>
              <a:t>Illustration</a:t>
            </a:r>
            <a:endParaRPr sz="2400" dirty="0">
              <a:latin typeface="Cambria" panose="02040503050406030204"/>
              <a:cs typeface="Cambria" panose="02040503050406030204"/>
            </a:endParaRPr>
          </a:p>
          <a:p>
            <a:pPr marL="927100">
              <a:lnSpc>
                <a:spcPct val="100000"/>
              </a:lnSpc>
              <a:spcBef>
                <a:spcPts val="2435"/>
              </a:spcBef>
            </a:pPr>
            <a:r>
              <a:rPr sz="24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int</a:t>
            </a:r>
            <a:r>
              <a:rPr sz="2400" spc="-6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a[n];</a:t>
            </a:r>
            <a:endParaRPr sz="24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025" y="3605212"/>
            <a:ext cx="8344907" cy="2404041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2503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9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Arrays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355600" indent="-342900">
              <a:lnSpc>
                <a:spcPct val="100000"/>
              </a:lnSpc>
              <a:spcBef>
                <a:spcPts val="1780"/>
              </a:spcBef>
              <a:buFont typeface="Wingdings" panose="05000000000000000000" pitchFamily="2" charset="2"/>
              <a:buChar char="Ø"/>
              <a:tabLst>
                <a:tab pos="325120" algn="l"/>
              </a:tabLst>
            </a:pPr>
            <a:r>
              <a:rPr sz="2200" b="1" i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Static</a:t>
            </a:r>
            <a:r>
              <a:rPr sz="2200" b="1" i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Array:</a:t>
            </a:r>
            <a:r>
              <a:rPr sz="2200" b="1" i="1" spc="5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</a:t>
            </a:r>
            <a:r>
              <a:rPr sz="2200" spc="5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size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(range)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declared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program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355600" indent="-342900">
              <a:lnSpc>
                <a:spcPct val="100000"/>
              </a:lnSpc>
              <a:spcBef>
                <a:spcPts val="1320"/>
              </a:spcBef>
              <a:buClr>
                <a:srgbClr val="000000"/>
              </a:buClr>
              <a:buFont typeface="Wingdings" panose="05000000000000000000" pitchFamily="2" charset="2"/>
              <a:buChar char="Ø"/>
              <a:tabLst>
                <a:tab pos="325120" algn="l"/>
              </a:tabLst>
            </a:pPr>
            <a:r>
              <a:rPr sz="2200" b="1" i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Dynamic</a:t>
            </a:r>
            <a:r>
              <a:rPr sz="2200" b="1" i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Array:</a:t>
            </a:r>
            <a:r>
              <a:rPr sz="2200" b="1" i="1" spc="3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size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given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during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execution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98450" y="3502152"/>
          <a:ext cx="8534399" cy="265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89120"/>
                <a:gridCol w="4145279"/>
              </a:tblGrid>
              <a:tr h="750570">
                <a:tc>
                  <a:txBody>
                    <a:bodyPr/>
                    <a:lstStyle/>
                    <a:p>
                      <a:pPr marL="1122045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2400" b="1" spc="-85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STATIC</a:t>
                      </a:r>
                      <a:r>
                        <a:rPr sz="2400" b="1" spc="-35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400" b="1" spc="-4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ARRAYS</a:t>
                      </a:r>
                      <a:endParaRPr sz="24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1854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819150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2400" b="1" spc="-2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DYNAMIC</a:t>
                      </a:r>
                      <a:r>
                        <a:rPr sz="2400" b="1" spc="-6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400" b="1" spc="-40" dirty="0">
                          <a:solidFill>
                            <a:srgbClr val="FFFFFF"/>
                          </a:solidFill>
                          <a:latin typeface="Cambria" panose="02040503050406030204"/>
                          <a:cs typeface="Cambria" panose="02040503050406030204"/>
                        </a:rPr>
                        <a:t>ARRAYS</a:t>
                      </a:r>
                      <a:endParaRPr sz="24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1854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</a:tr>
              <a:tr h="1221993">
                <a:tc>
                  <a:txBody>
                    <a:bodyPr/>
                    <a:lstStyle/>
                    <a:p>
                      <a:pPr marL="90805" marR="85725">
                        <a:lnSpc>
                          <a:spcPct val="100000"/>
                        </a:lnSpc>
                        <a:spcBef>
                          <a:spcPts val="2110"/>
                        </a:spcBef>
                      </a:pPr>
                      <a:r>
                        <a:rPr sz="2200" spc="-10" dirty="0">
                          <a:latin typeface="Cambria" panose="02040503050406030204"/>
                          <a:cs typeface="Cambria" panose="02040503050406030204"/>
                        </a:rPr>
                        <a:t>Range</a:t>
                      </a:r>
                      <a:r>
                        <a:rPr sz="2200" spc="36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/</a:t>
                      </a:r>
                      <a:r>
                        <a:rPr sz="2200" spc="36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Size</a:t>
                      </a:r>
                      <a:r>
                        <a:rPr sz="2200" spc="35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dirty="0">
                          <a:latin typeface="Cambria" panose="02040503050406030204"/>
                          <a:cs typeface="Cambria" panose="02040503050406030204"/>
                        </a:rPr>
                        <a:t>of</a:t>
                      </a:r>
                      <a:r>
                        <a:rPr sz="2200" spc="36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an</a:t>
                      </a:r>
                      <a:r>
                        <a:rPr sz="2200" spc="38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20" dirty="0">
                          <a:latin typeface="Cambria" panose="02040503050406030204"/>
                          <a:cs typeface="Cambria" panose="02040503050406030204"/>
                        </a:rPr>
                        <a:t>array</a:t>
                      </a:r>
                      <a:r>
                        <a:rPr sz="2200" spc="36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dirty="0">
                          <a:latin typeface="Cambria" panose="02040503050406030204"/>
                          <a:cs typeface="Cambria" panose="02040503050406030204"/>
                        </a:rPr>
                        <a:t>included </a:t>
                      </a:r>
                      <a:r>
                        <a:rPr sz="2200" spc="-47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in</a:t>
                      </a:r>
                      <a:r>
                        <a:rPr sz="220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10" dirty="0">
                          <a:latin typeface="Cambria" panose="02040503050406030204"/>
                          <a:cs typeface="Cambria" panose="02040503050406030204"/>
                        </a:rPr>
                        <a:t>the</a:t>
                      </a:r>
                      <a:r>
                        <a:rPr sz="2200" spc="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25" dirty="0">
                          <a:latin typeface="Cambria" panose="02040503050406030204"/>
                          <a:cs typeface="Cambria" panose="02040503050406030204"/>
                        </a:rPr>
                        <a:t>Array</a:t>
                      </a:r>
                      <a:r>
                        <a:rPr sz="2200" spc="3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definition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267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3820">
                        <a:lnSpc>
                          <a:spcPct val="100000"/>
                        </a:lnSpc>
                        <a:spcBef>
                          <a:spcPts val="2110"/>
                        </a:spcBef>
                        <a:tabLst>
                          <a:tab pos="1003300" algn="l"/>
                          <a:tab pos="1314450" algn="l"/>
                          <a:tab pos="1969770" algn="l"/>
                          <a:tab pos="2376805" algn="l"/>
                          <a:tab pos="2844800" algn="l"/>
                          <a:tab pos="3655695" algn="l"/>
                        </a:tabLst>
                      </a:pPr>
                      <a:r>
                        <a:rPr sz="2200" spc="-10" dirty="0">
                          <a:latin typeface="Cambria" panose="02040503050406030204"/>
                          <a:cs typeface="Cambria" panose="02040503050406030204"/>
                        </a:rPr>
                        <a:t>R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an</a:t>
                      </a:r>
                      <a:r>
                        <a:rPr sz="2200" spc="-10" dirty="0">
                          <a:latin typeface="Cambria" panose="02040503050406030204"/>
                          <a:cs typeface="Cambria" panose="02040503050406030204"/>
                        </a:rPr>
                        <a:t>g</a:t>
                      </a:r>
                      <a:r>
                        <a:rPr sz="2200" dirty="0">
                          <a:latin typeface="Cambria" panose="02040503050406030204"/>
                          <a:cs typeface="Cambria" panose="02040503050406030204"/>
                        </a:rPr>
                        <a:t>e	/	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S</a:t>
                      </a:r>
                      <a:r>
                        <a:rPr sz="2200" spc="10" dirty="0">
                          <a:latin typeface="Cambria" panose="02040503050406030204"/>
                          <a:cs typeface="Cambria" panose="02040503050406030204"/>
                        </a:rPr>
                        <a:t>i</a:t>
                      </a:r>
                      <a:r>
                        <a:rPr sz="2200" dirty="0">
                          <a:latin typeface="Cambria" panose="02040503050406030204"/>
                          <a:cs typeface="Cambria" panose="02040503050406030204"/>
                        </a:rPr>
                        <a:t>ze	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o</a:t>
                      </a:r>
                      <a:r>
                        <a:rPr sz="2200" dirty="0">
                          <a:latin typeface="Cambria" panose="02040503050406030204"/>
                          <a:cs typeface="Cambria" panose="02040503050406030204"/>
                        </a:rPr>
                        <a:t>f	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a</a:t>
                      </a:r>
                      <a:r>
                        <a:rPr sz="2200" dirty="0">
                          <a:latin typeface="Cambria" panose="02040503050406030204"/>
                          <a:cs typeface="Cambria" panose="02040503050406030204"/>
                        </a:rPr>
                        <a:t>n	</a:t>
                      </a:r>
                      <a:r>
                        <a:rPr sz="2200" spc="5" dirty="0">
                          <a:latin typeface="Cambria" panose="02040503050406030204"/>
                          <a:cs typeface="Cambria" panose="02040503050406030204"/>
                        </a:rPr>
                        <a:t>a</a:t>
                      </a:r>
                      <a:r>
                        <a:rPr sz="2200" dirty="0">
                          <a:latin typeface="Cambria" panose="02040503050406030204"/>
                          <a:cs typeface="Cambria" panose="02040503050406030204"/>
                        </a:rPr>
                        <a:t>r</a:t>
                      </a:r>
                      <a:r>
                        <a:rPr sz="2200" spc="-30" dirty="0">
                          <a:latin typeface="Cambria" panose="02040503050406030204"/>
                          <a:cs typeface="Cambria" panose="02040503050406030204"/>
                        </a:rPr>
                        <a:t>r</a:t>
                      </a:r>
                      <a:r>
                        <a:rPr sz="2200" spc="-45" dirty="0">
                          <a:latin typeface="Cambria" panose="02040503050406030204"/>
                          <a:cs typeface="Cambria" panose="02040503050406030204"/>
                        </a:rPr>
                        <a:t>a</a:t>
                      </a:r>
                      <a:r>
                        <a:rPr sz="2200" dirty="0">
                          <a:latin typeface="Cambria" panose="02040503050406030204"/>
                          <a:cs typeface="Cambria" panose="02040503050406030204"/>
                        </a:rPr>
                        <a:t>y	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not  included</a:t>
                      </a:r>
                      <a:r>
                        <a:rPr sz="2200" spc="2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in</a:t>
                      </a:r>
                      <a:r>
                        <a:rPr sz="2200" spc="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10" dirty="0">
                          <a:latin typeface="Cambria" panose="02040503050406030204"/>
                          <a:cs typeface="Cambria" panose="02040503050406030204"/>
                        </a:rPr>
                        <a:t>the</a:t>
                      </a:r>
                      <a:r>
                        <a:rPr sz="220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25" dirty="0">
                          <a:latin typeface="Cambria" panose="02040503050406030204"/>
                          <a:cs typeface="Cambria" panose="02040503050406030204"/>
                        </a:rPr>
                        <a:t>Array</a:t>
                      </a:r>
                      <a:r>
                        <a:rPr sz="2200" spc="3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definition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267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68423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2200" spc="-10" dirty="0">
                          <a:latin typeface="Cambria" panose="02040503050406030204"/>
                          <a:cs typeface="Cambria" panose="02040503050406030204"/>
                        </a:rPr>
                        <a:t>Static</a:t>
                      </a:r>
                      <a:r>
                        <a:rPr sz="2200" spc="1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25" dirty="0">
                          <a:latin typeface="Cambria" panose="02040503050406030204"/>
                          <a:cs typeface="Cambria" panose="02040503050406030204"/>
                        </a:rPr>
                        <a:t>Arrays</a:t>
                      </a:r>
                      <a:r>
                        <a:rPr sz="2200" spc="2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cannot</a:t>
                      </a:r>
                      <a:r>
                        <a:rPr sz="2200" spc="1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be</a:t>
                      </a:r>
                      <a:r>
                        <a:rPr sz="2200" spc="-1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changed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Dynamic</a:t>
                      </a:r>
                      <a:r>
                        <a:rPr sz="220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25" dirty="0">
                          <a:latin typeface="Cambria" panose="02040503050406030204"/>
                          <a:cs typeface="Cambria" panose="02040503050406030204"/>
                        </a:rPr>
                        <a:t>Arrays</a:t>
                      </a:r>
                      <a:r>
                        <a:rPr sz="2200" spc="2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can</a:t>
                      </a:r>
                      <a:r>
                        <a:rPr sz="220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be</a:t>
                      </a:r>
                      <a:r>
                        <a:rPr sz="2200" spc="-1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200" spc="-5" dirty="0">
                          <a:latin typeface="Cambria" panose="02040503050406030204"/>
                          <a:cs typeface="Cambria" panose="02040503050406030204"/>
                        </a:rPr>
                        <a:t>changed</a:t>
                      </a:r>
                      <a:endParaRPr sz="22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756525" cy="5521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373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63373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9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Arrays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780"/>
              </a:spcBef>
              <a:buAutoNum type="alphaLcParenR" startAt="2"/>
              <a:tabLst>
                <a:tab pos="469900" algn="l"/>
                <a:tab pos="469900" algn="l"/>
              </a:tabLst>
            </a:pPr>
            <a:r>
              <a:rPr sz="2200" b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Array</a:t>
            </a:r>
            <a:r>
              <a:rPr sz="2200" b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Initialization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Initialization:</a:t>
            </a:r>
            <a:r>
              <a:rPr sz="2200" b="1" spc="45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Assigning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values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elements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384300" lvl="2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1384300" algn="l"/>
                <a:tab pos="1384935" algn="l"/>
              </a:tabLst>
            </a:pPr>
            <a:r>
              <a:rPr sz="2200" spc="-30" dirty="0">
                <a:latin typeface="Cambria" panose="02040503050406030204"/>
                <a:cs typeface="Cambria" panose="02040503050406030204"/>
              </a:rPr>
              <a:t>Values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specified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curly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braces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separated</a:t>
            </a:r>
            <a:r>
              <a:rPr sz="2200" spc="4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by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commas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5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Examples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2184400" indent="-34290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a[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5] = {1,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2, 3, 4,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5};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2184400" indent="-34290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float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b[3]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 {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40.5, 59.0, 98.5};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2184400" indent="-34290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char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name[6]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”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SRMIST”;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25" dirty="0">
                <a:latin typeface="Cambria" panose="02040503050406030204"/>
                <a:cs typeface="Cambria" panose="02040503050406030204"/>
              </a:rPr>
              <a:t>Array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element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index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start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from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0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70840" y="549605"/>
            <a:ext cx="8247380" cy="5521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764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68275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96240" indent="-371475">
              <a:lnSpc>
                <a:spcPct val="100000"/>
              </a:lnSpc>
              <a:spcBef>
                <a:spcPts val="1735"/>
              </a:spcBef>
              <a:buAutoNum type="arabicPeriod" startAt="2"/>
              <a:tabLst>
                <a:tab pos="396875" algn="l"/>
              </a:tabLst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9</a:t>
            </a:r>
            <a:r>
              <a:rPr sz="2800" b="1" spc="-2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Arrays</a:t>
            </a:r>
            <a:r>
              <a:rPr sz="2800" b="1" spc="-3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939800" lvl="1" indent="-457835">
              <a:lnSpc>
                <a:spcPct val="100000"/>
              </a:lnSpc>
              <a:spcBef>
                <a:spcPts val="1780"/>
              </a:spcBef>
              <a:buFont typeface="Wingdings" panose="05000000000000000000" pitchFamily="2" charset="2"/>
              <a:buChar char="Ø"/>
              <a:tabLst>
                <a:tab pos="939800" algn="l"/>
                <a:tab pos="940435" algn="l"/>
              </a:tabLst>
            </a:pPr>
            <a:r>
              <a:rPr sz="2200" spc="-20" dirty="0">
                <a:latin typeface="Cambria" panose="02040503050406030204"/>
                <a:cs typeface="Cambria" panose="02040503050406030204"/>
              </a:rPr>
              <a:t>Array</a:t>
            </a:r>
            <a:r>
              <a:rPr sz="2200" spc="409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elements</a:t>
            </a:r>
            <a:r>
              <a:rPr sz="2200" spc="4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are</a:t>
            </a:r>
            <a:r>
              <a:rPr sz="2200" spc="4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dirty="0">
                <a:latin typeface="Cambria" panose="02040503050406030204"/>
                <a:cs typeface="Cambria" panose="02040503050406030204"/>
              </a:rPr>
              <a:t>called</a:t>
            </a:r>
            <a:r>
              <a:rPr sz="2200" spc="4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by</a:t>
            </a:r>
            <a:r>
              <a:rPr sz="2200" spc="4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array</a:t>
            </a:r>
            <a:r>
              <a:rPr sz="2200" spc="4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names</a:t>
            </a:r>
            <a:r>
              <a:rPr sz="2200" spc="4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followed</a:t>
            </a:r>
            <a:r>
              <a:rPr sz="2200" spc="40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by</a:t>
            </a:r>
            <a:r>
              <a:rPr sz="2200" spc="4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282700" indent="-34290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element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numbers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39800" lvl="1" indent="-457835" algn="just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404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 a[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5] = {1,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2, 3, 4,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5};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54200" marR="2713990" algn="just">
              <a:lnSpc>
                <a:spcPct val="150000"/>
              </a:lnSpc>
              <a:spcBef>
                <a:spcPts val="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a[0]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refers to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</a:t>
            </a:r>
            <a:r>
              <a:rPr sz="2175" spc="-7" baseline="25000" dirty="0">
                <a:latin typeface="Cambria" panose="02040503050406030204"/>
                <a:cs typeface="Cambria" panose="02040503050406030204"/>
              </a:rPr>
              <a:t>st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element i.e., 1 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a[1]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refers to </a:t>
            </a:r>
            <a:r>
              <a:rPr sz="2200" dirty="0">
                <a:latin typeface="Cambria" panose="02040503050406030204"/>
                <a:cs typeface="Cambria" panose="02040503050406030204"/>
              </a:rPr>
              <a:t>2</a:t>
            </a:r>
            <a:r>
              <a:rPr sz="2175" baseline="25000" dirty="0">
                <a:latin typeface="Cambria" panose="02040503050406030204"/>
                <a:cs typeface="Cambria" panose="02040503050406030204"/>
              </a:rPr>
              <a:t>nd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element i.e., 2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a[2]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refers to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3</a:t>
            </a:r>
            <a:r>
              <a:rPr sz="2175" spc="-15" baseline="25000" dirty="0">
                <a:latin typeface="Cambria" panose="02040503050406030204"/>
                <a:cs typeface="Cambria" panose="02040503050406030204"/>
              </a:rPr>
              <a:t>rd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element i.e., 3 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a[3]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refers to </a:t>
            </a:r>
            <a:r>
              <a:rPr sz="2200" dirty="0">
                <a:latin typeface="Cambria" panose="02040503050406030204"/>
                <a:cs typeface="Cambria" panose="02040503050406030204"/>
              </a:rPr>
              <a:t>4</a:t>
            </a:r>
            <a:r>
              <a:rPr sz="2175" baseline="25000" dirty="0">
                <a:latin typeface="Cambria" panose="02040503050406030204"/>
                <a:cs typeface="Cambria" panose="02040503050406030204"/>
              </a:rPr>
              <a:t>th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element i.e., 4 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a[4]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refers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dirty="0">
                <a:latin typeface="Cambria" panose="02040503050406030204"/>
                <a:cs typeface="Cambria" panose="02040503050406030204"/>
              </a:rPr>
              <a:t> 5</a:t>
            </a:r>
            <a:r>
              <a:rPr sz="2175" baseline="25000" dirty="0">
                <a:latin typeface="Cambria" panose="02040503050406030204"/>
                <a:cs typeface="Cambria" panose="02040503050406030204"/>
              </a:rPr>
              <a:t>th</a:t>
            </a:r>
            <a:r>
              <a:rPr sz="2175" spc="262" baseline="250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element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i.e., 5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5521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9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Arrays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780"/>
              </a:spcBef>
              <a:buAutoNum type="alphaLcParenR" startAt="3"/>
              <a:tabLst>
                <a:tab pos="469900" algn="l"/>
                <a:tab pos="469900" algn="l"/>
              </a:tabLst>
            </a:pP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Getting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Input</a:t>
            </a:r>
            <a:r>
              <a:rPr sz="2200" b="1" spc="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Arrays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Use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loops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get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input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Use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loops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with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regard</a:t>
            </a:r>
            <a:r>
              <a:rPr sz="2200" spc="5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Array’s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dimension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41500" marR="535940" lvl="2" indent="-914400">
              <a:lnSpc>
                <a:spcPct val="150000"/>
              </a:lnSpc>
              <a:spcBef>
                <a:spcPts val="5"/>
              </a:spcBef>
              <a:buFont typeface="Wingdings" panose="05000000000000000000" pitchFamily="2" charset="2"/>
              <a:buChar char="Ø"/>
              <a:tabLst>
                <a:tab pos="1384300" algn="l"/>
                <a:tab pos="1384935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Input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One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Dimensional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Arrays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–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loop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for(i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0;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 &lt; 5;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i++)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32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374015" algn="ctr">
              <a:lnSpc>
                <a:spcPct val="100000"/>
              </a:lnSpc>
              <a:spcBef>
                <a:spcPts val="1320"/>
              </a:spcBef>
            </a:pPr>
            <a:r>
              <a:rPr sz="2200" spc="-25" dirty="0">
                <a:latin typeface="Cambria" panose="02040503050406030204"/>
                <a:cs typeface="Cambria" panose="02040503050406030204"/>
              </a:rPr>
              <a:t>scanf(“%d”,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&amp;a[i]);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32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5521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9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Arrays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780"/>
              </a:spcBef>
              <a:buFont typeface="Wingdings" panose="05000000000000000000" pitchFamily="2" charset="2"/>
              <a:buChar char="Ø"/>
              <a:tabLst>
                <a:tab pos="469900" algn="l"/>
                <a:tab pos="469900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Input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Two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Dimensional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Arrays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–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loops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469900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for(i=0;i&lt;5;i++)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>
              <a:lnSpc>
                <a:spcPct val="100000"/>
              </a:lnSpc>
              <a:spcBef>
                <a:spcPts val="132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32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for(j=0;j&lt;5;j++)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32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579120" algn="ctr">
              <a:lnSpc>
                <a:spcPct val="100000"/>
              </a:lnSpc>
              <a:spcBef>
                <a:spcPts val="1320"/>
              </a:spcBef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scanf(“%d”,&amp;a[i][j]);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32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>
              <a:lnSpc>
                <a:spcPct val="100000"/>
              </a:lnSpc>
              <a:spcBef>
                <a:spcPts val="132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518400" cy="5521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7122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871855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9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Arrays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780"/>
              </a:spcBef>
              <a:buAutoNum type="alphaLcParenR" startAt="4"/>
              <a:tabLst>
                <a:tab pos="469900" algn="l"/>
                <a:tab pos="469900" algn="l"/>
              </a:tabLst>
            </a:pP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Printing Output</a:t>
            </a:r>
            <a:r>
              <a:rPr sz="2200" b="1" spc="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in</a:t>
            </a: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3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Arrays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Use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for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loops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print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output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 lvl="1" indent="-45783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27100" algn="l"/>
                <a:tab pos="9277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Use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loops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with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regard</a:t>
            </a:r>
            <a:r>
              <a:rPr sz="2200" spc="5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Array’s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dimension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41500" marR="5080" lvl="2" indent="-914400">
              <a:lnSpc>
                <a:spcPct val="150000"/>
              </a:lnSpc>
              <a:spcBef>
                <a:spcPts val="5"/>
              </a:spcBef>
              <a:buFont typeface="Wingdings" panose="05000000000000000000" pitchFamily="2" charset="2"/>
              <a:buChar char="Ø"/>
              <a:tabLst>
                <a:tab pos="1384300" algn="l"/>
                <a:tab pos="138493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Printing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One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Dimensional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Output</a:t>
            </a:r>
            <a:r>
              <a:rPr sz="2200" spc="5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–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loop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for(i=0;i&lt;5;i++)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32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3970" algn="ctr">
              <a:lnSpc>
                <a:spcPct val="100000"/>
              </a:lnSpc>
              <a:spcBef>
                <a:spcPts val="1320"/>
              </a:spcBef>
            </a:pPr>
            <a:r>
              <a:rPr sz="2200" spc="-20" dirty="0">
                <a:latin typeface="Cambria" panose="02040503050406030204"/>
                <a:cs typeface="Cambria" panose="02040503050406030204"/>
              </a:rPr>
              <a:t>printf(“%d”,a[i]);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32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350759" cy="5521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9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Arrays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354965" indent="-342900">
              <a:lnSpc>
                <a:spcPct val="100000"/>
              </a:lnSpc>
              <a:spcBef>
                <a:spcPts val="1780"/>
              </a:spcBef>
              <a:buFont typeface="Wingdings" panose="05000000000000000000" pitchFamily="2" charset="2"/>
              <a:buChar char="Ø"/>
              <a:tabLst>
                <a:tab pos="469900" algn="l"/>
                <a:tab pos="469900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Printing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Two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Dimensional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Output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–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for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loops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469900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for(i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0; i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&lt;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5;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i++)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>
              <a:lnSpc>
                <a:spcPct val="100000"/>
              </a:lnSpc>
              <a:spcBef>
                <a:spcPts val="132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32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for(j=0;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j &lt;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5;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j++)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32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598805" algn="ctr">
              <a:lnSpc>
                <a:spcPct val="100000"/>
              </a:lnSpc>
              <a:spcBef>
                <a:spcPts val="1320"/>
              </a:spcBef>
            </a:pPr>
            <a:r>
              <a:rPr sz="2200" spc="-25" dirty="0">
                <a:latin typeface="Cambria" panose="02040503050406030204"/>
                <a:cs typeface="Cambria" panose="02040503050406030204"/>
              </a:rPr>
              <a:t>printff(“%d”,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a[i][j]);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32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27100">
              <a:lnSpc>
                <a:spcPct val="100000"/>
              </a:lnSpc>
              <a:spcBef>
                <a:spcPts val="132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228587"/>
            <a:ext cx="8686800" cy="6617334"/>
          </a:xfrm>
          <a:custGeom>
            <a:avLst/>
            <a:gdLst/>
            <a:ahLst/>
            <a:cxnLst/>
            <a:rect l="l" t="t" r="r" b="b"/>
            <a:pathLst>
              <a:path w="8686800" h="6617334">
                <a:moveTo>
                  <a:pt x="0" y="6617208"/>
                </a:moveTo>
                <a:lnTo>
                  <a:pt x="8686800" y="6617208"/>
                </a:lnTo>
                <a:lnTo>
                  <a:pt x="8686800" y="0"/>
                </a:lnTo>
                <a:lnTo>
                  <a:pt x="0" y="0"/>
                </a:lnTo>
                <a:lnTo>
                  <a:pt x="0" y="6617208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2044" y="253999"/>
            <a:ext cx="6833870" cy="6488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9305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/*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Program</a:t>
            </a:r>
            <a:r>
              <a:rPr sz="22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1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: </a:t>
            </a:r>
            <a:r>
              <a:rPr sz="2200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Array</a:t>
            </a:r>
            <a:r>
              <a:rPr sz="2200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Declaration</a:t>
            </a:r>
            <a:r>
              <a:rPr sz="2200" spc="49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&amp;</a:t>
            </a:r>
            <a:r>
              <a:rPr sz="22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Initialization*/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50">
              <a:latin typeface="Cambria" panose="02040503050406030204"/>
              <a:cs typeface="Cambria" panose="02040503050406030204"/>
            </a:endParaRPr>
          </a:p>
          <a:p>
            <a:pPr marL="12700" marR="4649470">
              <a:lnSpc>
                <a:spcPct val="115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#inclu</a:t>
            </a:r>
            <a:r>
              <a:rPr sz="2200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&lt;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dirty="0">
                <a:latin typeface="Cambria" panose="02040503050406030204"/>
                <a:cs typeface="Cambria" panose="02040503050406030204"/>
              </a:rPr>
              <a:t>.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h&gt;  int main(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41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i,</a:t>
            </a:r>
            <a:r>
              <a:rPr sz="2200" spc="-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arr[5];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3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arr[0]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10;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3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arr[1]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20;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41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arr[2]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30;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3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arr[3]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40;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 marR="4216400">
              <a:lnSpc>
                <a:spcPts val="3050"/>
              </a:lnSpc>
              <a:spcBef>
                <a:spcPts val="15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arr[4]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50;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for(i=0;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i&lt;=n;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i++)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23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3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printf(“%d”\n,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a[i]);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4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4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228600"/>
            <a:ext cx="8686800" cy="250888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295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0"/>
              </a:spcBef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10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20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30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40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50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228587"/>
            <a:ext cx="8686800" cy="5725160"/>
          </a:xfrm>
          <a:custGeom>
            <a:avLst/>
            <a:gdLst/>
            <a:ahLst/>
            <a:cxnLst/>
            <a:rect l="l" t="t" r="r" b="b"/>
            <a:pathLst>
              <a:path w="8686800" h="5725160">
                <a:moveTo>
                  <a:pt x="0" y="5724652"/>
                </a:moveTo>
                <a:lnTo>
                  <a:pt x="8686800" y="5724652"/>
                </a:lnTo>
                <a:lnTo>
                  <a:pt x="8686800" y="0"/>
                </a:lnTo>
                <a:lnTo>
                  <a:pt x="0" y="0"/>
                </a:lnTo>
                <a:lnTo>
                  <a:pt x="0" y="57246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2044" y="253999"/>
            <a:ext cx="6833870" cy="5603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9305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/*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Program</a:t>
            </a:r>
            <a:r>
              <a:rPr sz="22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2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: </a:t>
            </a:r>
            <a:r>
              <a:rPr sz="2200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Array</a:t>
            </a:r>
            <a:r>
              <a:rPr sz="2200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Declaration</a:t>
            </a:r>
            <a:r>
              <a:rPr sz="2200" spc="49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&amp;</a:t>
            </a:r>
            <a:r>
              <a:rPr sz="22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Initialization*/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</a:pPr>
            <a:endParaRPr sz="2950">
              <a:latin typeface="Cambria" panose="02040503050406030204"/>
              <a:cs typeface="Cambria" panose="02040503050406030204"/>
            </a:endParaRPr>
          </a:p>
          <a:p>
            <a:pPr marL="12700" marR="4649470">
              <a:lnSpc>
                <a:spcPct val="130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#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inc</a:t>
            </a:r>
            <a:r>
              <a:rPr sz="2200" dirty="0">
                <a:latin typeface="Cambria" panose="02040503050406030204"/>
                <a:cs typeface="Cambria" panose="02040503050406030204"/>
              </a:rPr>
              <a:t>l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ude&lt;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dirty="0">
                <a:latin typeface="Cambria" panose="02040503050406030204"/>
                <a:cs typeface="Cambria" panose="02040503050406030204"/>
              </a:rPr>
              <a:t>.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h&gt;  int main(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8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i,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arr[5];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79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arr[5]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{10,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20, 30,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40,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50};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81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for(i=0;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i&lt;=n;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i++)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8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795"/>
              </a:spcBef>
            </a:pPr>
            <a:r>
              <a:rPr sz="2200" spc="-25" dirty="0">
                <a:latin typeface="Cambria" panose="02040503050406030204"/>
                <a:cs typeface="Cambria" panose="02040503050406030204"/>
              </a:rPr>
              <a:t>printf(“%d”,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a[i]);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8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80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228600"/>
            <a:ext cx="8686800" cy="250888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295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0"/>
              </a:spcBef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10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20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30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40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50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228612"/>
            <a:ext cx="8686800" cy="6186805"/>
          </a:xfrm>
          <a:custGeom>
            <a:avLst/>
            <a:gdLst/>
            <a:ahLst/>
            <a:cxnLst/>
            <a:rect l="l" t="t" r="r" b="b"/>
            <a:pathLst>
              <a:path w="8686800" h="6186805">
                <a:moveTo>
                  <a:pt x="0" y="6186297"/>
                </a:moveTo>
                <a:lnTo>
                  <a:pt x="8686800" y="6186297"/>
                </a:lnTo>
                <a:lnTo>
                  <a:pt x="8686800" y="0"/>
                </a:lnTo>
                <a:lnTo>
                  <a:pt x="0" y="0"/>
                </a:lnTo>
                <a:lnTo>
                  <a:pt x="0" y="618629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2044" y="253999"/>
            <a:ext cx="6833870" cy="6061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9305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/*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Program</a:t>
            </a:r>
            <a:r>
              <a:rPr sz="22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3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: </a:t>
            </a:r>
            <a:r>
              <a:rPr sz="2200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Array</a:t>
            </a:r>
            <a:r>
              <a:rPr sz="2200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Declaration</a:t>
            </a:r>
            <a:r>
              <a:rPr sz="2200" spc="49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&amp;</a:t>
            </a:r>
            <a:r>
              <a:rPr sz="22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Initialization*/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200">
              <a:latin typeface="Cambria" panose="02040503050406030204"/>
              <a:cs typeface="Cambria" panose="02040503050406030204"/>
            </a:endParaRPr>
          </a:p>
          <a:p>
            <a:pPr marL="12700" marR="4649470">
              <a:lnSpc>
                <a:spcPct val="141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#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inc</a:t>
            </a:r>
            <a:r>
              <a:rPr sz="2200" dirty="0">
                <a:latin typeface="Cambria" panose="02040503050406030204"/>
                <a:cs typeface="Cambria" panose="02040503050406030204"/>
              </a:rPr>
              <a:t>l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ude&lt;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dirty="0">
                <a:latin typeface="Cambria" panose="02040503050406030204"/>
                <a:cs typeface="Cambria" panose="02040503050406030204"/>
              </a:rPr>
              <a:t>.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h&gt;  int main(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11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i,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n,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arr[5];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1095"/>
              </a:spcBef>
            </a:pPr>
            <a:r>
              <a:rPr sz="2200" spc="-25" dirty="0">
                <a:latin typeface="Cambria" panose="02040503050406030204"/>
                <a:cs typeface="Cambria" panose="02040503050406030204"/>
              </a:rPr>
              <a:t>scanf(“%d”,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&amp;n);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110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printf(“Enter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Elements</a:t>
            </a:r>
            <a:r>
              <a:rPr sz="2200" spc="4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Array\n”);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532130">
              <a:lnSpc>
                <a:spcPct val="100000"/>
              </a:lnSpc>
              <a:spcBef>
                <a:spcPts val="110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for(i=0;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i&lt;n;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i++)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109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1105"/>
              </a:spcBef>
            </a:pPr>
            <a:r>
              <a:rPr sz="2200" spc="-25" dirty="0">
                <a:latin typeface="Cambria" panose="02040503050406030204"/>
                <a:cs typeface="Cambria" panose="02040503050406030204"/>
              </a:rPr>
              <a:t>scanf(“%d”,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&amp;a[i]);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11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10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printf(“The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Elements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are”\n”);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228600"/>
            <a:ext cx="8686800" cy="31394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44145" rIns="0" bIns="0" rtlCol="0">
            <a:spAutoFit/>
          </a:bodyPr>
          <a:lstStyle/>
          <a:p>
            <a:pPr marL="1463040">
              <a:lnSpc>
                <a:spcPct val="100000"/>
              </a:lnSpc>
              <a:spcBef>
                <a:spcPts val="113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for(i=0;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i&lt;n;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i++)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463040">
              <a:lnSpc>
                <a:spcPct val="100000"/>
              </a:lnSpc>
              <a:spcBef>
                <a:spcPts val="132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920240">
              <a:lnSpc>
                <a:spcPct val="100000"/>
              </a:lnSpc>
              <a:spcBef>
                <a:spcPts val="1320"/>
              </a:spcBef>
            </a:pPr>
            <a:r>
              <a:rPr sz="2200" spc="-25" dirty="0">
                <a:latin typeface="Cambria" panose="02040503050406030204"/>
                <a:cs typeface="Cambria" panose="02040503050406030204"/>
              </a:rPr>
              <a:t>printf(“%d”,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a[i]);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463040">
              <a:lnSpc>
                <a:spcPct val="100000"/>
              </a:lnSpc>
              <a:spcBef>
                <a:spcPts val="132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463040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132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600" y="3500983"/>
            <a:ext cx="8686800" cy="2400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300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 marR="3919220">
              <a:lnSpc>
                <a:spcPts val="3840"/>
              </a:lnSpc>
              <a:spcBef>
                <a:spcPts val="33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Elements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the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10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20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30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40 50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 marR="4123055">
              <a:lnSpc>
                <a:spcPts val="384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Elements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the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are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10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20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30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40 50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743325" y="3524250"/>
            <a:ext cx="5095875" cy="28860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4" name="object 4"/>
          <p:cNvSpPr txBox="1"/>
          <p:nvPr/>
        </p:nvSpPr>
        <p:spPr>
          <a:xfrm>
            <a:off x="383540" y="549605"/>
            <a:ext cx="7350759" cy="35096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8860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03886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9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Arrays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>
              <a:latin typeface="Cambria" panose="02040503050406030204"/>
              <a:cs typeface="Cambria" panose="02040503050406030204"/>
            </a:endParaRPr>
          </a:p>
          <a:p>
            <a:pPr marL="469900" indent="-457835">
              <a:lnSpc>
                <a:spcPct val="100000"/>
              </a:lnSpc>
              <a:spcBef>
                <a:spcPts val="1780"/>
              </a:spcBef>
              <a:buAutoNum type="alphaLcParenR" startAt="5"/>
              <a:tabLst>
                <a:tab pos="469900" algn="l"/>
                <a:tab pos="469900" algn="l"/>
              </a:tabLst>
            </a:pP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Classification</a:t>
            </a:r>
            <a:r>
              <a:rPr sz="2200" b="1" spc="-4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2200" b="1" spc="-3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Arrays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47750" lvl="1" indent="-577850">
              <a:lnSpc>
                <a:spcPct val="100000"/>
              </a:lnSpc>
              <a:spcBef>
                <a:spcPts val="1320"/>
              </a:spcBef>
              <a:buAutoNum type="romanLcPeriod"/>
              <a:tabLst>
                <a:tab pos="1047115" algn="l"/>
                <a:tab pos="1047750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One-Dimensional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47750" lvl="1" indent="-577850">
              <a:lnSpc>
                <a:spcPct val="100000"/>
              </a:lnSpc>
              <a:spcBef>
                <a:spcPts val="1320"/>
              </a:spcBef>
              <a:buAutoNum type="romanLcPeriod"/>
              <a:tabLst>
                <a:tab pos="1047115" algn="l"/>
                <a:tab pos="1047750" algn="l"/>
              </a:tabLst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Two-Dimensional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47750" lvl="1" indent="-577850">
              <a:lnSpc>
                <a:spcPct val="100000"/>
              </a:lnSpc>
              <a:spcBef>
                <a:spcPts val="1325"/>
              </a:spcBef>
              <a:buAutoNum type="romanLcPeriod"/>
              <a:tabLst>
                <a:tab pos="1047115" algn="l"/>
                <a:tab pos="1047750" algn="l"/>
              </a:tabLst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Multi-Dimensional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SRM</a:t>
            </a:r>
            <a:endParaRPr spc="-21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549605"/>
            <a:ext cx="7530465" cy="5521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59155" algn="ctr">
              <a:lnSpc>
                <a:spcPct val="100000"/>
              </a:lnSpc>
              <a:spcBef>
                <a:spcPts val="105"/>
              </a:spcBef>
            </a:pPr>
            <a:r>
              <a:rPr sz="2600" b="1" spc="-1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</a:t>
            </a:r>
            <a:r>
              <a:rPr sz="2600" b="1" spc="-2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6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00" b="1" spc="-34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</a:t>
            </a:r>
            <a:r>
              <a:rPr sz="2600" b="1" spc="-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00" b="1" spc="-2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b="1" spc="-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600" b="1" spc="-204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37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</a:t>
            </a:r>
            <a:r>
              <a:rPr sz="2600" b="1" spc="-5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00" b="1" spc="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859790" algn="ctr">
              <a:lnSpc>
                <a:spcPct val="100000"/>
              </a:lnSpc>
              <a:spcBef>
                <a:spcPts val="30"/>
              </a:spcBef>
            </a:pPr>
            <a:r>
              <a:rPr sz="2400" b="1" spc="-1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CHENNAI.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2.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9</a:t>
            </a:r>
            <a:r>
              <a:rPr sz="2800" b="1" spc="-2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800" b="1" spc="-3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Arrays </a:t>
            </a:r>
            <a:r>
              <a:rPr sz="28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Contd...</a:t>
            </a:r>
            <a:endParaRPr sz="2800" dirty="0">
              <a:latin typeface="Cambria" panose="02040503050406030204"/>
              <a:cs typeface="Cambria" panose="02040503050406030204"/>
            </a:endParaRPr>
          </a:p>
          <a:p>
            <a:pPr marL="527685" indent="-515620">
              <a:lnSpc>
                <a:spcPct val="100000"/>
              </a:lnSpc>
              <a:spcBef>
                <a:spcPts val="1780"/>
              </a:spcBef>
              <a:buAutoNum type="romanLcPeriod"/>
              <a:tabLst>
                <a:tab pos="527685" algn="l"/>
                <a:tab pos="528320" algn="l"/>
              </a:tabLst>
            </a:pPr>
            <a:r>
              <a:rPr sz="2200" b="1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One</a:t>
            </a:r>
            <a:r>
              <a:rPr sz="2200" b="1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Dimensional</a:t>
            </a:r>
            <a:r>
              <a:rPr sz="2200" b="1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-3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Array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84885" lvl="1" indent="-51562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84885" algn="l"/>
                <a:tab pos="98488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Data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stored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under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single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variable</a:t>
            </a:r>
            <a:r>
              <a:rPr sz="2200" spc="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using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one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subscript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84885" lvl="1" indent="-51562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84885" algn="l"/>
                <a:tab pos="98488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1-D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Declaration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–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Syntax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2184400" indent="-342900">
              <a:lnSpc>
                <a:spcPct val="100000"/>
              </a:lnSpc>
              <a:spcBef>
                <a:spcPts val="1325"/>
              </a:spcBef>
              <a:buFont typeface="Wingdings" panose="05000000000000000000" pitchFamily="2" charset="2"/>
              <a:buChar char="Ø"/>
            </a:pPr>
            <a:r>
              <a:rPr sz="2200" b="1" i="1" dirty="0">
                <a:solidFill>
                  <a:srgbClr val="001F5F"/>
                </a:solidFill>
                <a:latin typeface="Cambria" panose="02040503050406030204"/>
                <a:cs typeface="Cambria" panose="02040503050406030204"/>
              </a:rPr>
              <a:t>datatype</a:t>
            </a:r>
            <a:r>
              <a:rPr sz="2200" b="1" i="1" spc="-20" dirty="0">
                <a:solidFill>
                  <a:srgbClr val="001F5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10" dirty="0">
                <a:solidFill>
                  <a:srgbClr val="001F5F"/>
                </a:solidFill>
                <a:latin typeface="Cambria" panose="02040503050406030204"/>
                <a:cs typeface="Cambria" panose="02040503050406030204"/>
              </a:rPr>
              <a:t>arrayname</a:t>
            </a:r>
            <a:r>
              <a:rPr sz="2200" b="1" i="1" spc="10" dirty="0">
                <a:solidFill>
                  <a:srgbClr val="001F5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001F5F"/>
                </a:solidFill>
                <a:latin typeface="Cambria" panose="02040503050406030204"/>
                <a:cs typeface="Cambria" panose="02040503050406030204"/>
              </a:rPr>
              <a:t>[size/subscript];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2357120" lvl="2" indent="-516255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2357120" algn="l"/>
                <a:tab pos="2357755" algn="l"/>
              </a:tabLst>
            </a:pPr>
            <a:r>
              <a:rPr sz="22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Example:</a:t>
            </a:r>
            <a:r>
              <a:rPr sz="2200" b="1" spc="-15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int a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[5];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84885" lvl="1" indent="-515620">
              <a:lnSpc>
                <a:spcPct val="100000"/>
              </a:lnSpc>
              <a:spcBef>
                <a:spcPts val="1320"/>
              </a:spcBef>
              <a:buFont typeface="Wingdings" panose="05000000000000000000" pitchFamily="2" charset="2"/>
              <a:buChar char="Ø"/>
              <a:tabLst>
                <a:tab pos="984885" algn="l"/>
                <a:tab pos="984885" algn="l"/>
              </a:tabLst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1-D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Array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initialization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–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Syntax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320"/>
              </a:spcBef>
            </a:pPr>
            <a:r>
              <a:rPr sz="2200" b="1" i="1" dirty="0">
                <a:solidFill>
                  <a:srgbClr val="001F5F"/>
                </a:solidFill>
                <a:latin typeface="Cambria" panose="02040503050406030204"/>
                <a:cs typeface="Cambria" panose="02040503050406030204"/>
              </a:rPr>
              <a:t>datatype</a:t>
            </a:r>
            <a:r>
              <a:rPr sz="2200" b="1" i="1" spc="-10" dirty="0">
                <a:solidFill>
                  <a:srgbClr val="001F5F"/>
                </a:solidFill>
                <a:latin typeface="Cambria" panose="02040503050406030204"/>
                <a:cs typeface="Cambria" panose="02040503050406030204"/>
              </a:rPr>
              <a:t> arrayname</a:t>
            </a:r>
            <a:r>
              <a:rPr sz="2200" b="1" i="1" spc="20" dirty="0">
                <a:solidFill>
                  <a:srgbClr val="001F5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001F5F"/>
                </a:solidFill>
                <a:latin typeface="Cambria" panose="02040503050406030204"/>
                <a:cs typeface="Cambria" panose="02040503050406030204"/>
              </a:rPr>
              <a:t>[size] = {</a:t>
            </a:r>
            <a:r>
              <a:rPr sz="2200" b="1" i="1" dirty="0">
                <a:solidFill>
                  <a:srgbClr val="001F5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10" dirty="0">
                <a:solidFill>
                  <a:srgbClr val="001F5F"/>
                </a:solidFill>
                <a:latin typeface="Cambria" panose="02040503050406030204"/>
                <a:cs typeface="Cambria" panose="02040503050406030204"/>
              </a:rPr>
              <a:t>list</a:t>
            </a:r>
            <a:r>
              <a:rPr sz="2200" b="1" i="1" spc="5" dirty="0">
                <a:solidFill>
                  <a:srgbClr val="001F5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b="1" i="1" spc="-5" dirty="0">
                <a:solidFill>
                  <a:srgbClr val="001F5F"/>
                </a:solidFill>
                <a:latin typeface="Cambria" panose="02040503050406030204"/>
                <a:cs typeface="Cambria" panose="02040503050406030204"/>
              </a:rPr>
              <a:t>of </a:t>
            </a:r>
            <a:r>
              <a:rPr sz="2200" b="1" i="1" spc="-10" dirty="0">
                <a:solidFill>
                  <a:srgbClr val="001F5F"/>
                </a:solidFill>
                <a:latin typeface="Cambria" panose="02040503050406030204"/>
                <a:cs typeface="Cambria" panose="02040503050406030204"/>
              </a:rPr>
              <a:t>values};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1320"/>
              </a:spcBef>
            </a:pPr>
            <a:r>
              <a:rPr sz="2200" b="1" spc="-10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Example:</a:t>
            </a:r>
            <a:r>
              <a:rPr sz="2200" b="1" dirty="0">
                <a:solidFill>
                  <a:srgbClr val="3366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[5]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10,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20,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30,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40,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50};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5326" y="188607"/>
            <a:ext cx="1040815" cy="1067659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228625"/>
            <a:ext cx="8686800" cy="43116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2404110">
              <a:lnSpc>
                <a:spcPct val="100000"/>
              </a:lnSpc>
              <a:spcBef>
                <a:spcPts val="295"/>
              </a:spcBef>
            </a:pPr>
            <a:r>
              <a:rPr sz="2200" b="0" spc="-5" dirty="0">
                <a:latin typeface="Cambria" panose="02040503050406030204"/>
                <a:cs typeface="Cambria" panose="02040503050406030204"/>
              </a:rPr>
              <a:t>/*</a:t>
            </a:r>
            <a:r>
              <a:rPr sz="2200" b="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0" spc="-15" dirty="0">
                <a:latin typeface="Cambria" panose="02040503050406030204"/>
                <a:cs typeface="Cambria" panose="02040503050406030204"/>
              </a:rPr>
              <a:t>Program</a:t>
            </a:r>
            <a:r>
              <a:rPr sz="2200" b="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0" spc="-5" dirty="0">
                <a:latin typeface="Cambria" panose="02040503050406030204"/>
                <a:cs typeface="Cambria" panose="02040503050406030204"/>
              </a:rPr>
              <a:t>1</a:t>
            </a:r>
            <a:r>
              <a:rPr sz="2200" b="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0" spc="-5" dirty="0">
                <a:latin typeface="Cambria" panose="02040503050406030204"/>
                <a:cs typeface="Cambria" panose="02040503050406030204"/>
              </a:rPr>
              <a:t>:</a:t>
            </a:r>
            <a:r>
              <a:rPr sz="2200" b="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0" spc="-5" dirty="0">
                <a:latin typeface="Cambria" panose="02040503050406030204"/>
                <a:cs typeface="Cambria" panose="02040503050406030204"/>
              </a:rPr>
              <a:t>One</a:t>
            </a:r>
            <a:r>
              <a:rPr sz="2200" b="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0" spc="-5" dirty="0">
                <a:latin typeface="Cambria" panose="02040503050406030204"/>
                <a:cs typeface="Cambria" panose="02040503050406030204"/>
              </a:rPr>
              <a:t>Dimensional</a:t>
            </a:r>
            <a:r>
              <a:rPr sz="2200" b="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0" spc="-20" dirty="0">
                <a:latin typeface="Cambria" panose="02040503050406030204"/>
                <a:cs typeface="Cambria" panose="02040503050406030204"/>
              </a:rPr>
              <a:t>Array*/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6047" y="599897"/>
            <a:ext cx="7346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400" b="1" spc="-7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[10]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82561" y="880338"/>
            <a:ext cx="425450" cy="430212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45"/>
              </a:spcBef>
            </a:pPr>
            <a:r>
              <a:rPr sz="2000" spc="-16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000" spc="-150" dirty="0">
                <a:latin typeface="Times New Roman" panose="02020603050405020304"/>
                <a:cs typeface="Times New Roman" panose="02020603050405020304"/>
              </a:rPr>
              <a:t>0]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950"/>
              </a:spcBef>
            </a:pPr>
            <a:r>
              <a:rPr sz="2000" spc="-16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000" spc="-150" dirty="0">
                <a:latin typeface="Times New Roman" panose="02020603050405020304"/>
                <a:cs typeface="Times New Roman" panose="02020603050405020304"/>
              </a:rPr>
              <a:t>1]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700"/>
              </a:spcBef>
            </a:pPr>
            <a:r>
              <a:rPr sz="2000" spc="-16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000" spc="-150" dirty="0">
                <a:latin typeface="Times New Roman" panose="02020603050405020304"/>
                <a:cs typeface="Times New Roman" panose="02020603050405020304"/>
              </a:rPr>
              <a:t>2]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R="7620" algn="r">
              <a:lnSpc>
                <a:spcPct val="100000"/>
              </a:lnSpc>
              <a:spcBef>
                <a:spcPts val="655"/>
              </a:spcBef>
            </a:pPr>
            <a:r>
              <a:rPr sz="2000" spc="-16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000" spc="-150" dirty="0">
                <a:latin typeface="Times New Roman" panose="02020603050405020304"/>
                <a:cs typeface="Times New Roman" panose="02020603050405020304"/>
              </a:rPr>
              <a:t>3]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355"/>
              </a:spcBef>
            </a:pPr>
            <a:r>
              <a:rPr sz="2000" spc="-15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000" spc="-155" dirty="0">
                <a:latin typeface="Times New Roman" panose="02020603050405020304"/>
                <a:cs typeface="Times New Roman" panose="02020603050405020304"/>
              </a:rPr>
              <a:t>4</a:t>
            </a:r>
            <a:r>
              <a:rPr sz="2000" spc="-145" dirty="0">
                <a:latin typeface="Times New Roman" panose="02020603050405020304"/>
                <a:cs typeface="Times New Roman" panose="02020603050405020304"/>
              </a:rPr>
              <a:t>]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395"/>
              </a:spcBef>
            </a:pPr>
            <a:r>
              <a:rPr sz="2000" spc="-16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000" spc="-150" dirty="0">
                <a:latin typeface="Times New Roman" panose="02020603050405020304"/>
                <a:cs typeface="Times New Roman" panose="02020603050405020304"/>
              </a:rPr>
              <a:t>5]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605"/>
              </a:spcBef>
            </a:pPr>
            <a:r>
              <a:rPr sz="2000" spc="-15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000" spc="-155" dirty="0">
                <a:latin typeface="Times New Roman" panose="02020603050405020304"/>
                <a:cs typeface="Times New Roman" panose="02020603050405020304"/>
              </a:rPr>
              <a:t>6</a:t>
            </a:r>
            <a:r>
              <a:rPr sz="2000" spc="-145" dirty="0">
                <a:latin typeface="Times New Roman" panose="02020603050405020304"/>
                <a:cs typeface="Times New Roman" panose="02020603050405020304"/>
              </a:rPr>
              <a:t>]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150"/>
              </a:spcBef>
            </a:pPr>
            <a:r>
              <a:rPr sz="2000" spc="-16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000" spc="-150" dirty="0">
                <a:latin typeface="Times New Roman" panose="02020603050405020304"/>
                <a:cs typeface="Times New Roman" panose="02020603050405020304"/>
              </a:rPr>
              <a:t>7]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450"/>
              </a:spcBef>
            </a:pPr>
            <a:r>
              <a:rPr sz="2000" spc="-16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000" spc="-150" dirty="0">
                <a:latin typeface="Times New Roman" panose="02020603050405020304"/>
                <a:cs typeface="Times New Roman" panose="02020603050405020304"/>
              </a:rPr>
              <a:t>8]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600"/>
              </a:spcBef>
            </a:pPr>
            <a:r>
              <a:rPr sz="2000" spc="-16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000" spc="-150" dirty="0">
                <a:latin typeface="Times New Roman" panose="02020603050405020304"/>
                <a:cs typeface="Times New Roman" panose="02020603050405020304"/>
              </a:rPr>
              <a:t>9]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R="54610" algn="r">
              <a:lnSpc>
                <a:spcPct val="100000"/>
              </a:lnSpc>
              <a:spcBef>
                <a:spcPts val="985"/>
              </a:spcBef>
            </a:pPr>
            <a:r>
              <a:rPr sz="2400" b="1" spc="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40090" y="4791532"/>
            <a:ext cx="1149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3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1409" y="5726379"/>
            <a:ext cx="5530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sum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77000" y="5193271"/>
            <a:ext cx="1143000" cy="3695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47625" algn="ctr">
              <a:lnSpc>
                <a:spcPts val="2585"/>
              </a:lnSpc>
            </a:pPr>
            <a:r>
              <a:rPr sz="2400" b="1" spc="-100" dirty="0">
                <a:solidFill>
                  <a:srgbClr val="336600"/>
                </a:solidFill>
                <a:latin typeface="Times New Roman" panose="02020603050405020304"/>
                <a:cs typeface="Times New Roman" panose="02020603050405020304"/>
              </a:rPr>
              <a:t>5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48600" y="5197716"/>
            <a:ext cx="1143000" cy="3695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37465" algn="ctr">
              <a:lnSpc>
                <a:spcPts val="2685"/>
              </a:lnSpc>
            </a:pPr>
            <a:r>
              <a:rPr sz="2400" b="1" spc="-100" dirty="0">
                <a:solidFill>
                  <a:srgbClr val="336600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310437" y="1023289"/>
          <a:ext cx="1143000" cy="3709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</a:tblGrid>
              <a:tr h="375164">
                <a:tc>
                  <a:txBody>
                    <a:bodyPr/>
                    <a:lstStyle/>
                    <a:p>
                      <a:pPr marL="396875">
                        <a:lnSpc>
                          <a:spcPts val="2675"/>
                        </a:lnSpc>
                      </a:pPr>
                      <a:r>
                        <a:rPr sz="2400" b="1" spc="-95" dirty="0">
                          <a:solidFill>
                            <a:srgbClr val="3366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40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5665">
                <a:tc>
                  <a:txBody>
                    <a:bodyPr/>
                    <a:lstStyle/>
                    <a:p>
                      <a:pPr marL="396875">
                        <a:lnSpc>
                          <a:spcPts val="2655"/>
                        </a:lnSpc>
                      </a:pPr>
                      <a:r>
                        <a:rPr sz="2400" b="1" spc="-100" dirty="0">
                          <a:solidFill>
                            <a:srgbClr val="3366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22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8109">
                <a:tc>
                  <a:txBody>
                    <a:bodyPr/>
                    <a:lstStyle/>
                    <a:p>
                      <a:pPr marL="396240">
                        <a:lnSpc>
                          <a:spcPts val="2665"/>
                        </a:lnSpc>
                      </a:pPr>
                      <a:r>
                        <a:rPr sz="2400" b="1" spc="-105" dirty="0">
                          <a:solidFill>
                            <a:srgbClr val="3366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34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7538">
                <a:tc>
                  <a:txBody>
                    <a:bodyPr/>
                    <a:lstStyle/>
                    <a:p>
                      <a:pPr marL="396875">
                        <a:lnSpc>
                          <a:spcPts val="2565"/>
                        </a:lnSpc>
                      </a:pPr>
                      <a:r>
                        <a:rPr sz="2400" b="1" spc="-95" dirty="0">
                          <a:solidFill>
                            <a:srgbClr val="3366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12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9760">
                <a:tc>
                  <a:txBody>
                    <a:bodyPr/>
                    <a:lstStyle/>
                    <a:p>
                      <a:pPr marL="410210">
                        <a:lnSpc>
                          <a:spcPts val="2480"/>
                        </a:lnSpc>
                      </a:pPr>
                      <a:r>
                        <a:rPr sz="2400" b="1" spc="-105" dirty="0">
                          <a:solidFill>
                            <a:srgbClr val="3366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64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40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34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86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81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86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7239000" y="6183871"/>
            <a:ext cx="1143000" cy="3695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40" algn="ctr">
              <a:lnSpc>
                <a:spcPts val="2685"/>
              </a:lnSpc>
            </a:pPr>
            <a:r>
              <a:rPr sz="2400" b="1" spc="-100" dirty="0">
                <a:solidFill>
                  <a:srgbClr val="336600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08938" y="949604"/>
            <a:ext cx="5122545" cy="5459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2925445">
              <a:lnSpc>
                <a:spcPct val="117000"/>
              </a:lnSpc>
              <a:spcBef>
                <a:spcPts val="1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#inclu</a:t>
            </a:r>
            <a:r>
              <a:rPr sz="2200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&lt;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o.</a:t>
            </a:r>
            <a:r>
              <a:rPr sz="2200" dirty="0">
                <a:latin typeface="Cambria" panose="02040503050406030204"/>
                <a:cs typeface="Cambria" panose="02040503050406030204"/>
              </a:rPr>
              <a:t>h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&gt;  int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main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(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25400">
              <a:lnSpc>
                <a:spcPct val="100000"/>
              </a:lnSpc>
              <a:spcBef>
                <a:spcPts val="36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25400" marR="2886075">
              <a:lnSpc>
                <a:spcPct val="121000"/>
              </a:lnSpc>
              <a:spcBef>
                <a:spcPts val="3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a[10],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n,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i,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sum;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clrscr(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25400" marR="5080">
              <a:lnSpc>
                <a:spcPts val="3490"/>
              </a:lnSpc>
              <a:spcBef>
                <a:spcPts val="16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printf(“Enter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Elements\n”);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scanf(“%d”,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&amp;n);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25400">
              <a:lnSpc>
                <a:spcPct val="100000"/>
              </a:lnSpc>
              <a:spcBef>
                <a:spcPts val="41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for(i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 0; i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&lt;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n;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i++)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25400">
              <a:lnSpc>
                <a:spcPct val="100000"/>
              </a:lnSpc>
              <a:spcBef>
                <a:spcPts val="76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82600">
              <a:lnSpc>
                <a:spcPct val="100000"/>
              </a:lnSpc>
              <a:spcBef>
                <a:spcPts val="360"/>
              </a:spcBef>
            </a:pPr>
            <a:r>
              <a:rPr sz="2200" spc="-25" dirty="0">
                <a:latin typeface="Cambria" panose="02040503050406030204"/>
                <a:cs typeface="Cambria" panose="02040503050406030204"/>
              </a:rPr>
              <a:t>scanf(“%d”,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&amp;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[i]);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sum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25400">
              <a:lnSpc>
                <a:spcPct val="100000"/>
              </a:lnSpc>
              <a:spcBef>
                <a:spcPts val="96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for(i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0; i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&lt;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n;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i++)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228625"/>
            <a:ext cx="8686800" cy="43116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2404110">
              <a:lnSpc>
                <a:spcPct val="100000"/>
              </a:lnSpc>
              <a:spcBef>
                <a:spcPts val="295"/>
              </a:spcBef>
            </a:pP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/*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Program</a:t>
            </a:r>
            <a:r>
              <a:rPr sz="2200" spc="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1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:</a:t>
            </a:r>
            <a:r>
              <a:rPr sz="220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One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Dimensional</a:t>
            </a:r>
            <a:r>
              <a:rPr sz="22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Array*/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79194" y="679526"/>
            <a:ext cx="1339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6394" y="1086358"/>
            <a:ext cx="20764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sum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sum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+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a[i];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496047" y="599897"/>
            <a:ext cx="7346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0" dirty="0"/>
              <a:t>a</a:t>
            </a:r>
            <a:r>
              <a:rPr sz="2400" spc="-70" dirty="0"/>
              <a:t> </a:t>
            </a:r>
            <a:r>
              <a:rPr sz="2400" spc="-20" dirty="0"/>
              <a:t>[10]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6782561" y="880338"/>
            <a:ext cx="425450" cy="430212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45"/>
              </a:spcBef>
            </a:pPr>
            <a:r>
              <a:rPr sz="2000" spc="-16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000" spc="-150" dirty="0">
                <a:latin typeface="Times New Roman" panose="02020603050405020304"/>
                <a:cs typeface="Times New Roman" panose="02020603050405020304"/>
              </a:rPr>
              <a:t>0]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950"/>
              </a:spcBef>
            </a:pPr>
            <a:r>
              <a:rPr sz="2000" spc="-16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000" spc="-150" dirty="0">
                <a:latin typeface="Times New Roman" panose="02020603050405020304"/>
                <a:cs typeface="Times New Roman" panose="02020603050405020304"/>
              </a:rPr>
              <a:t>1]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700"/>
              </a:spcBef>
            </a:pPr>
            <a:r>
              <a:rPr sz="2000" spc="-16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000" spc="-150" dirty="0">
                <a:latin typeface="Times New Roman" panose="02020603050405020304"/>
                <a:cs typeface="Times New Roman" panose="02020603050405020304"/>
              </a:rPr>
              <a:t>2]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R="7620" algn="r">
              <a:lnSpc>
                <a:spcPct val="100000"/>
              </a:lnSpc>
              <a:spcBef>
                <a:spcPts val="655"/>
              </a:spcBef>
            </a:pPr>
            <a:r>
              <a:rPr sz="2000" spc="-16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000" spc="-150" dirty="0">
                <a:latin typeface="Times New Roman" panose="02020603050405020304"/>
                <a:cs typeface="Times New Roman" panose="02020603050405020304"/>
              </a:rPr>
              <a:t>3]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355"/>
              </a:spcBef>
            </a:pPr>
            <a:r>
              <a:rPr sz="2000" spc="-15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000" spc="-155" dirty="0">
                <a:latin typeface="Times New Roman" panose="02020603050405020304"/>
                <a:cs typeface="Times New Roman" panose="02020603050405020304"/>
              </a:rPr>
              <a:t>4</a:t>
            </a:r>
            <a:r>
              <a:rPr sz="2000" spc="-145" dirty="0">
                <a:latin typeface="Times New Roman" panose="02020603050405020304"/>
                <a:cs typeface="Times New Roman" panose="02020603050405020304"/>
              </a:rPr>
              <a:t>]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395"/>
              </a:spcBef>
            </a:pPr>
            <a:r>
              <a:rPr sz="2000" spc="-16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000" spc="-150" dirty="0">
                <a:latin typeface="Times New Roman" panose="02020603050405020304"/>
                <a:cs typeface="Times New Roman" panose="02020603050405020304"/>
              </a:rPr>
              <a:t>5]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605"/>
              </a:spcBef>
            </a:pPr>
            <a:r>
              <a:rPr sz="2000" spc="-15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000" spc="-155" dirty="0">
                <a:latin typeface="Times New Roman" panose="02020603050405020304"/>
                <a:cs typeface="Times New Roman" panose="02020603050405020304"/>
              </a:rPr>
              <a:t>6</a:t>
            </a:r>
            <a:r>
              <a:rPr sz="2000" spc="-145" dirty="0">
                <a:latin typeface="Times New Roman" panose="02020603050405020304"/>
                <a:cs typeface="Times New Roman" panose="02020603050405020304"/>
              </a:rPr>
              <a:t>]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150"/>
              </a:spcBef>
            </a:pPr>
            <a:r>
              <a:rPr sz="2000" spc="-16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000" spc="-150" dirty="0">
                <a:latin typeface="Times New Roman" panose="02020603050405020304"/>
                <a:cs typeface="Times New Roman" panose="02020603050405020304"/>
              </a:rPr>
              <a:t>7]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450"/>
              </a:spcBef>
            </a:pPr>
            <a:r>
              <a:rPr sz="2000" spc="-16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000" spc="-150" dirty="0">
                <a:latin typeface="Times New Roman" panose="02020603050405020304"/>
                <a:cs typeface="Times New Roman" panose="02020603050405020304"/>
              </a:rPr>
              <a:t>8]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600"/>
              </a:spcBef>
            </a:pPr>
            <a:r>
              <a:rPr sz="2000" spc="-16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000" spc="-150" dirty="0">
                <a:latin typeface="Times New Roman" panose="02020603050405020304"/>
                <a:cs typeface="Times New Roman" panose="02020603050405020304"/>
              </a:rPr>
              <a:t>9]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R="54610" algn="r">
              <a:lnSpc>
                <a:spcPct val="100000"/>
              </a:lnSpc>
              <a:spcBef>
                <a:spcPts val="985"/>
              </a:spcBef>
            </a:pPr>
            <a:r>
              <a:rPr sz="2400" b="1" spc="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40090" y="4791532"/>
            <a:ext cx="1149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3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71409" y="5726379"/>
            <a:ext cx="5530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sum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77000" y="5193271"/>
            <a:ext cx="1143000" cy="3695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47625" algn="ctr">
              <a:lnSpc>
                <a:spcPts val="2585"/>
              </a:lnSpc>
            </a:pPr>
            <a:r>
              <a:rPr sz="2400" b="1" spc="-100" dirty="0">
                <a:solidFill>
                  <a:srgbClr val="336600"/>
                </a:solidFill>
                <a:latin typeface="Times New Roman" panose="02020603050405020304"/>
                <a:cs typeface="Times New Roman" panose="02020603050405020304"/>
              </a:rPr>
              <a:t>5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48600" y="5197716"/>
            <a:ext cx="1143000" cy="3695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37465" algn="ctr">
              <a:lnSpc>
                <a:spcPts val="2685"/>
              </a:lnSpc>
            </a:pPr>
            <a:r>
              <a:rPr sz="2400" b="1" spc="-100" dirty="0">
                <a:solidFill>
                  <a:srgbClr val="336600"/>
                </a:solidFill>
                <a:latin typeface="Times New Roman" panose="02020603050405020304"/>
                <a:cs typeface="Times New Roman" panose="02020603050405020304"/>
              </a:rPr>
              <a:t>4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310437" y="1023289"/>
          <a:ext cx="1143000" cy="3709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</a:tblGrid>
              <a:tr h="375164">
                <a:tc>
                  <a:txBody>
                    <a:bodyPr/>
                    <a:lstStyle/>
                    <a:p>
                      <a:pPr marL="396875">
                        <a:lnSpc>
                          <a:spcPts val="2675"/>
                        </a:lnSpc>
                      </a:pPr>
                      <a:r>
                        <a:rPr sz="2400" b="1" spc="-95" dirty="0">
                          <a:solidFill>
                            <a:srgbClr val="3366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40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5665">
                <a:tc>
                  <a:txBody>
                    <a:bodyPr/>
                    <a:lstStyle/>
                    <a:p>
                      <a:pPr marL="396875">
                        <a:lnSpc>
                          <a:spcPts val="2655"/>
                        </a:lnSpc>
                      </a:pPr>
                      <a:r>
                        <a:rPr sz="2400" b="1" spc="-100" dirty="0">
                          <a:solidFill>
                            <a:srgbClr val="3366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22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8109">
                <a:tc>
                  <a:txBody>
                    <a:bodyPr/>
                    <a:lstStyle/>
                    <a:p>
                      <a:pPr marL="396240">
                        <a:lnSpc>
                          <a:spcPts val="2665"/>
                        </a:lnSpc>
                      </a:pPr>
                      <a:r>
                        <a:rPr sz="2400" b="1" spc="-105" dirty="0">
                          <a:solidFill>
                            <a:srgbClr val="3366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34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7538">
                <a:tc>
                  <a:txBody>
                    <a:bodyPr/>
                    <a:lstStyle/>
                    <a:p>
                      <a:pPr marL="396875">
                        <a:lnSpc>
                          <a:spcPts val="2565"/>
                        </a:lnSpc>
                      </a:pPr>
                      <a:r>
                        <a:rPr sz="2400" b="1" spc="-95" dirty="0">
                          <a:solidFill>
                            <a:srgbClr val="3366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12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9760">
                <a:tc>
                  <a:txBody>
                    <a:bodyPr/>
                    <a:lstStyle/>
                    <a:p>
                      <a:pPr marL="410210">
                        <a:lnSpc>
                          <a:spcPts val="2480"/>
                        </a:lnSpc>
                      </a:pPr>
                      <a:r>
                        <a:rPr sz="2400" b="1" spc="-105" dirty="0">
                          <a:solidFill>
                            <a:srgbClr val="3366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64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40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34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86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81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86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7239000" y="6183871"/>
            <a:ext cx="1143000" cy="3695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20675">
              <a:lnSpc>
                <a:spcPts val="2685"/>
              </a:lnSpc>
            </a:pPr>
            <a:r>
              <a:rPr sz="2400" b="1" spc="-100" dirty="0">
                <a:solidFill>
                  <a:srgbClr val="336600"/>
                </a:solidFill>
                <a:latin typeface="Times New Roman" panose="02020603050405020304"/>
                <a:cs typeface="Times New Roman" panose="02020603050405020304"/>
              </a:rPr>
              <a:t>182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2044" y="1377089"/>
            <a:ext cx="3642995" cy="1891664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6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 marR="5080">
              <a:lnSpc>
                <a:spcPts val="3740"/>
              </a:lnSpc>
              <a:spcBef>
                <a:spcPts val="17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printf(“The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Sum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is: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60" dirty="0">
                <a:latin typeface="Cambria" panose="02040503050406030204"/>
                <a:cs typeface="Cambria" panose="02040503050406030204"/>
              </a:rPr>
              <a:t>%d”,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sum);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8600" y="3581450"/>
            <a:ext cx="5867400" cy="209296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300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 marR="1236980">
              <a:lnSpc>
                <a:spcPct val="123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Enter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Elements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5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40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22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34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12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64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00584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 Sum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is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182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228536"/>
            <a:ext cx="8686800" cy="6402070"/>
          </a:xfrm>
          <a:custGeom>
            <a:avLst/>
            <a:gdLst/>
            <a:ahLst/>
            <a:cxnLst/>
            <a:rect l="l" t="t" r="r" b="b"/>
            <a:pathLst>
              <a:path w="8686800" h="6402070">
                <a:moveTo>
                  <a:pt x="0" y="6401816"/>
                </a:moveTo>
                <a:lnTo>
                  <a:pt x="8686800" y="6401816"/>
                </a:lnTo>
                <a:lnTo>
                  <a:pt x="8686800" y="0"/>
                </a:lnTo>
                <a:lnTo>
                  <a:pt x="0" y="0"/>
                </a:lnTo>
                <a:lnTo>
                  <a:pt x="0" y="640181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2044" y="253999"/>
            <a:ext cx="6080760" cy="6182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4432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/*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Program</a:t>
            </a:r>
            <a:r>
              <a:rPr sz="2200" spc="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2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: 1-D </a:t>
            </a:r>
            <a:r>
              <a:rPr sz="2200" spc="-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Array</a:t>
            </a:r>
            <a:r>
              <a:rPr sz="2200" spc="2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2200" spc="-10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 Sorting*/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 marR="3896360">
              <a:lnSpc>
                <a:spcPct val="111000"/>
              </a:lnSpc>
              <a:spcBef>
                <a:spcPts val="174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#inclu</a:t>
            </a:r>
            <a:r>
              <a:rPr sz="2200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e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&lt;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s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t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d</a:t>
            </a:r>
            <a:r>
              <a:rPr sz="2200" dirty="0">
                <a:latin typeface="Cambria" panose="02040503050406030204"/>
                <a:cs typeface="Cambria" panose="02040503050406030204"/>
              </a:rPr>
              <a:t>i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</a:t>
            </a:r>
            <a:r>
              <a:rPr sz="2200" dirty="0">
                <a:latin typeface="Cambria" panose="02040503050406030204"/>
                <a:cs typeface="Cambria" panose="02040503050406030204"/>
              </a:rPr>
              <a:t>.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h&gt;  int main(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3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int i, j,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temp,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n,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a[10];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 marR="730250">
              <a:lnSpc>
                <a:spcPct val="111000"/>
              </a:lnSpc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printf(“Enter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Number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of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Elements:”);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5" dirty="0">
                <a:latin typeface="Cambria" panose="02040503050406030204"/>
                <a:cs typeface="Cambria" panose="02040503050406030204"/>
              </a:rPr>
              <a:t>scanf(“%d”,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&amp;n);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3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printf(“Enter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Elements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Sorted\n”);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3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for(i=0;</a:t>
            </a:r>
            <a:r>
              <a:rPr sz="2200" spc="45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i&lt;n;</a:t>
            </a:r>
            <a:r>
              <a:rPr sz="2200" spc="45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i++)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3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300"/>
              </a:spcBef>
            </a:pPr>
            <a:r>
              <a:rPr sz="2200" spc="-30" dirty="0">
                <a:latin typeface="Cambria" panose="02040503050406030204"/>
                <a:cs typeface="Cambria" panose="02040503050406030204"/>
              </a:rPr>
              <a:t>scanf(“%d\n”,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&amp;a[i]);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3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30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for(i=0;</a:t>
            </a:r>
            <a:r>
              <a:rPr sz="2200" spc="45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i&lt;n;</a:t>
            </a:r>
            <a:r>
              <a:rPr sz="2200" spc="45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i++)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2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89330">
              <a:lnSpc>
                <a:spcPct val="100000"/>
              </a:lnSpc>
              <a:spcBef>
                <a:spcPts val="3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for(j=i+1;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j&lt;n;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j++)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3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228574"/>
            <a:ext cx="8686800" cy="5709285"/>
          </a:xfrm>
          <a:custGeom>
            <a:avLst/>
            <a:gdLst/>
            <a:ahLst/>
            <a:cxnLst/>
            <a:rect l="l" t="t" r="r" b="b"/>
            <a:pathLst>
              <a:path w="8686800" h="5709285">
                <a:moveTo>
                  <a:pt x="0" y="5709284"/>
                </a:moveTo>
                <a:lnTo>
                  <a:pt x="8686800" y="5709284"/>
                </a:lnTo>
                <a:lnTo>
                  <a:pt x="8686800" y="0"/>
                </a:lnTo>
                <a:lnTo>
                  <a:pt x="0" y="0"/>
                </a:lnTo>
                <a:lnTo>
                  <a:pt x="0" y="570928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2044" y="215383"/>
            <a:ext cx="4469130" cy="562737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841500">
              <a:lnSpc>
                <a:spcPct val="100000"/>
              </a:lnSpc>
              <a:spcBef>
                <a:spcPts val="4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if(a[i]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&gt;a[j])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3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2755900" marR="327660">
              <a:lnSpc>
                <a:spcPct val="111000"/>
              </a:lnSpc>
            </a:pPr>
            <a:r>
              <a:rPr sz="2200" spc="-15" dirty="0">
                <a:latin typeface="Cambria" panose="02040503050406030204"/>
                <a:cs typeface="Cambria" panose="02040503050406030204"/>
              </a:rPr>
              <a:t>temp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a[i];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a[i]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a[j];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a[j]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=</a:t>
            </a:r>
            <a:r>
              <a:rPr sz="2200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temp;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841500">
              <a:lnSpc>
                <a:spcPct val="100000"/>
              </a:lnSpc>
              <a:spcBef>
                <a:spcPts val="30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3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 marR="5080">
              <a:lnSpc>
                <a:spcPct val="111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print(“The</a:t>
            </a:r>
            <a:r>
              <a:rPr sz="2200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Sorted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Elements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are:</a:t>
            </a:r>
            <a:r>
              <a:rPr sz="2200" spc="2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\n”);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for(i=0;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i&lt;n;</a:t>
            </a:r>
            <a:r>
              <a:rPr sz="2200" spc="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i++)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469265">
              <a:lnSpc>
                <a:spcPct val="100000"/>
              </a:lnSpc>
              <a:spcBef>
                <a:spcPts val="295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{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926465">
              <a:lnSpc>
                <a:spcPct val="100000"/>
              </a:lnSpc>
              <a:spcBef>
                <a:spcPts val="300"/>
              </a:spcBef>
            </a:pPr>
            <a:r>
              <a:rPr sz="2200" spc="-25" dirty="0">
                <a:latin typeface="Cambria" panose="02040503050406030204"/>
                <a:cs typeface="Cambria" panose="02040503050406030204"/>
              </a:rPr>
              <a:t>printf(“%d\n”,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a[i]);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R="3413125" algn="ctr">
              <a:lnSpc>
                <a:spcPct val="100000"/>
              </a:lnSpc>
              <a:spcBef>
                <a:spcPts val="3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R="3377565" algn="ctr">
              <a:lnSpc>
                <a:spcPct val="100000"/>
              </a:lnSpc>
              <a:spcBef>
                <a:spcPts val="30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return</a:t>
            </a:r>
            <a:r>
              <a:rPr sz="2200" spc="-4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0;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R="4327525" algn="ctr">
              <a:lnSpc>
                <a:spcPct val="100000"/>
              </a:lnSpc>
              <a:spcBef>
                <a:spcPts val="3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}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228612"/>
            <a:ext cx="8686800" cy="5832475"/>
          </a:xfrm>
          <a:custGeom>
            <a:avLst/>
            <a:gdLst/>
            <a:ahLst/>
            <a:cxnLst/>
            <a:rect l="l" t="t" r="r" b="b"/>
            <a:pathLst>
              <a:path w="8686800" h="5832475">
                <a:moveTo>
                  <a:pt x="0" y="5832348"/>
                </a:moveTo>
                <a:lnTo>
                  <a:pt x="8686800" y="5832348"/>
                </a:lnTo>
                <a:lnTo>
                  <a:pt x="8686800" y="0"/>
                </a:lnTo>
                <a:lnTo>
                  <a:pt x="0" y="0"/>
                </a:lnTo>
                <a:lnTo>
                  <a:pt x="0" y="583234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2044" y="177324"/>
            <a:ext cx="3869054" cy="57873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200" b="1" i="1" spc="-5" dirty="0">
                <a:solidFill>
                  <a:srgbClr val="C00000"/>
                </a:solidFill>
                <a:latin typeface="Cambria" panose="02040503050406030204"/>
                <a:cs typeface="Cambria" panose="02040503050406030204"/>
              </a:rPr>
              <a:t>Output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 marR="5080" algn="just">
              <a:lnSpc>
                <a:spcPct val="123000"/>
              </a:lnSpc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Enter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the Number of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Elements:5 </a:t>
            </a:r>
            <a:r>
              <a:rPr sz="2200" spc="-47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Enter the Elements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to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be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Sorted </a:t>
            </a:r>
            <a:r>
              <a:rPr sz="2200" spc="-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25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12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45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68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7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The</a:t>
            </a:r>
            <a:r>
              <a:rPr sz="220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Sorted Elements</a:t>
            </a:r>
            <a:r>
              <a:rPr sz="2200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5" dirty="0">
                <a:latin typeface="Cambria" panose="02040503050406030204"/>
                <a:cs typeface="Cambria" panose="02040503050406030204"/>
              </a:rPr>
              <a:t>are: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Cambria" panose="02040503050406030204"/>
                <a:cs typeface="Cambria" panose="02040503050406030204"/>
              </a:rPr>
              <a:t>7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12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25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45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10" dirty="0">
                <a:latin typeface="Cambria" panose="02040503050406030204"/>
                <a:cs typeface="Cambria" panose="02040503050406030204"/>
              </a:rPr>
              <a:t>68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9118" y="2072107"/>
            <a:ext cx="8625205" cy="471551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443865" indent="-215900">
              <a:lnSpc>
                <a:spcPct val="100000"/>
              </a:lnSpc>
              <a:spcBef>
                <a:spcPts val="1535"/>
              </a:spcBef>
              <a:buSzPct val="44000"/>
              <a:buFont typeface="Wingdings" panose="05000000000000000000"/>
              <a:buChar char=""/>
              <a:tabLst>
                <a:tab pos="444500" algn="l"/>
              </a:tabLst>
            </a:pPr>
            <a:r>
              <a:rPr sz="2400" spc="-45" dirty="0">
                <a:latin typeface="Calibri" panose="020F0502020204030204"/>
                <a:cs typeface="Calibri" panose="020F0502020204030204"/>
              </a:rPr>
              <a:t>Two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Dimensional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Array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requires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25" dirty="0">
                <a:latin typeface="Calibri" panose="020F0502020204030204"/>
                <a:cs typeface="Calibri" panose="020F0502020204030204"/>
              </a:rPr>
              <a:t>Two</a:t>
            </a:r>
            <a:r>
              <a:rPr sz="2400" b="1" i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10" dirty="0">
                <a:latin typeface="Calibri" panose="020F0502020204030204"/>
                <a:cs typeface="Calibri" panose="020F0502020204030204"/>
              </a:rPr>
              <a:t>Subscript</a:t>
            </a:r>
            <a:r>
              <a:rPr sz="2400" b="1" i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Variables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43865" indent="-215900">
              <a:lnSpc>
                <a:spcPct val="100000"/>
              </a:lnSpc>
              <a:spcBef>
                <a:spcPts val="1445"/>
              </a:spcBef>
              <a:buSzPct val="44000"/>
              <a:buFont typeface="Wingdings" panose="05000000000000000000"/>
              <a:buChar char=""/>
              <a:tabLst>
                <a:tab pos="444500" algn="l"/>
              </a:tabLst>
            </a:pPr>
            <a:r>
              <a:rPr sz="2400" spc="-45" dirty="0">
                <a:latin typeface="Calibri" panose="020F0502020204030204"/>
                <a:cs typeface="Calibri" panose="020F0502020204030204"/>
              </a:rPr>
              <a:t>Two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Dimensional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Array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stores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values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form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matrix.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43865" indent="-215900">
              <a:lnSpc>
                <a:spcPct val="100000"/>
              </a:lnSpc>
              <a:spcBef>
                <a:spcPts val="1440"/>
              </a:spcBef>
              <a:buSzPct val="44000"/>
              <a:buFont typeface="Wingdings" panose="05000000000000000000"/>
              <a:buChar char=""/>
              <a:tabLst>
                <a:tab pos="444500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One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Subscript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Variable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denotes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“</a:t>
            </a:r>
            <a:r>
              <a:rPr sz="2400" b="1" i="1" spc="-15" dirty="0">
                <a:latin typeface="Calibri" panose="020F0502020204030204"/>
                <a:cs typeface="Calibri" panose="020F0502020204030204"/>
              </a:rPr>
              <a:t>Row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”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sz="2400" dirty="0">
                <a:latin typeface="Calibri" panose="020F0502020204030204"/>
                <a:cs typeface="Calibri" panose="020F0502020204030204"/>
              </a:rPr>
              <a:t>a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matrix.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43865" indent="-215900">
              <a:lnSpc>
                <a:spcPct val="100000"/>
              </a:lnSpc>
              <a:spcBef>
                <a:spcPts val="1440"/>
              </a:spcBef>
              <a:buSzPct val="44000"/>
              <a:buFont typeface="Wingdings" panose="05000000000000000000"/>
              <a:buChar char=""/>
              <a:tabLst>
                <a:tab pos="444500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Another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Subscript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Variable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denotes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“</a:t>
            </a:r>
            <a:r>
              <a:rPr sz="2400" b="1" i="1" spc="-5" dirty="0">
                <a:latin typeface="Calibri" panose="020F0502020204030204"/>
                <a:cs typeface="Calibri" panose="020F0502020204030204"/>
              </a:rPr>
              <a:t>Column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”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matrix.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00">
              <a:latin typeface="Calibri" panose="020F0502020204030204"/>
              <a:cs typeface="Calibri" panose="020F0502020204030204"/>
            </a:endParaRPr>
          </a:p>
          <a:p>
            <a:pPr marL="24765">
              <a:lnSpc>
                <a:spcPct val="100000"/>
              </a:lnSpc>
            </a:pPr>
            <a:r>
              <a:rPr sz="2400" b="1" spc="-5" dirty="0">
                <a:solidFill>
                  <a:srgbClr val="326500"/>
                </a:solidFill>
                <a:latin typeface="Calibri" panose="020F0502020204030204"/>
                <a:cs typeface="Calibri" panose="020F0502020204030204"/>
              </a:rPr>
              <a:t>3.1.2</a:t>
            </a:r>
            <a:r>
              <a:rPr sz="2400" b="1" spc="-15" dirty="0">
                <a:solidFill>
                  <a:srgbClr val="32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5" dirty="0">
                <a:solidFill>
                  <a:srgbClr val="326500"/>
                </a:solidFill>
                <a:latin typeface="Calibri" panose="020F0502020204030204"/>
                <a:cs typeface="Calibri" panose="020F0502020204030204"/>
              </a:rPr>
              <a:t>INITIALIZING</a:t>
            </a:r>
            <a:r>
              <a:rPr sz="2400" b="1" spc="-55" dirty="0">
                <a:solidFill>
                  <a:srgbClr val="32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5" dirty="0">
                <a:solidFill>
                  <a:srgbClr val="32650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400" b="1" spc="-25" dirty="0">
                <a:solidFill>
                  <a:srgbClr val="32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326500"/>
                </a:solidFill>
                <a:latin typeface="Calibri" panose="020F0502020204030204"/>
                <a:cs typeface="Calibri" panose="020F0502020204030204"/>
              </a:rPr>
              <a:t>2D</a:t>
            </a:r>
            <a:r>
              <a:rPr sz="2400" b="1" spc="-15" dirty="0">
                <a:solidFill>
                  <a:srgbClr val="32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40" dirty="0">
                <a:solidFill>
                  <a:srgbClr val="326500"/>
                </a:solidFill>
                <a:latin typeface="Calibri" panose="020F0502020204030204"/>
                <a:cs typeface="Calibri" panose="020F0502020204030204"/>
              </a:rPr>
              <a:t>ARRAY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 algn="just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An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array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two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dimensions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can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be declared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as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follows: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001520" algn="just">
              <a:lnSpc>
                <a:spcPct val="100000"/>
              </a:lnSpc>
              <a:spcBef>
                <a:spcPts val="5"/>
              </a:spcBef>
            </a:pPr>
            <a:r>
              <a:rPr sz="2400" b="1" i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data_type</a:t>
            </a:r>
            <a:r>
              <a:rPr sz="2400" b="1" i="1" spc="-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array_name[size1][size2];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Here </a:t>
            </a:r>
            <a:r>
              <a:rPr sz="2400" b="1" i="1" spc="-10" dirty="0">
                <a:latin typeface="Calibri" panose="020F0502020204030204"/>
                <a:cs typeface="Calibri" panose="020F0502020204030204"/>
              </a:rPr>
              <a:t>data_type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 the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name of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some </a:t>
            </a:r>
            <a:r>
              <a:rPr sz="2400" dirty="0">
                <a:latin typeface="Calibri" panose="020F0502020204030204"/>
                <a:cs typeface="Calibri" panose="020F0502020204030204"/>
              </a:rPr>
              <a:t>type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data,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such </a:t>
            </a:r>
            <a:r>
              <a:rPr sz="2400" dirty="0">
                <a:latin typeface="Calibri" panose="020F0502020204030204"/>
                <a:cs typeface="Calibri" panose="020F0502020204030204"/>
              </a:rPr>
              <a:t>as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int.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Also,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10" dirty="0">
                <a:latin typeface="Calibri" panose="020F0502020204030204"/>
                <a:cs typeface="Calibri" panose="020F0502020204030204"/>
              </a:rPr>
              <a:t>size1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400" b="1" i="1" spc="-10" dirty="0">
                <a:latin typeface="Calibri" panose="020F0502020204030204"/>
                <a:cs typeface="Calibri" panose="020F0502020204030204"/>
              </a:rPr>
              <a:t>size2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are sizes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array’s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first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second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dimensions 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respectively.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38476" y="1910212"/>
            <a:ext cx="6867525" cy="53975"/>
          </a:xfrm>
          <a:custGeom>
            <a:avLst/>
            <a:gdLst/>
            <a:ahLst/>
            <a:cxnLst/>
            <a:rect l="l" t="t" r="r" b="b"/>
            <a:pathLst>
              <a:path w="6867525" h="53975">
                <a:moveTo>
                  <a:pt x="6867095" y="0"/>
                </a:moveTo>
                <a:lnTo>
                  <a:pt x="5150309" y="9631"/>
                </a:lnTo>
                <a:lnTo>
                  <a:pt x="3433523" y="19171"/>
                </a:lnTo>
                <a:lnTo>
                  <a:pt x="1716737" y="28834"/>
                </a:lnTo>
                <a:lnTo>
                  <a:pt x="0" y="38343"/>
                </a:lnTo>
                <a:lnTo>
                  <a:pt x="94" y="53583"/>
                </a:lnTo>
                <a:lnTo>
                  <a:pt x="1716868" y="44074"/>
                </a:lnTo>
                <a:lnTo>
                  <a:pt x="3433645" y="34411"/>
                </a:lnTo>
                <a:lnTo>
                  <a:pt x="5150309" y="24871"/>
                </a:lnTo>
                <a:lnTo>
                  <a:pt x="6867095" y="15239"/>
                </a:lnTo>
                <a:lnTo>
                  <a:pt x="68670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271650" y="2373385"/>
            <a:ext cx="392430" cy="238125"/>
          </a:xfrm>
          <a:custGeom>
            <a:avLst/>
            <a:gdLst/>
            <a:ahLst/>
            <a:cxnLst/>
            <a:rect l="l" t="t" r="r" b="b"/>
            <a:pathLst>
              <a:path w="392429" h="238125">
                <a:moveTo>
                  <a:pt x="71506" y="0"/>
                </a:moveTo>
                <a:lnTo>
                  <a:pt x="66659" y="121"/>
                </a:lnTo>
                <a:lnTo>
                  <a:pt x="61722" y="121"/>
                </a:lnTo>
                <a:lnTo>
                  <a:pt x="57515" y="487"/>
                </a:lnTo>
                <a:lnTo>
                  <a:pt x="54223" y="1371"/>
                </a:lnTo>
                <a:lnTo>
                  <a:pt x="50810" y="2133"/>
                </a:lnTo>
                <a:lnTo>
                  <a:pt x="48006" y="3535"/>
                </a:lnTo>
                <a:lnTo>
                  <a:pt x="45720" y="5455"/>
                </a:lnTo>
                <a:lnTo>
                  <a:pt x="43434" y="7223"/>
                </a:lnTo>
                <a:lnTo>
                  <a:pt x="41513" y="9631"/>
                </a:lnTo>
                <a:lnTo>
                  <a:pt x="40264" y="12557"/>
                </a:lnTo>
                <a:lnTo>
                  <a:pt x="38862" y="15483"/>
                </a:lnTo>
                <a:lnTo>
                  <a:pt x="37703" y="18897"/>
                </a:lnTo>
                <a:lnTo>
                  <a:pt x="36941" y="23103"/>
                </a:lnTo>
                <a:lnTo>
                  <a:pt x="36057" y="27432"/>
                </a:lnTo>
                <a:lnTo>
                  <a:pt x="35692" y="30967"/>
                </a:lnTo>
                <a:lnTo>
                  <a:pt x="36179" y="36941"/>
                </a:lnTo>
                <a:lnTo>
                  <a:pt x="37094" y="39227"/>
                </a:lnTo>
                <a:lnTo>
                  <a:pt x="38740" y="40995"/>
                </a:lnTo>
                <a:lnTo>
                  <a:pt x="40264" y="42793"/>
                </a:lnTo>
                <a:lnTo>
                  <a:pt x="42550" y="44043"/>
                </a:lnTo>
                <a:lnTo>
                  <a:pt x="48768" y="45567"/>
                </a:lnTo>
                <a:lnTo>
                  <a:pt x="52699" y="45963"/>
                </a:lnTo>
                <a:lnTo>
                  <a:pt x="57515" y="45841"/>
                </a:lnTo>
                <a:lnTo>
                  <a:pt x="62484" y="45841"/>
                </a:lnTo>
                <a:lnTo>
                  <a:pt x="88392" y="15087"/>
                </a:lnTo>
                <a:lnTo>
                  <a:pt x="88148" y="12313"/>
                </a:lnTo>
                <a:lnTo>
                  <a:pt x="87995" y="9387"/>
                </a:lnTo>
                <a:lnTo>
                  <a:pt x="87111" y="6979"/>
                </a:lnTo>
                <a:lnTo>
                  <a:pt x="85465" y="5181"/>
                </a:lnTo>
                <a:lnTo>
                  <a:pt x="83941" y="3291"/>
                </a:lnTo>
                <a:lnTo>
                  <a:pt x="81655" y="2011"/>
                </a:lnTo>
                <a:lnTo>
                  <a:pt x="78486" y="1249"/>
                </a:lnTo>
                <a:lnTo>
                  <a:pt x="75438" y="365"/>
                </a:lnTo>
                <a:lnTo>
                  <a:pt x="71506" y="0"/>
                </a:lnTo>
                <a:close/>
              </a:path>
              <a:path w="392429" h="238125">
                <a:moveTo>
                  <a:pt x="57393" y="68061"/>
                </a:moveTo>
                <a:lnTo>
                  <a:pt x="53218" y="68061"/>
                </a:lnTo>
                <a:lnTo>
                  <a:pt x="45323" y="68305"/>
                </a:lnTo>
                <a:lnTo>
                  <a:pt x="42550" y="68701"/>
                </a:lnTo>
                <a:lnTo>
                  <a:pt x="39624" y="69067"/>
                </a:lnTo>
                <a:lnTo>
                  <a:pt x="121" y="229971"/>
                </a:lnTo>
                <a:lnTo>
                  <a:pt x="0" y="232135"/>
                </a:lnTo>
                <a:lnTo>
                  <a:pt x="518" y="233019"/>
                </a:lnTo>
                <a:lnTo>
                  <a:pt x="1005" y="233934"/>
                </a:lnTo>
                <a:lnTo>
                  <a:pt x="16245" y="236829"/>
                </a:lnTo>
                <a:lnTo>
                  <a:pt x="24627" y="236829"/>
                </a:lnTo>
                <a:lnTo>
                  <a:pt x="28194" y="236585"/>
                </a:lnTo>
                <a:lnTo>
                  <a:pt x="33893" y="236067"/>
                </a:lnTo>
                <a:lnTo>
                  <a:pt x="36332" y="235579"/>
                </a:lnTo>
                <a:lnTo>
                  <a:pt x="38100" y="234939"/>
                </a:lnTo>
                <a:lnTo>
                  <a:pt x="39867" y="234421"/>
                </a:lnTo>
                <a:lnTo>
                  <a:pt x="73517" y="75285"/>
                </a:lnTo>
                <a:lnTo>
                  <a:pt x="73732" y="74401"/>
                </a:lnTo>
                <a:lnTo>
                  <a:pt x="63611" y="68580"/>
                </a:lnTo>
                <a:lnTo>
                  <a:pt x="60960" y="68183"/>
                </a:lnTo>
                <a:lnTo>
                  <a:pt x="57393" y="68061"/>
                </a:lnTo>
                <a:close/>
              </a:path>
              <a:path w="392429" h="238125">
                <a:moveTo>
                  <a:pt x="140726" y="67665"/>
                </a:moveTo>
                <a:lnTo>
                  <a:pt x="133593" y="67665"/>
                </a:lnTo>
                <a:lnTo>
                  <a:pt x="130667" y="67818"/>
                </a:lnTo>
                <a:lnTo>
                  <a:pt x="128137" y="68183"/>
                </a:lnTo>
                <a:lnTo>
                  <a:pt x="125730" y="68427"/>
                </a:lnTo>
                <a:lnTo>
                  <a:pt x="86989" y="229483"/>
                </a:lnTo>
                <a:lnTo>
                  <a:pt x="86868" y="231648"/>
                </a:lnTo>
                <a:lnTo>
                  <a:pt x="87873" y="233415"/>
                </a:lnTo>
                <a:lnTo>
                  <a:pt x="88910" y="234177"/>
                </a:lnTo>
                <a:lnTo>
                  <a:pt x="90434" y="234696"/>
                </a:lnTo>
                <a:lnTo>
                  <a:pt x="91958" y="235305"/>
                </a:lnTo>
                <a:lnTo>
                  <a:pt x="94091" y="235701"/>
                </a:lnTo>
                <a:lnTo>
                  <a:pt x="96895" y="235945"/>
                </a:lnTo>
                <a:lnTo>
                  <a:pt x="99578" y="236220"/>
                </a:lnTo>
                <a:lnTo>
                  <a:pt x="103113" y="236341"/>
                </a:lnTo>
                <a:lnTo>
                  <a:pt x="111495" y="236341"/>
                </a:lnTo>
                <a:lnTo>
                  <a:pt x="115062" y="236220"/>
                </a:lnTo>
                <a:lnTo>
                  <a:pt x="117866" y="235823"/>
                </a:lnTo>
                <a:lnTo>
                  <a:pt x="120761" y="235579"/>
                </a:lnTo>
                <a:lnTo>
                  <a:pt x="128899" y="232257"/>
                </a:lnTo>
                <a:lnTo>
                  <a:pt x="129783" y="231495"/>
                </a:lnTo>
                <a:lnTo>
                  <a:pt x="130302" y="230489"/>
                </a:lnTo>
                <a:lnTo>
                  <a:pt x="144139" y="159105"/>
                </a:lnTo>
                <a:lnTo>
                  <a:pt x="145663" y="151363"/>
                </a:lnTo>
                <a:lnTo>
                  <a:pt x="163830" y="119115"/>
                </a:lnTo>
                <a:lnTo>
                  <a:pt x="168402" y="113903"/>
                </a:lnTo>
                <a:lnTo>
                  <a:pt x="173217" y="109849"/>
                </a:lnTo>
                <a:lnTo>
                  <a:pt x="183398" y="103753"/>
                </a:lnTo>
                <a:lnTo>
                  <a:pt x="188335" y="102229"/>
                </a:lnTo>
                <a:lnTo>
                  <a:pt x="193151" y="102229"/>
                </a:lnTo>
                <a:lnTo>
                  <a:pt x="198363" y="102108"/>
                </a:lnTo>
                <a:lnTo>
                  <a:pt x="252538" y="102108"/>
                </a:lnTo>
                <a:lnTo>
                  <a:pt x="252233" y="99822"/>
                </a:lnTo>
                <a:lnTo>
                  <a:pt x="149108" y="99822"/>
                </a:lnTo>
                <a:lnTo>
                  <a:pt x="153924" y="74279"/>
                </a:lnTo>
                <a:lnTo>
                  <a:pt x="154115" y="73395"/>
                </a:lnTo>
                <a:lnTo>
                  <a:pt x="154045" y="72115"/>
                </a:lnTo>
                <a:lnTo>
                  <a:pt x="153680" y="71231"/>
                </a:lnTo>
                <a:lnTo>
                  <a:pt x="143621" y="67818"/>
                </a:lnTo>
                <a:lnTo>
                  <a:pt x="140726" y="67665"/>
                </a:lnTo>
                <a:close/>
              </a:path>
              <a:path w="392429" h="238125">
                <a:moveTo>
                  <a:pt x="252538" y="102108"/>
                </a:moveTo>
                <a:lnTo>
                  <a:pt x="198363" y="102108"/>
                </a:lnTo>
                <a:lnTo>
                  <a:pt x="202051" y="103753"/>
                </a:lnTo>
                <a:lnTo>
                  <a:pt x="204216" y="107167"/>
                </a:lnTo>
                <a:lnTo>
                  <a:pt x="206502" y="110490"/>
                </a:lnTo>
                <a:lnTo>
                  <a:pt x="207507" y="114787"/>
                </a:lnTo>
                <a:lnTo>
                  <a:pt x="207507" y="124693"/>
                </a:lnTo>
                <a:lnTo>
                  <a:pt x="207264" y="127619"/>
                </a:lnTo>
                <a:lnTo>
                  <a:pt x="206502" y="133350"/>
                </a:lnTo>
                <a:lnTo>
                  <a:pt x="205983" y="136123"/>
                </a:lnTo>
                <a:lnTo>
                  <a:pt x="187743" y="228721"/>
                </a:lnTo>
                <a:lnTo>
                  <a:pt x="187695" y="231129"/>
                </a:lnTo>
                <a:lnTo>
                  <a:pt x="203819" y="235823"/>
                </a:lnTo>
                <a:lnTo>
                  <a:pt x="208026" y="235823"/>
                </a:lnTo>
                <a:lnTo>
                  <a:pt x="225673" y="233934"/>
                </a:lnTo>
                <a:lnTo>
                  <a:pt x="227441" y="233415"/>
                </a:lnTo>
                <a:lnTo>
                  <a:pt x="249936" y="133075"/>
                </a:lnTo>
                <a:lnTo>
                  <a:pt x="250819" y="128778"/>
                </a:lnTo>
                <a:lnTo>
                  <a:pt x="251508" y="124206"/>
                </a:lnTo>
                <a:lnTo>
                  <a:pt x="251978" y="120639"/>
                </a:lnTo>
                <a:lnTo>
                  <a:pt x="252343" y="116586"/>
                </a:lnTo>
                <a:lnTo>
                  <a:pt x="252504" y="113903"/>
                </a:lnTo>
                <a:lnTo>
                  <a:pt x="252538" y="102108"/>
                </a:lnTo>
                <a:close/>
              </a:path>
              <a:path w="392429" h="238125">
                <a:moveTo>
                  <a:pt x="217170" y="64251"/>
                </a:moveTo>
                <a:lnTo>
                  <a:pt x="209031" y="64251"/>
                </a:lnTo>
                <a:lnTo>
                  <a:pt x="202295" y="64373"/>
                </a:lnTo>
                <a:lnTo>
                  <a:pt x="162671" y="83179"/>
                </a:lnTo>
                <a:lnTo>
                  <a:pt x="158739" y="87355"/>
                </a:lnTo>
                <a:lnTo>
                  <a:pt x="154686" y="91561"/>
                </a:lnTo>
                <a:lnTo>
                  <a:pt x="151516" y="95737"/>
                </a:lnTo>
                <a:lnTo>
                  <a:pt x="149108" y="99822"/>
                </a:lnTo>
                <a:lnTo>
                  <a:pt x="252233" y="99822"/>
                </a:lnTo>
                <a:lnTo>
                  <a:pt x="251825" y="96774"/>
                </a:lnTo>
                <a:lnTo>
                  <a:pt x="250301" y="91440"/>
                </a:lnTo>
                <a:lnTo>
                  <a:pt x="248777" y="85953"/>
                </a:lnTo>
                <a:lnTo>
                  <a:pt x="246247" y="81259"/>
                </a:lnTo>
                <a:lnTo>
                  <a:pt x="242834" y="77327"/>
                </a:lnTo>
                <a:lnTo>
                  <a:pt x="239389" y="73273"/>
                </a:lnTo>
                <a:lnTo>
                  <a:pt x="234939" y="70104"/>
                </a:lnTo>
                <a:lnTo>
                  <a:pt x="229362" y="67665"/>
                </a:lnTo>
                <a:lnTo>
                  <a:pt x="223906" y="65379"/>
                </a:lnTo>
                <a:lnTo>
                  <a:pt x="217170" y="64251"/>
                </a:lnTo>
                <a:close/>
              </a:path>
              <a:path w="392429" h="238125">
                <a:moveTo>
                  <a:pt x="346662" y="103113"/>
                </a:moveTo>
                <a:lnTo>
                  <a:pt x="303154" y="103113"/>
                </a:lnTo>
                <a:lnTo>
                  <a:pt x="288554" y="178673"/>
                </a:lnTo>
                <a:lnTo>
                  <a:pt x="288157" y="180197"/>
                </a:lnTo>
                <a:lnTo>
                  <a:pt x="287792" y="181843"/>
                </a:lnTo>
                <a:lnTo>
                  <a:pt x="287471" y="184129"/>
                </a:lnTo>
                <a:lnTo>
                  <a:pt x="287030" y="187573"/>
                </a:lnTo>
                <a:lnTo>
                  <a:pt x="286755" y="189341"/>
                </a:lnTo>
                <a:lnTo>
                  <a:pt x="286390" y="191262"/>
                </a:lnTo>
                <a:lnTo>
                  <a:pt x="286268" y="193029"/>
                </a:lnTo>
                <a:lnTo>
                  <a:pt x="286115" y="194675"/>
                </a:lnTo>
                <a:lnTo>
                  <a:pt x="300471" y="231769"/>
                </a:lnTo>
                <a:lnTo>
                  <a:pt x="321564" y="237591"/>
                </a:lnTo>
                <a:lnTo>
                  <a:pt x="328543" y="237469"/>
                </a:lnTo>
                <a:lnTo>
                  <a:pt x="331713" y="237469"/>
                </a:lnTo>
                <a:lnTo>
                  <a:pt x="335036" y="237347"/>
                </a:lnTo>
                <a:lnTo>
                  <a:pt x="338206" y="236829"/>
                </a:lnTo>
                <a:lnTo>
                  <a:pt x="341497" y="236463"/>
                </a:lnTo>
                <a:lnTo>
                  <a:pt x="347350" y="235183"/>
                </a:lnTo>
                <a:lnTo>
                  <a:pt x="350123" y="234421"/>
                </a:lnTo>
                <a:lnTo>
                  <a:pt x="352562" y="233659"/>
                </a:lnTo>
                <a:lnTo>
                  <a:pt x="354695" y="232653"/>
                </a:lnTo>
                <a:lnTo>
                  <a:pt x="356737" y="231769"/>
                </a:lnTo>
                <a:lnTo>
                  <a:pt x="358261" y="230733"/>
                </a:lnTo>
                <a:lnTo>
                  <a:pt x="359267" y="229727"/>
                </a:lnTo>
                <a:lnTo>
                  <a:pt x="360426" y="228721"/>
                </a:lnTo>
                <a:lnTo>
                  <a:pt x="361309" y="227076"/>
                </a:lnTo>
                <a:lnTo>
                  <a:pt x="362193" y="224911"/>
                </a:lnTo>
                <a:lnTo>
                  <a:pt x="363230" y="222747"/>
                </a:lnTo>
                <a:lnTo>
                  <a:pt x="363992" y="220461"/>
                </a:lnTo>
                <a:lnTo>
                  <a:pt x="364754" y="217779"/>
                </a:lnTo>
                <a:lnTo>
                  <a:pt x="365516" y="215249"/>
                </a:lnTo>
                <a:lnTo>
                  <a:pt x="366522" y="209793"/>
                </a:lnTo>
                <a:lnTo>
                  <a:pt x="366887" y="206989"/>
                </a:lnTo>
                <a:lnTo>
                  <a:pt x="367162" y="204459"/>
                </a:lnTo>
                <a:lnTo>
                  <a:pt x="367162" y="200893"/>
                </a:lnTo>
                <a:lnTo>
                  <a:pt x="340217" y="200893"/>
                </a:lnTo>
                <a:lnTo>
                  <a:pt x="336804" y="199887"/>
                </a:lnTo>
                <a:lnTo>
                  <a:pt x="334518" y="197723"/>
                </a:lnTo>
                <a:lnTo>
                  <a:pt x="332353" y="195559"/>
                </a:lnTo>
                <a:lnTo>
                  <a:pt x="331226" y="192267"/>
                </a:lnTo>
                <a:lnTo>
                  <a:pt x="331348" y="184129"/>
                </a:lnTo>
                <a:lnTo>
                  <a:pt x="331835" y="179435"/>
                </a:lnTo>
                <a:lnTo>
                  <a:pt x="332110" y="177393"/>
                </a:lnTo>
                <a:lnTo>
                  <a:pt x="332475" y="175625"/>
                </a:lnTo>
                <a:lnTo>
                  <a:pt x="346662" y="103113"/>
                </a:lnTo>
                <a:close/>
              </a:path>
              <a:path w="392429" h="238125">
                <a:moveTo>
                  <a:pt x="364754" y="196717"/>
                </a:moveTo>
                <a:lnTo>
                  <a:pt x="362955" y="196717"/>
                </a:lnTo>
                <a:lnTo>
                  <a:pt x="361950" y="196961"/>
                </a:lnTo>
                <a:lnTo>
                  <a:pt x="360944" y="197358"/>
                </a:lnTo>
                <a:lnTo>
                  <a:pt x="359785" y="197845"/>
                </a:lnTo>
                <a:lnTo>
                  <a:pt x="358658" y="198241"/>
                </a:lnTo>
                <a:lnTo>
                  <a:pt x="357134" y="198729"/>
                </a:lnTo>
                <a:lnTo>
                  <a:pt x="355732" y="199369"/>
                </a:lnTo>
                <a:lnTo>
                  <a:pt x="352044" y="200253"/>
                </a:lnTo>
                <a:lnTo>
                  <a:pt x="350123" y="200649"/>
                </a:lnTo>
                <a:lnTo>
                  <a:pt x="347715" y="200893"/>
                </a:lnTo>
                <a:lnTo>
                  <a:pt x="367162" y="200893"/>
                </a:lnTo>
                <a:lnTo>
                  <a:pt x="367122" y="200253"/>
                </a:lnTo>
                <a:lnTo>
                  <a:pt x="366765" y="198882"/>
                </a:lnTo>
                <a:lnTo>
                  <a:pt x="366125" y="198120"/>
                </a:lnTo>
                <a:lnTo>
                  <a:pt x="365516" y="197205"/>
                </a:lnTo>
                <a:lnTo>
                  <a:pt x="364754" y="196717"/>
                </a:lnTo>
                <a:close/>
              </a:path>
              <a:path w="392429" h="238125">
                <a:moveTo>
                  <a:pt x="344180" y="25755"/>
                </a:moveTo>
                <a:lnTo>
                  <a:pt x="335645" y="25755"/>
                </a:lnTo>
                <a:lnTo>
                  <a:pt x="332110" y="25908"/>
                </a:lnTo>
                <a:lnTo>
                  <a:pt x="329305" y="26273"/>
                </a:lnTo>
                <a:lnTo>
                  <a:pt x="326501" y="26517"/>
                </a:lnTo>
                <a:lnTo>
                  <a:pt x="310012" y="67665"/>
                </a:lnTo>
                <a:lnTo>
                  <a:pt x="291449" y="67818"/>
                </a:lnTo>
                <a:lnTo>
                  <a:pt x="289438" y="67818"/>
                </a:lnTo>
                <a:lnTo>
                  <a:pt x="287639" y="68945"/>
                </a:lnTo>
                <a:lnTo>
                  <a:pt x="286115" y="71109"/>
                </a:lnTo>
                <a:lnTo>
                  <a:pt x="284591" y="73395"/>
                </a:lnTo>
                <a:lnTo>
                  <a:pt x="283464" y="75925"/>
                </a:lnTo>
                <a:lnTo>
                  <a:pt x="282580" y="79095"/>
                </a:lnTo>
                <a:lnTo>
                  <a:pt x="281696" y="82143"/>
                </a:lnTo>
                <a:lnTo>
                  <a:pt x="281056" y="85191"/>
                </a:lnTo>
                <a:lnTo>
                  <a:pt x="280659" y="88392"/>
                </a:lnTo>
                <a:lnTo>
                  <a:pt x="280172" y="91561"/>
                </a:lnTo>
                <a:lnTo>
                  <a:pt x="280070" y="93329"/>
                </a:lnTo>
                <a:lnTo>
                  <a:pt x="280019" y="98907"/>
                </a:lnTo>
                <a:lnTo>
                  <a:pt x="280416" y="100827"/>
                </a:lnTo>
                <a:lnTo>
                  <a:pt x="281178" y="101711"/>
                </a:lnTo>
                <a:lnTo>
                  <a:pt x="281818" y="102717"/>
                </a:lnTo>
                <a:lnTo>
                  <a:pt x="282945" y="103235"/>
                </a:lnTo>
                <a:lnTo>
                  <a:pt x="346662" y="103113"/>
                </a:lnTo>
                <a:lnTo>
                  <a:pt x="346710" y="102870"/>
                </a:lnTo>
                <a:lnTo>
                  <a:pt x="381762" y="102717"/>
                </a:lnTo>
                <a:lnTo>
                  <a:pt x="389260" y="91165"/>
                </a:lnTo>
                <a:lnTo>
                  <a:pt x="389900" y="89154"/>
                </a:lnTo>
                <a:lnTo>
                  <a:pt x="392186" y="75925"/>
                </a:lnTo>
                <a:lnTo>
                  <a:pt x="392033" y="74676"/>
                </a:lnTo>
                <a:lnTo>
                  <a:pt x="392033" y="72237"/>
                </a:lnTo>
                <a:lnTo>
                  <a:pt x="391789" y="70469"/>
                </a:lnTo>
                <a:lnTo>
                  <a:pt x="390265" y="67939"/>
                </a:lnTo>
                <a:lnTo>
                  <a:pt x="389229" y="67421"/>
                </a:lnTo>
                <a:lnTo>
                  <a:pt x="353568" y="67421"/>
                </a:lnTo>
                <a:lnTo>
                  <a:pt x="360304" y="32887"/>
                </a:lnTo>
                <a:lnTo>
                  <a:pt x="360490" y="32004"/>
                </a:lnTo>
                <a:lnTo>
                  <a:pt x="360426" y="30723"/>
                </a:lnTo>
                <a:lnTo>
                  <a:pt x="359907" y="29839"/>
                </a:lnTo>
                <a:lnTo>
                  <a:pt x="347593" y="25908"/>
                </a:lnTo>
                <a:lnTo>
                  <a:pt x="344180" y="25755"/>
                </a:lnTo>
                <a:close/>
              </a:path>
              <a:path w="392429" h="238125">
                <a:moveTo>
                  <a:pt x="388985" y="67299"/>
                </a:moveTo>
                <a:lnTo>
                  <a:pt x="353568" y="67421"/>
                </a:lnTo>
                <a:lnTo>
                  <a:pt x="389229" y="67421"/>
                </a:lnTo>
                <a:lnTo>
                  <a:pt x="388985" y="67299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0918" y="2356855"/>
            <a:ext cx="1088410" cy="30734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2897" y="2827019"/>
            <a:ext cx="665296" cy="22911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152601" y="3220732"/>
            <a:ext cx="2440940" cy="316865"/>
          </a:xfrm>
          <a:custGeom>
            <a:avLst/>
            <a:gdLst/>
            <a:ahLst/>
            <a:cxnLst/>
            <a:rect l="l" t="t" r="r" b="b"/>
            <a:pathLst>
              <a:path w="2440940" h="316864">
                <a:moveTo>
                  <a:pt x="105079" y="30213"/>
                </a:moveTo>
                <a:lnTo>
                  <a:pt x="104698" y="27165"/>
                </a:lnTo>
                <a:lnTo>
                  <a:pt x="104368" y="25755"/>
                </a:lnTo>
                <a:lnTo>
                  <a:pt x="103911" y="24752"/>
                </a:lnTo>
                <a:lnTo>
                  <a:pt x="103441" y="23622"/>
                </a:lnTo>
                <a:lnTo>
                  <a:pt x="81381" y="16243"/>
                </a:lnTo>
                <a:lnTo>
                  <a:pt x="68770" y="16243"/>
                </a:lnTo>
                <a:lnTo>
                  <a:pt x="35318" y="36055"/>
                </a:lnTo>
                <a:lnTo>
                  <a:pt x="27495" y="94335"/>
                </a:lnTo>
                <a:lnTo>
                  <a:pt x="4533" y="94488"/>
                </a:lnTo>
                <a:lnTo>
                  <a:pt x="1320" y="97269"/>
                </a:lnTo>
                <a:lnTo>
                  <a:pt x="876" y="98145"/>
                </a:lnTo>
                <a:lnTo>
                  <a:pt x="520" y="99428"/>
                </a:lnTo>
                <a:lnTo>
                  <a:pt x="88" y="102476"/>
                </a:lnTo>
                <a:lnTo>
                  <a:pt x="0" y="110617"/>
                </a:lnTo>
                <a:lnTo>
                  <a:pt x="495" y="113665"/>
                </a:lnTo>
                <a:lnTo>
                  <a:pt x="1435" y="115557"/>
                </a:lnTo>
                <a:lnTo>
                  <a:pt x="2362" y="117348"/>
                </a:lnTo>
                <a:lnTo>
                  <a:pt x="3746" y="118237"/>
                </a:lnTo>
                <a:lnTo>
                  <a:pt x="27609" y="118186"/>
                </a:lnTo>
                <a:lnTo>
                  <a:pt x="28384" y="255879"/>
                </a:lnTo>
                <a:lnTo>
                  <a:pt x="40043" y="260210"/>
                </a:lnTo>
                <a:lnTo>
                  <a:pt x="45593" y="260210"/>
                </a:lnTo>
                <a:lnTo>
                  <a:pt x="57175" y="254749"/>
                </a:lnTo>
                <a:lnTo>
                  <a:pt x="56413" y="118110"/>
                </a:lnTo>
                <a:lnTo>
                  <a:pt x="56413" y="117957"/>
                </a:lnTo>
                <a:lnTo>
                  <a:pt x="95389" y="115062"/>
                </a:lnTo>
                <a:lnTo>
                  <a:pt x="96850" y="110617"/>
                </a:lnTo>
                <a:lnTo>
                  <a:pt x="96735" y="101955"/>
                </a:lnTo>
                <a:lnTo>
                  <a:pt x="93459" y="94615"/>
                </a:lnTo>
                <a:lnTo>
                  <a:pt x="92837" y="94221"/>
                </a:lnTo>
                <a:lnTo>
                  <a:pt x="92049" y="93967"/>
                </a:lnTo>
                <a:lnTo>
                  <a:pt x="91122" y="94094"/>
                </a:lnTo>
                <a:lnTo>
                  <a:pt x="56273" y="94221"/>
                </a:lnTo>
                <a:lnTo>
                  <a:pt x="58077" y="55473"/>
                </a:lnTo>
                <a:lnTo>
                  <a:pt x="75107" y="39992"/>
                </a:lnTo>
                <a:lnTo>
                  <a:pt x="82486" y="39992"/>
                </a:lnTo>
                <a:lnTo>
                  <a:pt x="97002" y="43675"/>
                </a:lnTo>
                <a:lnTo>
                  <a:pt x="99415" y="44691"/>
                </a:lnTo>
                <a:lnTo>
                  <a:pt x="100444" y="44958"/>
                </a:lnTo>
                <a:lnTo>
                  <a:pt x="101955" y="44958"/>
                </a:lnTo>
                <a:lnTo>
                  <a:pt x="102527" y="44691"/>
                </a:lnTo>
                <a:lnTo>
                  <a:pt x="103441" y="44196"/>
                </a:lnTo>
                <a:lnTo>
                  <a:pt x="103809" y="43675"/>
                </a:lnTo>
                <a:lnTo>
                  <a:pt x="104101" y="42799"/>
                </a:lnTo>
                <a:lnTo>
                  <a:pt x="104381" y="42037"/>
                </a:lnTo>
                <a:lnTo>
                  <a:pt x="104660" y="40754"/>
                </a:lnTo>
                <a:lnTo>
                  <a:pt x="104787" y="39992"/>
                </a:lnTo>
                <a:lnTo>
                  <a:pt x="105079" y="38227"/>
                </a:lnTo>
                <a:lnTo>
                  <a:pt x="105079" y="30213"/>
                </a:lnTo>
                <a:close/>
              </a:path>
              <a:path w="2440940" h="316864">
                <a:moveTo>
                  <a:pt x="266242" y="173863"/>
                </a:moveTo>
                <a:lnTo>
                  <a:pt x="258521" y="131178"/>
                </a:lnTo>
                <a:lnTo>
                  <a:pt x="248196" y="114033"/>
                </a:lnTo>
                <a:lnTo>
                  <a:pt x="246811" y="112255"/>
                </a:lnTo>
                <a:lnTo>
                  <a:pt x="241681" y="107137"/>
                </a:lnTo>
                <a:lnTo>
                  <a:pt x="236651" y="103187"/>
                </a:lnTo>
                <a:lnTo>
                  <a:pt x="236651" y="184899"/>
                </a:lnTo>
                <a:lnTo>
                  <a:pt x="235762" y="193154"/>
                </a:lnTo>
                <a:lnTo>
                  <a:pt x="233857" y="200774"/>
                </a:lnTo>
                <a:lnTo>
                  <a:pt x="232079" y="208267"/>
                </a:lnTo>
                <a:lnTo>
                  <a:pt x="229146" y="214731"/>
                </a:lnTo>
                <a:lnTo>
                  <a:pt x="196646" y="237477"/>
                </a:lnTo>
                <a:lnTo>
                  <a:pt x="188264" y="237591"/>
                </a:lnTo>
                <a:lnTo>
                  <a:pt x="178993" y="237591"/>
                </a:lnTo>
                <a:lnTo>
                  <a:pt x="146608" y="213855"/>
                </a:lnTo>
                <a:lnTo>
                  <a:pt x="139750" y="166878"/>
                </a:lnTo>
                <a:lnTo>
                  <a:pt x="140639" y="158623"/>
                </a:lnTo>
                <a:lnTo>
                  <a:pt x="160185" y="121767"/>
                </a:lnTo>
                <a:lnTo>
                  <a:pt x="179755" y="114147"/>
                </a:lnTo>
                <a:lnTo>
                  <a:pt x="188264" y="114147"/>
                </a:lnTo>
                <a:lnTo>
                  <a:pt x="197523" y="114033"/>
                </a:lnTo>
                <a:lnTo>
                  <a:pt x="205143" y="115671"/>
                </a:lnTo>
                <a:lnTo>
                  <a:pt x="211378" y="118999"/>
                </a:lnTo>
                <a:lnTo>
                  <a:pt x="217601" y="122161"/>
                </a:lnTo>
                <a:lnTo>
                  <a:pt x="222554" y="126619"/>
                </a:lnTo>
                <a:lnTo>
                  <a:pt x="226098" y="132321"/>
                </a:lnTo>
                <a:lnTo>
                  <a:pt x="229793" y="137922"/>
                </a:lnTo>
                <a:lnTo>
                  <a:pt x="236550" y="177787"/>
                </a:lnTo>
                <a:lnTo>
                  <a:pt x="236651" y="184899"/>
                </a:lnTo>
                <a:lnTo>
                  <a:pt x="236651" y="103187"/>
                </a:lnTo>
                <a:lnTo>
                  <a:pt x="198577" y="90500"/>
                </a:lnTo>
                <a:lnTo>
                  <a:pt x="189280" y="90157"/>
                </a:lnTo>
                <a:lnTo>
                  <a:pt x="179603" y="90639"/>
                </a:lnTo>
                <a:lnTo>
                  <a:pt x="140855" y="104559"/>
                </a:lnTo>
                <a:lnTo>
                  <a:pt x="117665" y="134950"/>
                </a:lnTo>
                <a:lnTo>
                  <a:pt x="110172" y="177787"/>
                </a:lnTo>
                <a:lnTo>
                  <a:pt x="110515" y="187439"/>
                </a:lnTo>
                <a:lnTo>
                  <a:pt x="121031" y="227622"/>
                </a:lnTo>
                <a:lnTo>
                  <a:pt x="153327" y="256159"/>
                </a:lnTo>
                <a:lnTo>
                  <a:pt x="186855" y="261734"/>
                </a:lnTo>
                <a:lnTo>
                  <a:pt x="196456" y="261239"/>
                </a:lnTo>
                <a:lnTo>
                  <a:pt x="235343" y="247091"/>
                </a:lnTo>
                <a:lnTo>
                  <a:pt x="245706" y="237591"/>
                </a:lnTo>
                <a:lnTo>
                  <a:pt x="246557" y="236715"/>
                </a:lnTo>
                <a:lnTo>
                  <a:pt x="263499" y="200774"/>
                </a:lnTo>
                <a:lnTo>
                  <a:pt x="265925" y="183184"/>
                </a:lnTo>
                <a:lnTo>
                  <a:pt x="266242" y="173863"/>
                </a:lnTo>
                <a:close/>
              </a:path>
              <a:path w="2440940" h="316864">
                <a:moveTo>
                  <a:pt x="399338" y="102235"/>
                </a:moveTo>
                <a:lnTo>
                  <a:pt x="399211" y="100711"/>
                </a:lnTo>
                <a:lnTo>
                  <a:pt x="399211" y="99187"/>
                </a:lnTo>
                <a:lnTo>
                  <a:pt x="399072" y="98031"/>
                </a:lnTo>
                <a:lnTo>
                  <a:pt x="398830" y="97142"/>
                </a:lnTo>
                <a:lnTo>
                  <a:pt x="398691" y="96380"/>
                </a:lnTo>
                <a:lnTo>
                  <a:pt x="398449" y="95745"/>
                </a:lnTo>
                <a:lnTo>
                  <a:pt x="398195" y="95250"/>
                </a:lnTo>
                <a:lnTo>
                  <a:pt x="398068" y="94615"/>
                </a:lnTo>
                <a:lnTo>
                  <a:pt x="397548" y="94094"/>
                </a:lnTo>
                <a:lnTo>
                  <a:pt x="396786" y="93573"/>
                </a:lnTo>
                <a:lnTo>
                  <a:pt x="396163" y="92964"/>
                </a:lnTo>
                <a:lnTo>
                  <a:pt x="395020" y="92443"/>
                </a:lnTo>
                <a:lnTo>
                  <a:pt x="393242" y="91808"/>
                </a:lnTo>
                <a:lnTo>
                  <a:pt x="391591" y="91287"/>
                </a:lnTo>
                <a:lnTo>
                  <a:pt x="387642" y="90284"/>
                </a:lnTo>
                <a:lnTo>
                  <a:pt x="385622" y="89916"/>
                </a:lnTo>
                <a:lnTo>
                  <a:pt x="383590" y="89522"/>
                </a:lnTo>
                <a:lnTo>
                  <a:pt x="378002" y="89154"/>
                </a:lnTo>
                <a:lnTo>
                  <a:pt x="373164" y="89154"/>
                </a:lnTo>
                <a:lnTo>
                  <a:pt x="369874" y="89649"/>
                </a:lnTo>
                <a:lnTo>
                  <a:pt x="363258" y="91440"/>
                </a:lnTo>
                <a:lnTo>
                  <a:pt x="359968" y="92964"/>
                </a:lnTo>
                <a:lnTo>
                  <a:pt x="356666" y="95250"/>
                </a:lnTo>
                <a:lnTo>
                  <a:pt x="353237" y="97536"/>
                </a:lnTo>
                <a:lnTo>
                  <a:pt x="334060" y="119875"/>
                </a:lnTo>
                <a:lnTo>
                  <a:pt x="333921" y="96253"/>
                </a:lnTo>
                <a:lnTo>
                  <a:pt x="333679" y="95491"/>
                </a:lnTo>
                <a:lnTo>
                  <a:pt x="332917" y="94221"/>
                </a:lnTo>
                <a:lnTo>
                  <a:pt x="332282" y="93573"/>
                </a:lnTo>
                <a:lnTo>
                  <a:pt x="331254" y="93091"/>
                </a:lnTo>
                <a:lnTo>
                  <a:pt x="330377" y="92570"/>
                </a:lnTo>
                <a:lnTo>
                  <a:pt x="329107" y="92329"/>
                </a:lnTo>
                <a:lnTo>
                  <a:pt x="327444" y="92049"/>
                </a:lnTo>
                <a:lnTo>
                  <a:pt x="323634" y="91808"/>
                </a:lnTo>
                <a:lnTo>
                  <a:pt x="321106" y="91935"/>
                </a:lnTo>
                <a:lnTo>
                  <a:pt x="316280" y="91935"/>
                </a:lnTo>
                <a:lnTo>
                  <a:pt x="314629" y="92202"/>
                </a:lnTo>
                <a:lnTo>
                  <a:pt x="312966" y="92329"/>
                </a:lnTo>
                <a:lnTo>
                  <a:pt x="311708" y="92697"/>
                </a:lnTo>
                <a:lnTo>
                  <a:pt x="309676" y="93726"/>
                </a:lnTo>
                <a:lnTo>
                  <a:pt x="308914" y="94335"/>
                </a:lnTo>
                <a:lnTo>
                  <a:pt x="308660" y="94983"/>
                </a:lnTo>
                <a:lnTo>
                  <a:pt x="308279" y="95618"/>
                </a:lnTo>
                <a:lnTo>
                  <a:pt x="308914" y="254241"/>
                </a:lnTo>
                <a:lnTo>
                  <a:pt x="311823" y="257289"/>
                </a:lnTo>
                <a:lnTo>
                  <a:pt x="312966" y="257797"/>
                </a:lnTo>
                <a:lnTo>
                  <a:pt x="314375" y="258165"/>
                </a:lnTo>
                <a:lnTo>
                  <a:pt x="316280" y="258318"/>
                </a:lnTo>
                <a:lnTo>
                  <a:pt x="318185" y="258559"/>
                </a:lnTo>
                <a:lnTo>
                  <a:pt x="320471" y="258686"/>
                </a:lnTo>
                <a:lnTo>
                  <a:pt x="326059" y="258686"/>
                </a:lnTo>
                <a:lnTo>
                  <a:pt x="334683" y="257162"/>
                </a:lnTo>
                <a:lnTo>
                  <a:pt x="335711" y="256794"/>
                </a:lnTo>
                <a:lnTo>
                  <a:pt x="336473" y="256159"/>
                </a:lnTo>
                <a:lnTo>
                  <a:pt x="336854" y="255511"/>
                </a:lnTo>
                <a:lnTo>
                  <a:pt x="337350" y="254876"/>
                </a:lnTo>
                <a:lnTo>
                  <a:pt x="337578" y="254241"/>
                </a:lnTo>
                <a:lnTo>
                  <a:pt x="337616" y="253225"/>
                </a:lnTo>
                <a:lnTo>
                  <a:pt x="336969" y="150609"/>
                </a:lnTo>
                <a:lnTo>
                  <a:pt x="341045" y="144145"/>
                </a:lnTo>
                <a:lnTo>
                  <a:pt x="357543" y="123812"/>
                </a:lnTo>
                <a:lnTo>
                  <a:pt x="360591" y="121005"/>
                </a:lnTo>
                <a:lnTo>
                  <a:pt x="362343" y="119875"/>
                </a:lnTo>
                <a:lnTo>
                  <a:pt x="363524" y="119113"/>
                </a:lnTo>
                <a:lnTo>
                  <a:pt x="366306" y="117957"/>
                </a:lnTo>
                <a:lnTo>
                  <a:pt x="369112" y="116827"/>
                </a:lnTo>
                <a:lnTo>
                  <a:pt x="371906" y="116192"/>
                </a:lnTo>
                <a:lnTo>
                  <a:pt x="377240" y="116192"/>
                </a:lnTo>
                <a:lnTo>
                  <a:pt x="379526" y="116433"/>
                </a:lnTo>
                <a:lnTo>
                  <a:pt x="381546" y="116827"/>
                </a:lnTo>
                <a:lnTo>
                  <a:pt x="385495" y="117843"/>
                </a:lnTo>
                <a:lnTo>
                  <a:pt x="387146" y="118351"/>
                </a:lnTo>
                <a:lnTo>
                  <a:pt x="388924" y="118872"/>
                </a:lnTo>
                <a:lnTo>
                  <a:pt x="391718" y="119875"/>
                </a:lnTo>
                <a:lnTo>
                  <a:pt x="392976" y="120396"/>
                </a:lnTo>
                <a:lnTo>
                  <a:pt x="394119" y="120637"/>
                </a:lnTo>
                <a:lnTo>
                  <a:pt x="396024" y="120637"/>
                </a:lnTo>
                <a:lnTo>
                  <a:pt x="396786" y="120396"/>
                </a:lnTo>
                <a:lnTo>
                  <a:pt x="397306" y="119761"/>
                </a:lnTo>
                <a:lnTo>
                  <a:pt x="397814" y="119240"/>
                </a:lnTo>
                <a:lnTo>
                  <a:pt x="399338" y="111747"/>
                </a:lnTo>
                <a:lnTo>
                  <a:pt x="399338" y="102235"/>
                </a:lnTo>
                <a:close/>
              </a:path>
              <a:path w="2440940" h="316864">
                <a:moveTo>
                  <a:pt x="492683" y="312267"/>
                </a:moveTo>
                <a:lnTo>
                  <a:pt x="492556" y="311264"/>
                </a:lnTo>
                <a:lnTo>
                  <a:pt x="492302" y="310134"/>
                </a:lnTo>
                <a:lnTo>
                  <a:pt x="491655" y="308737"/>
                </a:lnTo>
                <a:lnTo>
                  <a:pt x="484136" y="291096"/>
                </a:lnTo>
                <a:lnTo>
                  <a:pt x="467271" y="237109"/>
                </a:lnTo>
                <a:lnTo>
                  <a:pt x="459257" y="181800"/>
                </a:lnTo>
                <a:lnTo>
                  <a:pt x="458647" y="163195"/>
                </a:lnTo>
                <a:lnTo>
                  <a:pt x="459066" y="144487"/>
                </a:lnTo>
                <a:lnTo>
                  <a:pt x="466267" y="89395"/>
                </a:lnTo>
                <a:lnTo>
                  <a:pt x="482803" y="35318"/>
                </a:lnTo>
                <a:lnTo>
                  <a:pt x="490893" y="16764"/>
                </a:lnTo>
                <a:lnTo>
                  <a:pt x="491032" y="15735"/>
                </a:lnTo>
                <a:lnTo>
                  <a:pt x="490893" y="14846"/>
                </a:lnTo>
                <a:lnTo>
                  <a:pt x="490778" y="13843"/>
                </a:lnTo>
                <a:lnTo>
                  <a:pt x="490270" y="13195"/>
                </a:lnTo>
                <a:lnTo>
                  <a:pt x="481749" y="10668"/>
                </a:lnTo>
                <a:lnTo>
                  <a:pt x="479082" y="10795"/>
                </a:lnTo>
                <a:lnTo>
                  <a:pt x="474510" y="10795"/>
                </a:lnTo>
                <a:lnTo>
                  <a:pt x="472871" y="11036"/>
                </a:lnTo>
                <a:lnTo>
                  <a:pt x="471220" y="11163"/>
                </a:lnTo>
                <a:lnTo>
                  <a:pt x="469938" y="11430"/>
                </a:lnTo>
                <a:lnTo>
                  <a:pt x="465886" y="14084"/>
                </a:lnTo>
                <a:lnTo>
                  <a:pt x="461619" y="23063"/>
                </a:lnTo>
                <a:lnTo>
                  <a:pt x="446798" y="59397"/>
                </a:lnTo>
                <a:lnTo>
                  <a:pt x="436067" y="96799"/>
                </a:lnTo>
                <a:lnTo>
                  <a:pt x="429806" y="134848"/>
                </a:lnTo>
                <a:lnTo>
                  <a:pt x="428409" y="163957"/>
                </a:lnTo>
                <a:lnTo>
                  <a:pt x="428650" y="173723"/>
                </a:lnTo>
                <a:lnTo>
                  <a:pt x="432485" y="212204"/>
                </a:lnTo>
                <a:lnTo>
                  <a:pt x="441198" y="249834"/>
                </a:lnTo>
                <a:lnTo>
                  <a:pt x="454507" y="286245"/>
                </a:lnTo>
                <a:lnTo>
                  <a:pt x="469696" y="314947"/>
                </a:lnTo>
                <a:lnTo>
                  <a:pt x="470585" y="315468"/>
                </a:lnTo>
                <a:lnTo>
                  <a:pt x="471728" y="315709"/>
                </a:lnTo>
                <a:lnTo>
                  <a:pt x="472744" y="316077"/>
                </a:lnTo>
                <a:lnTo>
                  <a:pt x="474129" y="316357"/>
                </a:lnTo>
                <a:lnTo>
                  <a:pt x="475538" y="316471"/>
                </a:lnTo>
                <a:lnTo>
                  <a:pt x="477062" y="316471"/>
                </a:lnTo>
                <a:lnTo>
                  <a:pt x="478840" y="316598"/>
                </a:lnTo>
                <a:lnTo>
                  <a:pt x="483920" y="316598"/>
                </a:lnTo>
                <a:lnTo>
                  <a:pt x="486079" y="316357"/>
                </a:lnTo>
                <a:lnTo>
                  <a:pt x="489508" y="315836"/>
                </a:lnTo>
                <a:lnTo>
                  <a:pt x="490778" y="315315"/>
                </a:lnTo>
                <a:lnTo>
                  <a:pt x="492302" y="314071"/>
                </a:lnTo>
                <a:lnTo>
                  <a:pt x="492556" y="313550"/>
                </a:lnTo>
                <a:lnTo>
                  <a:pt x="492683" y="312267"/>
                </a:lnTo>
                <a:close/>
              </a:path>
              <a:path w="2440940" h="316864">
                <a:moveTo>
                  <a:pt x="569264" y="251955"/>
                </a:moveTo>
                <a:lnTo>
                  <a:pt x="568375" y="95097"/>
                </a:lnTo>
                <a:lnTo>
                  <a:pt x="565327" y="91935"/>
                </a:lnTo>
                <a:lnTo>
                  <a:pt x="564311" y="91440"/>
                </a:lnTo>
                <a:lnTo>
                  <a:pt x="562902" y="91046"/>
                </a:lnTo>
                <a:lnTo>
                  <a:pt x="560997" y="90919"/>
                </a:lnTo>
                <a:lnTo>
                  <a:pt x="559231" y="90678"/>
                </a:lnTo>
                <a:lnTo>
                  <a:pt x="556806" y="90525"/>
                </a:lnTo>
                <a:lnTo>
                  <a:pt x="551091" y="90525"/>
                </a:lnTo>
                <a:lnTo>
                  <a:pt x="548805" y="90678"/>
                </a:lnTo>
                <a:lnTo>
                  <a:pt x="545134" y="91173"/>
                </a:lnTo>
                <a:lnTo>
                  <a:pt x="543737" y="91567"/>
                </a:lnTo>
                <a:lnTo>
                  <a:pt x="542594" y="92049"/>
                </a:lnTo>
                <a:lnTo>
                  <a:pt x="541451" y="92443"/>
                </a:lnTo>
                <a:lnTo>
                  <a:pt x="540689" y="93091"/>
                </a:lnTo>
                <a:lnTo>
                  <a:pt x="540308" y="93726"/>
                </a:lnTo>
                <a:lnTo>
                  <a:pt x="539927" y="94488"/>
                </a:lnTo>
                <a:lnTo>
                  <a:pt x="539661" y="95250"/>
                </a:lnTo>
                <a:lnTo>
                  <a:pt x="539800" y="96012"/>
                </a:lnTo>
                <a:lnTo>
                  <a:pt x="540562" y="252984"/>
                </a:lnTo>
                <a:lnTo>
                  <a:pt x="540804" y="253746"/>
                </a:lnTo>
                <a:lnTo>
                  <a:pt x="541566" y="255003"/>
                </a:lnTo>
                <a:lnTo>
                  <a:pt x="542328" y="255638"/>
                </a:lnTo>
                <a:lnTo>
                  <a:pt x="543471" y="256032"/>
                </a:lnTo>
                <a:lnTo>
                  <a:pt x="544614" y="256527"/>
                </a:lnTo>
                <a:lnTo>
                  <a:pt x="546023" y="256794"/>
                </a:lnTo>
                <a:lnTo>
                  <a:pt x="549833" y="257289"/>
                </a:lnTo>
                <a:lnTo>
                  <a:pt x="552119" y="257403"/>
                </a:lnTo>
                <a:lnTo>
                  <a:pt x="557707" y="257403"/>
                </a:lnTo>
                <a:lnTo>
                  <a:pt x="560120" y="257289"/>
                </a:lnTo>
                <a:lnTo>
                  <a:pt x="563803" y="256794"/>
                </a:lnTo>
                <a:lnTo>
                  <a:pt x="565188" y="256400"/>
                </a:lnTo>
                <a:lnTo>
                  <a:pt x="566331" y="255879"/>
                </a:lnTo>
                <a:lnTo>
                  <a:pt x="567359" y="255511"/>
                </a:lnTo>
                <a:lnTo>
                  <a:pt x="568121" y="254876"/>
                </a:lnTo>
                <a:lnTo>
                  <a:pt x="568502" y="254241"/>
                </a:lnTo>
                <a:lnTo>
                  <a:pt x="568998" y="253593"/>
                </a:lnTo>
                <a:lnTo>
                  <a:pt x="569214" y="252984"/>
                </a:lnTo>
                <a:lnTo>
                  <a:pt x="569264" y="251955"/>
                </a:lnTo>
                <a:close/>
              </a:path>
              <a:path w="2440940" h="316864">
                <a:moveTo>
                  <a:pt x="571423" y="49898"/>
                </a:moveTo>
                <a:lnTo>
                  <a:pt x="571284" y="43167"/>
                </a:lnTo>
                <a:lnTo>
                  <a:pt x="571284" y="36576"/>
                </a:lnTo>
                <a:lnTo>
                  <a:pt x="570026" y="32131"/>
                </a:lnTo>
                <a:lnTo>
                  <a:pt x="565073" y="27432"/>
                </a:lnTo>
                <a:lnTo>
                  <a:pt x="560501" y="26276"/>
                </a:lnTo>
                <a:lnTo>
                  <a:pt x="546900" y="26276"/>
                </a:lnTo>
                <a:lnTo>
                  <a:pt x="542213" y="27559"/>
                </a:lnTo>
                <a:lnTo>
                  <a:pt x="537133" y="32372"/>
                </a:lnTo>
                <a:lnTo>
                  <a:pt x="536079" y="36576"/>
                </a:lnTo>
                <a:lnTo>
                  <a:pt x="535990" y="50292"/>
                </a:lnTo>
                <a:lnTo>
                  <a:pt x="537260" y="54711"/>
                </a:lnTo>
                <a:lnTo>
                  <a:pt x="539800" y="57150"/>
                </a:lnTo>
                <a:lnTo>
                  <a:pt x="542328" y="59436"/>
                </a:lnTo>
                <a:lnTo>
                  <a:pt x="546900" y="60566"/>
                </a:lnTo>
                <a:lnTo>
                  <a:pt x="560374" y="60566"/>
                </a:lnTo>
                <a:lnTo>
                  <a:pt x="565073" y="59283"/>
                </a:lnTo>
                <a:lnTo>
                  <a:pt x="570141" y="54470"/>
                </a:lnTo>
                <a:lnTo>
                  <a:pt x="571423" y="49898"/>
                </a:lnTo>
                <a:close/>
              </a:path>
              <a:path w="2440940" h="316864">
                <a:moveTo>
                  <a:pt x="754545" y="126098"/>
                </a:moveTo>
                <a:lnTo>
                  <a:pt x="749973" y="109461"/>
                </a:lnTo>
                <a:lnTo>
                  <a:pt x="614857" y="110223"/>
                </a:lnTo>
                <a:lnTo>
                  <a:pt x="613194" y="111099"/>
                </a:lnTo>
                <a:lnTo>
                  <a:pt x="610908" y="115189"/>
                </a:lnTo>
                <a:lnTo>
                  <a:pt x="610412" y="118237"/>
                </a:lnTo>
                <a:lnTo>
                  <a:pt x="610412" y="126987"/>
                </a:lnTo>
                <a:lnTo>
                  <a:pt x="611174" y="130149"/>
                </a:lnTo>
                <a:lnTo>
                  <a:pt x="612432" y="131953"/>
                </a:lnTo>
                <a:lnTo>
                  <a:pt x="613714" y="133718"/>
                </a:lnTo>
                <a:lnTo>
                  <a:pt x="615238" y="134607"/>
                </a:lnTo>
                <a:lnTo>
                  <a:pt x="749731" y="133845"/>
                </a:lnTo>
                <a:lnTo>
                  <a:pt x="751255" y="132956"/>
                </a:lnTo>
                <a:lnTo>
                  <a:pt x="752525" y="131191"/>
                </a:lnTo>
                <a:lnTo>
                  <a:pt x="753922" y="129387"/>
                </a:lnTo>
                <a:lnTo>
                  <a:pt x="754545" y="126098"/>
                </a:lnTo>
                <a:close/>
              </a:path>
              <a:path w="2440940" h="316864">
                <a:moveTo>
                  <a:pt x="754926" y="193675"/>
                </a:moveTo>
                <a:lnTo>
                  <a:pt x="750354" y="176631"/>
                </a:lnTo>
                <a:lnTo>
                  <a:pt x="748207" y="176784"/>
                </a:lnTo>
                <a:lnTo>
                  <a:pt x="615238" y="177393"/>
                </a:lnTo>
                <a:lnTo>
                  <a:pt x="613575" y="178435"/>
                </a:lnTo>
                <a:lnTo>
                  <a:pt x="612432" y="180441"/>
                </a:lnTo>
                <a:lnTo>
                  <a:pt x="611289" y="182359"/>
                </a:lnTo>
                <a:lnTo>
                  <a:pt x="610793" y="185534"/>
                </a:lnTo>
                <a:lnTo>
                  <a:pt x="610793" y="194437"/>
                </a:lnTo>
                <a:lnTo>
                  <a:pt x="611428" y="197599"/>
                </a:lnTo>
                <a:lnTo>
                  <a:pt x="612813" y="199250"/>
                </a:lnTo>
                <a:lnTo>
                  <a:pt x="614095" y="201015"/>
                </a:lnTo>
                <a:lnTo>
                  <a:pt x="615619" y="201930"/>
                </a:lnTo>
                <a:lnTo>
                  <a:pt x="750112" y="201168"/>
                </a:lnTo>
                <a:lnTo>
                  <a:pt x="751636" y="200253"/>
                </a:lnTo>
                <a:lnTo>
                  <a:pt x="752906" y="198488"/>
                </a:lnTo>
                <a:lnTo>
                  <a:pt x="754303" y="196837"/>
                </a:lnTo>
                <a:lnTo>
                  <a:pt x="754926" y="193675"/>
                </a:lnTo>
                <a:close/>
              </a:path>
              <a:path w="2440940" h="316864">
                <a:moveTo>
                  <a:pt x="938695" y="141097"/>
                </a:moveTo>
                <a:lnTo>
                  <a:pt x="934643" y="92329"/>
                </a:lnTo>
                <a:lnTo>
                  <a:pt x="921943" y="56388"/>
                </a:lnTo>
                <a:lnTo>
                  <a:pt x="918451" y="51422"/>
                </a:lnTo>
                <a:lnTo>
                  <a:pt x="917105" y="49504"/>
                </a:lnTo>
                <a:lnTo>
                  <a:pt x="911567" y="43522"/>
                </a:lnTo>
                <a:lnTo>
                  <a:pt x="908189" y="40779"/>
                </a:lnTo>
                <a:lnTo>
                  <a:pt x="908189" y="153212"/>
                </a:lnTo>
                <a:lnTo>
                  <a:pt x="907973" y="160020"/>
                </a:lnTo>
                <a:lnTo>
                  <a:pt x="901611" y="201777"/>
                </a:lnTo>
                <a:lnTo>
                  <a:pt x="878128" y="230251"/>
                </a:lnTo>
                <a:lnTo>
                  <a:pt x="873175" y="232410"/>
                </a:lnTo>
                <a:lnTo>
                  <a:pt x="867460" y="233413"/>
                </a:lnTo>
                <a:lnTo>
                  <a:pt x="860983" y="233413"/>
                </a:lnTo>
                <a:lnTo>
                  <a:pt x="852728" y="233540"/>
                </a:lnTo>
                <a:lnTo>
                  <a:pt x="822629" y="206527"/>
                </a:lnTo>
                <a:lnTo>
                  <a:pt x="814781" y="164401"/>
                </a:lnTo>
                <a:lnTo>
                  <a:pt x="814031" y="143751"/>
                </a:lnTo>
                <a:lnTo>
                  <a:pt x="814120" y="130797"/>
                </a:lnTo>
                <a:lnTo>
                  <a:pt x="818400" y="90830"/>
                </a:lnTo>
                <a:lnTo>
                  <a:pt x="837107" y="58521"/>
                </a:lnTo>
                <a:lnTo>
                  <a:pt x="843203" y="53835"/>
                </a:lnTo>
                <a:lnTo>
                  <a:pt x="851204" y="51422"/>
                </a:lnTo>
                <a:lnTo>
                  <a:pt x="866559" y="51422"/>
                </a:lnTo>
                <a:lnTo>
                  <a:pt x="897013" y="72682"/>
                </a:lnTo>
                <a:lnTo>
                  <a:pt x="899464" y="77330"/>
                </a:lnTo>
                <a:lnTo>
                  <a:pt x="907402" y="120434"/>
                </a:lnTo>
                <a:lnTo>
                  <a:pt x="908189" y="153212"/>
                </a:lnTo>
                <a:lnTo>
                  <a:pt x="908189" y="40779"/>
                </a:lnTo>
                <a:lnTo>
                  <a:pt x="862634" y="26911"/>
                </a:lnTo>
                <a:lnTo>
                  <a:pt x="851941" y="27533"/>
                </a:lnTo>
                <a:lnTo>
                  <a:pt x="811491" y="45821"/>
                </a:lnTo>
                <a:lnTo>
                  <a:pt x="789774" y="85940"/>
                </a:lnTo>
                <a:lnTo>
                  <a:pt x="783691" y="130797"/>
                </a:lnTo>
                <a:lnTo>
                  <a:pt x="783513" y="143751"/>
                </a:lnTo>
                <a:lnTo>
                  <a:pt x="783818" y="156883"/>
                </a:lnTo>
                <a:lnTo>
                  <a:pt x="789787" y="202780"/>
                </a:lnTo>
                <a:lnTo>
                  <a:pt x="810641" y="241312"/>
                </a:lnTo>
                <a:lnTo>
                  <a:pt x="849287" y="257517"/>
                </a:lnTo>
                <a:lnTo>
                  <a:pt x="859459" y="257924"/>
                </a:lnTo>
                <a:lnTo>
                  <a:pt x="870165" y="257327"/>
                </a:lnTo>
                <a:lnTo>
                  <a:pt x="910717" y="239115"/>
                </a:lnTo>
                <a:lnTo>
                  <a:pt x="932561" y="198996"/>
                </a:lnTo>
                <a:lnTo>
                  <a:pt x="938542" y="154139"/>
                </a:lnTo>
                <a:lnTo>
                  <a:pt x="938695" y="141097"/>
                </a:lnTo>
                <a:close/>
              </a:path>
              <a:path w="2440940" h="316864">
                <a:moveTo>
                  <a:pt x="1019581" y="118999"/>
                </a:moveTo>
                <a:lnTo>
                  <a:pt x="1019479" y="111099"/>
                </a:lnTo>
                <a:lnTo>
                  <a:pt x="1019225" y="107810"/>
                </a:lnTo>
                <a:lnTo>
                  <a:pt x="1018717" y="105283"/>
                </a:lnTo>
                <a:lnTo>
                  <a:pt x="1018197" y="102603"/>
                </a:lnTo>
                <a:lnTo>
                  <a:pt x="1017193" y="100584"/>
                </a:lnTo>
                <a:lnTo>
                  <a:pt x="1015669" y="99060"/>
                </a:lnTo>
                <a:lnTo>
                  <a:pt x="1014272" y="97383"/>
                </a:lnTo>
                <a:lnTo>
                  <a:pt x="1012367" y="96380"/>
                </a:lnTo>
                <a:lnTo>
                  <a:pt x="1007795" y="95097"/>
                </a:lnTo>
                <a:lnTo>
                  <a:pt x="1004862" y="94856"/>
                </a:lnTo>
                <a:lnTo>
                  <a:pt x="997508" y="94856"/>
                </a:lnTo>
                <a:lnTo>
                  <a:pt x="983145" y="118999"/>
                </a:lnTo>
                <a:lnTo>
                  <a:pt x="983411" y="122047"/>
                </a:lnTo>
                <a:lnTo>
                  <a:pt x="983907" y="124574"/>
                </a:lnTo>
                <a:lnTo>
                  <a:pt x="984554" y="127101"/>
                </a:lnTo>
                <a:lnTo>
                  <a:pt x="985431" y="129146"/>
                </a:lnTo>
                <a:lnTo>
                  <a:pt x="986840" y="130670"/>
                </a:lnTo>
                <a:lnTo>
                  <a:pt x="988237" y="132321"/>
                </a:lnTo>
                <a:lnTo>
                  <a:pt x="990142" y="133350"/>
                </a:lnTo>
                <a:lnTo>
                  <a:pt x="992428" y="133959"/>
                </a:lnTo>
                <a:lnTo>
                  <a:pt x="994714" y="134607"/>
                </a:lnTo>
                <a:lnTo>
                  <a:pt x="997762" y="134874"/>
                </a:lnTo>
                <a:lnTo>
                  <a:pt x="1005001" y="134874"/>
                </a:lnTo>
                <a:lnTo>
                  <a:pt x="1015911" y="130543"/>
                </a:lnTo>
                <a:lnTo>
                  <a:pt x="1017320" y="129019"/>
                </a:lnTo>
                <a:lnTo>
                  <a:pt x="1018336" y="126987"/>
                </a:lnTo>
                <a:lnTo>
                  <a:pt x="1019340" y="121920"/>
                </a:lnTo>
                <a:lnTo>
                  <a:pt x="1019581" y="118999"/>
                </a:lnTo>
                <a:close/>
              </a:path>
              <a:path w="2440940" h="316864">
                <a:moveTo>
                  <a:pt x="1020241" y="232537"/>
                </a:moveTo>
                <a:lnTo>
                  <a:pt x="1011097" y="215493"/>
                </a:lnTo>
                <a:lnTo>
                  <a:pt x="1009053" y="215125"/>
                </a:lnTo>
                <a:lnTo>
                  <a:pt x="1006525" y="215011"/>
                </a:lnTo>
                <a:lnTo>
                  <a:pt x="1000937" y="215011"/>
                </a:lnTo>
                <a:lnTo>
                  <a:pt x="991285" y="217538"/>
                </a:lnTo>
                <a:lnTo>
                  <a:pt x="989888" y="218427"/>
                </a:lnTo>
                <a:lnTo>
                  <a:pt x="988860" y="219824"/>
                </a:lnTo>
                <a:lnTo>
                  <a:pt x="988237" y="221589"/>
                </a:lnTo>
                <a:lnTo>
                  <a:pt x="987602" y="223507"/>
                </a:lnTo>
                <a:lnTo>
                  <a:pt x="987259" y="225793"/>
                </a:lnTo>
                <a:lnTo>
                  <a:pt x="987336" y="251307"/>
                </a:lnTo>
                <a:lnTo>
                  <a:pt x="964819" y="298945"/>
                </a:lnTo>
                <a:lnTo>
                  <a:pt x="964438" y="299961"/>
                </a:lnTo>
                <a:lnTo>
                  <a:pt x="964234" y="300596"/>
                </a:lnTo>
                <a:lnTo>
                  <a:pt x="964361" y="301879"/>
                </a:lnTo>
                <a:lnTo>
                  <a:pt x="964742" y="302514"/>
                </a:lnTo>
                <a:lnTo>
                  <a:pt x="965238" y="302882"/>
                </a:lnTo>
                <a:lnTo>
                  <a:pt x="965885" y="303403"/>
                </a:lnTo>
                <a:lnTo>
                  <a:pt x="966762" y="303644"/>
                </a:lnTo>
                <a:lnTo>
                  <a:pt x="968171" y="303885"/>
                </a:lnTo>
                <a:lnTo>
                  <a:pt x="969429" y="304038"/>
                </a:lnTo>
                <a:lnTo>
                  <a:pt x="971092" y="304165"/>
                </a:lnTo>
                <a:lnTo>
                  <a:pt x="975144" y="304165"/>
                </a:lnTo>
                <a:lnTo>
                  <a:pt x="976934" y="304038"/>
                </a:lnTo>
                <a:lnTo>
                  <a:pt x="978331" y="303771"/>
                </a:lnTo>
                <a:lnTo>
                  <a:pt x="979855" y="303517"/>
                </a:lnTo>
                <a:lnTo>
                  <a:pt x="984808" y="301231"/>
                </a:lnTo>
                <a:lnTo>
                  <a:pt x="985570" y="300723"/>
                </a:lnTo>
                <a:lnTo>
                  <a:pt x="986193" y="299961"/>
                </a:lnTo>
                <a:lnTo>
                  <a:pt x="986713" y="298945"/>
                </a:lnTo>
                <a:lnTo>
                  <a:pt x="1012101" y="260604"/>
                </a:lnTo>
                <a:lnTo>
                  <a:pt x="1019987" y="235826"/>
                </a:lnTo>
                <a:lnTo>
                  <a:pt x="1020241" y="232537"/>
                </a:lnTo>
                <a:close/>
              </a:path>
              <a:path w="2440940" h="316864">
                <a:moveTo>
                  <a:pt x="1101140" y="248907"/>
                </a:moveTo>
                <a:lnTo>
                  <a:pt x="1100251" y="92049"/>
                </a:lnTo>
                <a:lnTo>
                  <a:pt x="1099997" y="91287"/>
                </a:lnTo>
                <a:lnTo>
                  <a:pt x="1099489" y="90678"/>
                </a:lnTo>
                <a:lnTo>
                  <a:pt x="1098969" y="89916"/>
                </a:lnTo>
                <a:lnTo>
                  <a:pt x="1088682" y="87630"/>
                </a:lnTo>
                <a:lnTo>
                  <a:pt x="1082967" y="87630"/>
                </a:lnTo>
                <a:lnTo>
                  <a:pt x="1071537" y="93091"/>
                </a:lnTo>
                <a:lnTo>
                  <a:pt x="1072438" y="250063"/>
                </a:lnTo>
                <a:lnTo>
                  <a:pt x="1081582" y="254355"/>
                </a:lnTo>
                <a:lnTo>
                  <a:pt x="1089583" y="254355"/>
                </a:lnTo>
                <a:lnTo>
                  <a:pt x="1100378" y="251307"/>
                </a:lnTo>
                <a:lnTo>
                  <a:pt x="1100874" y="250698"/>
                </a:lnTo>
                <a:lnTo>
                  <a:pt x="1101102" y="250063"/>
                </a:lnTo>
                <a:lnTo>
                  <a:pt x="1101140" y="248907"/>
                </a:lnTo>
                <a:close/>
              </a:path>
              <a:path w="2440940" h="316864">
                <a:moveTo>
                  <a:pt x="1103299" y="46850"/>
                </a:moveTo>
                <a:lnTo>
                  <a:pt x="1103160" y="40119"/>
                </a:lnTo>
                <a:lnTo>
                  <a:pt x="1103160" y="33655"/>
                </a:lnTo>
                <a:lnTo>
                  <a:pt x="1101902" y="29083"/>
                </a:lnTo>
                <a:lnTo>
                  <a:pt x="1099350" y="26797"/>
                </a:lnTo>
                <a:lnTo>
                  <a:pt x="1096949" y="24384"/>
                </a:lnTo>
                <a:lnTo>
                  <a:pt x="1092377" y="23228"/>
                </a:lnTo>
                <a:lnTo>
                  <a:pt x="1085634" y="23228"/>
                </a:lnTo>
                <a:lnTo>
                  <a:pt x="1078776" y="23355"/>
                </a:lnTo>
                <a:lnTo>
                  <a:pt x="1074089" y="24511"/>
                </a:lnTo>
                <a:lnTo>
                  <a:pt x="1071537" y="27038"/>
                </a:lnTo>
                <a:lnTo>
                  <a:pt x="1069009" y="29451"/>
                </a:lnTo>
                <a:lnTo>
                  <a:pt x="1067955" y="33655"/>
                </a:lnTo>
                <a:lnTo>
                  <a:pt x="1067866" y="47371"/>
                </a:lnTo>
                <a:lnTo>
                  <a:pt x="1069136" y="51816"/>
                </a:lnTo>
                <a:lnTo>
                  <a:pt x="1071676" y="54102"/>
                </a:lnTo>
                <a:lnTo>
                  <a:pt x="1074089" y="56515"/>
                </a:lnTo>
                <a:lnTo>
                  <a:pt x="1078776" y="57645"/>
                </a:lnTo>
                <a:lnTo>
                  <a:pt x="1085392" y="57645"/>
                </a:lnTo>
                <a:lnTo>
                  <a:pt x="1092250" y="57518"/>
                </a:lnTo>
                <a:lnTo>
                  <a:pt x="1096949" y="56388"/>
                </a:lnTo>
                <a:lnTo>
                  <a:pt x="1099489" y="53835"/>
                </a:lnTo>
                <a:lnTo>
                  <a:pt x="1102017" y="51422"/>
                </a:lnTo>
                <a:lnTo>
                  <a:pt x="1103299" y="46850"/>
                </a:lnTo>
                <a:close/>
              </a:path>
              <a:path w="2440940" h="316864">
                <a:moveTo>
                  <a:pt x="1285925" y="220827"/>
                </a:moveTo>
                <a:lnTo>
                  <a:pt x="1167815" y="153162"/>
                </a:lnTo>
                <a:lnTo>
                  <a:pt x="1279182" y="98031"/>
                </a:lnTo>
                <a:lnTo>
                  <a:pt x="1284020" y="93205"/>
                </a:lnTo>
                <a:lnTo>
                  <a:pt x="1284516" y="91935"/>
                </a:lnTo>
                <a:lnTo>
                  <a:pt x="1284782" y="90411"/>
                </a:lnTo>
                <a:lnTo>
                  <a:pt x="1285036" y="86474"/>
                </a:lnTo>
                <a:lnTo>
                  <a:pt x="1285163" y="83820"/>
                </a:lnTo>
                <a:lnTo>
                  <a:pt x="1285163" y="80378"/>
                </a:lnTo>
                <a:lnTo>
                  <a:pt x="1285036" y="75044"/>
                </a:lnTo>
                <a:lnTo>
                  <a:pt x="1284516" y="71628"/>
                </a:lnTo>
                <a:lnTo>
                  <a:pt x="1283550" y="70104"/>
                </a:lnTo>
                <a:lnTo>
                  <a:pt x="1282611" y="68821"/>
                </a:lnTo>
                <a:lnTo>
                  <a:pt x="1280845" y="68821"/>
                </a:lnTo>
                <a:lnTo>
                  <a:pt x="1278178" y="70104"/>
                </a:lnTo>
                <a:lnTo>
                  <a:pt x="1142403" y="139446"/>
                </a:lnTo>
                <a:lnTo>
                  <a:pt x="1141780" y="139687"/>
                </a:lnTo>
                <a:lnTo>
                  <a:pt x="1138212" y="149199"/>
                </a:lnTo>
                <a:lnTo>
                  <a:pt x="1138212" y="156972"/>
                </a:lnTo>
                <a:lnTo>
                  <a:pt x="1142022" y="166484"/>
                </a:lnTo>
                <a:lnTo>
                  <a:pt x="1280325" y="235458"/>
                </a:lnTo>
                <a:lnTo>
                  <a:pt x="1281353" y="235826"/>
                </a:lnTo>
                <a:lnTo>
                  <a:pt x="1283131" y="236067"/>
                </a:lnTo>
                <a:lnTo>
                  <a:pt x="1283893" y="235699"/>
                </a:lnTo>
                <a:lnTo>
                  <a:pt x="1285925" y="227076"/>
                </a:lnTo>
                <a:lnTo>
                  <a:pt x="1285925" y="220827"/>
                </a:lnTo>
                <a:close/>
              </a:path>
              <a:path w="2440940" h="316864">
                <a:moveTo>
                  <a:pt x="1420418" y="96621"/>
                </a:moveTo>
                <a:lnTo>
                  <a:pt x="1420291" y="94983"/>
                </a:lnTo>
                <a:lnTo>
                  <a:pt x="1420291" y="93459"/>
                </a:lnTo>
                <a:lnTo>
                  <a:pt x="1420152" y="92329"/>
                </a:lnTo>
                <a:lnTo>
                  <a:pt x="1419910" y="91440"/>
                </a:lnTo>
                <a:lnTo>
                  <a:pt x="1419771" y="90678"/>
                </a:lnTo>
                <a:lnTo>
                  <a:pt x="1419390" y="89763"/>
                </a:lnTo>
                <a:lnTo>
                  <a:pt x="1419009" y="89001"/>
                </a:lnTo>
                <a:lnTo>
                  <a:pt x="1418628" y="88392"/>
                </a:lnTo>
                <a:lnTo>
                  <a:pt x="1417866" y="87871"/>
                </a:lnTo>
                <a:lnTo>
                  <a:pt x="1417243" y="87236"/>
                </a:lnTo>
                <a:lnTo>
                  <a:pt x="1399082" y="83426"/>
                </a:lnTo>
                <a:lnTo>
                  <a:pt x="1394244" y="83426"/>
                </a:lnTo>
                <a:lnTo>
                  <a:pt x="1390954" y="83947"/>
                </a:lnTo>
                <a:lnTo>
                  <a:pt x="1384338" y="85712"/>
                </a:lnTo>
                <a:lnTo>
                  <a:pt x="1381048" y="87236"/>
                </a:lnTo>
                <a:lnTo>
                  <a:pt x="1377746" y="89522"/>
                </a:lnTo>
                <a:lnTo>
                  <a:pt x="1374317" y="91808"/>
                </a:lnTo>
                <a:lnTo>
                  <a:pt x="1370761" y="94856"/>
                </a:lnTo>
                <a:lnTo>
                  <a:pt x="1367078" y="98907"/>
                </a:lnTo>
                <a:lnTo>
                  <a:pt x="1363383" y="102870"/>
                </a:lnTo>
                <a:lnTo>
                  <a:pt x="1359331" y="107937"/>
                </a:lnTo>
                <a:lnTo>
                  <a:pt x="1355140" y="114147"/>
                </a:lnTo>
                <a:lnTo>
                  <a:pt x="1355001" y="90525"/>
                </a:lnTo>
                <a:lnTo>
                  <a:pt x="1346758" y="86233"/>
                </a:lnTo>
                <a:lnTo>
                  <a:pt x="1339519" y="86233"/>
                </a:lnTo>
                <a:lnTo>
                  <a:pt x="1329143" y="90525"/>
                </a:lnTo>
                <a:lnTo>
                  <a:pt x="1329156" y="102870"/>
                </a:lnTo>
                <a:lnTo>
                  <a:pt x="1329994" y="248653"/>
                </a:lnTo>
                <a:lnTo>
                  <a:pt x="1341551" y="252984"/>
                </a:lnTo>
                <a:lnTo>
                  <a:pt x="1347139" y="252984"/>
                </a:lnTo>
                <a:lnTo>
                  <a:pt x="1357934" y="249783"/>
                </a:lnTo>
                <a:lnTo>
                  <a:pt x="1358430" y="249174"/>
                </a:lnTo>
                <a:lnTo>
                  <a:pt x="1358607" y="248653"/>
                </a:lnTo>
                <a:lnTo>
                  <a:pt x="1358696" y="247497"/>
                </a:lnTo>
                <a:lnTo>
                  <a:pt x="1358049" y="144907"/>
                </a:lnTo>
                <a:lnTo>
                  <a:pt x="1362125" y="138531"/>
                </a:lnTo>
                <a:lnTo>
                  <a:pt x="1383512" y="114147"/>
                </a:lnTo>
                <a:lnTo>
                  <a:pt x="1384604" y="113385"/>
                </a:lnTo>
                <a:lnTo>
                  <a:pt x="1387386" y="112255"/>
                </a:lnTo>
                <a:lnTo>
                  <a:pt x="1390053" y="111099"/>
                </a:lnTo>
                <a:lnTo>
                  <a:pt x="1392986" y="110490"/>
                </a:lnTo>
                <a:lnTo>
                  <a:pt x="1398320" y="110490"/>
                </a:lnTo>
                <a:lnTo>
                  <a:pt x="1400479" y="110731"/>
                </a:lnTo>
                <a:lnTo>
                  <a:pt x="1414056" y="114668"/>
                </a:lnTo>
                <a:lnTo>
                  <a:pt x="1415199" y="114909"/>
                </a:lnTo>
                <a:lnTo>
                  <a:pt x="1417104" y="114909"/>
                </a:lnTo>
                <a:lnTo>
                  <a:pt x="1417751" y="114668"/>
                </a:lnTo>
                <a:lnTo>
                  <a:pt x="1418247" y="114147"/>
                </a:lnTo>
                <a:lnTo>
                  <a:pt x="1418894" y="113538"/>
                </a:lnTo>
                <a:lnTo>
                  <a:pt x="1420418" y="106045"/>
                </a:lnTo>
                <a:lnTo>
                  <a:pt x="1420418" y="96621"/>
                </a:lnTo>
                <a:close/>
              </a:path>
              <a:path w="2440940" h="316864">
                <a:moveTo>
                  <a:pt x="1591983" y="166484"/>
                </a:moveTo>
                <a:lnTo>
                  <a:pt x="1584350" y="123799"/>
                </a:lnTo>
                <a:lnTo>
                  <a:pt x="1574088" y="106680"/>
                </a:lnTo>
                <a:lnTo>
                  <a:pt x="1572691" y="104889"/>
                </a:lnTo>
                <a:lnTo>
                  <a:pt x="1567548" y="99720"/>
                </a:lnTo>
                <a:lnTo>
                  <a:pt x="1562404" y="95719"/>
                </a:lnTo>
                <a:lnTo>
                  <a:pt x="1562404" y="177546"/>
                </a:lnTo>
                <a:lnTo>
                  <a:pt x="1561642" y="185775"/>
                </a:lnTo>
                <a:lnTo>
                  <a:pt x="1559712" y="193344"/>
                </a:lnTo>
                <a:lnTo>
                  <a:pt x="1557959" y="200901"/>
                </a:lnTo>
                <a:lnTo>
                  <a:pt x="1555026" y="207391"/>
                </a:lnTo>
                <a:lnTo>
                  <a:pt x="1547164" y="218300"/>
                </a:lnTo>
                <a:lnTo>
                  <a:pt x="1542072" y="222504"/>
                </a:lnTo>
                <a:lnTo>
                  <a:pt x="1529765" y="228600"/>
                </a:lnTo>
                <a:lnTo>
                  <a:pt x="1522526" y="230124"/>
                </a:lnTo>
                <a:lnTo>
                  <a:pt x="1514144" y="230124"/>
                </a:lnTo>
                <a:lnTo>
                  <a:pt x="1504873" y="230251"/>
                </a:lnTo>
                <a:lnTo>
                  <a:pt x="1472488" y="206502"/>
                </a:lnTo>
                <a:lnTo>
                  <a:pt x="1465630" y="159499"/>
                </a:lnTo>
                <a:lnTo>
                  <a:pt x="1466519" y="151244"/>
                </a:lnTo>
                <a:lnTo>
                  <a:pt x="1470329" y="136245"/>
                </a:lnTo>
                <a:lnTo>
                  <a:pt x="1473250" y="129667"/>
                </a:lnTo>
                <a:lnTo>
                  <a:pt x="1477187" y="124206"/>
                </a:lnTo>
                <a:lnTo>
                  <a:pt x="1481112" y="118605"/>
                </a:lnTo>
                <a:lnTo>
                  <a:pt x="1486065" y="114427"/>
                </a:lnTo>
                <a:lnTo>
                  <a:pt x="1498257" y="108331"/>
                </a:lnTo>
                <a:lnTo>
                  <a:pt x="1505635" y="106807"/>
                </a:lnTo>
                <a:lnTo>
                  <a:pt x="1514144" y="106680"/>
                </a:lnTo>
                <a:lnTo>
                  <a:pt x="1523288" y="106680"/>
                </a:lnTo>
                <a:lnTo>
                  <a:pt x="1551978" y="124815"/>
                </a:lnTo>
                <a:lnTo>
                  <a:pt x="1555673" y="130543"/>
                </a:lnTo>
                <a:lnTo>
                  <a:pt x="1558340" y="137160"/>
                </a:lnTo>
                <a:lnTo>
                  <a:pt x="1559864" y="144627"/>
                </a:lnTo>
                <a:lnTo>
                  <a:pt x="1561503" y="152133"/>
                </a:lnTo>
                <a:lnTo>
                  <a:pt x="1562328" y="159499"/>
                </a:lnTo>
                <a:lnTo>
                  <a:pt x="1562404" y="177546"/>
                </a:lnTo>
                <a:lnTo>
                  <a:pt x="1562404" y="95719"/>
                </a:lnTo>
                <a:lnTo>
                  <a:pt x="1524469" y="83070"/>
                </a:lnTo>
                <a:lnTo>
                  <a:pt x="1515160" y="82791"/>
                </a:lnTo>
                <a:lnTo>
                  <a:pt x="1505483" y="83261"/>
                </a:lnTo>
                <a:lnTo>
                  <a:pt x="1466621" y="97205"/>
                </a:lnTo>
                <a:lnTo>
                  <a:pt x="1443494" y="127508"/>
                </a:lnTo>
                <a:lnTo>
                  <a:pt x="1436039" y="170421"/>
                </a:lnTo>
                <a:lnTo>
                  <a:pt x="1436344" y="180073"/>
                </a:lnTo>
                <a:lnTo>
                  <a:pt x="1446847" y="220192"/>
                </a:lnTo>
                <a:lnTo>
                  <a:pt x="1479207" y="248780"/>
                </a:lnTo>
                <a:lnTo>
                  <a:pt x="1512735" y="254241"/>
                </a:lnTo>
                <a:lnTo>
                  <a:pt x="1522336" y="253809"/>
                </a:lnTo>
                <a:lnTo>
                  <a:pt x="1561223" y="239737"/>
                </a:lnTo>
                <a:lnTo>
                  <a:pt x="1584401" y="209346"/>
                </a:lnTo>
                <a:lnTo>
                  <a:pt x="1591754" y="175818"/>
                </a:lnTo>
                <a:lnTo>
                  <a:pt x="1591983" y="166484"/>
                </a:lnTo>
                <a:close/>
              </a:path>
              <a:path w="2440940" h="316864">
                <a:moveTo>
                  <a:pt x="1850631" y="89649"/>
                </a:moveTo>
                <a:lnTo>
                  <a:pt x="1850567" y="86474"/>
                </a:lnTo>
                <a:lnTo>
                  <a:pt x="1850059" y="85953"/>
                </a:lnTo>
                <a:lnTo>
                  <a:pt x="1849678" y="85344"/>
                </a:lnTo>
                <a:lnTo>
                  <a:pt x="1849043" y="84823"/>
                </a:lnTo>
                <a:lnTo>
                  <a:pt x="1848015" y="84429"/>
                </a:lnTo>
                <a:lnTo>
                  <a:pt x="1847011" y="83947"/>
                </a:lnTo>
                <a:lnTo>
                  <a:pt x="1845729" y="83667"/>
                </a:lnTo>
                <a:lnTo>
                  <a:pt x="1842300" y="83426"/>
                </a:lnTo>
                <a:lnTo>
                  <a:pt x="1834299" y="83426"/>
                </a:lnTo>
                <a:lnTo>
                  <a:pt x="1821942" y="89154"/>
                </a:lnTo>
                <a:lnTo>
                  <a:pt x="1785531" y="217932"/>
                </a:lnTo>
                <a:lnTo>
                  <a:pt x="1785416" y="219456"/>
                </a:lnTo>
                <a:lnTo>
                  <a:pt x="1785035" y="217932"/>
                </a:lnTo>
                <a:lnTo>
                  <a:pt x="1759038" y="129781"/>
                </a:lnTo>
                <a:lnTo>
                  <a:pt x="1746808" y="88239"/>
                </a:lnTo>
                <a:lnTo>
                  <a:pt x="1746427" y="87363"/>
                </a:lnTo>
                <a:lnTo>
                  <a:pt x="1745907" y="86715"/>
                </a:lnTo>
                <a:lnTo>
                  <a:pt x="1745526" y="85953"/>
                </a:lnTo>
                <a:lnTo>
                  <a:pt x="1735378" y="83947"/>
                </a:lnTo>
                <a:lnTo>
                  <a:pt x="1732572" y="83947"/>
                </a:lnTo>
                <a:lnTo>
                  <a:pt x="1729790" y="84061"/>
                </a:lnTo>
                <a:lnTo>
                  <a:pt x="1727377" y="84061"/>
                </a:lnTo>
                <a:lnTo>
                  <a:pt x="1725599" y="84315"/>
                </a:lnTo>
                <a:lnTo>
                  <a:pt x="1723809" y="84429"/>
                </a:lnTo>
                <a:lnTo>
                  <a:pt x="1722424" y="84823"/>
                </a:lnTo>
                <a:lnTo>
                  <a:pt x="1684070" y="218427"/>
                </a:lnTo>
                <a:lnTo>
                  <a:pt x="1683804" y="220065"/>
                </a:lnTo>
                <a:lnTo>
                  <a:pt x="1683423" y="218427"/>
                </a:lnTo>
                <a:lnTo>
                  <a:pt x="1645081" y="90043"/>
                </a:lnTo>
                <a:lnTo>
                  <a:pt x="1644700" y="89001"/>
                </a:lnTo>
                <a:lnTo>
                  <a:pt x="1644319" y="88125"/>
                </a:lnTo>
                <a:lnTo>
                  <a:pt x="1643799" y="87363"/>
                </a:lnTo>
                <a:lnTo>
                  <a:pt x="1643418" y="86601"/>
                </a:lnTo>
                <a:lnTo>
                  <a:pt x="1637080" y="84823"/>
                </a:lnTo>
                <a:lnTo>
                  <a:pt x="1635175" y="84582"/>
                </a:lnTo>
                <a:lnTo>
                  <a:pt x="1626654" y="84582"/>
                </a:lnTo>
                <a:lnTo>
                  <a:pt x="1624368" y="84709"/>
                </a:lnTo>
                <a:lnTo>
                  <a:pt x="1620697" y="84950"/>
                </a:lnTo>
                <a:lnTo>
                  <a:pt x="1619173" y="85191"/>
                </a:lnTo>
                <a:lnTo>
                  <a:pt x="1618157" y="85585"/>
                </a:lnTo>
                <a:lnTo>
                  <a:pt x="1617014" y="85953"/>
                </a:lnTo>
                <a:lnTo>
                  <a:pt x="1615224" y="91440"/>
                </a:lnTo>
                <a:lnTo>
                  <a:pt x="1615490" y="92570"/>
                </a:lnTo>
                <a:lnTo>
                  <a:pt x="1615770" y="93967"/>
                </a:lnTo>
                <a:lnTo>
                  <a:pt x="1663496" y="246126"/>
                </a:lnTo>
                <a:lnTo>
                  <a:pt x="1678609" y="251066"/>
                </a:lnTo>
                <a:lnTo>
                  <a:pt x="1685709" y="251066"/>
                </a:lnTo>
                <a:lnTo>
                  <a:pt x="1696758" y="249783"/>
                </a:lnTo>
                <a:lnTo>
                  <a:pt x="1698282" y="249301"/>
                </a:lnTo>
                <a:lnTo>
                  <a:pt x="1701711" y="244729"/>
                </a:lnTo>
                <a:lnTo>
                  <a:pt x="1708175" y="220065"/>
                </a:lnTo>
                <a:lnTo>
                  <a:pt x="1731429" y="131305"/>
                </a:lnTo>
                <a:lnTo>
                  <a:pt x="1731810" y="129781"/>
                </a:lnTo>
                <a:lnTo>
                  <a:pt x="1732191" y="131305"/>
                </a:lnTo>
                <a:lnTo>
                  <a:pt x="1765985" y="245491"/>
                </a:lnTo>
                <a:lnTo>
                  <a:pt x="1770430" y="249174"/>
                </a:lnTo>
                <a:lnTo>
                  <a:pt x="1771815" y="249669"/>
                </a:lnTo>
                <a:lnTo>
                  <a:pt x="1773720" y="250063"/>
                </a:lnTo>
                <a:lnTo>
                  <a:pt x="1776145" y="250177"/>
                </a:lnTo>
                <a:lnTo>
                  <a:pt x="1778673" y="250431"/>
                </a:lnTo>
                <a:lnTo>
                  <a:pt x="1781606" y="250545"/>
                </a:lnTo>
                <a:lnTo>
                  <a:pt x="1785150" y="250545"/>
                </a:lnTo>
                <a:lnTo>
                  <a:pt x="1788718" y="250431"/>
                </a:lnTo>
                <a:lnTo>
                  <a:pt x="1791512" y="250431"/>
                </a:lnTo>
                <a:lnTo>
                  <a:pt x="1793913" y="250177"/>
                </a:lnTo>
                <a:lnTo>
                  <a:pt x="1796199" y="250063"/>
                </a:lnTo>
                <a:lnTo>
                  <a:pt x="1797989" y="249669"/>
                </a:lnTo>
                <a:lnTo>
                  <a:pt x="1799386" y="249174"/>
                </a:lnTo>
                <a:lnTo>
                  <a:pt x="1800656" y="248780"/>
                </a:lnTo>
                <a:lnTo>
                  <a:pt x="1801672" y="248145"/>
                </a:lnTo>
                <a:lnTo>
                  <a:pt x="1802676" y="247015"/>
                </a:lnTo>
                <a:lnTo>
                  <a:pt x="1803196" y="246494"/>
                </a:lnTo>
                <a:lnTo>
                  <a:pt x="1803704" y="245491"/>
                </a:lnTo>
                <a:lnTo>
                  <a:pt x="1811604" y="219456"/>
                </a:lnTo>
                <a:lnTo>
                  <a:pt x="1849158" y="95618"/>
                </a:lnTo>
                <a:lnTo>
                  <a:pt x="1849805" y="93967"/>
                </a:lnTo>
                <a:lnTo>
                  <a:pt x="1850186" y="92443"/>
                </a:lnTo>
                <a:lnTo>
                  <a:pt x="1850402" y="91440"/>
                </a:lnTo>
                <a:lnTo>
                  <a:pt x="1850631" y="89649"/>
                </a:lnTo>
                <a:close/>
              </a:path>
              <a:path w="2440940" h="316864">
                <a:moveTo>
                  <a:pt x="1895017" y="220980"/>
                </a:moveTo>
                <a:lnTo>
                  <a:pt x="1894636" y="218427"/>
                </a:lnTo>
                <a:lnTo>
                  <a:pt x="1894001" y="216649"/>
                </a:lnTo>
                <a:lnTo>
                  <a:pt x="1893354" y="214731"/>
                </a:lnTo>
                <a:lnTo>
                  <a:pt x="1881301" y="210045"/>
                </a:lnTo>
                <a:lnTo>
                  <a:pt x="1878495" y="210045"/>
                </a:lnTo>
                <a:lnTo>
                  <a:pt x="1865680" y="212598"/>
                </a:lnTo>
                <a:lnTo>
                  <a:pt x="1864283" y="213487"/>
                </a:lnTo>
                <a:lnTo>
                  <a:pt x="1863255" y="214884"/>
                </a:lnTo>
                <a:lnTo>
                  <a:pt x="1861997" y="218694"/>
                </a:lnTo>
                <a:lnTo>
                  <a:pt x="1861845" y="220065"/>
                </a:lnTo>
                <a:lnTo>
                  <a:pt x="1861756" y="227685"/>
                </a:lnTo>
                <a:lnTo>
                  <a:pt x="1861870" y="246494"/>
                </a:lnTo>
                <a:lnTo>
                  <a:pt x="1839010" y="294259"/>
                </a:lnTo>
                <a:lnTo>
                  <a:pt x="1838629" y="295135"/>
                </a:lnTo>
                <a:lnTo>
                  <a:pt x="1838591" y="295262"/>
                </a:lnTo>
                <a:lnTo>
                  <a:pt x="1838490" y="297421"/>
                </a:lnTo>
                <a:lnTo>
                  <a:pt x="1838871" y="297942"/>
                </a:lnTo>
                <a:lnTo>
                  <a:pt x="1845233" y="299466"/>
                </a:lnTo>
                <a:lnTo>
                  <a:pt x="1847253" y="299466"/>
                </a:lnTo>
                <a:lnTo>
                  <a:pt x="1849424" y="299313"/>
                </a:lnTo>
                <a:lnTo>
                  <a:pt x="1851202" y="299313"/>
                </a:lnTo>
                <a:lnTo>
                  <a:pt x="1852726" y="299072"/>
                </a:lnTo>
                <a:lnTo>
                  <a:pt x="1854111" y="298945"/>
                </a:lnTo>
                <a:lnTo>
                  <a:pt x="1856536" y="298183"/>
                </a:lnTo>
                <a:lnTo>
                  <a:pt x="1857540" y="297675"/>
                </a:lnTo>
                <a:lnTo>
                  <a:pt x="1858568" y="297180"/>
                </a:lnTo>
                <a:lnTo>
                  <a:pt x="1859203" y="296545"/>
                </a:lnTo>
                <a:lnTo>
                  <a:pt x="1859965" y="296024"/>
                </a:lnTo>
                <a:lnTo>
                  <a:pt x="1860727" y="295262"/>
                </a:lnTo>
                <a:lnTo>
                  <a:pt x="1884857" y="258559"/>
                </a:lnTo>
                <a:lnTo>
                  <a:pt x="1886762" y="255765"/>
                </a:lnTo>
                <a:lnTo>
                  <a:pt x="1894497" y="233934"/>
                </a:lnTo>
                <a:lnTo>
                  <a:pt x="1894878" y="230886"/>
                </a:lnTo>
                <a:lnTo>
                  <a:pt x="1895017" y="227685"/>
                </a:lnTo>
                <a:lnTo>
                  <a:pt x="1895017" y="220980"/>
                </a:lnTo>
                <a:close/>
              </a:path>
              <a:path w="2440940" h="316864">
                <a:moveTo>
                  <a:pt x="1974354" y="245097"/>
                </a:moveTo>
                <a:lnTo>
                  <a:pt x="1974278" y="244081"/>
                </a:lnTo>
                <a:lnTo>
                  <a:pt x="1973516" y="87236"/>
                </a:lnTo>
                <a:lnTo>
                  <a:pt x="1973237" y="86474"/>
                </a:lnTo>
                <a:lnTo>
                  <a:pt x="1972754" y="85839"/>
                </a:lnTo>
                <a:lnTo>
                  <a:pt x="1972233" y="85077"/>
                </a:lnTo>
                <a:lnTo>
                  <a:pt x="1971471" y="84582"/>
                </a:lnTo>
                <a:lnTo>
                  <a:pt x="1969427" y="83553"/>
                </a:lnTo>
                <a:lnTo>
                  <a:pt x="1968030" y="83299"/>
                </a:lnTo>
                <a:lnTo>
                  <a:pt x="1966137" y="83058"/>
                </a:lnTo>
                <a:lnTo>
                  <a:pt x="1964220" y="82791"/>
                </a:lnTo>
                <a:lnTo>
                  <a:pt x="1961934" y="82664"/>
                </a:lnTo>
                <a:lnTo>
                  <a:pt x="1959038" y="82791"/>
                </a:lnTo>
                <a:lnTo>
                  <a:pt x="1956231" y="82791"/>
                </a:lnTo>
                <a:lnTo>
                  <a:pt x="1953945" y="82905"/>
                </a:lnTo>
                <a:lnTo>
                  <a:pt x="1952028" y="83185"/>
                </a:lnTo>
                <a:lnTo>
                  <a:pt x="1950262" y="83299"/>
                </a:lnTo>
                <a:lnTo>
                  <a:pt x="1948738" y="83667"/>
                </a:lnTo>
                <a:lnTo>
                  <a:pt x="1947722" y="84188"/>
                </a:lnTo>
                <a:lnTo>
                  <a:pt x="1946567" y="84709"/>
                </a:lnTo>
                <a:lnTo>
                  <a:pt x="1945805" y="85191"/>
                </a:lnTo>
                <a:lnTo>
                  <a:pt x="1945436" y="85953"/>
                </a:lnTo>
                <a:lnTo>
                  <a:pt x="1945043" y="86601"/>
                </a:lnTo>
                <a:lnTo>
                  <a:pt x="1944839" y="87236"/>
                </a:lnTo>
                <a:lnTo>
                  <a:pt x="1944801" y="88125"/>
                </a:lnTo>
                <a:lnTo>
                  <a:pt x="1945690" y="245097"/>
                </a:lnTo>
                <a:lnTo>
                  <a:pt x="1945932" y="245973"/>
                </a:lnTo>
                <a:lnTo>
                  <a:pt x="1946325" y="246621"/>
                </a:lnTo>
                <a:lnTo>
                  <a:pt x="1946694" y="247256"/>
                </a:lnTo>
                <a:lnTo>
                  <a:pt x="1947456" y="247777"/>
                </a:lnTo>
                <a:lnTo>
                  <a:pt x="1948611" y="248145"/>
                </a:lnTo>
                <a:lnTo>
                  <a:pt x="1949742" y="248653"/>
                </a:lnTo>
                <a:lnTo>
                  <a:pt x="1951139" y="249021"/>
                </a:lnTo>
                <a:lnTo>
                  <a:pt x="1953056" y="249174"/>
                </a:lnTo>
                <a:lnTo>
                  <a:pt x="1954834" y="249415"/>
                </a:lnTo>
                <a:lnTo>
                  <a:pt x="1957235" y="249542"/>
                </a:lnTo>
                <a:lnTo>
                  <a:pt x="1962848" y="249542"/>
                </a:lnTo>
                <a:lnTo>
                  <a:pt x="1965248" y="249415"/>
                </a:lnTo>
                <a:lnTo>
                  <a:pt x="1968944" y="248907"/>
                </a:lnTo>
                <a:lnTo>
                  <a:pt x="1970316" y="248539"/>
                </a:lnTo>
                <a:lnTo>
                  <a:pt x="1971344" y="248018"/>
                </a:lnTo>
                <a:lnTo>
                  <a:pt x="1972475" y="247650"/>
                </a:lnTo>
                <a:lnTo>
                  <a:pt x="1973237" y="247015"/>
                </a:lnTo>
                <a:lnTo>
                  <a:pt x="1973630" y="246367"/>
                </a:lnTo>
                <a:lnTo>
                  <a:pt x="1974126" y="245732"/>
                </a:lnTo>
                <a:lnTo>
                  <a:pt x="1974354" y="245097"/>
                </a:lnTo>
                <a:close/>
              </a:path>
              <a:path w="2440940" h="316864">
                <a:moveTo>
                  <a:pt x="1976564" y="42037"/>
                </a:moveTo>
                <a:lnTo>
                  <a:pt x="1976424" y="35814"/>
                </a:lnTo>
                <a:lnTo>
                  <a:pt x="1976412" y="28689"/>
                </a:lnTo>
                <a:lnTo>
                  <a:pt x="1975154" y="24231"/>
                </a:lnTo>
                <a:lnTo>
                  <a:pt x="1970189" y="19545"/>
                </a:lnTo>
                <a:lnTo>
                  <a:pt x="1965502" y="18415"/>
                </a:lnTo>
                <a:lnTo>
                  <a:pt x="1952028" y="18415"/>
                </a:lnTo>
                <a:lnTo>
                  <a:pt x="1941118" y="42405"/>
                </a:lnTo>
                <a:lnTo>
                  <a:pt x="1942388" y="46850"/>
                </a:lnTo>
                <a:lnTo>
                  <a:pt x="1944928" y="49263"/>
                </a:lnTo>
                <a:lnTo>
                  <a:pt x="1947329" y="51663"/>
                </a:lnTo>
                <a:lnTo>
                  <a:pt x="1952028" y="52819"/>
                </a:lnTo>
                <a:lnTo>
                  <a:pt x="1958644" y="52705"/>
                </a:lnTo>
                <a:lnTo>
                  <a:pt x="1965502" y="52705"/>
                </a:lnTo>
                <a:lnTo>
                  <a:pt x="1970189" y="51422"/>
                </a:lnTo>
                <a:lnTo>
                  <a:pt x="1975281" y="46609"/>
                </a:lnTo>
                <a:lnTo>
                  <a:pt x="1976564" y="42037"/>
                </a:lnTo>
                <a:close/>
              </a:path>
              <a:path w="2440940" h="316864">
                <a:moveTo>
                  <a:pt x="2164016" y="143624"/>
                </a:moveTo>
                <a:lnTo>
                  <a:pt x="2163622" y="141973"/>
                </a:lnTo>
                <a:lnTo>
                  <a:pt x="2163368" y="140449"/>
                </a:lnTo>
                <a:lnTo>
                  <a:pt x="2162860" y="139179"/>
                </a:lnTo>
                <a:lnTo>
                  <a:pt x="2158530" y="135242"/>
                </a:lnTo>
                <a:lnTo>
                  <a:pt x="2100618" y="135483"/>
                </a:lnTo>
                <a:lnTo>
                  <a:pt x="2100249" y="71475"/>
                </a:lnTo>
                <a:lnTo>
                  <a:pt x="2097328" y="68059"/>
                </a:lnTo>
                <a:lnTo>
                  <a:pt x="2096439" y="67424"/>
                </a:lnTo>
                <a:lnTo>
                  <a:pt x="2095042" y="67056"/>
                </a:lnTo>
                <a:lnTo>
                  <a:pt x="2093518" y="66789"/>
                </a:lnTo>
                <a:lnTo>
                  <a:pt x="2091867" y="66535"/>
                </a:lnTo>
                <a:lnTo>
                  <a:pt x="2089823" y="66421"/>
                </a:lnTo>
                <a:lnTo>
                  <a:pt x="2085136" y="66421"/>
                </a:lnTo>
                <a:lnTo>
                  <a:pt x="2083092" y="66535"/>
                </a:lnTo>
                <a:lnTo>
                  <a:pt x="2081441" y="66903"/>
                </a:lnTo>
                <a:lnTo>
                  <a:pt x="2079802" y="67183"/>
                </a:lnTo>
                <a:lnTo>
                  <a:pt x="2074583" y="72517"/>
                </a:lnTo>
                <a:lnTo>
                  <a:pt x="2074976" y="135636"/>
                </a:lnTo>
                <a:lnTo>
                  <a:pt x="2016950" y="136004"/>
                </a:lnTo>
                <a:lnTo>
                  <a:pt x="2012099" y="142862"/>
                </a:lnTo>
                <a:lnTo>
                  <a:pt x="2011730" y="144386"/>
                </a:lnTo>
                <a:lnTo>
                  <a:pt x="2011730" y="152400"/>
                </a:lnTo>
                <a:lnTo>
                  <a:pt x="2012492" y="155575"/>
                </a:lnTo>
                <a:lnTo>
                  <a:pt x="2017191" y="160782"/>
                </a:lnTo>
                <a:lnTo>
                  <a:pt x="2075103" y="160604"/>
                </a:lnTo>
                <a:lnTo>
                  <a:pt x="2075472" y="224523"/>
                </a:lnTo>
                <a:lnTo>
                  <a:pt x="2082330" y="228600"/>
                </a:lnTo>
                <a:lnTo>
                  <a:pt x="2084006" y="228968"/>
                </a:lnTo>
                <a:lnTo>
                  <a:pt x="2086013" y="229095"/>
                </a:lnTo>
                <a:lnTo>
                  <a:pt x="2088299" y="229095"/>
                </a:lnTo>
                <a:lnTo>
                  <a:pt x="2098205" y="227444"/>
                </a:lnTo>
                <a:lnTo>
                  <a:pt x="2099246" y="226923"/>
                </a:lnTo>
                <a:lnTo>
                  <a:pt x="2100008" y="226441"/>
                </a:lnTo>
                <a:lnTo>
                  <a:pt x="2100376" y="225793"/>
                </a:lnTo>
                <a:lnTo>
                  <a:pt x="2100884" y="225158"/>
                </a:lnTo>
                <a:lnTo>
                  <a:pt x="2101088" y="224523"/>
                </a:lnTo>
                <a:lnTo>
                  <a:pt x="2101138" y="223393"/>
                </a:lnTo>
                <a:lnTo>
                  <a:pt x="2100770" y="160515"/>
                </a:lnTo>
                <a:lnTo>
                  <a:pt x="2100770" y="160261"/>
                </a:lnTo>
                <a:lnTo>
                  <a:pt x="2158530" y="160020"/>
                </a:lnTo>
                <a:lnTo>
                  <a:pt x="2159444" y="159753"/>
                </a:lnTo>
                <a:lnTo>
                  <a:pt x="2160206" y="159258"/>
                </a:lnTo>
                <a:lnTo>
                  <a:pt x="2161082" y="158864"/>
                </a:lnTo>
                <a:lnTo>
                  <a:pt x="2161730" y="158102"/>
                </a:lnTo>
                <a:lnTo>
                  <a:pt x="2162213" y="156972"/>
                </a:lnTo>
                <a:lnTo>
                  <a:pt x="2162860" y="155943"/>
                </a:lnTo>
                <a:lnTo>
                  <a:pt x="2163368" y="154686"/>
                </a:lnTo>
                <a:lnTo>
                  <a:pt x="2163622" y="153162"/>
                </a:lnTo>
                <a:lnTo>
                  <a:pt x="2164016" y="151485"/>
                </a:lnTo>
                <a:lnTo>
                  <a:pt x="2164016" y="143624"/>
                </a:lnTo>
                <a:close/>
              </a:path>
              <a:path w="2440940" h="316864">
                <a:moveTo>
                  <a:pt x="2343848" y="142621"/>
                </a:moveTo>
                <a:lnTo>
                  <a:pt x="2343454" y="140970"/>
                </a:lnTo>
                <a:lnTo>
                  <a:pt x="2343200" y="139446"/>
                </a:lnTo>
                <a:lnTo>
                  <a:pt x="2342692" y="138163"/>
                </a:lnTo>
                <a:lnTo>
                  <a:pt x="2341410" y="136131"/>
                </a:lnTo>
                <a:lnTo>
                  <a:pt x="2340800" y="135369"/>
                </a:lnTo>
                <a:lnTo>
                  <a:pt x="2339454" y="134480"/>
                </a:lnTo>
                <a:lnTo>
                  <a:pt x="2339276" y="134353"/>
                </a:lnTo>
                <a:lnTo>
                  <a:pt x="2338362" y="134239"/>
                </a:lnTo>
                <a:lnTo>
                  <a:pt x="2280450" y="134480"/>
                </a:lnTo>
                <a:lnTo>
                  <a:pt x="2280081" y="70472"/>
                </a:lnTo>
                <a:lnTo>
                  <a:pt x="2277160" y="67056"/>
                </a:lnTo>
                <a:lnTo>
                  <a:pt x="2276271" y="66535"/>
                </a:lnTo>
                <a:lnTo>
                  <a:pt x="2274874" y="66027"/>
                </a:lnTo>
                <a:lnTo>
                  <a:pt x="2271699" y="65532"/>
                </a:lnTo>
                <a:lnTo>
                  <a:pt x="2269655" y="65379"/>
                </a:lnTo>
                <a:lnTo>
                  <a:pt x="2264968" y="65379"/>
                </a:lnTo>
                <a:lnTo>
                  <a:pt x="2262924" y="65532"/>
                </a:lnTo>
                <a:lnTo>
                  <a:pt x="2261273" y="65900"/>
                </a:lnTo>
                <a:lnTo>
                  <a:pt x="2259634" y="66141"/>
                </a:lnTo>
                <a:lnTo>
                  <a:pt x="2258225" y="66535"/>
                </a:lnTo>
                <a:lnTo>
                  <a:pt x="2257221" y="67183"/>
                </a:lnTo>
                <a:lnTo>
                  <a:pt x="2256332" y="67665"/>
                </a:lnTo>
                <a:lnTo>
                  <a:pt x="2254415" y="71475"/>
                </a:lnTo>
                <a:lnTo>
                  <a:pt x="2254808" y="134607"/>
                </a:lnTo>
                <a:lnTo>
                  <a:pt x="2196782" y="135001"/>
                </a:lnTo>
                <a:lnTo>
                  <a:pt x="2191931" y="141859"/>
                </a:lnTo>
                <a:lnTo>
                  <a:pt x="2191562" y="143383"/>
                </a:lnTo>
                <a:lnTo>
                  <a:pt x="2191562" y="151371"/>
                </a:lnTo>
                <a:lnTo>
                  <a:pt x="2192324" y="154533"/>
                </a:lnTo>
                <a:lnTo>
                  <a:pt x="2197023" y="159753"/>
                </a:lnTo>
                <a:lnTo>
                  <a:pt x="2254935" y="159588"/>
                </a:lnTo>
                <a:lnTo>
                  <a:pt x="2255304" y="223507"/>
                </a:lnTo>
                <a:lnTo>
                  <a:pt x="2265845" y="228079"/>
                </a:lnTo>
                <a:lnTo>
                  <a:pt x="2270544" y="228079"/>
                </a:lnTo>
                <a:lnTo>
                  <a:pt x="2272588" y="227838"/>
                </a:lnTo>
                <a:lnTo>
                  <a:pt x="2275751" y="227317"/>
                </a:lnTo>
                <a:lnTo>
                  <a:pt x="2277160" y="226923"/>
                </a:lnTo>
                <a:lnTo>
                  <a:pt x="2278037" y="226441"/>
                </a:lnTo>
                <a:lnTo>
                  <a:pt x="2279078" y="225920"/>
                </a:lnTo>
                <a:lnTo>
                  <a:pt x="2279840" y="225399"/>
                </a:lnTo>
                <a:lnTo>
                  <a:pt x="2280208" y="224790"/>
                </a:lnTo>
                <a:lnTo>
                  <a:pt x="2280716" y="224155"/>
                </a:lnTo>
                <a:lnTo>
                  <a:pt x="2280920" y="223507"/>
                </a:lnTo>
                <a:lnTo>
                  <a:pt x="2280970" y="222351"/>
                </a:lnTo>
                <a:lnTo>
                  <a:pt x="2280602" y="159499"/>
                </a:lnTo>
                <a:lnTo>
                  <a:pt x="2280602" y="159258"/>
                </a:lnTo>
                <a:lnTo>
                  <a:pt x="2338362" y="158991"/>
                </a:lnTo>
                <a:lnTo>
                  <a:pt x="2339276" y="158737"/>
                </a:lnTo>
                <a:lnTo>
                  <a:pt x="2340038" y="158229"/>
                </a:lnTo>
                <a:lnTo>
                  <a:pt x="2340914" y="157861"/>
                </a:lnTo>
                <a:lnTo>
                  <a:pt x="2341562" y="157099"/>
                </a:lnTo>
                <a:lnTo>
                  <a:pt x="2342045" y="156057"/>
                </a:lnTo>
                <a:lnTo>
                  <a:pt x="2342692" y="154927"/>
                </a:lnTo>
                <a:lnTo>
                  <a:pt x="2343200" y="153657"/>
                </a:lnTo>
                <a:lnTo>
                  <a:pt x="2343454" y="152133"/>
                </a:lnTo>
                <a:lnTo>
                  <a:pt x="2343848" y="150482"/>
                </a:lnTo>
                <a:lnTo>
                  <a:pt x="2343848" y="142621"/>
                </a:lnTo>
                <a:close/>
              </a:path>
              <a:path w="2440940" h="316864">
                <a:moveTo>
                  <a:pt x="2440457" y="152400"/>
                </a:moveTo>
                <a:lnTo>
                  <a:pt x="2437739" y="114084"/>
                </a:lnTo>
                <a:lnTo>
                  <a:pt x="2429954" y="76200"/>
                </a:lnTo>
                <a:lnTo>
                  <a:pt x="2417673" y="39217"/>
                </a:lnTo>
                <a:lnTo>
                  <a:pt x="2401239" y="2781"/>
                </a:lnTo>
                <a:lnTo>
                  <a:pt x="2399957" y="1765"/>
                </a:lnTo>
                <a:lnTo>
                  <a:pt x="2399322" y="1371"/>
                </a:lnTo>
                <a:lnTo>
                  <a:pt x="2390813" y="0"/>
                </a:lnTo>
                <a:lnTo>
                  <a:pt x="2388285" y="127"/>
                </a:lnTo>
                <a:lnTo>
                  <a:pt x="2385606" y="127"/>
                </a:lnTo>
                <a:lnTo>
                  <a:pt x="2376614" y="4305"/>
                </a:lnTo>
                <a:lnTo>
                  <a:pt x="2376462" y="5181"/>
                </a:lnTo>
                <a:lnTo>
                  <a:pt x="2376614" y="6223"/>
                </a:lnTo>
                <a:lnTo>
                  <a:pt x="2377097" y="7226"/>
                </a:lnTo>
                <a:lnTo>
                  <a:pt x="2384869" y="24701"/>
                </a:lnTo>
                <a:lnTo>
                  <a:pt x="2402001" y="78613"/>
                </a:lnTo>
                <a:lnTo>
                  <a:pt x="2409888" y="133845"/>
                </a:lnTo>
                <a:lnTo>
                  <a:pt x="2410510" y="152400"/>
                </a:lnTo>
                <a:lnTo>
                  <a:pt x="2410091" y="170967"/>
                </a:lnTo>
                <a:lnTo>
                  <a:pt x="2402763" y="226314"/>
                </a:lnTo>
                <a:lnTo>
                  <a:pt x="2386482" y="280543"/>
                </a:lnTo>
                <a:lnTo>
                  <a:pt x="2378506" y="299593"/>
                </a:lnTo>
                <a:lnTo>
                  <a:pt x="2378252" y="300723"/>
                </a:lnTo>
                <a:lnTo>
                  <a:pt x="2386888" y="305930"/>
                </a:lnTo>
                <a:lnTo>
                  <a:pt x="2391968" y="305930"/>
                </a:lnTo>
                <a:lnTo>
                  <a:pt x="2415933" y="275336"/>
                </a:lnTo>
                <a:lnTo>
                  <a:pt x="2428697" y="238734"/>
                </a:lnTo>
                <a:lnTo>
                  <a:pt x="2437015" y="201028"/>
                </a:lnTo>
                <a:lnTo>
                  <a:pt x="2440406" y="162433"/>
                </a:lnTo>
                <a:lnTo>
                  <a:pt x="2440457" y="152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1397258" y="3646687"/>
            <a:ext cx="2353945" cy="319405"/>
            <a:chOff x="1397258" y="3646687"/>
            <a:chExt cx="2353945" cy="31940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7258" y="3656837"/>
              <a:ext cx="1305687" cy="30899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35821" y="3646690"/>
              <a:ext cx="1015365" cy="312420"/>
            </a:xfrm>
            <a:custGeom>
              <a:avLst/>
              <a:gdLst/>
              <a:ahLst/>
              <a:cxnLst/>
              <a:rect l="l" t="t" r="r" b="b"/>
              <a:pathLst>
                <a:path w="1015364" h="312420">
                  <a:moveTo>
                    <a:pt x="123266" y="219316"/>
                  </a:moveTo>
                  <a:lnTo>
                    <a:pt x="120662" y="210172"/>
                  </a:lnTo>
                  <a:lnTo>
                    <a:pt x="120154" y="209664"/>
                  </a:lnTo>
                  <a:lnTo>
                    <a:pt x="119392" y="209410"/>
                  </a:lnTo>
                  <a:lnTo>
                    <a:pt x="117233" y="209410"/>
                  </a:lnTo>
                  <a:lnTo>
                    <a:pt x="115328" y="210426"/>
                  </a:lnTo>
                  <a:lnTo>
                    <a:pt x="112776" y="212458"/>
                  </a:lnTo>
                  <a:lnTo>
                    <a:pt x="110375" y="214503"/>
                  </a:lnTo>
                  <a:lnTo>
                    <a:pt x="107327" y="216789"/>
                  </a:lnTo>
                  <a:lnTo>
                    <a:pt x="103632" y="219316"/>
                  </a:lnTo>
                  <a:lnTo>
                    <a:pt x="100088" y="221856"/>
                  </a:lnTo>
                  <a:lnTo>
                    <a:pt x="95770" y="224142"/>
                  </a:lnTo>
                  <a:lnTo>
                    <a:pt x="90817" y="226174"/>
                  </a:lnTo>
                  <a:lnTo>
                    <a:pt x="85864" y="228333"/>
                  </a:lnTo>
                  <a:lnTo>
                    <a:pt x="80010" y="229362"/>
                  </a:lnTo>
                  <a:lnTo>
                    <a:pt x="73418" y="229476"/>
                  </a:lnTo>
                  <a:lnTo>
                    <a:pt x="66560" y="229476"/>
                  </a:lnTo>
                  <a:lnTo>
                    <a:pt x="60337" y="228333"/>
                  </a:lnTo>
                  <a:lnTo>
                    <a:pt x="55003" y="225793"/>
                  </a:lnTo>
                  <a:lnTo>
                    <a:pt x="49530" y="223380"/>
                  </a:lnTo>
                  <a:lnTo>
                    <a:pt x="31508" y="189687"/>
                  </a:lnTo>
                  <a:lnTo>
                    <a:pt x="29718" y="169164"/>
                  </a:lnTo>
                  <a:lnTo>
                    <a:pt x="30391" y="154990"/>
                  </a:lnTo>
                  <a:lnTo>
                    <a:pt x="46520" y="116166"/>
                  </a:lnTo>
                  <a:lnTo>
                    <a:pt x="72148" y="107048"/>
                  </a:lnTo>
                  <a:lnTo>
                    <a:pt x="78752" y="107048"/>
                  </a:lnTo>
                  <a:lnTo>
                    <a:pt x="84582" y="107937"/>
                  </a:lnTo>
                  <a:lnTo>
                    <a:pt x="94488" y="111747"/>
                  </a:lnTo>
                  <a:lnTo>
                    <a:pt x="98679" y="113779"/>
                  </a:lnTo>
                  <a:lnTo>
                    <a:pt x="102260" y="116166"/>
                  </a:lnTo>
                  <a:lnTo>
                    <a:pt x="105676" y="118351"/>
                  </a:lnTo>
                  <a:lnTo>
                    <a:pt x="110756" y="122288"/>
                  </a:lnTo>
                  <a:lnTo>
                    <a:pt x="113042" y="124206"/>
                  </a:lnTo>
                  <a:lnTo>
                    <a:pt x="115062" y="125209"/>
                  </a:lnTo>
                  <a:lnTo>
                    <a:pt x="118249" y="125209"/>
                  </a:lnTo>
                  <a:lnTo>
                    <a:pt x="119519" y="124333"/>
                  </a:lnTo>
                  <a:lnTo>
                    <a:pt x="120599" y="122288"/>
                  </a:lnTo>
                  <a:lnTo>
                    <a:pt x="121539" y="120637"/>
                  </a:lnTo>
                  <a:lnTo>
                    <a:pt x="122059" y="117475"/>
                  </a:lnTo>
                  <a:lnTo>
                    <a:pt x="121958" y="109702"/>
                  </a:lnTo>
                  <a:lnTo>
                    <a:pt x="121729" y="107048"/>
                  </a:lnTo>
                  <a:lnTo>
                    <a:pt x="121539" y="105156"/>
                  </a:lnTo>
                  <a:lnTo>
                    <a:pt x="121119" y="104000"/>
                  </a:lnTo>
                  <a:lnTo>
                    <a:pt x="120777" y="102997"/>
                  </a:lnTo>
                  <a:lnTo>
                    <a:pt x="110248" y="92964"/>
                  </a:lnTo>
                  <a:lnTo>
                    <a:pt x="107200" y="91046"/>
                  </a:lnTo>
                  <a:lnTo>
                    <a:pt x="103632" y="89281"/>
                  </a:lnTo>
                  <a:lnTo>
                    <a:pt x="99707" y="87871"/>
                  </a:lnTo>
                  <a:lnTo>
                    <a:pt x="95770" y="86347"/>
                  </a:lnTo>
                  <a:lnTo>
                    <a:pt x="91440" y="85191"/>
                  </a:lnTo>
                  <a:lnTo>
                    <a:pt x="86753" y="84188"/>
                  </a:lnTo>
                  <a:lnTo>
                    <a:pt x="82054" y="83299"/>
                  </a:lnTo>
                  <a:lnTo>
                    <a:pt x="77228" y="82905"/>
                  </a:lnTo>
                  <a:lnTo>
                    <a:pt x="72275" y="82905"/>
                  </a:lnTo>
                  <a:lnTo>
                    <a:pt x="31280" y="94754"/>
                  </a:lnTo>
                  <a:lnTo>
                    <a:pt x="5334" y="131305"/>
                  </a:lnTo>
                  <a:lnTo>
                    <a:pt x="0" y="170929"/>
                  </a:lnTo>
                  <a:lnTo>
                    <a:pt x="304" y="180746"/>
                  </a:lnTo>
                  <a:lnTo>
                    <a:pt x="10452" y="220954"/>
                  </a:lnTo>
                  <a:lnTo>
                    <a:pt x="40144" y="248907"/>
                  </a:lnTo>
                  <a:lnTo>
                    <a:pt x="69989" y="254241"/>
                  </a:lnTo>
                  <a:lnTo>
                    <a:pt x="75438" y="254241"/>
                  </a:lnTo>
                  <a:lnTo>
                    <a:pt x="80657" y="253746"/>
                  </a:lnTo>
                  <a:lnTo>
                    <a:pt x="85725" y="252603"/>
                  </a:lnTo>
                  <a:lnTo>
                    <a:pt x="90817" y="251574"/>
                  </a:lnTo>
                  <a:lnTo>
                    <a:pt x="95516" y="250177"/>
                  </a:lnTo>
                  <a:lnTo>
                    <a:pt x="99822" y="248412"/>
                  </a:lnTo>
                  <a:lnTo>
                    <a:pt x="104152" y="246748"/>
                  </a:lnTo>
                  <a:lnTo>
                    <a:pt x="121539" y="233934"/>
                  </a:lnTo>
                  <a:lnTo>
                    <a:pt x="122059" y="233172"/>
                  </a:lnTo>
                  <a:lnTo>
                    <a:pt x="122301" y="232270"/>
                  </a:lnTo>
                  <a:lnTo>
                    <a:pt x="122682" y="231381"/>
                  </a:lnTo>
                  <a:lnTo>
                    <a:pt x="122948" y="230365"/>
                  </a:lnTo>
                  <a:lnTo>
                    <a:pt x="123024" y="229476"/>
                  </a:lnTo>
                  <a:lnTo>
                    <a:pt x="123253" y="227164"/>
                  </a:lnTo>
                  <a:lnTo>
                    <a:pt x="123266" y="219316"/>
                  </a:lnTo>
                  <a:close/>
                </a:path>
                <a:path w="1015364" h="312420">
                  <a:moveTo>
                    <a:pt x="303796" y="165595"/>
                  </a:moveTo>
                  <a:lnTo>
                    <a:pt x="296151" y="122923"/>
                  </a:lnTo>
                  <a:lnTo>
                    <a:pt x="285762" y="105765"/>
                  </a:lnTo>
                  <a:lnTo>
                    <a:pt x="284365" y="104000"/>
                  </a:lnTo>
                  <a:lnTo>
                    <a:pt x="279285" y="98894"/>
                  </a:lnTo>
                  <a:lnTo>
                    <a:pt x="274205" y="94881"/>
                  </a:lnTo>
                  <a:lnTo>
                    <a:pt x="274205" y="176644"/>
                  </a:lnTo>
                  <a:lnTo>
                    <a:pt x="273316" y="184899"/>
                  </a:lnTo>
                  <a:lnTo>
                    <a:pt x="253885" y="221602"/>
                  </a:lnTo>
                  <a:lnTo>
                    <a:pt x="225933" y="229362"/>
                  </a:lnTo>
                  <a:lnTo>
                    <a:pt x="216674" y="229362"/>
                  </a:lnTo>
                  <a:lnTo>
                    <a:pt x="187972" y="211188"/>
                  </a:lnTo>
                  <a:lnTo>
                    <a:pt x="184162" y="205600"/>
                  </a:lnTo>
                  <a:lnTo>
                    <a:pt x="181495" y="199123"/>
                  </a:lnTo>
                  <a:lnTo>
                    <a:pt x="179971" y="191643"/>
                  </a:lnTo>
                  <a:lnTo>
                    <a:pt x="178308" y="184023"/>
                  </a:lnTo>
                  <a:lnTo>
                    <a:pt x="177495" y="176644"/>
                  </a:lnTo>
                  <a:lnTo>
                    <a:pt x="177431" y="158623"/>
                  </a:lnTo>
                  <a:lnTo>
                    <a:pt x="178308" y="150355"/>
                  </a:lnTo>
                  <a:lnTo>
                    <a:pt x="180263" y="142671"/>
                  </a:lnTo>
                  <a:lnTo>
                    <a:pt x="182003" y="135369"/>
                  </a:lnTo>
                  <a:lnTo>
                    <a:pt x="210070" y="107442"/>
                  </a:lnTo>
                  <a:lnTo>
                    <a:pt x="225933" y="105765"/>
                  </a:lnTo>
                  <a:lnTo>
                    <a:pt x="235077" y="105765"/>
                  </a:lnTo>
                  <a:lnTo>
                    <a:pt x="263791" y="124053"/>
                  </a:lnTo>
                  <a:lnTo>
                    <a:pt x="267462" y="129667"/>
                  </a:lnTo>
                  <a:lnTo>
                    <a:pt x="274205" y="176644"/>
                  </a:lnTo>
                  <a:lnTo>
                    <a:pt x="274205" y="94881"/>
                  </a:lnTo>
                  <a:lnTo>
                    <a:pt x="236156" y="82181"/>
                  </a:lnTo>
                  <a:lnTo>
                    <a:pt x="226834" y="81902"/>
                  </a:lnTo>
                  <a:lnTo>
                    <a:pt x="217208" y="82384"/>
                  </a:lnTo>
                  <a:lnTo>
                    <a:pt x="178409" y="96291"/>
                  </a:lnTo>
                  <a:lnTo>
                    <a:pt x="155244" y="126669"/>
                  </a:lnTo>
                  <a:lnTo>
                    <a:pt x="147828" y="169545"/>
                  </a:lnTo>
                  <a:lnTo>
                    <a:pt x="148132" y="179184"/>
                  </a:lnTo>
                  <a:lnTo>
                    <a:pt x="158648" y="219316"/>
                  </a:lnTo>
                  <a:lnTo>
                    <a:pt x="191020" y="247891"/>
                  </a:lnTo>
                  <a:lnTo>
                    <a:pt x="224548" y="253365"/>
                  </a:lnTo>
                  <a:lnTo>
                    <a:pt x="234137" y="252933"/>
                  </a:lnTo>
                  <a:lnTo>
                    <a:pt x="272948" y="238848"/>
                  </a:lnTo>
                  <a:lnTo>
                    <a:pt x="296176" y="208470"/>
                  </a:lnTo>
                  <a:lnTo>
                    <a:pt x="303555" y="174942"/>
                  </a:lnTo>
                  <a:lnTo>
                    <a:pt x="303796" y="165595"/>
                  </a:lnTo>
                  <a:close/>
                </a:path>
                <a:path w="1015364" h="312420">
                  <a:moveTo>
                    <a:pt x="375170" y="244983"/>
                  </a:moveTo>
                  <a:lnTo>
                    <a:pt x="373900" y="12319"/>
                  </a:lnTo>
                  <a:lnTo>
                    <a:pt x="373646" y="11557"/>
                  </a:lnTo>
                  <a:lnTo>
                    <a:pt x="373138" y="10909"/>
                  </a:lnTo>
                  <a:lnTo>
                    <a:pt x="372770" y="10147"/>
                  </a:lnTo>
                  <a:lnTo>
                    <a:pt x="364756" y="7861"/>
                  </a:lnTo>
                  <a:lnTo>
                    <a:pt x="356768" y="7861"/>
                  </a:lnTo>
                  <a:lnTo>
                    <a:pt x="345338" y="13449"/>
                  </a:lnTo>
                  <a:lnTo>
                    <a:pt x="346583" y="245986"/>
                  </a:lnTo>
                  <a:lnTo>
                    <a:pt x="346862" y="246748"/>
                  </a:lnTo>
                  <a:lnTo>
                    <a:pt x="347624" y="248031"/>
                  </a:lnTo>
                  <a:lnTo>
                    <a:pt x="348386" y="248653"/>
                  </a:lnTo>
                  <a:lnTo>
                    <a:pt x="349516" y="249034"/>
                  </a:lnTo>
                  <a:lnTo>
                    <a:pt x="350520" y="249555"/>
                  </a:lnTo>
                  <a:lnTo>
                    <a:pt x="352044" y="249796"/>
                  </a:lnTo>
                  <a:lnTo>
                    <a:pt x="353961" y="250050"/>
                  </a:lnTo>
                  <a:lnTo>
                    <a:pt x="355727" y="250317"/>
                  </a:lnTo>
                  <a:lnTo>
                    <a:pt x="358013" y="250431"/>
                  </a:lnTo>
                  <a:lnTo>
                    <a:pt x="360819" y="250431"/>
                  </a:lnTo>
                  <a:lnTo>
                    <a:pt x="372249" y="248907"/>
                  </a:lnTo>
                  <a:lnTo>
                    <a:pt x="373253" y="248526"/>
                  </a:lnTo>
                  <a:lnTo>
                    <a:pt x="374015" y="247891"/>
                  </a:lnTo>
                  <a:lnTo>
                    <a:pt x="375056" y="246621"/>
                  </a:lnTo>
                  <a:lnTo>
                    <a:pt x="375170" y="244983"/>
                  </a:lnTo>
                  <a:close/>
                </a:path>
                <a:path w="1015364" h="312420">
                  <a:moveTo>
                    <a:pt x="465086" y="220840"/>
                  </a:moveTo>
                  <a:lnTo>
                    <a:pt x="464693" y="218313"/>
                  </a:lnTo>
                  <a:lnTo>
                    <a:pt x="464058" y="216522"/>
                  </a:lnTo>
                  <a:lnTo>
                    <a:pt x="463448" y="214617"/>
                  </a:lnTo>
                  <a:lnTo>
                    <a:pt x="455942" y="210553"/>
                  </a:lnTo>
                  <a:lnTo>
                    <a:pt x="453910" y="210172"/>
                  </a:lnTo>
                  <a:lnTo>
                    <a:pt x="451370" y="210045"/>
                  </a:lnTo>
                  <a:lnTo>
                    <a:pt x="445528" y="210045"/>
                  </a:lnTo>
                  <a:lnTo>
                    <a:pt x="431723" y="220840"/>
                  </a:lnTo>
                  <a:lnTo>
                    <a:pt x="431800" y="224028"/>
                  </a:lnTo>
                  <a:lnTo>
                    <a:pt x="431927" y="246367"/>
                  </a:lnTo>
                  <a:lnTo>
                    <a:pt x="408584" y="295135"/>
                  </a:lnTo>
                  <a:lnTo>
                    <a:pt x="408533" y="297040"/>
                  </a:lnTo>
                  <a:lnTo>
                    <a:pt x="408584" y="297294"/>
                  </a:lnTo>
                  <a:lnTo>
                    <a:pt x="408825" y="297802"/>
                  </a:lnTo>
                  <a:lnTo>
                    <a:pt x="410108" y="298564"/>
                  </a:lnTo>
                  <a:lnTo>
                    <a:pt x="410984" y="298945"/>
                  </a:lnTo>
                  <a:lnTo>
                    <a:pt x="415290" y="299326"/>
                  </a:lnTo>
                  <a:lnTo>
                    <a:pt x="419493" y="299326"/>
                  </a:lnTo>
                  <a:lnTo>
                    <a:pt x="422668" y="299085"/>
                  </a:lnTo>
                  <a:lnTo>
                    <a:pt x="424192" y="298818"/>
                  </a:lnTo>
                  <a:lnTo>
                    <a:pt x="425462" y="298564"/>
                  </a:lnTo>
                  <a:lnTo>
                    <a:pt x="426478" y="298056"/>
                  </a:lnTo>
                  <a:lnTo>
                    <a:pt x="427634" y="297561"/>
                  </a:lnTo>
                  <a:lnTo>
                    <a:pt x="428510" y="297040"/>
                  </a:lnTo>
                  <a:lnTo>
                    <a:pt x="429272" y="296418"/>
                  </a:lnTo>
                  <a:lnTo>
                    <a:pt x="430034" y="295897"/>
                  </a:lnTo>
                  <a:lnTo>
                    <a:pt x="431292" y="294373"/>
                  </a:lnTo>
                  <a:lnTo>
                    <a:pt x="454787" y="258559"/>
                  </a:lnTo>
                  <a:lnTo>
                    <a:pt x="456831" y="255651"/>
                  </a:lnTo>
                  <a:lnTo>
                    <a:pt x="464578" y="233794"/>
                  </a:lnTo>
                  <a:lnTo>
                    <a:pt x="464972" y="230886"/>
                  </a:lnTo>
                  <a:lnTo>
                    <a:pt x="465086" y="220840"/>
                  </a:lnTo>
                  <a:close/>
                </a:path>
                <a:path w="1015364" h="312420">
                  <a:moveTo>
                    <a:pt x="547636" y="250939"/>
                  </a:moveTo>
                  <a:lnTo>
                    <a:pt x="546747" y="87109"/>
                  </a:lnTo>
                  <a:lnTo>
                    <a:pt x="537476" y="82664"/>
                  </a:lnTo>
                  <a:lnTo>
                    <a:pt x="529590" y="82664"/>
                  </a:lnTo>
                  <a:lnTo>
                    <a:pt x="518680" y="85839"/>
                  </a:lnTo>
                  <a:lnTo>
                    <a:pt x="518160" y="86474"/>
                  </a:lnTo>
                  <a:lnTo>
                    <a:pt x="518033" y="88125"/>
                  </a:lnTo>
                  <a:lnTo>
                    <a:pt x="518922" y="250939"/>
                  </a:lnTo>
                  <a:lnTo>
                    <a:pt x="518922" y="259321"/>
                  </a:lnTo>
                  <a:lnTo>
                    <a:pt x="507365" y="285610"/>
                  </a:lnTo>
                  <a:lnTo>
                    <a:pt x="504710" y="286753"/>
                  </a:lnTo>
                  <a:lnTo>
                    <a:pt x="501396" y="287388"/>
                  </a:lnTo>
                  <a:lnTo>
                    <a:pt x="494931" y="287388"/>
                  </a:lnTo>
                  <a:lnTo>
                    <a:pt x="492645" y="287274"/>
                  </a:lnTo>
                  <a:lnTo>
                    <a:pt x="488594" y="286753"/>
                  </a:lnTo>
                  <a:lnTo>
                    <a:pt x="487184" y="286626"/>
                  </a:lnTo>
                  <a:lnTo>
                    <a:pt x="485660" y="286626"/>
                  </a:lnTo>
                  <a:lnTo>
                    <a:pt x="485025" y="286893"/>
                  </a:lnTo>
                  <a:lnTo>
                    <a:pt x="482219" y="302133"/>
                  </a:lnTo>
                  <a:lnTo>
                    <a:pt x="482346" y="304152"/>
                  </a:lnTo>
                  <a:lnTo>
                    <a:pt x="482612" y="305041"/>
                  </a:lnTo>
                  <a:lnTo>
                    <a:pt x="482866" y="306057"/>
                  </a:lnTo>
                  <a:lnTo>
                    <a:pt x="486676" y="309613"/>
                  </a:lnTo>
                  <a:lnTo>
                    <a:pt x="488073" y="310248"/>
                  </a:lnTo>
                  <a:lnTo>
                    <a:pt x="489966" y="310756"/>
                  </a:lnTo>
                  <a:lnTo>
                    <a:pt x="492645" y="311137"/>
                  </a:lnTo>
                  <a:lnTo>
                    <a:pt x="495173" y="311658"/>
                  </a:lnTo>
                  <a:lnTo>
                    <a:pt x="498348" y="311899"/>
                  </a:lnTo>
                  <a:lnTo>
                    <a:pt x="502031" y="311899"/>
                  </a:lnTo>
                  <a:lnTo>
                    <a:pt x="537210" y="296913"/>
                  </a:lnTo>
                  <a:lnTo>
                    <a:pt x="540893" y="292087"/>
                  </a:lnTo>
                  <a:lnTo>
                    <a:pt x="547547" y="259321"/>
                  </a:lnTo>
                  <a:lnTo>
                    <a:pt x="547636" y="250939"/>
                  </a:lnTo>
                  <a:close/>
                </a:path>
                <a:path w="1015364" h="312420">
                  <a:moveTo>
                    <a:pt x="549795" y="28562"/>
                  </a:moveTo>
                  <a:lnTo>
                    <a:pt x="548513" y="24117"/>
                  </a:lnTo>
                  <a:lnTo>
                    <a:pt x="543572" y="19418"/>
                  </a:lnTo>
                  <a:lnTo>
                    <a:pt x="539000" y="18288"/>
                  </a:lnTo>
                  <a:lnTo>
                    <a:pt x="525411" y="18288"/>
                  </a:lnTo>
                  <a:lnTo>
                    <a:pt x="520712" y="19545"/>
                  </a:lnTo>
                  <a:lnTo>
                    <a:pt x="515747" y="24511"/>
                  </a:lnTo>
                  <a:lnTo>
                    <a:pt x="514616" y="29083"/>
                  </a:lnTo>
                  <a:lnTo>
                    <a:pt x="514616" y="42278"/>
                  </a:lnTo>
                  <a:lnTo>
                    <a:pt x="515874" y="46850"/>
                  </a:lnTo>
                  <a:lnTo>
                    <a:pt x="518312" y="49136"/>
                  </a:lnTo>
                  <a:lnTo>
                    <a:pt x="520712" y="51549"/>
                  </a:lnTo>
                  <a:lnTo>
                    <a:pt x="525284" y="52705"/>
                  </a:lnTo>
                  <a:lnTo>
                    <a:pt x="532028" y="52705"/>
                  </a:lnTo>
                  <a:lnTo>
                    <a:pt x="538886" y="52578"/>
                  </a:lnTo>
                  <a:lnTo>
                    <a:pt x="543572" y="51295"/>
                  </a:lnTo>
                  <a:lnTo>
                    <a:pt x="545985" y="48895"/>
                  </a:lnTo>
                  <a:lnTo>
                    <a:pt x="548513" y="46482"/>
                  </a:lnTo>
                  <a:lnTo>
                    <a:pt x="549694" y="42278"/>
                  </a:lnTo>
                  <a:lnTo>
                    <a:pt x="549795" y="28562"/>
                  </a:lnTo>
                  <a:close/>
                </a:path>
                <a:path w="1015364" h="312420">
                  <a:moveTo>
                    <a:pt x="738644" y="143497"/>
                  </a:moveTo>
                  <a:lnTo>
                    <a:pt x="738251" y="141859"/>
                  </a:lnTo>
                  <a:lnTo>
                    <a:pt x="738009" y="140335"/>
                  </a:lnTo>
                  <a:lnTo>
                    <a:pt x="737489" y="139052"/>
                  </a:lnTo>
                  <a:lnTo>
                    <a:pt x="736854" y="138049"/>
                  </a:lnTo>
                  <a:lnTo>
                    <a:pt x="736244" y="137007"/>
                  </a:lnTo>
                  <a:lnTo>
                    <a:pt x="735596" y="136245"/>
                  </a:lnTo>
                  <a:lnTo>
                    <a:pt x="734834" y="135763"/>
                  </a:lnTo>
                  <a:lnTo>
                    <a:pt x="734072" y="135369"/>
                  </a:lnTo>
                  <a:lnTo>
                    <a:pt x="733196" y="135115"/>
                  </a:lnTo>
                  <a:lnTo>
                    <a:pt x="675284" y="135369"/>
                  </a:lnTo>
                  <a:lnTo>
                    <a:pt x="674890" y="71361"/>
                  </a:lnTo>
                  <a:lnTo>
                    <a:pt x="674636" y="70472"/>
                  </a:lnTo>
                  <a:lnTo>
                    <a:pt x="674128" y="69837"/>
                  </a:lnTo>
                  <a:lnTo>
                    <a:pt x="673760" y="69075"/>
                  </a:lnTo>
                  <a:lnTo>
                    <a:pt x="672998" y="68427"/>
                  </a:lnTo>
                  <a:lnTo>
                    <a:pt x="671957" y="67945"/>
                  </a:lnTo>
                  <a:lnTo>
                    <a:pt x="670953" y="67424"/>
                  </a:lnTo>
                  <a:lnTo>
                    <a:pt x="669671" y="66903"/>
                  </a:lnTo>
                  <a:lnTo>
                    <a:pt x="666508" y="66421"/>
                  </a:lnTo>
                  <a:lnTo>
                    <a:pt x="664464" y="66294"/>
                  </a:lnTo>
                  <a:lnTo>
                    <a:pt x="659650" y="66294"/>
                  </a:lnTo>
                  <a:lnTo>
                    <a:pt x="657758" y="66421"/>
                  </a:lnTo>
                  <a:lnTo>
                    <a:pt x="655955" y="66789"/>
                  </a:lnTo>
                  <a:lnTo>
                    <a:pt x="654316" y="67056"/>
                  </a:lnTo>
                  <a:lnTo>
                    <a:pt x="653034" y="67424"/>
                  </a:lnTo>
                  <a:lnTo>
                    <a:pt x="652030" y="68059"/>
                  </a:lnTo>
                  <a:lnTo>
                    <a:pt x="651014" y="68580"/>
                  </a:lnTo>
                  <a:lnTo>
                    <a:pt x="649224" y="72390"/>
                  </a:lnTo>
                  <a:lnTo>
                    <a:pt x="649617" y="135483"/>
                  </a:lnTo>
                  <a:lnTo>
                    <a:pt x="591578" y="135877"/>
                  </a:lnTo>
                  <a:lnTo>
                    <a:pt x="586206" y="149593"/>
                  </a:lnTo>
                  <a:lnTo>
                    <a:pt x="586371" y="152247"/>
                  </a:lnTo>
                  <a:lnTo>
                    <a:pt x="587133" y="155448"/>
                  </a:lnTo>
                  <a:lnTo>
                    <a:pt x="587502" y="156705"/>
                  </a:lnTo>
                  <a:lnTo>
                    <a:pt x="588137" y="157734"/>
                  </a:lnTo>
                  <a:lnTo>
                    <a:pt x="588657" y="158737"/>
                  </a:lnTo>
                  <a:lnTo>
                    <a:pt x="589419" y="159499"/>
                  </a:lnTo>
                  <a:lnTo>
                    <a:pt x="590181" y="160020"/>
                  </a:lnTo>
                  <a:lnTo>
                    <a:pt x="590943" y="160388"/>
                  </a:lnTo>
                  <a:lnTo>
                    <a:pt x="591832" y="160629"/>
                  </a:lnTo>
                  <a:lnTo>
                    <a:pt x="649744" y="160464"/>
                  </a:lnTo>
                  <a:lnTo>
                    <a:pt x="649986" y="224409"/>
                  </a:lnTo>
                  <a:lnTo>
                    <a:pt x="660654" y="228981"/>
                  </a:lnTo>
                  <a:lnTo>
                    <a:pt x="665378" y="228981"/>
                  </a:lnTo>
                  <a:lnTo>
                    <a:pt x="675005" y="225666"/>
                  </a:lnTo>
                  <a:lnTo>
                    <a:pt x="675525" y="225031"/>
                  </a:lnTo>
                  <a:lnTo>
                    <a:pt x="675728" y="224409"/>
                  </a:lnTo>
                  <a:lnTo>
                    <a:pt x="675652" y="223266"/>
                  </a:lnTo>
                  <a:lnTo>
                    <a:pt x="675398" y="160388"/>
                  </a:lnTo>
                  <a:lnTo>
                    <a:pt x="675398" y="160261"/>
                  </a:lnTo>
                  <a:lnTo>
                    <a:pt x="733196" y="159867"/>
                  </a:lnTo>
                  <a:lnTo>
                    <a:pt x="734072" y="159626"/>
                  </a:lnTo>
                  <a:lnTo>
                    <a:pt x="734834" y="159105"/>
                  </a:lnTo>
                  <a:lnTo>
                    <a:pt x="735596" y="158737"/>
                  </a:lnTo>
                  <a:lnTo>
                    <a:pt x="736358" y="157975"/>
                  </a:lnTo>
                  <a:lnTo>
                    <a:pt x="736854" y="156972"/>
                  </a:lnTo>
                  <a:lnTo>
                    <a:pt x="737489" y="155816"/>
                  </a:lnTo>
                  <a:lnTo>
                    <a:pt x="737882" y="154533"/>
                  </a:lnTo>
                  <a:lnTo>
                    <a:pt x="738251" y="153009"/>
                  </a:lnTo>
                  <a:lnTo>
                    <a:pt x="738644" y="151485"/>
                  </a:lnTo>
                  <a:lnTo>
                    <a:pt x="738644" y="143497"/>
                  </a:lnTo>
                  <a:close/>
                </a:path>
                <a:path w="1015364" h="312420">
                  <a:moveTo>
                    <a:pt x="918603" y="144259"/>
                  </a:moveTo>
                  <a:lnTo>
                    <a:pt x="918362" y="142494"/>
                  </a:lnTo>
                  <a:lnTo>
                    <a:pt x="918083" y="140970"/>
                  </a:lnTo>
                  <a:lnTo>
                    <a:pt x="917841" y="139293"/>
                  </a:lnTo>
                  <a:lnTo>
                    <a:pt x="913028" y="134112"/>
                  </a:lnTo>
                  <a:lnTo>
                    <a:pt x="855116" y="134353"/>
                  </a:lnTo>
                  <a:lnTo>
                    <a:pt x="854722" y="70345"/>
                  </a:lnTo>
                  <a:lnTo>
                    <a:pt x="854468" y="69583"/>
                  </a:lnTo>
                  <a:lnTo>
                    <a:pt x="853960" y="68821"/>
                  </a:lnTo>
                  <a:lnTo>
                    <a:pt x="853592" y="68059"/>
                  </a:lnTo>
                  <a:lnTo>
                    <a:pt x="844296" y="65265"/>
                  </a:lnTo>
                  <a:lnTo>
                    <a:pt x="839482" y="65265"/>
                  </a:lnTo>
                  <a:lnTo>
                    <a:pt x="834148" y="66027"/>
                  </a:lnTo>
                  <a:lnTo>
                    <a:pt x="832866" y="66421"/>
                  </a:lnTo>
                  <a:lnTo>
                    <a:pt x="831862" y="67056"/>
                  </a:lnTo>
                  <a:lnTo>
                    <a:pt x="830846" y="67551"/>
                  </a:lnTo>
                  <a:lnTo>
                    <a:pt x="829056" y="71475"/>
                  </a:lnTo>
                  <a:lnTo>
                    <a:pt x="829449" y="134607"/>
                  </a:lnTo>
                  <a:lnTo>
                    <a:pt x="771410" y="134874"/>
                  </a:lnTo>
                  <a:lnTo>
                    <a:pt x="770648" y="135115"/>
                  </a:lnTo>
                  <a:lnTo>
                    <a:pt x="769886" y="135636"/>
                  </a:lnTo>
                  <a:lnTo>
                    <a:pt x="769124" y="136004"/>
                  </a:lnTo>
                  <a:lnTo>
                    <a:pt x="766076" y="149479"/>
                  </a:lnTo>
                  <a:lnTo>
                    <a:pt x="766203" y="151244"/>
                  </a:lnTo>
                  <a:lnTo>
                    <a:pt x="766572" y="152895"/>
                  </a:lnTo>
                  <a:lnTo>
                    <a:pt x="767334" y="155689"/>
                  </a:lnTo>
                  <a:lnTo>
                    <a:pt x="767969" y="156705"/>
                  </a:lnTo>
                  <a:lnTo>
                    <a:pt x="768489" y="157734"/>
                  </a:lnTo>
                  <a:lnTo>
                    <a:pt x="769251" y="158496"/>
                  </a:lnTo>
                  <a:lnTo>
                    <a:pt x="770013" y="158991"/>
                  </a:lnTo>
                  <a:lnTo>
                    <a:pt x="770775" y="159385"/>
                  </a:lnTo>
                  <a:lnTo>
                    <a:pt x="771664" y="159626"/>
                  </a:lnTo>
                  <a:lnTo>
                    <a:pt x="829576" y="159461"/>
                  </a:lnTo>
                  <a:lnTo>
                    <a:pt x="829818" y="223380"/>
                  </a:lnTo>
                  <a:lnTo>
                    <a:pt x="840359" y="227952"/>
                  </a:lnTo>
                  <a:lnTo>
                    <a:pt x="845210" y="227952"/>
                  </a:lnTo>
                  <a:lnTo>
                    <a:pt x="855560" y="223380"/>
                  </a:lnTo>
                  <a:lnTo>
                    <a:pt x="855484" y="222364"/>
                  </a:lnTo>
                  <a:lnTo>
                    <a:pt x="855230" y="159385"/>
                  </a:lnTo>
                  <a:lnTo>
                    <a:pt x="855230" y="159258"/>
                  </a:lnTo>
                  <a:lnTo>
                    <a:pt x="913028" y="158864"/>
                  </a:lnTo>
                  <a:lnTo>
                    <a:pt x="913904" y="158623"/>
                  </a:lnTo>
                  <a:lnTo>
                    <a:pt x="914666" y="158229"/>
                  </a:lnTo>
                  <a:lnTo>
                    <a:pt x="915428" y="157734"/>
                  </a:lnTo>
                  <a:lnTo>
                    <a:pt x="916190" y="156972"/>
                  </a:lnTo>
                  <a:lnTo>
                    <a:pt x="916686" y="155943"/>
                  </a:lnTo>
                  <a:lnTo>
                    <a:pt x="917321" y="154813"/>
                  </a:lnTo>
                  <a:lnTo>
                    <a:pt x="917714" y="153530"/>
                  </a:lnTo>
                  <a:lnTo>
                    <a:pt x="918083" y="152006"/>
                  </a:lnTo>
                  <a:lnTo>
                    <a:pt x="918476" y="150482"/>
                  </a:lnTo>
                  <a:lnTo>
                    <a:pt x="918603" y="144259"/>
                  </a:lnTo>
                  <a:close/>
                </a:path>
                <a:path w="1015364" h="312420">
                  <a:moveTo>
                    <a:pt x="1015123" y="152247"/>
                  </a:moveTo>
                  <a:lnTo>
                    <a:pt x="1012380" y="113969"/>
                  </a:lnTo>
                  <a:lnTo>
                    <a:pt x="1004582" y="76047"/>
                  </a:lnTo>
                  <a:lnTo>
                    <a:pt x="992263" y="39103"/>
                  </a:lnTo>
                  <a:lnTo>
                    <a:pt x="975880" y="2654"/>
                  </a:lnTo>
                  <a:lnTo>
                    <a:pt x="974598" y="1651"/>
                  </a:lnTo>
                  <a:lnTo>
                    <a:pt x="973836" y="1257"/>
                  </a:lnTo>
                  <a:lnTo>
                    <a:pt x="967371" y="0"/>
                  </a:lnTo>
                  <a:lnTo>
                    <a:pt x="960272" y="0"/>
                  </a:lnTo>
                  <a:lnTo>
                    <a:pt x="951242" y="3289"/>
                  </a:lnTo>
                  <a:lnTo>
                    <a:pt x="951242" y="6096"/>
                  </a:lnTo>
                  <a:lnTo>
                    <a:pt x="951738" y="7099"/>
                  </a:lnTo>
                  <a:lnTo>
                    <a:pt x="959459" y="24625"/>
                  </a:lnTo>
                  <a:lnTo>
                    <a:pt x="976515" y="78486"/>
                  </a:lnTo>
                  <a:lnTo>
                    <a:pt x="984529" y="133718"/>
                  </a:lnTo>
                  <a:lnTo>
                    <a:pt x="985139" y="152247"/>
                  </a:lnTo>
                  <a:lnTo>
                    <a:pt x="984732" y="170827"/>
                  </a:lnTo>
                  <a:lnTo>
                    <a:pt x="977404" y="226174"/>
                  </a:lnTo>
                  <a:lnTo>
                    <a:pt x="961059" y="280416"/>
                  </a:lnTo>
                  <a:lnTo>
                    <a:pt x="953655" y="298056"/>
                  </a:lnTo>
                  <a:lnTo>
                    <a:pt x="953135" y="299466"/>
                  </a:lnTo>
                  <a:lnTo>
                    <a:pt x="952766" y="300609"/>
                  </a:lnTo>
                  <a:lnTo>
                    <a:pt x="952652" y="302628"/>
                  </a:lnTo>
                  <a:lnTo>
                    <a:pt x="953020" y="303390"/>
                  </a:lnTo>
                  <a:lnTo>
                    <a:pt x="954544" y="304660"/>
                  </a:lnTo>
                  <a:lnTo>
                    <a:pt x="955814" y="305181"/>
                  </a:lnTo>
                  <a:lnTo>
                    <a:pt x="959116" y="305676"/>
                  </a:lnTo>
                  <a:lnTo>
                    <a:pt x="961517" y="305803"/>
                  </a:lnTo>
                  <a:lnTo>
                    <a:pt x="966609" y="305803"/>
                  </a:lnTo>
                  <a:lnTo>
                    <a:pt x="976388" y="303657"/>
                  </a:lnTo>
                  <a:lnTo>
                    <a:pt x="977150" y="303136"/>
                  </a:lnTo>
                  <a:lnTo>
                    <a:pt x="994168" y="266179"/>
                  </a:lnTo>
                  <a:lnTo>
                    <a:pt x="1005840" y="229222"/>
                  </a:lnTo>
                  <a:lnTo>
                    <a:pt x="1012964" y="191376"/>
                  </a:lnTo>
                  <a:lnTo>
                    <a:pt x="1015060" y="162356"/>
                  </a:lnTo>
                  <a:lnTo>
                    <a:pt x="1015123" y="1522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1408425" y="4087617"/>
            <a:ext cx="86995" cy="300355"/>
          </a:xfrm>
          <a:custGeom>
            <a:avLst/>
            <a:gdLst/>
            <a:ahLst/>
            <a:cxnLst/>
            <a:rect l="l" t="t" r="r" b="b"/>
            <a:pathLst>
              <a:path w="86994" h="300354">
                <a:moveTo>
                  <a:pt x="72389" y="0"/>
                </a:moveTo>
                <a:lnTo>
                  <a:pt x="60841" y="131"/>
                </a:lnTo>
                <a:lnTo>
                  <a:pt x="54482" y="1405"/>
                </a:lnTo>
                <a:lnTo>
                  <a:pt x="49661" y="3941"/>
                </a:lnTo>
                <a:lnTo>
                  <a:pt x="44708" y="6358"/>
                </a:lnTo>
                <a:lnTo>
                  <a:pt x="30753" y="46629"/>
                </a:lnTo>
                <a:lnTo>
                  <a:pt x="30479" y="62996"/>
                </a:lnTo>
                <a:lnTo>
                  <a:pt x="30611" y="90940"/>
                </a:lnTo>
                <a:lnTo>
                  <a:pt x="30284" y="101036"/>
                </a:lnTo>
                <a:lnTo>
                  <a:pt x="5333" y="136016"/>
                </a:lnTo>
                <a:lnTo>
                  <a:pt x="3428" y="136529"/>
                </a:lnTo>
                <a:lnTo>
                  <a:pt x="2798" y="136910"/>
                </a:lnTo>
                <a:lnTo>
                  <a:pt x="2036" y="137291"/>
                </a:lnTo>
                <a:lnTo>
                  <a:pt x="1523" y="137803"/>
                </a:lnTo>
                <a:lnTo>
                  <a:pt x="761" y="139577"/>
                </a:lnTo>
                <a:lnTo>
                  <a:pt x="262" y="141863"/>
                </a:lnTo>
                <a:lnTo>
                  <a:pt x="0" y="144779"/>
                </a:lnTo>
                <a:lnTo>
                  <a:pt x="0" y="148340"/>
                </a:lnTo>
                <a:lnTo>
                  <a:pt x="10168" y="157615"/>
                </a:lnTo>
                <a:lnTo>
                  <a:pt x="13978" y="158876"/>
                </a:lnTo>
                <a:lnTo>
                  <a:pt x="17144" y="161162"/>
                </a:lnTo>
                <a:lnTo>
                  <a:pt x="20455" y="163448"/>
                </a:lnTo>
                <a:lnTo>
                  <a:pt x="22991" y="166378"/>
                </a:lnTo>
                <a:lnTo>
                  <a:pt x="31373" y="237494"/>
                </a:lnTo>
                <a:lnTo>
                  <a:pt x="31544" y="246205"/>
                </a:lnTo>
                <a:lnTo>
                  <a:pt x="42041" y="290203"/>
                </a:lnTo>
                <a:lnTo>
                  <a:pt x="62365" y="300109"/>
                </a:lnTo>
                <a:lnTo>
                  <a:pt x="70103" y="299978"/>
                </a:lnTo>
                <a:lnTo>
                  <a:pt x="74176" y="299978"/>
                </a:lnTo>
                <a:lnTo>
                  <a:pt x="75700" y="299846"/>
                </a:lnTo>
                <a:lnTo>
                  <a:pt x="77342" y="299846"/>
                </a:lnTo>
                <a:lnTo>
                  <a:pt x="79129" y="299597"/>
                </a:lnTo>
                <a:lnTo>
                  <a:pt x="81152" y="299084"/>
                </a:lnTo>
                <a:lnTo>
                  <a:pt x="81914" y="299084"/>
                </a:lnTo>
                <a:lnTo>
                  <a:pt x="82558" y="298835"/>
                </a:lnTo>
                <a:lnTo>
                  <a:pt x="86486" y="290453"/>
                </a:lnTo>
                <a:lnTo>
                  <a:pt x="86486" y="288679"/>
                </a:lnTo>
                <a:lnTo>
                  <a:pt x="86486" y="286511"/>
                </a:lnTo>
                <a:lnTo>
                  <a:pt x="86368" y="284869"/>
                </a:lnTo>
                <a:lnTo>
                  <a:pt x="85856" y="282202"/>
                </a:lnTo>
                <a:lnTo>
                  <a:pt x="85475" y="281059"/>
                </a:lnTo>
                <a:lnTo>
                  <a:pt x="84962" y="280297"/>
                </a:lnTo>
                <a:lnTo>
                  <a:pt x="84463" y="279404"/>
                </a:lnTo>
                <a:lnTo>
                  <a:pt x="83819" y="278773"/>
                </a:lnTo>
                <a:lnTo>
                  <a:pt x="82939" y="278392"/>
                </a:lnTo>
                <a:lnTo>
                  <a:pt x="81284" y="277880"/>
                </a:lnTo>
                <a:lnTo>
                  <a:pt x="72902" y="277748"/>
                </a:lnTo>
                <a:lnTo>
                  <a:pt x="70235" y="277748"/>
                </a:lnTo>
                <a:lnTo>
                  <a:pt x="67949" y="277249"/>
                </a:lnTo>
                <a:lnTo>
                  <a:pt x="57530" y="236101"/>
                </a:lnTo>
                <a:lnTo>
                  <a:pt x="57412" y="194572"/>
                </a:lnTo>
                <a:lnTo>
                  <a:pt x="56900" y="187333"/>
                </a:lnTo>
                <a:lnTo>
                  <a:pt x="55888" y="181487"/>
                </a:lnTo>
                <a:lnTo>
                  <a:pt x="54995" y="175640"/>
                </a:lnTo>
                <a:lnTo>
                  <a:pt x="53221" y="170306"/>
                </a:lnTo>
                <a:lnTo>
                  <a:pt x="26420" y="146435"/>
                </a:lnTo>
                <a:lnTo>
                  <a:pt x="32384" y="145160"/>
                </a:lnTo>
                <a:lnTo>
                  <a:pt x="56387" y="105037"/>
                </a:lnTo>
                <a:lnTo>
                  <a:pt x="56768" y="97798"/>
                </a:lnTo>
                <a:lnTo>
                  <a:pt x="56650" y="64139"/>
                </a:lnTo>
                <a:lnTo>
                  <a:pt x="56519" y="53852"/>
                </a:lnTo>
                <a:lnTo>
                  <a:pt x="56900" y="46232"/>
                </a:lnTo>
                <a:lnTo>
                  <a:pt x="57412" y="41147"/>
                </a:lnTo>
                <a:lnTo>
                  <a:pt x="58043" y="36194"/>
                </a:lnTo>
                <a:lnTo>
                  <a:pt x="58936" y="32384"/>
                </a:lnTo>
                <a:lnTo>
                  <a:pt x="60197" y="29468"/>
                </a:lnTo>
                <a:lnTo>
                  <a:pt x="61340" y="26669"/>
                </a:lnTo>
                <a:lnTo>
                  <a:pt x="62996" y="24764"/>
                </a:lnTo>
                <a:lnTo>
                  <a:pt x="66806" y="22741"/>
                </a:lnTo>
                <a:lnTo>
                  <a:pt x="69223" y="22229"/>
                </a:lnTo>
                <a:lnTo>
                  <a:pt x="72008" y="22229"/>
                </a:lnTo>
                <a:lnTo>
                  <a:pt x="80009" y="21979"/>
                </a:lnTo>
                <a:lnTo>
                  <a:pt x="84581" y="16133"/>
                </a:lnTo>
                <a:lnTo>
                  <a:pt x="84844" y="14858"/>
                </a:lnTo>
                <a:lnTo>
                  <a:pt x="84962" y="13216"/>
                </a:lnTo>
                <a:lnTo>
                  <a:pt x="84962" y="9406"/>
                </a:lnTo>
                <a:lnTo>
                  <a:pt x="84844" y="7751"/>
                </a:lnTo>
                <a:lnTo>
                  <a:pt x="84332" y="5084"/>
                </a:lnTo>
                <a:lnTo>
                  <a:pt x="83951" y="4072"/>
                </a:lnTo>
                <a:lnTo>
                  <a:pt x="83438" y="3310"/>
                </a:lnTo>
                <a:lnTo>
                  <a:pt x="82939" y="2417"/>
                </a:lnTo>
                <a:lnTo>
                  <a:pt x="82295" y="1904"/>
                </a:lnTo>
                <a:lnTo>
                  <a:pt x="81533" y="1405"/>
                </a:lnTo>
                <a:lnTo>
                  <a:pt x="80771" y="1024"/>
                </a:lnTo>
                <a:lnTo>
                  <a:pt x="80009" y="893"/>
                </a:lnTo>
                <a:lnTo>
                  <a:pt x="79129" y="893"/>
                </a:lnTo>
                <a:lnTo>
                  <a:pt x="77093" y="380"/>
                </a:lnTo>
                <a:lnTo>
                  <a:pt x="75319" y="131"/>
                </a:lnTo>
                <a:lnTo>
                  <a:pt x="73913" y="131"/>
                </a:lnTo>
                <a:lnTo>
                  <a:pt x="723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1422263" y="4498847"/>
            <a:ext cx="2642870" cy="323215"/>
            <a:chOff x="1422263" y="4498847"/>
            <a:chExt cx="2642870" cy="32321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2263" y="4507991"/>
              <a:ext cx="1265310" cy="3139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17161" y="4505325"/>
              <a:ext cx="735994" cy="29832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490965" y="4498847"/>
              <a:ext cx="574675" cy="310515"/>
            </a:xfrm>
            <a:custGeom>
              <a:avLst/>
              <a:gdLst/>
              <a:ahLst/>
              <a:cxnLst/>
              <a:rect l="l" t="t" r="r" b="b"/>
              <a:pathLst>
                <a:path w="574675" h="310514">
                  <a:moveTo>
                    <a:pt x="60534" y="26801"/>
                  </a:moveTo>
                  <a:lnTo>
                    <a:pt x="33406" y="26801"/>
                  </a:lnTo>
                  <a:lnTo>
                    <a:pt x="34808" y="282702"/>
                  </a:lnTo>
                  <a:lnTo>
                    <a:pt x="5730" y="282951"/>
                  </a:lnTo>
                  <a:lnTo>
                    <a:pt x="5090" y="283083"/>
                  </a:lnTo>
                  <a:lnTo>
                    <a:pt x="3810" y="283845"/>
                  </a:lnTo>
                  <a:lnTo>
                    <a:pt x="3200" y="284357"/>
                  </a:lnTo>
                  <a:lnTo>
                    <a:pt x="2804" y="285237"/>
                  </a:lnTo>
                  <a:lnTo>
                    <a:pt x="2286" y="286131"/>
                  </a:lnTo>
                  <a:lnTo>
                    <a:pt x="2042" y="287274"/>
                  </a:lnTo>
                  <a:lnTo>
                    <a:pt x="1798" y="288548"/>
                  </a:lnTo>
                  <a:lnTo>
                    <a:pt x="1676" y="297311"/>
                  </a:lnTo>
                  <a:lnTo>
                    <a:pt x="2042" y="299978"/>
                  </a:lnTo>
                  <a:lnTo>
                    <a:pt x="2926" y="301620"/>
                  </a:lnTo>
                  <a:lnTo>
                    <a:pt x="3810" y="303144"/>
                  </a:lnTo>
                  <a:lnTo>
                    <a:pt x="5090" y="303906"/>
                  </a:lnTo>
                  <a:lnTo>
                    <a:pt x="52334" y="303657"/>
                  </a:lnTo>
                  <a:lnTo>
                    <a:pt x="61996" y="293751"/>
                  </a:lnTo>
                  <a:lnTo>
                    <a:pt x="60534" y="26801"/>
                  </a:lnTo>
                  <a:close/>
                </a:path>
                <a:path w="574675" h="310514">
                  <a:moveTo>
                    <a:pt x="50688" y="5583"/>
                  </a:moveTo>
                  <a:lnTo>
                    <a:pt x="4206" y="5846"/>
                  </a:lnTo>
                  <a:lnTo>
                    <a:pt x="1280" y="8250"/>
                  </a:lnTo>
                  <a:lnTo>
                    <a:pt x="762" y="9275"/>
                  </a:lnTo>
                  <a:lnTo>
                    <a:pt x="518" y="10287"/>
                  </a:lnTo>
                  <a:lnTo>
                    <a:pt x="274" y="11679"/>
                  </a:lnTo>
                  <a:lnTo>
                    <a:pt x="95" y="13584"/>
                  </a:lnTo>
                  <a:lnTo>
                    <a:pt x="0" y="16632"/>
                  </a:lnTo>
                  <a:lnTo>
                    <a:pt x="152" y="20324"/>
                  </a:lnTo>
                  <a:lnTo>
                    <a:pt x="518" y="22991"/>
                  </a:lnTo>
                  <a:lnTo>
                    <a:pt x="1402" y="24633"/>
                  </a:lnTo>
                  <a:lnTo>
                    <a:pt x="2286" y="26157"/>
                  </a:lnTo>
                  <a:lnTo>
                    <a:pt x="3566" y="27051"/>
                  </a:lnTo>
                  <a:lnTo>
                    <a:pt x="60534" y="26801"/>
                  </a:lnTo>
                  <a:lnTo>
                    <a:pt x="60472" y="15489"/>
                  </a:lnTo>
                  <a:lnTo>
                    <a:pt x="60076" y="13584"/>
                  </a:lnTo>
                  <a:lnTo>
                    <a:pt x="59436" y="12060"/>
                  </a:lnTo>
                  <a:lnTo>
                    <a:pt x="58826" y="10536"/>
                  </a:lnTo>
                  <a:lnTo>
                    <a:pt x="57912" y="9275"/>
                  </a:lnTo>
                  <a:lnTo>
                    <a:pt x="55900" y="7239"/>
                  </a:lnTo>
                  <a:lnTo>
                    <a:pt x="54620" y="6608"/>
                  </a:lnTo>
                  <a:lnTo>
                    <a:pt x="51968" y="5846"/>
                  </a:lnTo>
                  <a:lnTo>
                    <a:pt x="50688" y="5583"/>
                  </a:lnTo>
                  <a:close/>
                </a:path>
                <a:path w="574675" h="310514">
                  <a:moveTo>
                    <a:pt x="181752" y="4821"/>
                  </a:moveTo>
                  <a:lnTo>
                    <a:pt x="135270" y="5084"/>
                  </a:lnTo>
                  <a:lnTo>
                    <a:pt x="129174" y="7869"/>
                  </a:lnTo>
                  <a:lnTo>
                    <a:pt x="128168" y="8763"/>
                  </a:lnTo>
                  <a:lnTo>
                    <a:pt x="127406" y="10155"/>
                  </a:lnTo>
                  <a:lnTo>
                    <a:pt x="126126" y="13203"/>
                  </a:lnTo>
                  <a:lnTo>
                    <a:pt x="125730" y="15108"/>
                  </a:lnTo>
                  <a:lnTo>
                    <a:pt x="127220" y="285119"/>
                  </a:lnTo>
                  <a:lnTo>
                    <a:pt x="134386" y="302514"/>
                  </a:lnTo>
                  <a:lnTo>
                    <a:pt x="135636" y="303026"/>
                  </a:lnTo>
                  <a:lnTo>
                    <a:pt x="184282" y="302895"/>
                  </a:lnTo>
                  <a:lnTo>
                    <a:pt x="187604" y="288798"/>
                  </a:lnTo>
                  <a:lnTo>
                    <a:pt x="187330" y="287523"/>
                  </a:lnTo>
                  <a:lnTo>
                    <a:pt x="187086" y="286262"/>
                  </a:lnTo>
                  <a:lnTo>
                    <a:pt x="186690" y="285119"/>
                  </a:lnTo>
                  <a:lnTo>
                    <a:pt x="186202" y="284226"/>
                  </a:lnTo>
                  <a:lnTo>
                    <a:pt x="185806" y="283332"/>
                  </a:lnTo>
                  <a:lnTo>
                    <a:pt x="185166" y="282833"/>
                  </a:lnTo>
                  <a:lnTo>
                    <a:pt x="183916" y="282071"/>
                  </a:lnTo>
                  <a:lnTo>
                    <a:pt x="154320" y="282071"/>
                  </a:lnTo>
                  <a:lnTo>
                    <a:pt x="152918" y="26157"/>
                  </a:lnTo>
                  <a:lnTo>
                    <a:pt x="186202" y="19299"/>
                  </a:lnTo>
                  <a:lnTo>
                    <a:pt x="186080" y="13584"/>
                  </a:lnTo>
                  <a:lnTo>
                    <a:pt x="185928" y="11942"/>
                  </a:lnTo>
                  <a:lnTo>
                    <a:pt x="185684" y="10668"/>
                  </a:lnTo>
                  <a:lnTo>
                    <a:pt x="185562" y="9275"/>
                  </a:lnTo>
                  <a:lnTo>
                    <a:pt x="183032" y="5334"/>
                  </a:lnTo>
                  <a:lnTo>
                    <a:pt x="181752" y="4821"/>
                  </a:lnTo>
                  <a:close/>
                </a:path>
                <a:path w="574675" h="310514">
                  <a:moveTo>
                    <a:pt x="183276" y="281940"/>
                  </a:moveTo>
                  <a:lnTo>
                    <a:pt x="154320" y="282071"/>
                  </a:lnTo>
                  <a:lnTo>
                    <a:pt x="183916" y="282071"/>
                  </a:lnTo>
                  <a:lnTo>
                    <a:pt x="183276" y="281940"/>
                  </a:lnTo>
                  <a:close/>
                </a:path>
                <a:path w="574675" h="310514">
                  <a:moveTo>
                    <a:pt x="200162" y="285237"/>
                  </a:moveTo>
                  <a:lnTo>
                    <a:pt x="198638" y="285237"/>
                  </a:lnTo>
                  <a:lnTo>
                    <a:pt x="197998" y="285500"/>
                  </a:lnTo>
                  <a:lnTo>
                    <a:pt x="197510" y="285881"/>
                  </a:lnTo>
                  <a:lnTo>
                    <a:pt x="196870" y="286262"/>
                  </a:lnTo>
                  <a:lnTo>
                    <a:pt x="196474" y="287024"/>
                  </a:lnTo>
                  <a:lnTo>
                    <a:pt x="195712" y="288798"/>
                  </a:lnTo>
                  <a:lnTo>
                    <a:pt x="195346" y="290072"/>
                  </a:lnTo>
                  <a:lnTo>
                    <a:pt x="195224" y="291596"/>
                  </a:lnTo>
                  <a:lnTo>
                    <a:pt x="195072" y="293120"/>
                  </a:lnTo>
                  <a:lnTo>
                    <a:pt x="195072" y="300740"/>
                  </a:lnTo>
                  <a:lnTo>
                    <a:pt x="195224" y="301752"/>
                  </a:lnTo>
                  <a:lnTo>
                    <a:pt x="195346" y="302763"/>
                  </a:lnTo>
                  <a:lnTo>
                    <a:pt x="195590" y="303788"/>
                  </a:lnTo>
                  <a:lnTo>
                    <a:pt x="195712" y="304800"/>
                  </a:lnTo>
                  <a:lnTo>
                    <a:pt x="196108" y="305693"/>
                  </a:lnTo>
                  <a:lnTo>
                    <a:pt x="196748" y="306324"/>
                  </a:lnTo>
                  <a:lnTo>
                    <a:pt x="197236" y="307086"/>
                  </a:lnTo>
                  <a:lnTo>
                    <a:pt x="198120" y="307716"/>
                  </a:lnTo>
                  <a:lnTo>
                    <a:pt x="211348" y="310515"/>
                  </a:lnTo>
                  <a:lnTo>
                    <a:pt x="223144" y="310515"/>
                  </a:lnTo>
                  <a:lnTo>
                    <a:pt x="230124" y="309240"/>
                  </a:lnTo>
                  <a:lnTo>
                    <a:pt x="241706" y="304169"/>
                  </a:lnTo>
                  <a:lnTo>
                    <a:pt x="246400" y="300477"/>
                  </a:lnTo>
                  <a:lnTo>
                    <a:pt x="250088" y="295524"/>
                  </a:lnTo>
                  <a:lnTo>
                    <a:pt x="253746" y="290703"/>
                  </a:lnTo>
                  <a:lnTo>
                    <a:pt x="255801" y="286131"/>
                  </a:lnTo>
                  <a:lnTo>
                    <a:pt x="207904" y="286131"/>
                  </a:lnTo>
                  <a:lnTo>
                    <a:pt x="205496" y="285999"/>
                  </a:lnTo>
                  <a:lnTo>
                    <a:pt x="203454" y="285750"/>
                  </a:lnTo>
                  <a:lnTo>
                    <a:pt x="201442" y="285369"/>
                  </a:lnTo>
                  <a:lnTo>
                    <a:pt x="200162" y="285237"/>
                  </a:lnTo>
                  <a:close/>
                </a:path>
                <a:path w="574675" h="310514">
                  <a:moveTo>
                    <a:pt x="248046" y="81284"/>
                  </a:moveTo>
                  <a:lnTo>
                    <a:pt x="242468" y="81284"/>
                  </a:lnTo>
                  <a:lnTo>
                    <a:pt x="240182" y="81402"/>
                  </a:lnTo>
                  <a:lnTo>
                    <a:pt x="236494" y="81915"/>
                  </a:lnTo>
                  <a:lnTo>
                    <a:pt x="234970" y="82296"/>
                  </a:lnTo>
                  <a:lnTo>
                    <a:pt x="233934" y="82808"/>
                  </a:lnTo>
                  <a:lnTo>
                    <a:pt x="232806" y="83189"/>
                  </a:lnTo>
                  <a:lnTo>
                    <a:pt x="232044" y="83820"/>
                  </a:lnTo>
                  <a:lnTo>
                    <a:pt x="231160" y="85212"/>
                  </a:lnTo>
                  <a:lnTo>
                    <a:pt x="230928" y="85856"/>
                  </a:lnTo>
                  <a:lnTo>
                    <a:pt x="230886" y="86736"/>
                  </a:lnTo>
                  <a:lnTo>
                    <a:pt x="231800" y="249555"/>
                  </a:lnTo>
                  <a:lnTo>
                    <a:pt x="231922" y="258068"/>
                  </a:lnTo>
                  <a:lnTo>
                    <a:pt x="231526" y="264282"/>
                  </a:lnTo>
                  <a:lnTo>
                    <a:pt x="214396" y="286131"/>
                  </a:lnTo>
                  <a:lnTo>
                    <a:pt x="255801" y="286131"/>
                  </a:lnTo>
                  <a:lnTo>
                    <a:pt x="260604" y="249555"/>
                  </a:lnTo>
                  <a:lnTo>
                    <a:pt x="259720" y="85856"/>
                  </a:lnTo>
                  <a:lnTo>
                    <a:pt x="259476" y="85094"/>
                  </a:lnTo>
                  <a:lnTo>
                    <a:pt x="258958" y="84332"/>
                  </a:lnTo>
                  <a:lnTo>
                    <a:pt x="258592" y="83688"/>
                  </a:lnTo>
                  <a:lnTo>
                    <a:pt x="257708" y="83058"/>
                  </a:lnTo>
                  <a:lnTo>
                    <a:pt x="256672" y="82677"/>
                  </a:lnTo>
                  <a:lnTo>
                    <a:pt x="255544" y="82164"/>
                  </a:lnTo>
                  <a:lnTo>
                    <a:pt x="254020" y="81783"/>
                  </a:lnTo>
                  <a:lnTo>
                    <a:pt x="252222" y="81665"/>
                  </a:lnTo>
                  <a:lnTo>
                    <a:pt x="250332" y="81402"/>
                  </a:lnTo>
                  <a:lnTo>
                    <a:pt x="248046" y="81284"/>
                  </a:lnTo>
                  <a:close/>
                </a:path>
                <a:path w="574675" h="310514">
                  <a:moveTo>
                    <a:pt x="251856" y="16895"/>
                  </a:moveTo>
                  <a:lnTo>
                    <a:pt x="245120" y="17013"/>
                  </a:lnTo>
                  <a:lnTo>
                    <a:pt x="238262" y="17013"/>
                  </a:lnTo>
                  <a:lnTo>
                    <a:pt x="233568" y="18288"/>
                  </a:lnTo>
                  <a:lnTo>
                    <a:pt x="228752" y="23109"/>
                  </a:lnTo>
                  <a:lnTo>
                    <a:pt x="227578" y="27300"/>
                  </a:lnTo>
                  <a:lnTo>
                    <a:pt x="227594" y="41016"/>
                  </a:lnTo>
                  <a:lnTo>
                    <a:pt x="228752" y="45470"/>
                  </a:lnTo>
                  <a:lnTo>
                    <a:pt x="233690" y="50160"/>
                  </a:lnTo>
                  <a:lnTo>
                    <a:pt x="238262" y="51303"/>
                  </a:lnTo>
                  <a:lnTo>
                    <a:pt x="251734" y="51303"/>
                  </a:lnTo>
                  <a:lnTo>
                    <a:pt x="256428" y="50042"/>
                  </a:lnTo>
                  <a:lnTo>
                    <a:pt x="261518" y="45207"/>
                  </a:lnTo>
                  <a:lnTo>
                    <a:pt x="262663" y="41016"/>
                  </a:lnTo>
                  <a:lnTo>
                    <a:pt x="262646" y="27300"/>
                  </a:lnTo>
                  <a:lnTo>
                    <a:pt x="261366" y="22860"/>
                  </a:lnTo>
                  <a:lnTo>
                    <a:pt x="258958" y="20442"/>
                  </a:lnTo>
                  <a:lnTo>
                    <a:pt x="256550" y="18156"/>
                  </a:lnTo>
                  <a:lnTo>
                    <a:pt x="251856" y="16895"/>
                  </a:lnTo>
                  <a:close/>
                </a:path>
                <a:path w="574675" h="310514">
                  <a:moveTo>
                    <a:pt x="363799" y="25146"/>
                  </a:moveTo>
                  <a:lnTo>
                    <a:pt x="336682" y="25146"/>
                  </a:lnTo>
                  <a:lnTo>
                    <a:pt x="338084" y="281046"/>
                  </a:lnTo>
                  <a:lnTo>
                    <a:pt x="309006" y="281178"/>
                  </a:lnTo>
                  <a:lnTo>
                    <a:pt x="307726" y="281690"/>
                  </a:lnTo>
                  <a:lnTo>
                    <a:pt x="307086" y="282071"/>
                  </a:lnTo>
                  <a:lnTo>
                    <a:pt x="306476" y="282702"/>
                  </a:lnTo>
                  <a:lnTo>
                    <a:pt x="306080" y="283595"/>
                  </a:lnTo>
                  <a:lnTo>
                    <a:pt x="305562" y="284475"/>
                  </a:lnTo>
                  <a:lnTo>
                    <a:pt x="305318" y="285500"/>
                  </a:lnTo>
                  <a:lnTo>
                    <a:pt x="305074" y="286893"/>
                  </a:lnTo>
                  <a:lnTo>
                    <a:pt x="304952" y="295656"/>
                  </a:lnTo>
                  <a:lnTo>
                    <a:pt x="305318" y="298323"/>
                  </a:lnTo>
                  <a:lnTo>
                    <a:pt x="307086" y="301371"/>
                  </a:lnTo>
                  <a:lnTo>
                    <a:pt x="308366" y="302264"/>
                  </a:lnTo>
                  <a:lnTo>
                    <a:pt x="310012" y="302133"/>
                  </a:lnTo>
                  <a:lnTo>
                    <a:pt x="355610" y="301883"/>
                  </a:lnTo>
                  <a:lnTo>
                    <a:pt x="364236" y="295524"/>
                  </a:lnTo>
                  <a:lnTo>
                    <a:pt x="364876" y="294000"/>
                  </a:lnTo>
                  <a:lnTo>
                    <a:pt x="365272" y="292095"/>
                  </a:lnTo>
                  <a:lnTo>
                    <a:pt x="365224" y="281046"/>
                  </a:lnTo>
                  <a:lnTo>
                    <a:pt x="363799" y="25146"/>
                  </a:lnTo>
                  <a:close/>
                </a:path>
                <a:path w="574675" h="310514">
                  <a:moveTo>
                    <a:pt x="353964" y="3941"/>
                  </a:moveTo>
                  <a:lnTo>
                    <a:pt x="307482" y="4191"/>
                  </a:lnTo>
                  <a:lnTo>
                    <a:pt x="304556" y="6608"/>
                  </a:lnTo>
                  <a:lnTo>
                    <a:pt x="304038" y="7488"/>
                  </a:lnTo>
                  <a:lnTo>
                    <a:pt x="303771" y="8763"/>
                  </a:lnTo>
                  <a:lnTo>
                    <a:pt x="303550" y="10037"/>
                  </a:lnTo>
                  <a:lnTo>
                    <a:pt x="303371" y="11942"/>
                  </a:lnTo>
                  <a:lnTo>
                    <a:pt x="303317" y="16002"/>
                  </a:lnTo>
                  <a:lnTo>
                    <a:pt x="303428" y="18669"/>
                  </a:lnTo>
                  <a:lnTo>
                    <a:pt x="303794" y="21336"/>
                  </a:lnTo>
                  <a:lnTo>
                    <a:pt x="304678" y="22860"/>
                  </a:lnTo>
                  <a:lnTo>
                    <a:pt x="305562" y="24515"/>
                  </a:lnTo>
                  <a:lnTo>
                    <a:pt x="306842" y="25277"/>
                  </a:lnTo>
                  <a:lnTo>
                    <a:pt x="363799" y="25146"/>
                  </a:lnTo>
                  <a:lnTo>
                    <a:pt x="363694" y="14990"/>
                  </a:lnTo>
                  <a:lnTo>
                    <a:pt x="360182" y="6608"/>
                  </a:lnTo>
                  <a:lnTo>
                    <a:pt x="359176" y="5583"/>
                  </a:lnTo>
                  <a:lnTo>
                    <a:pt x="357896" y="4821"/>
                  </a:lnTo>
                  <a:lnTo>
                    <a:pt x="355244" y="4059"/>
                  </a:lnTo>
                  <a:lnTo>
                    <a:pt x="353964" y="3941"/>
                  </a:lnTo>
                  <a:close/>
                </a:path>
                <a:path w="574675" h="310514">
                  <a:moveTo>
                    <a:pt x="431444" y="0"/>
                  </a:moveTo>
                  <a:lnTo>
                    <a:pt x="426354" y="0"/>
                  </a:lnTo>
                  <a:lnTo>
                    <a:pt x="424190" y="249"/>
                  </a:lnTo>
                  <a:lnTo>
                    <a:pt x="417088" y="5202"/>
                  </a:lnTo>
                  <a:lnTo>
                    <a:pt x="417332" y="6096"/>
                  </a:lnTo>
                  <a:lnTo>
                    <a:pt x="417728" y="7107"/>
                  </a:lnTo>
                  <a:lnTo>
                    <a:pt x="425485" y="24638"/>
                  </a:lnTo>
                  <a:lnTo>
                    <a:pt x="432210" y="42384"/>
                  </a:lnTo>
                  <a:lnTo>
                    <a:pt x="446277" y="96929"/>
                  </a:lnTo>
                  <a:lnTo>
                    <a:pt x="451104" y="152268"/>
                  </a:lnTo>
                  <a:lnTo>
                    <a:pt x="450708" y="170894"/>
                  </a:lnTo>
                  <a:lnTo>
                    <a:pt x="443362" y="226314"/>
                  </a:lnTo>
                  <a:lnTo>
                    <a:pt x="427095" y="280429"/>
                  </a:lnTo>
                  <a:lnTo>
                    <a:pt x="419100" y="299466"/>
                  </a:lnTo>
                  <a:lnTo>
                    <a:pt x="418856" y="300740"/>
                  </a:lnTo>
                  <a:lnTo>
                    <a:pt x="427482" y="305811"/>
                  </a:lnTo>
                  <a:lnTo>
                    <a:pt x="434340" y="305811"/>
                  </a:lnTo>
                  <a:lnTo>
                    <a:pt x="442478" y="303657"/>
                  </a:lnTo>
                  <a:lnTo>
                    <a:pt x="443118" y="303276"/>
                  </a:lnTo>
                  <a:lnTo>
                    <a:pt x="460248" y="266187"/>
                  </a:lnTo>
                  <a:lnTo>
                    <a:pt x="471830" y="229362"/>
                  </a:lnTo>
                  <a:lnTo>
                    <a:pt x="478932" y="191393"/>
                  </a:lnTo>
                  <a:lnTo>
                    <a:pt x="481082" y="152268"/>
                  </a:lnTo>
                  <a:lnTo>
                    <a:pt x="480378" y="133225"/>
                  </a:lnTo>
                  <a:lnTo>
                    <a:pt x="475125" y="94988"/>
                  </a:lnTo>
                  <a:lnTo>
                    <a:pt x="464908" y="57559"/>
                  </a:lnTo>
                  <a:lnTo>
                    <a:pt x="450722" y="21036"/>
                  </a:lnTo>
                  <a:lnTo>
                    <a:pt x="441076" y="2036"/>
                  </a:lnTo>
                  <a:lnTo>
                    <a:pt x="440710" y="1655"/>
                  </a:lnTo>
                  <a:lnTo>
                    <a:pt x="439948" y="1274"/>
                  </a:lnTo>
                  <a:lnTo>
                    <a:pt x="438912" y="1011"/>
                  </a:lnTo>
                  <a:lnTo>
                    <a:pt x="437906" y="630"/>
                  </a:lnTo>
                  <a:lnTo>
                    <a:pt x="436626" y="381"/>
                  </a:lnTo>
                  <a:lnTo>
                    <a:pt x="431444" y="0"/>
                  </a:lnTo>
                  <a:close/>
                </a:path>
                <a:path w="574675" h="310514">
                  <a:moveTo>
                    <a:pt x="558820" y="86355"/>
                  </a:moveTo>
                  <a:lnTo>
                    <a:pt x="551444" y="86355"/>
                  </a:lnTo>
                  <a:lnTo>
                    <a:pt x="548518" y="86736"/>
                  </a:lnTo>
                  <a:lnTo>
                    <a:pt x="537088" y="110358"/>
                  </a:lnTo>
                  <a:lnTo>
                    <a:pt x="537362" y="113538"/>
                  </a:lnTo>
                  <a:lnTo>
                    <a:pt x="537850" y="116073"/>
                  </a:lnTo>
                  <a:lnTo>
                    <a:pt x="538490" y="118622"/>
                  </a:lnTo>
                  <a:lnTo>
                    <a:pt x="539374" y="120645"/>
                  </a:lnTo>
                  <a:lnTo>
                    <a:pt x="540776" y="122169"/>
                  </a:lnTo>
                  <a:lnTo>
                    <a:pt x="542178" y="123825"/>
                  </a:lnTo>
                  <a:lnTo>
                    <a:pt x="544068" y="124836"/>
                  </a:lnTo>
                  <a:lnTo>
                    <a:pt x="548640" y="126111"/>
                  </a:lnTo>
                  <a:lnTo>
                    <a:pt x="551688" y="126360"/>
                  </a:lnTo>
                  <a:lnTo>
                    <a:pt x="558942" y="126360"/>
                  </a:lnTo>
                  <a:lnTo>
                    <a:pt x="573532" y="110358"/>
                  </a:lnTo>
                  <a:lnTo>
                    <a:pt x="573420" y="102620"/>
                  </a:lnTo>
                  <a:lnTo>
                    <a:pt x="561746" y="86618"/>
                  </a:lnTo>
                  <a:lnTo>
                    <a:pt x="558820" y="86355"/>
                  </a:lnTo>
                  <a:close/>
                </a:path>
                <a:path w="574675" h="310514">
                  <a:moveTo>
                    <a:pt x="560588" y="206502"/>
                  </a:moveTo>
                  <a:lnTo>
                    <a:pt x="554888" y="206502"/>
                  </a:lnTo>
                  <a:lnTo>
                    <a:pt x="552328" y="206633"/>
                  </a:lnTo>
                  <a:lnTo>
                    <a:pt x="548274" y="207395"/>
                  </a:lnTo>
                  <a:lnTo>
                    <a:pt x="546506" y="208026"/>
                  </a:lnTo>
                  <a:lnTo>
                    <a:pt x="545226" y="209037"/>
                  </a:lnTo>
                  <a:lnTo>
                    <a:pt x="543824" y="209931"/>
                  </a:lnTo>
                  <a:lnTo>
                    <a:pt x="542818" y="211323"/>
                  </a:lnTo>
                  <a:lnTo>
                    <a:pt x="542178" y="213110"/>
                  </a:lnTo>
                  <a:lnTo>
                    <a:pt x="541538" y="215015"/>
                  </a:lnTo>
                  <a:lnTo>
                    <a:pt x="541208" y="217301"/>
                  </a:lnTo>
                  <a:lnTo>
                    <a:pt x="541294" y="242828"/>
                  </a:lnTo>
                  <a:lnTo>
                    <a:pt x="518800" y="290322"/>
                  </a:lnTo>
                  <a:lnTo>
                    <a:pt x="518160" y="292095"/>
                  </a:lnTo>
                  <a:lnTo>
                    <a:pt x="518191" y="292227"/>
                  </a:lnTo>
                  <a:lnTo>
                    <a:pt x="518312" y="293370"/>
                  </a:lnTo>
                  <a:lnTo>
                    <a:pt x="518678" y="294000"/>
                  </a:lnTo>
                  <a:lnTo>
                    <a:pt x="519196" y="294381"/>
                  </a:lnTo>
                  <a:lnTo>
                    <a:pt x="519836" y="294894"/>
                  </a:lnTo>
                  <a:lnTo>
                    <a:pt x="520720" y="295143"/>
                  </a:lnTo>
                  <a:lnTo>
                    <a:pt x="522122" y="295406"/>
                  </a:lnTo>
                  <a:lnTo>
                    <a:pt x="525018" y="295656"/>
                  </a:lnTo>
                  <a:lnTo>
                    <a:pt x="527060" y="295656"/>
                  </a:lnTo>
                  <a:lnTo>
                    <a:pt x="538734" y="292739"/>
                  </a:lnTo>
                  <a:lnTo>
                    <a:pt x="539496" y="292227"/>
                  </a:lnTo>
                  <a:lnTo>
                    <a:pt x="540136" y="291465"/>
                  </a:lnTo>
                  <a:lnTo>
                    <a:pt x="540654" y="290453"/>
                  </a:lnTo>
                  <a:lnTo>
                    <a:pt x="564154" y="255020"/>
                  </a:lnTo>
                  <a:lnTo>
                    <a:pt x="572018" y="238887"/>
                  </a:lnTo>
                  <a:lnTo>
                    <a:pt x="572780" y="236220"/>
                  </a:lnTo>
                  <a:lnTo>
                    <a:pt x="573298" y="233303"/>
                  </a:lnTo>
                  <a:lnTo>
                    <a:pt x="574060" y="227325"/>
                  </a:lnTo>
                  <a:lnTo>
                    <a:pt x="574060" y="217301"/>
                  </a:lnTo>
                  <a:lnTo>
                    <a:pt x="565038" y="207014"/>
                  </a:lnTo>
                  <a:lnTo>
                    <a:pt x="562996" y="206633"/>
                  </a:lnTo>
                  <a:lnTo>
                    <a:pt x="560588" y="206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1175540" y="4942713"/>
            <a:ext cx="86995" cy="300355"/>
          </a:xfrm>
          <a:custGeom>
            <a:avLst/>
            <a:gdLst/>
            <a:ahLst/>
            <a:cxnLst/>
            <a:rect l="l" t="t" r="r" b="b"/>
            <a:pathLst>
              <a:path w="86994" h="300354">
                <a:moveTo>
                  <a:pt x="24572" y="0"/>
                </a:moveTo>
                <a:lnTo>
                  <a:pt x="12905" y="0"/>
                </a:lnTo>
                <a:lnTo>
                  <a:pt x="11393" y="131"/>
                </a:lnTo>
                <a:lnTo>
                  <a:pt x="9893" y="131"/>
                </a:lnTo>
                <a:lnTo>
                  <a:pt x="6190" y="893"/>
                </a:lnTo>
                <a:lnTo>
                  <a:pt x="5154" y="893"/>
                </a:lnTo>
                <a:lnTo>
                  <a:pt x="4261" y="1142"/>
                </a:lnTo>
                <a:lnTo>
                  <a:pt x="0" y="9524"/>
                </a:lnTo>
                <a:lnTo>
                  <a:pt x="24" y="13466"/>
                </a:lnTo>
                <a:lnTo>
                  <a:pt x="13941" y="22229"/>
                </a:lnTo>
                <a:lnTo>
                  <a:pt x="16608" y="22229"/>
                </a:lnTo>
                <a:lnTo>
                  <a:pt x="18894" y="22728"/>
                </a:lnTo>
                <a:lnTo>
                  <a:pt x="29501" y="105405"/>
                </a:lnTo>
                <a:lnTo>
                  <a:pt x="30013" y="112263"/>
                </a:lnTo>
                <a:lnTo>
                  <a:pt x="32040" y="122432"/>
                </a:lnTo>
                <a:lnTo>
                  <a:pt x="33716" y="126872"/>
                </a:lnTo>
                <a:lnTo>
                  <a:pt x="36051" y="130682"/>
                </a:lnTo>
                <a:lnTo>
                  <a:pt x="38386" y="134624"/>
                </a:lnTo>
                <a:lnTo>
                  <a:pt x="60411" y="145791"/>
                </a:lnTo>
                <a:lnTo>
                  <a:pt x="54519" y="147065"/>
                </a:lnTo>
                <a:lnTo>
                  <a:pt x="32372" y="180974"/>
                </a:lnTo>
                <a:lnTo>
                  <a:pt x="30025" y="202061"/>
                </a:lnTo>
                <a:lnTo>
                  <a:pt x="30275" y="246257"/>
                </a:lnTo>
                <a:lnTo>
                  <a:pt x="30025" y="253877"/>
                </a:lnTo>
                <a:lnTo>
                  <a:pt x="28931" y="263783"/>
                </a:lnTo>
                <a:lnTo>
                  <a:pt x="28026" y="267711"/>
                </a:lnTo>
                <a:lnTo>
                  <a:pt x="26764" y="270378"/>
                </a:lnTo>
                <a:lnTo>
                  <a:pt x="25526" y="273176"/>
                </a:lnTo>
                <a:lnTo>
                  <a:pt x="23908" y="275081"/>
                </a:lnTo>
                <a:lnTo>
                  <a:pt x="21954" y="276224"/>
                </a:lnTo>
                <a:lnTo>
                  <a:pt x="19988" y="277236"/>
                </a:lnTo>
                <a:lnTo>
                  <a:pt x="17620" y="277748"/>
                </a:lnTo>
                <a:lnTo>
                  <a:pt x="14858" y="277748"/>
                </a:lnTo>
                <a:lnTo>
                  <a:pt x="6583" y="277998"/>
                </a:lnTo>
                <a:lnTo>
                  <a:pt x="1548" y="286761"/>
                </a:lnTo>
                <a:lnTo>
                  <a:pt x="1569" y="290571"/>
                </a:lnTo>
                <a:lnTo>
                  <a:pt x="5096" y="298454"/>
                </a:lnTo>
                <a:lnTo>
                  <a:pt x="5772" y="298953"/>
                </a:lnTo>
                <a:lnTo>
                  <a:pt x="6534" y="299216"/>
                </a:lnTo>
                <a:lnTo>
                  <a:pt x="7333" y="299216"/>
                </a:lnTo>
                <a:lnTo>
                  <a:pt x="11573" y="299715"/>
                </a:lnTo>
                <a:lnTo>
                  <a:pt x="14572" y="299978"/>
                </a:lnTo>
                <a:lnTo>
                  <a:pt x="26133" y="299978"/>
                </a:lnTo>
                <a:lnTo>
                  <a:pt x="53897" y="273689"/>
                </a:lnTo>
                <a:lnTo>
                  <a:pt x="56589" y="236981"/>
                </a:lnTo>
                <a:lnTo>
                  <a:pt x="56387" y="200786"/>
                </a:lnTo>
                <a:lnTo>
                  <a:pt x="56744" y="193679"/>
                </a:lnTo>
                <a:lnTo>
                  <a:pt x="72734" y="158114"/>
                </a:lnTo>
                <a:lnTo>
                  <a:pt x="82545" y="155697"/>
                </a:lnTo>
                <a:lnTo>
                  <a:pt x="83344" y="155447"/>
                </a:lnTo>
                <a:lnTo>
                  <a:pt x="86773" y="147315"/>
                </a:lnTo>
                <a:lnTo>
                  <a:pt x="86761" y="145410"/>
                </a:lnTo>
                <a:lnTo>
                  <a:pt x="83771" y="135767"/>
                </a:lnTo>
                <a:lnTo>
                  <a:pt x="83070" y="135254"/>
                </a:lnTo>
                <a:lnTo>
                  <a:pt x="82259" y="135005"/>
                </a:lnTo>
                <a:lnTo>
                  <a:pt x="81329" y="135005"/>
                </a:lnTo>
                <a:lnTo>
                  <a:pt x="76818" y="134492"/>
                </a:lnTo>
                <a:lnTo>
                  <a:pt x="55613" y="62615"/>
                </a:lnTo>
                <a:lnTo>
                  <a:pt x="55458" y="53848"/>
                </a:lnTo>
                <a:lnTo>
                  <a:pt x="44790" y="9774"/>
                </a:lnTo>
                <a:lnTo>
                  <a:pt x="35859" y="3678"/>
                </a:lnTo>
                <a:lnTo>
                  <a:pt x="30873" y="1142"/>
                </a:lnTo>
                <a:lnTo>
                  <a:pt x="24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30723" y="1918838"/>
            <a:ext cx="5395595" cy="45720"/>
          </a:xfrm>
          <a:custGeom>
            <a:avLst/>
            <a:gdLst/>
            <a:ahLst/>
            <a:cxnLst/>
            <a:rect l="l" t="t" r="r" b="b"/>
            <a:pathLst>
              <a:path w="5395595" h="45719">
                <a:moveTo>
                  <a:pt x="5394856" y="0"/>
                </a:moveTo>
                <a:lnTo>
                  <a:pt x="1798332" y="20055"/>
                </a:lnTo>
                <a:lnTo>
                  <a:pt x="0" y="30236"/>
                </a:lnTo>
                <a:lnTo>
                  <a:pt x="73" y="45354"/>
                </a:lnTo>
                <a:lnTo>
                  <a:pt x="5394978" y="15239"/>
                </a:lnTo>
                <a:lnTo>
                  <a:pt x="53948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62538" y="2243967"/>
            <a:ext cx="222885" cy="256540"/>
          </a:xfrm>
          <a:custGeom>
            <a:avLst/>
            <a:gdLst/>
            <a:ahLst/>
            <a:cxnLst/>
            <a:rect l="l" t="t" r="r" b="b"/>
            <a:pathLst>
              <a:path w="222884" h="256539">
                <a:moveTo>
                  <a:pt x="0" y="0"/>
                </a:moveTo>
                <a:lnTo>
                  <a:pt x="74864" y="127894"/>
                </a:lnTo>
                <a:lnTo>
                  <a:pt x="1426" y="256519"/>
                </a:lnTo>
                <a:lnTo>
                  <a:pt x="221521" y="127741"/>
                </a:lnTo>
                <a:lnTo>
                  <a:pt x="84652" y="127741"/>
                </a:lnTo>
                <a:lnTo>
                  <a:pt x="23131" y="22738"/>
                </a:lnTo>
                <a:lnTo>
                  <a:pt x="39900" y="22738"/>
                </a:lnTo>
                <a:lnTo>
                  <a:pt x="0" y="0"/>
                </a:lnTo>
                <a:close/>
              </a:path>
              <a:path w="222884" h="256539">
                <a:moveTo>
                  <a:pt x="39900" y="22738"/>
                </a:moveTo>
                <a:lnTo>
                  <a:pt x="23131" y="22738"/>
                </a:lnTo>
                <a:lnTo>
                  <a:pt x="205871" y="127132"/>
                </a:lnTo>
                <a:lnTo>
                  <a:pt x="84652" y="127741"/>
                </a:lnTo>
                <a:lnTo>
                  <a:pt x="221521" y="127741"/>
                </a:lnTo>
                <a:lnTo>
                  <a:pt x="222824" y="126979"/>
                </a:lnTo>
                <a:lnTo>
                  <a:pt x="39900" y="227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7070" y="2330713"/>
            <a:ext cx="652653" cy="16888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8274" y="2308463"/>
            <a:ext cx="1733504" cy="22683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969380" y="2319284"/>
            <a:ext cx="26034" cy="165735"/>
          </a:xfrm>
          <a:custGeom>
            <a:avLst/>
            <a:gdLst/>
            <a:ahLst/>
            <a:cxnLst/>
            <a:rect l="l" t="t" r="r" b="b"/>
            <a:pathLst>
              <a:path w="26035" h="165735">
                <a:moveTo>
                  <a:pt x="14996" y="46085"/>
                </a:moveTo>
                <a:lnTo>
                  <a:pt x="10942" y="46085"/>
                </a:lnTo>
                <a:lnTo>
                  <a:pt x="7894" y="46329"/>
                </a:lnTo>
                <a:lnTo>
                  <a:pt x="2682" y="50017"/>
                </a:lnTo>
                <a:lnTo>
                  <a:pt x="3322" y="162549"/>
                </a:lnTo>
                <a:lnTo>
                  <a:pt x="3810" y="163555"/>
                </a:lnTo>
                <a:lnTo>
                  <a:pt x="4084" y="163951"/>
                </a:lnTo>
                <a:lnTo>
                  <a:pt x="4572" y="164439"/>
                </a:lnTo>
                <a:lnTo>
                  <a:pt x="5455" y="164713"/>
                </a:lnTo>
                <a:lnTo>
                  <a:pt x="6217" y="165079"/>
                </a:lnTo>
                <a:lnTo>
                  <a:pt x="7254" y="165354"/>
                </a:lnTo>
                <a:lnTo>
                  <a:pt x="9906" y="165597"/>
                </a:lnTo>
                <a:lnTo>
                  <a:pt x="11551" y="165719"/>
                </a:lnTo>
                <a:lnTo>
                  <a:pt x="15636" y="165719"/>
                </a:lnTo>
                <a:lnTo>
                  <a:pt x="17282" y="165597"/>
                </a:lnTo>
                <a:lnTo>
                  <a:pt x="18684" y="165354"/>
                </a:lnTo>
                <a:lnTo>
                  <a:pt x="19933" y="165201"/>
                </a:lnTo>
                <a:lnTo>
                  <a:pt x="20970" y="164957"/>
                </a:lnTo>
                <a:lnTo>
                  <a:pt x="21732" y="164592"/>
                </a:lnTo>
                <a:lnTo>
                  <a:pt x="22494" y="164317"/>
                </a:lnTo>
                <a:lnTo>
                  <a:pt x="22981" y="163951"/>
                </a:lnTo>
                <a:lnTo>
                  <a:pt x="23743" y="162915"/>
                </a:lnTo>
                <a:lnTo>
                  <a:pt x="23858" y="162549"/>
                </a:lnTo>
                <a:lnTo>
                  <a:pt x="23896" y="161787"/>
                </a:lnTo>
                <a:lnTo>
                  <a:pt x="23259" y="50017"/>
                </a:lnTo>
                <a:lnTo>
                  <a:pt x="21092" y="47091"/>
                </a:lnTo>
                <a:lnTo>
                  <a:pt x="20330" y="46725"/>
                </a:lnTo>
                <a:lnTo>
                  <a:pt x="19324" y="46482"/>
                </a:lnTo>
                <a:lnTo>
                  <a:pt x="18044" y="46329"/>
                </a:lnTo>
                <a:lnTo>
                  <a:pt x="14996" y="46085"/>
                </a:lnTo>
                <a:close/>
              </a:path>
              <a:path w="26035" h="165735">
                <a:moveTo>
                  <a:pt x="17526" y="0"/>
                </a:moveTo>
                <a:lnTo>
                  <a:pt x="7894" y="0"/>
                </a:lnTo>
                <a:lnTo>
                  <a:pt x="4572" y="883"/>
                </a:lnTo>
                <a:lnTo>
                  <a:pt x="2682" y="2651"/>
                </a:lnTo>
                <a:lnTo>
                  <a:pt x="883" y="4419"/>
                </a:lnTo>
                <a:lnTo>
                  <a:pt x="105" y="7345"/>
                </a:lnTo>
                <a:lnTo>
                  <a:pt x="0" y="17251"/>
                </a:lnTo>
                <a:lnTo>
                  <a:pt x="1036" y="20421"/>
                </a:lnTo>
                <a:lnTo>
                  <a:pt x="2804" y="22098"/>
                </a:lnTo>
                <a:lnTo>
                  <a:pt x="4572" y="23865"/>
                </a:lnTo>
                <a:lnTo>
                  <a:pt x="7894" y="24627"/>
                </a:lnTo>
                <a:lnTo>
                  <a:pt x="17526" y="24627"/>
                </a:lnTo>
                <a:lnTo>
                  <a:pt x="25420" y="7345"/>
                </a:lnTo>
                <a:lnTo>
                  <a:pt x="24384" y="4175"/>
                </a:lnTo>
                <a:lnTo>
                  <a:pt x="20848" y="883"/>
                </a:lnTo>
                <a:lnTo>
                  <a:pt x="175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73012" y="2302642"/>
            <a:ext cx="2330196" cy="18288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6488673" y="2293863"/>
            <a:ext cx="46355" cy="219710"/>
          </a:xfrm>
          <a:custGeom>
            <a:avLst/>
            <a:gdLst/>
            <a:ahLst/>
            <a:cxnLst/>
            <a:rect l="l" t="t" r="r" b="b"/>
            <a:pathLst>
              <a:path w="46354" h="219710">
                <a:moveTo>
                  <a:pt x="11704" y="0"/>
                </a:moveTo>
                <a:lnTo>
                  <a:pt x="6614" y="0"/>
                </a:lnTo>
                <a:lnTo>
                  <a:pt x="5090" y="121"/>
                </a:lnTo>
                <a:lnTo>
                  <a:pt x="1798" y="883"/>
                </a:lnTo>
                <a:lnTo>
                  <a:pt x="1158" y="1402"/>
                </a:lnTo>
                <a:lnTo>
                  <a:pt x="518" y="1798"/>
                </a:lnTo>
                <a:lnTo>
                  <a:pt x="152" y="2285"/>
                </a:lnTo>
                <a:lnTo>
                  <a:pt x="0" y="2926"/>
                </a:lnTo>
                <a:lnTo>
                  <a:pt x="0" y="3688"/>
                </a:lnTo>
                <a:lnTo>
                  <a:pt x="396" y="5090"/>
                </a:lnTo>
                <a:lnTo>
                  <a:pt x="5937" y="17642"/>
                </a:lnTo>
                <a:lnTo>
                  <a:pt x="10755" y="30346"/>
                </a:lnTo>
                <a:lnTo>
                  <a:pt x="20843" y="69414"/>
                </a:lnTo>
                <a:lnTo>
                  <a:pt x="24383" y="109087"/>
                </a:lnTo>
                <a:lnTo>
                  <a:pt x="24112" y="122429"/>
                </a:lnTo>
                <a:lnTo>
                  <a:pt x="18806" y="162184"/>
                </a:lnTo>
                <a:lnTo>
                  <a:pt x="7134" y="200987"/>
                </a:lnTo>
                <a:lnTo>
                  <a:pt x="1402" y="214640"/>
                </a:lnTo>
                <a:lnTo>
                  <a:pt x="1158" y="215524"/>
                </a:lnTo>
                <a:lnTo>
                  <a:pt x="1158" y="216926"/>
                </a:lnTo>
                <a:lnTo>
                  <a:pt x="1402" y="217444"/>
                </a:lnTo>
                <a:lnTo>
                  <a:pt x="1920" y="217931"/>
                </a:lnTo>
                <a:lnTo>
                  <a:pt x="2438" y="218328"/>
                </a:lnTo>
                <a:lnTo>
                  <a:pt x="3322" y="218693"/>
                </a:lnTo>
                <a:lnTo>
                  <a:pt x="4571" y="218815"/>
                </a:lnTo>
                <a:lnTo>
                  <a:pt x="5730" y="219090"/>
                </a:lnTo>
                <a:lnTo>
                  <a:pt x="7376" y="219212"/>
                </a:lnTo>
                <a:lnTo>
                  <a:pt x="11064" y="219212"/>
                </a:lnTo>
                <a:lnTo>
                  <a:pt x="12344" y="219090"/>
                </a:lnTo>
                <a:lnTo>
                  <a:pt x="13472" y="219090"/>
                </a:lnTo>
                <a:lnTo>
                  <a:pt x="19202" y="216529"/>
                </a:lnTo>
                <a:lnTo>
                  <a:pt x="22428" y="210131"/>
                </a:lnTo>
                <a:lnTo>
                  <a:pt x="37447" y="171014"/>
                </a:lnTo>
                <a:lnTo>
                  <a:pt x="45010" y="130279"/>
                </a:lnTo>
                <a:lnTo>
                  <a:pt x="45872" y="109362"/>
                </a:lnTo>
                <a:lnTo>
                  <a:pt x="45311" y="95423"/>
                </a:lnTo>
                <a:lnTo>
                  <a:pt x="38252" y="54498"/>
                </a:lnTo>
                <a:lnTo>
                  <a:pt x="24039" y="15047"/>
                </a:lnTo>
                <a:lnTo>
                  <a:pt x="17922" y="2285"/>
                </a:lnTo>
                <a:lnTo>
                  <a:pt x="17800" y="1920"/>
                </a:lnTo>
                <a:lnTo>
                  <a:pt x="17525" y="1645"/>
                </a:lnTo>
                <a:lnTo>
                  <a:pt x="17160" y="1402"/>
                </a:lnTo>
                <a:lnTo>
                  <a:pt x="16916" y="1158"/>
                </a:lnTo>
                <a:lnTo>
                  <a:pt x="16276" y="883"/>
                </a:lnTo>
                <a:lnTo>
                  <a:pt x="14874" y="396"/>
                </a:lnTo>
                <a:lnTo>
                  <a:pt x="11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7204" y="2819521"/>
            <a:ext cx="159696" cy="18388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14699" y="2834243"/>
            <a:ext cx="652653" cy="16879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47440" y="2803916"/>
            <a:ext cx="4654349" cy="234939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6788657" y="2795016"/>
            <a:ext cx="46355" cy="219710"/>
          </a:xfrm>
          <a:custGeom>
            <a:avLst/>
            <a:gdLst/>
            <a:ahLst/>
            <a:cxnLst/>
            <a:rect l="l" t="t" r="r" b="b"/>
            <a:pathLst>
              <a:path w="46354" h="219710">
                <a:moveTo>
                  <a:pt x="10149" y="0"/>
                </a:moveTo>
                <a:lnTo>
                  <a:pt x="8503" y="121"/>
                </a:lnTo>
                <a:lnTo>
                  <a:pt x="6614" y="121"/>
                </a:lnTo>
                <a:lnTo>
                  <a:pt x="5090" y="243"/>
                </a:lnTo>
                <a:lnTo>
                  <a:pt x="1767" y="1005"/>
                </a:lnTo>
                <a:lnTo>
                  <a:pt x="1158" y="1523"/>
                </a:lnTo>
                <a:lnTo>
                  <a:pt x="518" y="1889"/>
                </a:lnTo>
                <a:lnTo>
                  <a:pt x="121" y="2407"/>
                </a:lnTo>
                <a:lnTo>
                  <a:pt x="0" y="3047"/>
                </a:lnTo>
                <a:lnTo>
                  <a:pt x="0" y="3809"/>
                </a:lnTo>
                <a:lnTo>
                  <a:pt x="121" y="4450"/>
                </a:lnTo>
                <a:lnTo>
                  <a:pt x="396" y="5212"/>
                </a:lnTo>
                <a:lnTo>
                  <a:pt x="5939" y="17764"/>
                </a:lnTo>
                <a:lnTo>
                  <a:pt x="10770" y="30468"/>
                </a:lnTo>
                <a:lnTo>
                  <a:pt x="20882" y="69536"/>
                </a:lnTo>
                <a:lnTo>
                  <a:pt x="24383" y="109209"/>
                </a:lnTo>
                <a:lnTo>
                  <a:pt x="24099" y="122533"/>
                </a:lnTo>
                <a:lnTo>
                  <a:pt x="18806" y="162305"/>
                </a:lnTo>
                <a:lnTo>
                  <a:pt x="7108" y="201083"/>
                </a:lnTo>
                <a:lnTo>
                  <a:pt x="1767" y="213725"/>
                </a:lnTo>
                <a:lnTo>
                  <a:pt x="1158" y="215524"/>
                </a:lnTo>
                <a:lnTo>
                  <a:pt x="1158" y="217048"/>
                </a:lnTo>
                <a:lnTo>
                  <a:pt x="1402" y="217535"/>
                </a:lnTo>
                <a:lnTo>
                  <a:pt x="1920" y="218053"/>
                </a:lnTo>
                <a:lnTo>
                  <a:pt x="2407" y="218450"/>
                </a:lnTo>
                <a:lnTo>
                  <a:pt x="3291" y="218815"/>
                </a:lnTo>
                <a:lnTo>
                  <a:pt x="4571" y="218937"/>
                </a:lnTo>
                <a:lnTo>
                  <a:pt x="5730" y="219212"/>
                </a:lnTo>
                <a:lnTo>
                  <a:pt x="7376" y="219334"/>
                </a:lnTo>
                <a:lnTo>
                  <a:pt x="11064" y="219334"/>
                </a:lnTo>
                <a:lnTo>
                  <a:pt x="13472" y="219059"/>
                </a:lnTo>
                <a:lnTo>
                  <a:pt x="14477" y="219059"/>
                </a:lnTo>
                <a:lnTo>
                  <a:pt x="16245" y="218572"/>
                </a:lnTo>
                <a:lnTo>
                  <a:pt x="17647" y="218053"/>
                </a:lnTo>
                <a:lnTo>
                  <a:pt x="18166" y="217688"/>
                </a:lnTo>
                <a:lnTo>
                  <a:pt x="18684" y="217413"/>
                </a:lnTo>
                <a:lnTo>
                  <a:pt x="35444" y="177759"/>
                </a:lnTo>
                <a:lnTo>
                  <a:pt x="44317" y="137281"/>
                </a:lnTo>
                <a:lnTo>
                  <a:pt x="45841" y="109484"/>
                </a:lnTo>
                <a:lnTo>
                  <a:pt x="45298" y="95545"/>
                </a:lnTo>
                <a:lnTo>
                  <a:pt x="38221" y="54620"/>
                </a:lnTo>
                <a:lnTo>
                  <a:pt x="24055" y="15169"/>
                </a:lnTo>
                <a:lnTo>
                  <a:pt x="13959" y="365"/>
                </a:lnTo>
                <a:lnTo>
                  <a:pt x="101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9753" y="3276721"/>
            <a:ext cx="159696" cy="183885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1301235" y="3248162"/>
            <a:ext cx="7467600" cy="227329"/>
            <a:chOff x="1301235" y="3248162"/>
            <a:chExt cx="7467600" cy="227329"/>
          </a:xfrm>
        </p:grpSpPr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01235" y="3285225"/>
              <a:ext cx="1749569" cy="1752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91677" y="3248162"/>
              <a:ext cx="5676778" cy="227076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62298" y="3733921"/>
            <a:ext cx="159712" cy="183901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19784" y="3754617"/>
            <a:ext cx="582798" cy="163074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1983854" y="3704447"/>
            <a:ext cx="6772275" cy="247650"/>
            <a:chOff x="1983854" y="3704447"/>
            <a:chExt cx="6772275" cy="247650"/>
          </a:xfrm>
        </p:grpSpPr>
        <p:sp>
          <p:nvSpPr>
            <p:cNvPr id="21" name="object 21"/>
            <p:cNvSpPr/>
            <p:nvPr/>
          </p:nvSpPr>
          <p:spPr>
            <a:xfrm>
              <a:off x="1983841" y="3737736"/>
              <a:ext cx="454659" cy="177165"/>
            </a:xfrm>
            <a:custGeom>
              <a:avLst/>
              <a:gdLst/>
              <a:ahLst/>
              <a:cxnLst/>
              <a:rect l="l" t="t" r="r" b="b"/>
              <a:pathLst>
                <a:path w="454660" h="177164">
                  <a:moveTo>
                    <a:pt x="111658" y="104787"/>
                  </a:moveTo>
                  <a:lnTo>
                    <a:pt x="110515" y="96266"/>
                  </a:lnTo>
                  <a:lnTo>
                    <a:pt x="108089" y="88900"/>
                  </a:lnTo>
                  <a:lnTo>
                    <a:pt x="105803" y="81407"/>
                  </a:lnTo>
                  <a:lnTo>
                    <a:pt x="102374" y="75069"/>
                  </a:lnTo>
                  <a:lnTo>
                    <a:pt x="98958" y="71259"/>
                  </a:lnTo>
                  <a:lnTo>
                    <a:pt x="97802" y="69977"/>
                  </a:lnTo>
                  <a:lnTo>
                    <a:pt x="93230" y="64770"/>
                  </a:lnTo>
                  <a:lnTo>
                    <a:pt x="90449" y="62865"/>
                  </a:lnTo>
                  <a:lnTo>
                    <a:pt x="90449" y="122047"/>
                  </a:lnTo>
                  <a:lnTo>
                    <a:pt x="89801" y="128028"/>
                  </a:lnTo>
                  <a:lnTo>
                    <a:pt x="87274" y="138696"/>
                  </a:lnTo>
                  <a:lnTo>
                    <a:pt x="85229" y="143383"/>
                  </a:lnTo>
                  <a:lnTo>
                    <a:pt x="82321" y="147320"/>
                  </a:lnTo>
                  <a:lnTo>
                    <a:pt x="79514" y="151269"/>
                  </a:lnTo>
                  <a:lnTo>
                    <a:pt x="75971" y="154317"/>
                  </a:lnTo>
                  <a:lnTo>
                    <a:pt x="67081" y="158623"/>
                  </a:lnTo>
                  <a:lnTo>
                    <a:pt x="61874" y="159766"/>
                  </a:lnTo>
                  <a:lnTo>
                    <a:pt x="49301" y="159766"/>
                  </a:lnTo>
                  <a:lnTo>
                    <a:pt x="21742" y="127381"/>
                  </a:lnTo>
                  <a:lnTo>
                    <a:pt x="21107" y="109093"/>
                  </a:lnTo>
                  <a:lnTo>
                    <a:pt x="21742" y="103263"/>
                  </a:lnTo>
                  <a:lnTo>
                    <a:pt x="23152" y="97688"/>
                  </a:lnTo>
                  <a:lnTo>
                    <a:pt x="24409" y="92456"/>
                  </a:lnTo>
                  <a:lnTo>
                    <a:pt x="49796" y="71259"/>
                  </a:lnTo>
                  <a:lnTo>
                    <a:pt x="62509" y="71259"/>
                  </a:lnTo>
                  <a:lnTo>
                    <a:pt x="89801" y="103759"/>
                  </a:lnTo>
                  <a:lnTo>
                    <a:pt x="90449" y="122047"/>
                  </a:lnTo>
                  <a:lnTo>
                    <a:pt x="90449" y="62865"/>
                  </a:lnTo>
                  <a:lnTo>
                    <a:pt x="87515" y="60833"/>
                  </a:lnTo>
                  <a:lnTo>
                    <a:pt x="80657" y="58039"/>
                  </a:lnTo>
                  <a:lnTo>
                    <a:pt x="73799" y="55384"/>
                  </a:lnTo>
                  <a:lnTo>
                    <a:pt x="65798" y="54102"/>
                  </a:lnTo>
                  <a:lnTo>
                    <a:pt x="56540" y="54102"/>
                  </a:lnTo>
                  <a:lnTo>
                    <a:pt x="18554" y="66294"/>
                  </a:lnTo>
                  <a:lnTo>
                    <a:pt x="673" y="103759"/>
                  </a:lnTo>
                  <a:lnTo>
                    <a:pt x="0" y="120764"/>
                  </a:lnTo>
                  <a:lnTo>
                    <a:pt x="101" y="123850"/>
                  </a:lnTo>
                  <a:lnTo>
                    <a:pt x="13601" y="161290"/>
                  </a:lnTo>
                  <a:lnTo>
                    <a:pt x="45745" y="177038"/>
                  </a:lnTo>
                  <a:lnTo>
                    <a:pt x="64274" y="177038"/>
                  </a:lnTo>
                  <a:lnTo>
                    <a:pt x="72656" y="175387"/>
                  </a:lnTo>
                  <a:lnTo>
                    <a:pt x="86893" y="169037"/>
                  </a:lnTo>
                  <a:lnTo>
                    <a:pt x="92849" y="164719"/>
                  </a:lnTo>
                  <a:lnTo>
                    <a:pt x="97028" y="159766"/>
                  </a:lnTo>
                  <a:lnTo>
                    <a:pt x="102374" y="153555"/>
                  </a:lnTo>
                  <a:lnTo>
                    <a:pt x="111620" y="115570"/>
                  </a:lnTo>
                  <a:lnTo>
                    <a:pt x="111658" y="104787"/>
                  </a:lnTo>
                  <a:close/>
                </a:path>
                <a:path w="454660" h="177164">
                  <a:moveTo>
                    <a:pt x="202463" y="10033"/>
                  </a:moveTo>
                  <a:lnTo>
                    <a:pt x="202196" y="7747"/>
                  </a:lnTo>
                  <a:lnTo>
                    <a:pt x="201955" y="6858"/>
                  </a:lnTo>
                  <a:lnTo>
                    <a:pt x="201574" y="5969"/>
                  </a:lnTo>
                  <a:lnTo>
                    <a:pt x="201320" y="5207"/>
                  </a:lnTo>
                  <a:lnTo>
                    <a:pt x="185432" y="0"/>
                  </a:lnTo>
                  <a:lnTo>
                    <a:pt x="176428" y="0"/>
                  </a:lnTo>
                  <a:lnTo>
                    <a:pt x="171094" y="889"/>
                  </a:lnTo>
                  <a:lnTo>
                    <a:pt x="166649" y="2679"/>
                  </a:lnTo>
                  <a:lnTo>
                    <a:pt x="162077" y="4330"/>
                  </a:lnTo>
                  <a:lnTo>
                    <a:pt x="148856" y="24384"/>
                  </a:lnTo>
                  <a:lnTo>
                    <a:pt x="147332" y="29959"/>
                  </a:lnTo>
                  <a:lnTo>
                    <a:pt x="146710" y="36576"/>
                  </a:lnTo>
                  <a:lnTo>
                    <a:pt x="146710" y="44437"/>
                  </a:lnTo>
                  <a:lnTo>
                    <a:pt x="146837" y="56019"/>
                  </a:lnTo>
                  <a:lnTo>
                    <a:pt x="131089" y="56019"/>
                  </a:lnTo>
                  <a:lnTo>
                    <a:pt x="127139" y="67691"/>
                  </a:lnTo>
                  <a:lnTo>
                    <a:pt x="127520" y="69862"/>
                  </a:lnTo>
                  <a:lnTo>
                    <a:pt x="128168" y="71107"/>
                  </a:lnTo>
                  <a:lnTo>
                    <a:pt x="128803" y="72402"/>
                  </a:lnTo>
                  <a:lnTo>
                    <a:pt x="129806" y="73164"/>
                  </a:lnTo>
                  <a:lnTo>
                    <a:pt x="146951" y="73101"/>
                  </a:lnTo>
                  <a:lnTo>
                    <a:pt x="147472" y="171704"/>
                  </a:lnTo>
                  <a:lnTo>
                    <a:pt x="147599" y="172224"/>
                  </a:lnTo>
                  <a:lnTo>
                    <a:pt x="148361" y="173228"/>
                  </a:lnTo>
                  <a:lnTo>
                    <a:pt x="148856" y="173609"/>
                  </a:lnTo>
                  <a:lnTo>
                    <a:pt x="149618" y="173863"/>
                  </a:lnTo>
                  <a:lnTo>
                    <a:pt x="150380" y="174244"/>
                  </a:lnTo>
                  <a:lnTo>
                    <a:pt x="151523" y="174510"/>
                  </a:lnTo>
                  <a:lnTo>
                    <a:pt x="155854" y="174891"/>
                  </a:lnTo>
                  <a:lnTo>
                    <a:pt x="159791" y="174891"/>
                  </a:lnTo>
                  <a:lnTo>
                    <a:pt x="168046" y="170942"/>
                  </a:lnTo>
                  <a:lnTo>
                    <a:pt x="167525" y="73025"/>
                  </a:lnTo>
                  <a:lnTo>
                    <a:pt x="167525" y="72898"/>
                  </a:lnTo>
                  <a:lnTo>
                    <a:pt x="193814" y="72783"/>
                  </a:lnTo>
                  <a:lnTo>
                    <a:pt x="194716" y="72148"/>
                  </a:lnTo>
                  <a:lnTo>
                    <a:pt x="195478" y="70739"/>
                  </a:lnTo>
                  <a:lnTo>
                    <a:pt x="196240" y="69469"/>
                  </a:lnTo>
                  <a:lnTo>
                    <a:pt x="196545" y="67691"/>
                  </a:lnTo>
                  <a:lnTo>
                    <a:pt x="196481" y="61353"/>
                  </a:lnTo>
                  <a:lnTo>
                    <a:pt x="195986" y="59194"/>
                  </a:lnTo>
                  <a:lnTo>
                    <a:pt x="195719" y="58305"/>
                  </a:lnTo>
                  <a:lnTo>
                    <a:pt x="195338" y="57670"/>
                  </a:lnTo>
                  <a:lnTo>
                    <a:pt x="194957" y="56908"/>
                  </a:lnTo>
                  <a:lnTo>
                    <a:pt x="194576" y="56388"/>
                  </a:lnTo>
                  <a:lnTo>
                    <a:pt x="194081" y="56146"/>
                  </a:lnTo>
                  <a:lnTo>
                    <a:pt x="193700" y="55867"/>
                  </a:lnTo>
                  <a:lnTo>
                    <a:pt x="193052" y="55753"/>
                  </a:lnTo>
                  <a:lnTo>
                    <a:pt x="167411" y="55867"/>
                  </a:lnTo>
                  <a:lnTo>
                    <a:pt x="167411" y="38862"/>
                  </a:lnTo>
                  <a:lnTo>
                    <a:pt x="181000" y="17005"/>
                  </a:lnTo>
                  <a:lnTo>
                    <a:pt x="186194" y="17005"/>
                  </a:lnTo>
                  <a:lnTo>
                    <a:pt x="188239" y="17157"/>
                  </a:lnTo>
                  <a:lnTo>
                    <a:pt x="191668" y="17919"/>
                  </a:lnTo>
                  <a:lnTo>
                    <a:pt x="193052" y="18288"/>
                  </a:lnTo>
                  <a:lnTo>
                    <a:pt x="194335" y="18808"/>
                  </a:lnTo>
                  <a:lnTo>
                    <a:pt x="195605" y="19177"/>
                  </a:lnTo>
                  <a:lnTo>
                    <a:pt x="197510" y="19939"/>
                  </a:lnTo>
                  <a:lnTo>
                    <a:pt x="198386" y="20332"/>
                  </a:lnTo>
                  <a:lnTo>
                    <a:pt x="199148" y="20574"/>
                  </a:lnTo>
                  <a:lnTo>
                    <a:pt x="200177" y="20574"/>
                  </a:lnTo>
                  <a:lnTo>
                    <a:pt x="200558" y="20447"/>
                  </a:lnTo>
                  <a:lnTo>
                    <a:pt x="201320" y="19939"/>
                  </a:lnTo>
                  <a:lnTo>
                    <a:pt x="201574" y="19570"/>
                  </a:lnTo>
                  <a:lnTo>
                    <a:pt x="201663" y="19177"/>
                  </a:lnTo>
                  <a:lnTo>
                    <a:pt x="201955" y="18415"/>
                  </a:lnTo>
                  <a:lnTo>
                    <a:pt x="202120" y="17526"/>
                  </a:lnTo>
                  <a:lnTo>
                    <a:pt x="202260" y="17005"/>
                  </a:lnTo>
                  <a:lnTo>
                    <a:pt x="202336" y="16764"/>
                  </a:lnTo>
                  <a:lnTo>
                    <a:pt x="202463" y="15760"/>
                  </a:lnTo>
                  <a:lnTo>
                    <a:pt x="202463" y="10033"/>
                  </a:lnTo>
                  <a:close/>
                </a:path>
                <a:path w="454660" h="177164">
                  <a:moveTo>
                    <a:pt x="370484" y="162179"/>
                  </a:moveTo>
                  <a:lnTo>
                    <a:pt x="370357" y="160909"/>
                  </a:lnTo>
                  <a:lnTo>
                    <a:pt x="370103" y="159766"/>
                  </a:lnTo>
                  <a:lnTo>
                    <a:pt x="369976" y="158750"/>
                  </a:lnTo>
                  <a:lnTo>
                    <a:pt x="369595" y="157746"/>
                  </a:lnTo>
                  <a:lnTo>
                    <a:pt x="369074" y="156984"/>
                  </a:lnTo>
                  <a:lnTo>
                    <a:pt x="368693" y="156222"/>
                  </a:lnTo>
                  <a:lnTo>
                    <a:pt x="368198" y="155702"/>
                  </a:lnTo>
                  <a:lnTo>
                    <a:pt x="367334" y="155194"/>
                  </a:lnTo>
                  <a:lnTo>
                    <a:pt x="366928" y="154940"/>
                  </a:lnTo>
                  <a:lnTo>
                    <a:pt x="366293" y="154813"/>
                  </a:lnTo>
                  <a:lnTo>
                    <a:pt x="295681" y="155194"/>
                  </a:lnTo>
                  <a:lnTo>
                    <a:pt x="327469" y="121539"/>
                  </a:lnTo>
                  <a:lnTo>
                    <a:pt x="352691" y="89408"/>
                  </a:lnTo>
                  <a:lnTo>
                    <a:pt x="362597" y="56629"/>
                  </a:lnTo>
                  <a:lnTo>
                    <a:pt x="362483" y="45847"/>
                  </a:lnTo>
                  <a:lnTo>
                    <a:pt x="361454" y="40386"/>
                  </a:lnTo>
                  <a:lnTo>
                    <a:pt x="357644" y="30353"/>
                  </a:lnTo>
                  <a:lnTo>
                    <a:pt x="356730" y="28956"/>
                  </a:lnTo>
                  <a:lnTo>
                    <a:pt x="354736" y="25908"/>
                  </a:lnTo>
                  <a:lnTo>
                    <a:pt x="323621" y="10033"/>
                  </a:lnTo>
                  <a:lnTo>
                    <a:pt x="310921" y="10033"/>
                  </a:lnTo>
                  <a:lnTo>
                    <a:pt x="289712" y="15367"/>
                  </a:lnTo>
                  <a:lnTo>
                    <a:pt x="286016" y="16764"/>
                  </a:lnTo>
                  <a:lnTo>
                    <a:pt x="282968" y="18288"/>
                  </a:lnTo>
                  <a:lnTo>
                    <a:pt x="280568" y="19812"/>
                  </a:lnTo>
                  <a:lnTo>
                    <a:pt x="278015" y="21336"/>
                  </a:lnTo>
                  <a:lnTo>
                    <a:pt x="276377" y="22491"/>
                  </a:lnTo>
                  <a:lnTo>
                    <a:pt x="274345" y="24257"/>
                  </a:lnTo>
                  <a:lnTo>
                    <a:pt x="273710" y="25019"/>
                  </a:lnTo>
                  <a:lnTo>
                    <a:pt x="273443" y="25539"/>
                  </a:lnTo>
                  <a:lnTo>
                    <a:pt x="273062" y="26149"/>
                  </a:lnTo>
                  <a:lnTo>
                    <a:pt x="272567" y="27432"/>
                  </a:lnTo>
                  <a:lnTo>
                    <a:pt x="272300" y="28829"/>
                  </a:lnTo>
                  <a:lnTo>
                    <a:pt x="272211" y="29591"/>
                  </a:lnTo>
                  <a:lnTo>
                    <a:pt x="272110" y="35445"/>
                  </a:lnTo>
                  <a:lnTo>
                    <a:pt x="272300" y="37465"/>
                  </a:lnTo>
                  <a:lnTo>
                    <a:pt x="274205" y="42037"/>
                  </a:lnTo>
                  <a:lnTo>
                    <a:pt x="274726" y="42430"/>
                  </a:lnTo>
                  <a:lnTo>
                    <a:pt x="275234" y="42545"/>
                  </a:lnTo>
                  <a:lnTo>
                    <a:pt x="276872" y="42545"/>
                  </a:lnTo>
                  <a:lnTo>
                    <a:pt x="278396" y="41910"/>
                  </a:lnTo>
                  <a:lnTo>
                    <a:pt x="282587" y="38989"/>
                  </a:lnTo>
                  <a:lnTo>
                    <a:pt x="285254" y="37465"/>
                  </a:lnTo>
                  <a:lnTo>
                    <a:pt x="288302" y="35814"/>
                  </a:lnTo>
                  <a:lnTo>
                    <a:pt x="291490" y="34163"/>
                  </a:lnTo>
                  <a:lnTo>
                    <a:pt x="295046" y="32524"/>
                  </a:lnTo>
                  <a:lnTo>
                    <a:pt x="299237" y="31115"/>
                  </a:lnTo>
                  <a:lnTo>
                    <a:pt x="303301" y="29718"/>
                  </a:lnTo>
                  <a:lnTo>
                    <a:pt x="308000" y="28956"/>
                  </a:lnTo>
                  <a:lnTo>
                    <a:pt x="317639" y="28956"/>
                  </a:lnTo>
                  <a:lnTo>
                    <a:pt x="321589" y="29591"/>
                  </a:lnTo>
                  <a:lnTo>
                    <a:pt x="328447" y="32397"/>
                  </a:lnTo>
                  <a:lnTo>
                    <a:pt x="331355" y="34290"/>
                  </a:lnTo>
                  <a:lnTo>
                    <a:pt x="333527" y="36703"/>
                  </a:lnTo>
                  <a:lnTo>
                    <a:pt x="335813" y="39103"/>
                  </a:lnTo>
                  <a:lnTo>
                    <a:pt x="337591" y="41783"/>
                  </a:lnTo>
                  <a:lnTo>
                    <a:pt x="338861" y="45085"/>
                  </a:lnTo>
                  <a:lnTo>
                    <a:pt x="340004" y="48247"/>
                  </a:lnTo>
                  <a:lnTo>
                    <a:pt x="340639" y="51574"/>
                  </a:lnTo>
                  <a:lnTo>
                    <a:pt x="340639" y="58674"/>
                  </a:lnTo>
                  <a:lnTo>
                    <a:pt x="324637" y="96786"/>
                  </a:lnTo>
                  <a:lnTo>
                    <a:pt x="274853" y="150622"/>
                  </a:lnTo>
                  <a:lnTo>
                    <a:pt x="273824" y="151650"/>
                  </a:lnTo>
                  <a:lnTo>
                    <a:pt x="273062" y="152654"/>
                  </a:lnTo>
                  <a:lnTo>
                    <a:pt x="272440" y="153670"/>
                  </a:lnTo>
                  <a:lnTo>
                    <a:pt x="271805" y="154559"/>
                  </a:lnTo>
                  <a:lnTo>
                    <a:pt x="271221" y="155702"/>
                  </a:lnTo>
                  <a:lnTo>
                    <a:pt x="269849" y="165227"/>
                  </a:lnTo>
                  <a:lnTo>
                    <a:pt x="270014" y="167513"/>
                  </a:lnTo>
                  <a:lnTo>
                    <a:pt x="273964" y="172986"/>
                  </a:lnTo>
                  <a:lnTo>
                    <a:pt x="274853" y="173367"/>
                  </a:lnTo>
                  <a:lnTo>
                    <a:pt x="275869" y="173482"/>
                  </a:lnTo>
                  <a:lnTo>
                    <a:pt x="366547" y="172986"/>
                  </a:lnTo>
                  <a:lnTo>
                    <a:pt x="367309" y="172720"/>
                  </a:lnTo>
                  <a:lnTo>
                    <a:pt x="367817" y="172339"/>
                  </a:lnTo>
                  <a:lnTo>
                    <a:pt x="368452" y="171958"/>
                  </a:lnTo>
                  <a:lnTo>
                    <a:pt x="368960" y="171462"/>
                  </a:lnTo>
                  <a:lnTo>
                    <a:pt x="369341" y="170561"/>
                  </a:lnTo>
                  <a:lnTo>
                    <a:pt x="369722" y="169799"/>
                  </a:lnTo>
                  <a:lnTo>
                    <a:pt x="369976" y="168910"/>
                  </a:lnTo>
                  <a:lnTo>
                    <a:pt x="370230" y="167513"/>
                  </a:lnTo>
                  <a:lnTo>
                    <a:pt x="370484" y="165227"/>
                  </a:lnTo>
                  <a:lnTo>
                    <a:pt x="370484" y="162179"/>
                  </a:lnTo>
                  <a:close/>
                </a:path>
                <a:path w="454660" h="177164">
                  <a:moveTo>
                    <a:pt x="454304" y="109740"/>
                  </a:moveTo>
                  <a:lnTo>
                    <a:pt x="454177" y="108077"/>
                  </a:lnTo>
                  <a:lnTo>
                    <a:pt x="454177" y="106807"/>
                  </a:lnTo>
                  <a:lnTo>
                    <a:pt x="453923" y="105664"/>
                  </a:lnTo>
                  <a:lnTo>
                    <a:pt x="450494" y="101219"/>
                  </a:lnTo>
                  <a:lnTo>
                    <a:pt x="396392" y="101600"/>
                  </a:lnTo>
                  <a:lnTo>
                    <a:pt x="395249" y="102235"/>
                  </a:lnTo>
                  <a:lnTo>
                    <a:pt x="393839" y="104648"/>
                  </a:lnTo>
                  <a:lnTo>
                    <a:pt x="393458" y="106934"/>
                  </a:lnTo>
                  <a:lnTo>
                    <a:pt x="393458" y="113169"/>
                  </a:lnTo>
                  <a:lnTo>
                    <a:pt x="393839" y="115455"/>
                  </a:lnTo>
                  <a:lnTo>
                    <a:pt x="395363" y="117983"/>
                  </a:lnTo>
                  <a:lnTo>
                    <a:pt x="396506" y="118618"/>
                  </a:lnTo>
                  <a:lnTo>
                    <a:pt x="451370" y="118237"/>
                  </a:lnTo>
                  <a:lnTo>
                    <a:pt x="452399" y="117602"/>
                  </a:lnTo>
                  <a:lnTo>
                    <a:pt x="453161" y="116459"/>
                  </a:lnTo>
                  <a:lnTo>
                    <a:pt x="453923" y="115189"/>
                  </a:lnTo>
                  <a:lnTo>
                    <a:pt x="454304" y="112903"/>
                  </a:lnTo>
                  <a:lnTo>
                    <a:pt x="454304" y="109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67356" y="3704447"/>
              <a:ext cx="6288146" cy="247153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62728" y="4199250"/>
            <a:ext cx="820935" cy="177296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67406" y="4648330"/>
            <a:ext cx="159724" cy="183891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1324868" y="4669785"/>
            <a:ext cx="421005" cy="162560"/>
          </a:xfrm>
          <a:custGeom>
            <a:avLst/>
            <a:gdLst/>
            <a:ahLst/>
            <a:cxnLst/>
            <a:rect l="l" t="t" r="r" b="b"/>
            <a:pathLst>
              <a:path w="421005" h="162560">
                <a:moveTo>
                  <a:pt x="49530" y="0"/>
                </a:moveTo>
                <a:lnTo>
                  <a:pt x="42159" y="0"/>
                </a:lnTo>
                <a:lnTo>
                  <a:pt x="5964" y="131"/>
                </a:lnTo>
                <a:lnTo>
                  <a:pt x="4191" y="893"/>
                </a:lnTo>
                <a:lnTo>
                  <a:pt x="880" y="3429"/>
                </a:lnTo>
                <a:lnTo>
                  <a:pt x="0" y="5715"/>
                </a:lnTo>
                <a:lnTo>
                  <a:pt x="837" y="151138"/>
                </a:lnTo>
                <a:lnTo>
                  <a:pt x="914" y="158627"/>
                </a:lnTo>
                <a:lnTo>
                  <a:pt x="1011" y="159008"/>
                </a:lnTo>
                <a:lnTo>
                  <a:pt x="1392" y="159520"/>
                </a:lnTo>
                <a:lnTo>
                  <a:pt x="1642" y="160020"/>
                </a:lnTo>
                <a:lnTo>
                  <a:pt x="2286" y="160401"/>
                </a:lnTo>
                <a:lnTo>
                  <a:pt x="3166" y="160663"/>
                </a:lnTo>
                <a:lnTo>
                  <a:pt x="3928" y="161044"/>
                </a:lnTo>
                <a:lnTo>
                  <a:pt x="5071" y="161163"/>
                </a:lnTo>
                <a:lnTo>
                  <a:pt x="7738" y="161675"/>
                </a:lnTo>
                <a:lnTo>
                  <a:pt x="13584" y="161675"/>
                </a:lnTo>
                <a:lnTo>
                  <a:pt x="22180" y="151138"/>
                </a:lnTo>
                <a:lnTo>
                  <a:pt x="21835" y="89154"/>
                </a:lnTo>
                <a:lnTo>
                  <a:pt x="36195" y="89154"/>
                </a:lnTo>
                <a:lnTo>
                  <a:pt x="41016" y="89035"/>
                </a:lnTo>
                <a:lnTo>
                  <a:pt x="76696" y="89035"/>
                </a:lnTo>
                <a:lnTo>
                  <a:pt x="76449" y="88773"/>
                </a:lnTo>
                <a:lnTo>
                  <a:pt x="72127" y="85225"/>
                </a:lnTo>
                <a:lnTo>
                  <a:pt x="69723" y="83701"/>
                </a:lnTo>
                <a:lnTo>
                  <a:pt x="67056" y="82558"/>
                </a:lnTo>
                <a:lnTo>
                  <a:pt x="71746" y="80903"/>
                </a:lnTo>
                <a:lnTo>
                  <a:pt x="76068" y="78867"/>
                </a:lnTo>
                <a:lnTo>
                  <a:pt x="79878" y="76462"/>
                </a:lnTo>
                <a:lnTo>
                  <a:pt x="83557" y="74045"/>
                </a:lnTo>
                <a:lnTo>
                  <a:pt x="86003" y="71890"/>
                </a:lnTo>
                <a:lnTo>
                  <a:pt x="21717" y="71890"/>
                </a:lnTo>
                <a:lnTo>
                  <a:pt x="21454" y="17788"/>
                </a:lnTo>
                <a:lnTo>
                  <a:pt x="90834" y="17657"/>
                </a:lnTo>
                <a:lnTo>
                  <a:pt x="88011" y="14609"/>
                </a:lnTo>
                <a:lnTo>
                  <a:pt x="84831" y="11049"/>
                </a:lnTo>
                <a:lnTo>
                  <a:pt x="80772" y="8132"/>
                </a:lnTo>
                <a:lnTo>
                  <a:pt x="75937" y="5846"/>
                </a:lnTo>
                <a:lnTo>
                  <a:pt x="71247" y="3560"/>
                </a:lnTo>
                <a:lnTo>
                  <a:pt x="65781" y="1905"/>
                </a:lnTo>
                <a:lnTo>
                  <a:pt x="59554" y="893"/>
                </a:lnTo>
                <a:lnTo>
                  <a:pt x="54982" y="381"/>
                </a:lnTo>
                <a:lnTo>
                  <a:pt x="52197" y="262"/>
                </a:lnTo>
                <a:lnTo>
                  <a:pt x="49530" y="0"/>
                </a:lnTo>
                <a:close/>
              </a:path>
              <a:path w="421005" h="162560">
                <a:moveTo>
                  <a:pt x="76696" y="89035"/>
                </a:moveTo>
                <a:lnTo>
                  <a:pt x="41016" y="89035"/>
                </a:lnTo>
                <a:lnTo>
                  <a:pt x="45207" y="89797"/>
                </a:lnTo>
                <a:lnTo>
                  <a:pt x="48768" y="91190"/>
                </a:lnTo>
                <a:lnTo>
                  <a:pt x="52197" y="92714"/>
                </a:lnTo>
                <a:lnTo>
                  <a:pt x="55245" y="94619"/>
                </a:lnTo>
                <a:lnTo>
                  <a:pt x="57780" y="97286"/>
                </a:lnTo>
                <a:lnTo>
                  <a:pt x="60447" y="99822"/>
                </a:lnTo>
                <a:lnTo>
                  <a:pt x="84963" y="156210"/>
                </a:lnTo>
                <a:lnTo>
                  <a:pt x="85344" y="157234"/>
                </a:lnTo>
                <a:lnTo>
                  <a:pt x="85725" y="157996"/>
                </a:lnTo>
                <a:lnTo>
                  <a:pt x="86224" y="158627"/>
                </a:lnTo>
                <a:lnTo>
                  <a:pt x="86605" y="159389"/>
                </a:lnTo>
                <a:lnTo>
                  <a:pt x="87249" y="159901"/>
                </a:lnTo>
                <a:lnTo>
                  <a:pt x="88129" y="160282"/>
                </a:lnTo>
                <a:lnTo>
                  <a:pt x="90034" y="160913"/>
                </a:lnTo>
                <a:lnTo>
                  <a:pt x="94488" y="161294"/>
                </a:lnTo>
                <a:lnTo>
                  <a:pt x="96642" y="161294"/>
                </a:lnTo>
                <a:lnTo>
                  <a:pt x="99178" y="161163"/>
                </a:lnTo>
                <a:lnTo>
                  <a:pt x="101214" y="161163"/>
                </a:lnTo>
                <a:lnTo>
                  <a:pt x="102607" y="160913"/>
                </a:lnTo>
                <a:lnTo>
                  <a:pt x="104131" y="160782"/>
                </a:lnTo>
                <a:lnTo>
                  <a:pt x="105274" y="160532"/>
                </a:lnTo>
                <a:lnTo>
                  <a:pt x="106167" y="160151"/>
                </a:lnTo>
                <a:lnTo>
                  <a:pt x="106929" y="159901"/>
                </a:lnTo>
                <a:lnTo>
                  <a:pt x="107442" y="159389"/>
                </a:lnTo>
                <a:lnTo>
                  <a:pt x="107691" y="158877"/>
                </a:lnTo>
                <a:lnTo>
                  <a:pt x="107855" y="158627"/>
                </a:lnTo>
                <a:lnTo>
                  <a:pt x="107966" y="158377"/>
                </a:lnTo>
                <a:lnTo>
                  <a:pt x="107941" y="155579"/>
                </a:lnTo>
                <a:lnTo>
                  <a:pt x="107560" y="154436"/>
                </a:lnTo>
                <a:lnTo>
                  <a:pt x="107310" y="153162"/>
                </a:lnTo>
                <a:lnTo>
                  <a:pt x="106548" y="151138"/>
                </a:lnTo>
                <a:lnTo>
                  <a:pt x="90678" y="112776"/>
                </a:lnTo>
                <a:lnTo>
                  <a:pt x="89022" y="108716"/>
                </a:lnTo>
                <a:lnTo>
                  <a:pt x="78486" y="90940"/>
                </a:lnTo>
                <a:lnTo>
                  <a:pt x="76696" y="89035"/>
                </a:lnTo>
                <a:close/>
              </a:path>
              <a:path w="421005" h="162560">
                <a:moveTo>
                  <a:pt x="90834" y="17657"/>
                </a:moveTo>
                <a:lnTo>
                  <a:pt x="43683" y="17657"/>
                </a:lnTo>
                <a:lnTo>
                  <a:pt x="49779" y="17907"/>
                </a:lnTo>
                <a:lnTo>
                  <a:pt x="52315" y="18169"/>
                </a:lnTo>
                <a:lnTo>
                  <a:pt x="54732" y="18550"/>
                </a:lnTo>
                <a:lnTo>
                  <a:pt x="56769" y="19181"/>
                </a:lnTo>
                <a:lnTo>
                  <a:pt x="63364" y="21086"/>
                </a:lnTo>
                <a:lnTo>
                  <a:pt x="68199" y="24134"/>
                </a:lnTo>
                <a:lnTo>
                  <a:pt x="73782" y="32766"/>
                </a:lnTo>
                <a:lnTo>
                  <a:pt x="75306" y="38100"/>
                </a:lnTo>
                <a:lnTo>
                  <a:pt x="75306" y="48268"/>
                </a:lnTo>
                <a:lnTo>
                  <a:pt x="74676" y="51947"/>
                </a:lnTo>
                <a:lnTo>
                  <a:pt x="72127" y="58555"/>
                </a:lnTo>
                <a:lnTo>
                  <a:pt x="70222" y="61472"/>
                </a:lnTo>
                <a:lnTo>
                  <a:pt x="67437" y="63889"/>
                </a:lnTo>
                <a:lnTo>
                  <a:pt x="64770" y="66425"/>
                </a:lnTo>
                <a:lnTo>
                  <a:pt x="61341" y="68330"/>
                </a:lnTo>
                <a:lnTo>
                  <a:pt x="53077" y="71128"/>
                </a:lnTo>
                <a:lnTo>
                  <a:pt x="48255" y="71759"/>
                </a:lnTo>
                <a:lnTo>
                  <a:pt x="21717" y="71890"/>
                </a:lnTo>
                <a:lnTo>
                  <a:pt x="86003" y="71890"/>
                </a:lnTo>
                <a:lnTo>
                  <a:pt x="86868" y="71128"/>
                </a:lnTo>
                <a:lnTo>
                  <a:pt x="89535" y="67818"/>
                </a:lnTo>
                <a:lnTo>
                  <a:pt x="92320" y="64651"/>
                </a:lnTo>
                <a:lnTo>
                  <a:pt x="94356" y="60841"/>
                </a:lnTo>
                <a:lnTo>
                  <a:pt x="95749" y="56519"/>
                </a:lnTo>
                <a:lnTo>
                  <a:pt x="97273" y="52328"/>
                </a:lnTo>
                <a:lnTo>
                  <a:pt x="97801" y="48268"/>
                </a:lnTo>
                <a:lnTo>
                  <a:pt x="97917" y="36457"/>
                </a:lnTo>
                <a:lnTo>
                  <a:pt x="97023" y="31373"/>
                </a:lnTo>
                <a:lnTo>
                  <a:pt x="93726" y="22229"/>
                </a:lnTo>
                <a:lnTo>
                  <a:pt x="91308" y="18169"/>
                </a:lnTo>
                <a:lnTo>
                  <a:pt x="90834" y="17657"/>
                </a:lnTo>
                <a:close/>
              </a:path>
              <a:path w="421005" h="162560">
                <a:moveTo>
                  <a:pt x="190368" y="39374"/>
                </a:moveTo>
                <a:lnTo>
                  <a:pt x="149089" y="47375"/>
                </a:lnTo>
                <a:lnTo>
                  <a:pt x="125598" y="84844"/>
                </a:lnTo>
                <a:lnTo>
                  <a:pt x="124455" y="102239"/>
                </a:lnTo>
                <a:lnTo>
                  <a:pt x="124746" y="109172"/>
                </a:lnTo>
                <a:lnTo>
                  <a:pt x="142875" y="151769"/>
                </a:lnTo>
                <a:lnTo>
                  <a:pt x="155448" y="158377"/>
                </a:lnTo>
                <a:lnTo>
                  <a:pt x="162306" y="161163"/>
                </a:lnTo>
                <a:lnTo>
                  <a:pt x="170307" y="162437"/>
                </a:lnTo>
                <a:lnTo>
                  <a:pt x="179451" y="162437"/>
                </a:lnTo>
                <a:lnTo>
                  <a:pt x="217419" y="150114"/>
                </a:lnTo>
                <a:lnTo>
                  <a:pt x="221697" y="145161"/>
                </a:lnTo>
                <a:lnTo>
                  <a:pt x="173854" y="145161"/>
                </a:lnTo>
                <a:lnTo>
                  <a:pt x="168270" y="144018"/>
                </a:lnTo>
                <a:lnTo>
                  <a:pt x="163830" y="141613"/>
                </a:lnTo>
                <a:lnTo>
                  <a:pt x="159376" y="139327"/>
                </a:lnTo>
                <a:lnTo>
                  <a:pt x="155829" y="136148"/>
                </a:lnTo>
                <a:lnTo>
                  <a:pt x="153280" y="132207"/>
                </a:lnTo>
                <a:lnTo>
                  <a:pt x="150613" y="128147"/>
                </a:lnTo>
                <a:lnTo>
                  <a:pt x="148708" y="123444"/>
                </a:lnTo>
                <a:lnTo>
                  <a:pt x="145660" y="94488"/>
                </a:lnTo>
                <a:lnTo>
                  <a:pt x="146304" y="88523"/>
                </a:lnTo>
                <a:lnTo>
                  <a:pt x="147696" y="83189"/>
                </a:lnTo>
                <a:lnTo>
                  <a:pt x="149089" y="77724"/>
                </a:lnTo>
                <a:lnTo>
                  <a:pt x="174366" y="56650"/>
                </a:lnTo>
                <a:lnTo>
                  <a:pt x="223600" y="56650"/>
                </a:lnTo>
                <a:lnTo>
                  <a:pt x="217800" y="50042"/>
                </a:lnTo>
                <a:lnTo>
                  <a:pt x="212085" y="46101"/>
                </a:lnTo>
                <a:lnTo>
                  <a:pt x="198369" y="40767"/>
                </a:lnTo>
                <a:lnTo>
                  <a:pt x="190368" y="39374"/>
                </a:lnTo>
                <a:close/>
              </a:path>
              <a:path w="421005" h="162560">
                <a:moveTo>
                  <a:pt x="223600" y="56650"/>
                </a:moveTo>
                <a:lnTo>
                  <a:pt x="187071" y="56650"/>
                </a:lnTo>
                <a:lnTo>
                  <a:pt x="192523" y="57793"/>
                </a:lnTo>
                <a:lnTo>
                  <a:pt x="201417" y="62365"/>
                </a:lnTo>
                <a:lnTo>
                  <a:pt x="215010" y="108585"/>
                </a:lnTo>
                <a:lnTo>
                  <a:pt x="214503" y="113288"/>
                </a:lnTo>
                <a:lnTo>
                  <a:pt x="213097" y="118753"/>
                </a:lnTo>
                <a:lnTo>
                  <a:pt x="211836" y="124087"/>
                </a:lnTo>
                <a:lnTo>
                  <a:pt x="196083" y="141732"/>
                </a:lnTo>
                <a:lnTo>
                  <a:pt x="191643" y="144018"/>
                </a:lnTo>
                <a:lnTo>
                  <a:pt x="186427" y="145042"/>
                </a:lnTo>
                <a:lnTo>
                  <a:pt x="180462" y="145161"/>
                </a:lnTo>
                <a:lnTo>
                  <a:pt x="221697" y="145161"/>
                </a:lnTo>
                <a:lnTo>
                  <a:pt x="226944" y="138946"/>
                </a:lnTo>
                <a:lnTo>
                  <a:pt x="230505" y="132338"/>
                </a:lnTo>
                <a:lnTo>
                  <a:pt x="232791" y="124587"/>
                </a:lnTo>
                <a:lnTo>
                  <a:pt x="235195" y="116967"/>
                </a:lnTo>
                <a:lnTo>
                  <a:pt x="236258" y="109172"/>
                </a:lnTo>
                <a:lnTo>
                  <a:pt x="236338" y="99441"/>
                </a:lnTo>
                <a:lnTo>
                  <a:pt x="236055" y="92583"/>
                </a:lnTo>
                <a:lnTo>
                  <a:pt x="226944" y="60460"/>
                </a:lnTo>
                <a:lnTo>
                  <a:pt x="223600" y="56650"/>
                </a:lnTo>
                <a:close/>
              </a:path>
              <a:path w="421005" h="162560">
                <a:moveTo>
                  <a:pt x="266437" y="40767"/>
                </a:moveTo>
                <a:lnTo>
                  <a:pt x="258817" y="40767"/>
                </a:lnTo>
                <a:lnTo>
                  <a:pt x="257424" y="40898"/>
                </a:lnTo>
                <a:lnTo>
                  <a:pt x="255138" y="41148"/>
                </a:lnTo>
                <a:lnTo>
                  <a:pt x="254245" y="41529"/>
                </a:lnTo>
                <a:lnTo>
                  <a:pt x="253483" y="41791"/>
                </a:lnTo>
                <a:lnTo>
                  <a:pt x="252984" y="42172"/>
                </a:lnTo>
                <a:lnTo>
                  <a:pt x="252340" y="43053"/>
                </a:lnTo>
                <a:lnTo>
                  <a:pt x="252289" y="43184"/>
                </a:lnTo>
                <a:lnTo>
                  <a:pt x="252196" y="45601"/>
                </a:lnTo>
                <a:lnTo>
                  <a:pt x="252340" y="46482"/>
                </a:lnTo>
                <a:lnTo>
                  <a:pt x="252635" y="47506"/>
                </a:lnTo>
                <a:lnTo>
                  <a:pt x="252931" y="48649"/>
                </a:lnTo>
                <a:lnTo>
                  <a:pt x="286761" y="156472"/>
                </a:lnTo>
                <a:lnTo>
                  <a:pt x="290059" y="159139"/>
                </a:lnTo>
                <a:lnTo>
                  <a:pt x="291084" y="159520"/>
                </a:lnTo>
                <a:lnTo>
                  <a:pt x="292345" y="159770"/>
                </a:lnTo>
                <a:lnTo>
                  <a:pt x="294000" y="159901"/>
                </a:lnTo>
                <a:lnTo>
                  <a:pt x="297679" y="160151"/>
                </a:lnTo>
                <a:lnTo>
                  <a:pt x="300228" y="160151"/>
                </a:lnTo>
                <a:lnTo>
                  <a:pt x="302763" y="160020"/>
                </a:lnTo>
                <a:lnTo>
                  <a:pt x="304800" y="160020"/>
                </a:lnTo>
                <a:lnTo>
                  <a:pt x="308229" y="159770"/>
                </a:lnTo>
                <a:lnTo>
                  <a:pt x="309621" y="159520"/>
                </a:lnTo>
                <a:lnTo>
                  <a:pt x="310633" y="159139"/>
                </a:lnTo>
                <a:lnTo>
                  <a:pt x="311776" y="158877"/>
                </a:lnTo>
                <a:lnTo>
                  <a:pt x="312538" y="158377"/>
                </a:lnTo>
                <a:lnTo>
                  <a:pt x="313050" y="157734"/>
                </a:lnTo>
                <a:lnTo>
                  <a:pt x="313681" y="157234"/>
                </a:lnTo>
                <a:lnTo>
                  <a:pt x="314062" y="156472"/>
                </a:lnTo>
                <a:lnTo>
                  <a:pt x="314424" y="155198"/>
                </a:lnTo>
                <a:lnTo>
                  <a:pt x="318962" y="137803"/>
                </a:lnTo>
                <a:lnTo>
                  <a:pt x="301371" y="137803"/>
                </a:lnTo>
                <a:lnTo>
                  <a:pt x="301108" y="136779"/>
                </a:lnTo>
                <a:lnTo>
                  <a:pt x="273426" y="43946"/>
                </a:lnTo>
                <a:lnTo>
                  <a:pt x="272981" y="43184"/>
                </a:lnTo>
                <a:lnTo>
                  <a:pt x="272645" y="42553"/>
                </a:lnTo>
                <a:lnTo>
                  <a:pt x="272415" y="42172"/>
                </a:lnTo>
                <a:lnTo>
                  <a:pt x="271902" y="41791"/>
                </a:lnTo>
                <a:lnTo>
                  <a:pt x="270378" y="41279"/>
                </a:lnTo>
                <a:lnTo>
                  <a:pt x="269367" y="41029"/>
                </a:lnTo>
                <a:lnTo>
                  <a:pt x="266437" y="40767"/>
                </a:lnTo>
                <a:close/>
              </a:path>
              <a:path w="421005" h="162560">
                <a:moveTo>
                  <a:pt x="355277" y="73152"/>
                </a:moveTo>
                <a:lnTo>
                  <a:pt x="335779" y="73152"/>
                </a:lnTo>
                <a:lnTo>
                  <a:pt x="336042" y="74295"/>
                </a:lnTo>
                <a:lnTo>
                  <a:pt x="360126" y="155579"/>
                </a:lnTo>
                <a:lnTo>
                  <a:pt x="360294" y="156091"/>
                </a:lnTo>
                <a:lnTo>
                  <a:pt x="360675" y="156853"/>
                </a:lnTo>
                <a:lnTo>
                  <a:pt x="361188" y="157353"/>
                </a:lnTo>
                <a:lnTo>
                  <a:pt x="361687" y="157996"/>
                </a:lnTo>
                <a:lnTo>
                  <a:pt x="362449" y="158377"/>
                </a:lnTo>
                <a:lnTo>
                  <a:pt x="364485" y="159139"/>
                </a:lnTo>
                <a:lnTo>
                  <a:pt x="365878" y="159258"/>
                </a:lnTo>
                <a:lnTo>
                  <a:pt x="367665" y="159520"/>
                </a:lnTo>
                <a:lnTo>
                  <a:pt x="369307" y="159639"/>
                </a:lnTo>
                <a:lnTo>
                  <a:pt x="378582" y="159639"/>
                </a:lnTo>
                <a:lnTo>
                  <a:pt x="381880" y="159389"/>
                </a:lnTo>
                <a:lnTo>
                  <a:pt x="383286" y="159139"/>
                </a:lnTo>
                <a:lnTo>
                  <a:pt x="384166" y="158758"/>
                </a:lnTo>
                <a:lnTo>
                  <a:pt x="385191" y="158377"/>
                </a:lnTo>
                <a:lnTo>
                  <a:pt x="385953" y="157996"/>
                </a:lnTo>
                <a:lnTo>
                  <a:pt x="386452" y="157353"/>
                </a:lnTo>
                <a:lnTo>
                  <a:pt x="386964" y="156853"/>
                </a:lnTo>
                <a:lnTo>
                  <a:pt x="387345" y="156091"/>
                </a:lnTo>
                <a:lnTo>
                  <a:pt x="387595" y="155198"/>
                </a:lnTo>
                <a:lnTo>
                  <a:pt x="392998" y="137422"/>
                </a:lnTo>
                <a:lnTo>
                  <a:pt x="374260" y="137422"/>
                </a:lnTo>
                <a:lnTo>
                  <a:pt x="373879" y="136279"/>
                </a:lnTo>
                <a:lnTo>
                  <a:pt x="355277" y="73152"/>
                </a:lnTo>
                <a:close/>
              </a:path>
              <a:path w="421005" h="162560">
                <a:moveTo>
                  <a:pt x="339970" y="40386"/>
                </a:moveTo>
                <a:lnTo>
                  <a:pt x="332613" y="40386"/>
                </a:lnTo>
                <a:lnTo>
                  <a:pt x="330064" y="40648"/>
                </a:lnTo>
                <a:lnTo>
                  <a:pt x="325708" y="44958"/>
                </a:lnTo>
                <a:lnTo>
                  <a:pt x="301371" y="137803"/>
                </a:lnTo>
                <a:lnTo>
                  <a:pt x="318962" y="137803"/>
                </a:lnTo>
                <a:lnTo>
                  <a:pt x="335529" y="74295"/>
                </a:lnTo>
                <a:lnTo>
                  <a:pt x="335779" y="73152"/>
                </a:lnTo>
                <a:lnTo>
                  <a:pt x="355277" y="73152"/>
                </a:lnTo>
                <a:lnTo>
                  <a:pt x="346783" y="44327"/>
                </a:lnTo>
                <a:lnTo>
                  <a:pt x="346687" y="43946"/>
                </a:lnTo>
                <a:lnTo>
                  <a:pt x="346578" y="43315"/>
                </a:lnTo>
                <a:lnTo>
                  <a:pt x="346329" y="42803"/>
                </a:lnTo>
                <a:lnTo>
                  <a:pt x="345567" y="41791"/>
                </a:lnTo>
                <a:lnTo>
                  <a:pt x="345054" y="41410"/>
                </a:lnTo>
                <a:lnTo>
                  <a:pt x="344292" y="41148"/>
                </a:lnTo>
                <a:lnTo>
                  <a:pt x="343530" y="40767"/>
                </a:lnTo>
                <a:lnTo>
                  <a:pt x="339970" y="40386"/>
                </a:lnTo>
                <a:close/>
              </a:path>
              <a:path w="421005" h="162560">
                <a:moveTo>
                  <a:pt x="413385" y="39886"/>
                </a:moveTo>
                <a:lnTo>
                  <a:pt x="409312" y="39886"/>
                </a:lnTo>
                <a:lnTo>
                  <a:pt x="407538" y="40005"/>
                </a:lnTo>
                <a:lnTo>
                  <a:pt x="400431" y="43946"/>
                </a:lnTo>
                <a:lnTo>
                  <a:pt x="374260" y="136279"/>
                </a:lnTo>
                <a:lnTo>
                  <a:pt x="374260" y="137422"/>
                </a:lnTo>
                <a:lnTo>
                  <a:pt x="392998" y="137422"/>
                </a:lnTo>
                <a:lnTo>
                  <a:pt x="420068" y="48387"/>
                </a:lnTo>
                <a:lnTo>
                  <a:pt x="420391" y="47375"/>
                </a:lnTo>
                <a:lnTo>
                  <a:pt x="420624" y="46363"/>
                </a:lnTo>
                <a:lnTo>
                  <a:pt x="420742" y="45601"/>
                </a:lnTo>
                <a:lnTo>
                  <a:pt x="420931" y="44958"/>
                </a:lnTo>
                <a:lnTo>
                  <a:pt x="420873" y="42172"/>
                </a:lnTo>
                <a:lnTo>
                  <a:pt x="420243" y="41279"/>
                </a:lnTo>
                <a:lnTo>
                  <a:pt x="419730" y="40898"/>
                </a:lnTo>
                <a:lnTo>
                  <a:pt x="419100" y="40648"/>
                </a:lnTo>
                <a:lnTo>
                  <a:pt x="418338" y="40267"/>
                </a:lnTo>
                <a:lnTo>
                  <a:pt x="417444" y="40136"/>
                </a:lnTo>
                <a:lnTo>
                  <a:pt x="416170" y="40005"/>
                </a:lnTo>
                <a:lnTo>
                  <a:pt x="415027" y="40005"/>
                </a:lnTo>
                <a:lnTo>
                  <a:pt x="413385" y="398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825664" y="4632959"/>
            <a:ext cx="4195903" cy="19646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104263" y="4640579"/>
            <a:ext cx="166381" cy="165603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69979" y="5105530"/>
            <a:ext cx="159699" cy="183891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327404" y="5113401"/>
            <a:ext cx="122813" cy="17526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516249" y="5109459"/>
            <a:ext cx="1409831" cy="21640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002418" y="5086350"/>
            <a:ext cx="253729" cy="194310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344631" y="5081909"/>
            <a:ext cx="697900" cy="196464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123425" y="5089909"/>
            <a:ext cx="2297064" cy="216526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496940" y="5066788"/>
            <a:ext cx="253617" cy="194441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837640" y="5078479"/>
            <a:ext cx="681410" cy="180462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592049" y="5078479"/>
            <a:ext cx="804671" cy="20623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063145" y="5569208"/>
            <a:ext cx="1409794" cy="216456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549521" y="5545966"/>
            <a:ext cx="253495" cy="194489"/>
          </a:xfrm>
          <a:prstGeom prst="rect">
            <a:avLst/>
          </a:prstGeom>
        </p:spPr>
      </p:pic>
      <p:sp>
        <p:nvSpPr>
          <p:cNvPr id="39" name="object 39"/>
          <p:cNvSpPr/>
          <p:nvPr/>
        </p:nvSpPr>
        <p:spPr>
          <a:xfrm>
            <a:off x="2947884" y="5614821"/>
            <a:ext cx="372745" cy="123189"/>
          </a:xfrm>
          <a:custGeom>
            <a:avLst/>
            <a:gdLst/>
            <a:ahLst/>
            <a:cxnLst/>
            <a:rect l="l" t="t" r="r" b="b"/>
            <a:pathLst>
              <a:path w="372745" h="123189">
                <a:moveTo>
                  <a:pt x="11092" y="2474"/>
                </a:moveTo>
                <a:lnTo>
                  <a:pt x="0" y="22037"/>
                </a:lnTo>
                <a:lnTo>
                  <a:pt x="538" y="118122"/>
                </a:lnTo>
                <a:lnTo>
                  <a:pt x="649" y="119347"/>
                </a:lnTo>
                <a:lnTo>
                  <a:pt x="1055" y="119920"/>
                </a:lnTo>
                <a:lnTo>
                  <a:pt x="1305" y="120359"/>
                </a:lnTo>
                <a:lnTo>
                  <a:pt x="1817" y="120752"/>
                </a:lnTo>
                <a:lnTo>
                  <a:pt x="2710" y="121084"/>
                </a:lnTo>
                <a:lnTo>
                  <a:pt x="3472" y="121407"/>
                </a:lnTo>
                <a:lnTo>
                  <a:pt x="4484" y="121657"/>
                </a:lnTo>
                <a:lnTo>
                  <a:pt x="7151" y="121965"/>
                </a:lnTo>
                <a:lnTo>
                  <a:pt x="8806" y="122038"/>
                </a:lnTo>
                <a:lnTo>
                  <a:pt x="12866" y="122026"/>
                </a:lnTo>
                <a:lnTo>
                  <a:pt x="21117" y="118122"/>
                </a:lnTo>
                <a:lnTo>
                  <a:pt x="20617" y="44552"/>
                </a:lnTo>
                <a:lnTo>
                  <a:pt x="23534" y="39980"/>
                </a:lnTo>
                <a:lnTo>
                  <a:pt x="26201" y="36109"/>
                </a:lnTo>
                <a:lnTo>
                  <a:pt x="28618" y="32942"/>
                </a:lnTo>
                <a:lnTo>
                  <a:pt x="30904" y="29775"/>
                </a:lnTo>
                <a:lnTo>
                  <a:pt x="33190" y="27252"/>
                </a:lnTo>
                <a:lnTo>
                  <a:pt x="35476" y="25334"/>
                </a:lnTo>
                <a:lnTo>
                  <a:pt x="37631" y="23417"/>
                </a:lnTo>
                <a:lnTo>
                  <a:pt x="38876" y="22573"/>
                </a:lnTo>
                <a:lnTo>
                  <a:pt x="18581" y="22573"/>
                </a:lnTo>
                <a:lnTo>
                  <a:pt x="18456" y="6391"/>
                </a:lnTo>
                <a:lnTo>
                  <a:pt x="18331" y="5071"/>
                </a:lnTo>
                <a:lnTo>
                  <a:pt x="18069" y="4608"/>
                </a:lnTo>
                <a:lnTo>
                  <a:pt x="17307" y="3749"/>
                </a:lnTo>
                <a:lnTo>
                  <a:pt x="16545" y="3380"/>
                </a:lnTo>
                <a:lnTo>
                  <a:pt x="15914" y="3011"/>
                </a:lnTo>
                <a:lnTo>
                  <a:pt x="15021" y="2773"/>
                </a:lnTo>
                <a:lnTo>
                  <a:pt x="12616" y="2523"/>
                </a:lnTo>
                <a:lnTo>
                  <a:pt x="11092" y="2474"/>
                </a:lnTo>
                <a:close/>
              </a:path>
              <a:path w="372745" h="123189">
                <a:moveTo>
                  <a:pt x="65097" y="19918"/>
                </a:moveTo>
                <a:lnTo>
                  <a:pt x="49442" y="19918"/>
                </a:lnTo>
                <a:lnTo>
                  <a:pt x="51097" y="20061"/>
                </a:lnTo>
                <a:lnTo>
                  <a:pt x="54145" y="20717"/>
                </a:lnTo>
                <a:lnTo>
                  <a:pt x="56681" y="21430"/>
                </a:lnTo>
                <a:lnTo>
                  <a:pt x="58967" y="22143"/>
                </a:lnTo>
                <a:lnTo>
                  <a:pt x="59860" y="22515"/>
                </a:lnTo>
                <a:lnTo>
                  <a:pt x="60872" y="22884"/>
                </a:lnTo>
                <a:lnTo>
                  <a:pt x="61634" y="23073"/>
                </a:lnTo>
                <a:lnTo>
                  <a:pt x="63027" y="23061"/>
                </a:lnTo>
                <a:lnTo>
                  <a:pt x="63539" y="22872"/>
                </a:lnTo>
                <a:lnTo>
                  <a:pt x="63789" y="22503"/>
                </a:lnTo>
                <a:lnTo>
                  <a:pt x="64148" y="22143"/>
                </a:lnTo>
                <a:lnTo>
                  <a:pt x="64551" y="21585"/>
                </a:lnTo>
                <a:lnTo>
                  <a:pt x="64994" y="20357"/>
                </a:lnTo>
                <a:lnTo>
                  <a:pt x="65097" y="19918"/>
                </a:lnTo>
                <a:close/>
              </a:path>
              <a:path w="372745" h="123189">
                <a:moveTo>
                  <a:pt x="50073" y="524"/>
                </a:moveTo>
                <a:lnTo>
                  <a:pt x="18581" y="22573"/>
                </a:lnTo>
                <a:lnTo>
                  <a:pt x="38876" y="22573"/>
                </a:lnTo>
                <a:lnTo>
                  <a:pt x="39667" y="22037"/>
                </a:lnTo>
                <a:lnTo>
                  <a:pt x="41691" y="21192"/>
                </a:lnTo>
                <a:lnTo>
                  <a:pt x="43596" y="20357"/>
                </a:lnTo>
                <a:lnTo>
                  <a:pt x="45632" y="19930"/>
                </a:lnTo>
                <a:lnTo>
                  <a:pt x="65097" y="19918"/>
                </a:lnTo>
                <a:lnTo>
                  <a:pt x="65194" y="19205"/>
                </a:lnTo>
                <a:lnTo>
                  <a:pt x="65088" y="6391"/>
                </a:lnTo>
                <a:lnTo>
                  <a:pt x="64937" y="5727"/>
                </a:lnTo>
                <a:lnTo>
                  <a:pt x="64682" y="5227"/>
                </a:lnTo>
                <a:lnTo>
                  <a:pt x="64432" y="4486"/>
                </a:lnTo>
                <a:lnTo>
                  <a:pt x="64051" y="4096"/>
                </a:lnTo>
                <a:lnTo>
                  <a:pt x="63027" y="3261"/>
                </a:lnTo>
                <a:lnTo>
                  <a:pt x="62265" y="2855"/>
                </a:lnTo>
                <a:lnTo>
                  <a:pt x="61003" y="2450"/>
                </a:lnTo>
                <a:lnTo>
                  <a:pt x="59860" y="2036"/>
                </a:lnTo>
                <a:lnTo>
                  <a:pt x="51347" y="569"/>
                </a:lnTo>
                <a:lnTo>
                  <a:pt x="50073" y="524"/>
                </a:lnTo>
                <a:close/>
              </a:path>
              <a:path w="372745" h="123189">
                <a:moveTo>
                  <a:pt x="142147" y="0"/>
                </a:moveTo>
                <a:lnTo>
                  <a:pt x="100877" y="7906"/>
                </a:lnTo>
                <a:lnTo>
                  <a:pt x="78172" y="43588"/>
                </a:lnTo>
                <a:lnTo>
                  <a:pt x="76243" y="62877"/>
                </a:lnTo>
                <a:lnTo>
                  <a:pt x="76526" y="69777"/>
                </a:lnTo>
                <a:lnTo>
                  <a:pt x="94650" y="112370"/>
                </a:lnTo>
                <a:lnTo>
                  <a:pt x="122091" y="123026"/>
                </a:lnTo>
                <a:lnTo>
                  <a:pt x="140745" y="122919"/>
                </a:lnTo>
                <a:lnTo>
                  <a:pt x="149005" y="121322"/>
                </a:lnTo>
                <a:lnTo>
                  <a:pt x="163361" y="115025"/>
                </a:lnTo>
                <a:lnTo>
                  <a:pt x="169213" y="110666"/>
                </a:lnTo>
                <a:lnTo>
                  <a:pt x="173474" y="105725"/>
                </a:lnTo>
                <a:lnTo>
                  <a:pt x="125657" y="105725"/>
                </a:lnTo>
                <a:lnTo>
                  <a:pt x="120049" y="104582"/>
                </a:lnTo>
                <a:lnTo>
                  <a:pt x="111179" y="99916"/>
                </a:lnTo>
                <a:lnTo>
                  <a:pt x="107613" y="96737"/>
                </a:lnTo>
                <a:lnTo>
                  <a:pt x="105083" y="92738"/>
                </a:lnTo>
                <a:lnTo>
                  <a:pt x="102401" y="88736"/>
                </a:lnTo>
                <a:lnTo>
                  <a:pt x="100511" y="84033"/>
                </a:lnTo>
                <a:lnTo>
                  <a:pt x="99353" y="78662"/>
                </a:lnTo>
                <a:lnTo>
                  <a:pt x="98079" y="73283"/>
                </a:lnTo>
                <a:lnTo>
                  <a:pt x="97617" y="67973"/>
                </a:lnTo>
                <a:lnTo>
                  <a:pt x="97562" y="66721"/>
                </a:lnTo>
                <a:lnTo>
                  <a:pt x="97448" y="55019"/>
                </a:lnTo>
                <a:lnTo>
                  <a:pt x="98079" y="49136"/>
                </a:lnTo>
                <a:lnTo>
                  <a:pt x="120933" y="18345"/>
                </a:lnTo>
                <a:lnTo>
                  <a:pt x="175305" y="17169"/>
                </a:lnTo>
                <a:lnTo>
                  <a:pt x="169579" y="10668"/>
                </a:lnTo>
                <a:lnTo>
                  <a:pt x="163879" y="6714"/>
                </a:lnTo>
                <a:lnTo>
                  <a:pt x="150163" y="1319"/>
                </a:lnTo>
                <a:lnTo>
                  <a:pt x="142147" y="0"/>
                </a:lnTo>
                <a:close/>
              </a:path>
              <a:path w="372745" h="123189">
                <a:moveTo>
                  <a:pt x="175305" y="17169"/>
                </a:moveTo>
                <a:lnTo>
                  <a:pt x="138855" y="17169"/>
                </a:lnTo>
                <a:lnTo>
                  <a:pt x="144351" y="18345"/>
                </a:lnTo>
                <a:lnTo>
                  <a:pt x="153211" y="23003"/>
                </a:lnTo>
                <a:lnTo>
                  <a:pt x="165007" y="44360"/>
                </a:lnTo>
                <a:lnTo>
                  <a:pt x="166166" y="49749"/>
                </a:lnTo>
                <a:lnTo>
                  <a:pt x="166805" y="55458"/>
                </a:lnTo>
                <a:lnTo>
                  <a:pt x="166927" y="67973"/>
                </a:lnTo>
                <a:lnTo>
                  <a:pt x="166287" y="73889"/>
                </a:lnTo>
                <a:lnTo>
                  <a:pt x="164878" y="79313"/>
                </a:lnTo>
                <a:lnTo>
                  <a:pt x="163605" y="84688"/>
                </a:lnTo>
                <a:lnTo>
                  <a:pt x="125657" y="105725"/>
                </a:lnTo>
                <a:lnTo>
                  <a:pt x="173474" y="105725"/>
                </a:lnTo>
                <a:lnTo>
                  <a:pt x="187922" y="66721"/>
                </a:lnTo>
                <a:lnTo>
                  <a:pt x="188141" y="60018"/>
                </a:lnTo>
                <a:lnTo>
                  <a:pt x="187841" y="53178"/>
                </a:lnTo>
                <a:lnTo>
                  <a:pt x="178723" y="21049"/>
                </a:lnTo>
                <a:lnTo>
                  <a:pt x="175305" y="17169"/>
                </a:lnTo>
                <a:close/>
              </a:path>
              <a:path w="372745" h="123189">
                <a:moveTo>
                  <a:pt x="216457" y="1331"/>
                </a:moveTo>
                <a:lnTo>
                  <a:pt x="203976" y="6178"/>
                </a:lnTo>
                <a:lnTo>
                  <a:pt x="204143" y="7107"/>
                </a:lnTo>
                <a:lnTo>
                  <a:pt x="204410" y="8037"/>
                </a:lnTo>
                <a:lnTo>
                  <a:pt x="204631" y="8976"/>
                </a:lnTo>
                <a:lnTo>
                  <a:pt x="238555" y="117110"/>
                </a:lnTo>
                <a:lnTo>
                  <a:pt x="249467" y="120703"/>
                </a:lnTo>
                <a:lnTo>
                  <a:pt x="254557" y="120670"/>
                </a:lnTo>
                <a:lnTo>
                  <a:pt x="256569" y="120597"/>
                </a:lnTo>
                <a:lnTo>
                  <a:pt x="260089" y="120310"/>
                </a:lnTo>
                <a:lnTo>
                  <a:pt x="261415" y="120097"/>
                </a:lnTo>
                <a:lnTo>
                  <a:pt x="262747" y="119658"/>
                </a:lnTo>
                <a:lnTo>
                  <a:pt x="263579" y="119417"/>
                </a:lnTo>
                <a:lnTo>
                  <a:pt x="264341" y="118966"/>
                </a:lnTo>
                <a:lnTo>
                  <a:pt x="264829" y="118384"/>
                </a:lnTo>
                <a:lnTo>
                  <a:pt x="265469" y="117786"/>
                </a:lnTo>
                <a:lnTo>
                  <a:pt x="265832" y="117110"/>
                </a:lnTo>
                <a:lnTo>
                  <a:pt x="266064" y="116287"/>
                </a:lnTo>
                <a:lnTo>
                  <a:pt x="270726" y="98429"/>
                </a:lnTo>
                <a:lnTo>
                  <a:pt x="253155" y="98429"/>
                </a:lnTo>
                <a:lnTo>
                  <a:pt x="252911" y="97310"/>
                </a:lnTo>
                <a:lnTo>
                  <a:pt x="225479" y="5260"/>
                </a:lnTo>
                <a:lnTo>
                  <a:pt x="218225" y="1380"/>
                </a:lnTo>
                <a:lnTo>
                  <a:pt x="216457" y="1331"/>
                </a:lnTo>
                <a:close/>
              </a:path>
              <a:path w="372745" h="123189">
                <a:moveTo>
                  <a:pt x="307101" y="33741"/>
                </a:moveTo>
                <a:lnTo>
                  <a:pt x="287567" y="33741"/>
                </a:lnTo>
                <a:lnTo>
                  <a:pt x="287811" y="34859"/>
                </a:lnTo>
                <a:lnTo>
                  <a:pt x="312073" y="116704"/>
                </a:lnTo>
                <a:lnTo>
                  <a:pt x="319540" y="120060"/>
                </a:lnTo>
                <a:lnTo>
                  <a:pt x="321095" y="120216"/>
                </a:lnTo>
                <a:lnTo>
                  <a:pt x="323259" y="120289"/>
                </a:lnTo>
                <a:lnTo>
                  <a:pt x="328349" y="120252"/>
                </a:lnTo>
                <a:lnTo>
                  <a:pt x="330361" y="120179"/>
                </a:lnTo>
                <a:lnTo>
                  <a:pt x="333752" y="119908"/>
                </a:lnTo>
                <a:lnTo>
                  <a:pt x="335113" y="119658"/>
                </a:lnTo>
                <a:lnTo>
                  <a:pt x="335969" y="119347"/>
                </a:lnTo>
                <a:lnTo>
                  <a:pt x="336975" y="119015"/>
                </a:lnTo>
                <a:lnTo>
                  <a:pt x="337737" y="118536"/>
                </a:lnTo>
                <a:lnTo>
                  <a:pt x="338743" y="117372"/>
                </a:lnTo>
                <a:lnTo>
                  <a:pt x="339139" y="116631"/>
                </a:lnTo>
                <a:lnTo>
                  <a:pt x="339383" y="115729"/>
                </a:lnTo>
                <a:lnTo>
                  <a:pt x="344772" y="98023"/>
                </a:lnTo>
                <a:lnTo>
                  <a:pt x="326063" y="98023"/>
                </a:lnTo>
                <a:lnTo>
                  <a:pt x="325789" y="96905"/>
                </a:lnTo>
                <a:lnTo>
                  <a:pt x="307101" y="33741"/>
                </a:lnTo>
                <a:close/>
              </a:path>
              <a:path w="372745" h="123189">
                <a:moveTo>
                  <a:pt x="290097" y="917"/>
                </a:moveTo>
                <a:lnTo>
                  <a:pt x="277661" y="4965"/>
                </a:lnTo>
                <a:lnTo>
                  <a:pt x="253399" y="97310"/>
                </a:lnTo>
                <a:lnTo>
                  <a:pt x="253155" y="98429"/>
                </a:lnTo>
                <a:lnTo>
                  <a:pt x="270726" y="98429"/>
                </a:lnTo>
                <a:lnTo>
                  <a:pt x="287323" y="34859"/>
                </a:lnTo>
                <a:lnTo>
                  <a:pt x="287567" y="33741"/>
                </a:lnTo>
                <a:lnTo>
                  <a:pt x="307101" y="33741"/>
                </a:lnTo>
                <a:lnTo>
                  <a:pt x="298463" y="4511"/>
                </a:lnTo>
                <a:lnTo>
                  <a:pt x="298357" y="3941"/>
                </a:lnTo>
                <a:lnTo>
                  <a:pt x="298113" y="3355"/>
                </a:lnTo>
                <a:lnTo>
                  <a:pt x="293023" y="1094"/>
                </a:lnTo>
                <a:lnTo>
                  <a:pt x="291773" y="963"/>
                </a:lnTo>
                <a:lnTo>
                  <a:pt x="290097" y="917"/>
                </a:lnTo>
                <a:close/>
              </a:path>
              <a:path w="372745" h="123189">
                <a:moveTo>
                  <a:pt x="365169" y="499"/>
                </a:moveTo>
                <a:lnTo>
                  <a:pt x="352221" y="4511"/>
                </a:lnTo>
                <a:lnTo>
                  <a:pt x="326063" y="96905"/>
                </a:lnTo>
                <a:lnTo>
                  <a:pt x="326063" y="98023"/>
                </a:lnTo>
                <a:lnTo>
                  <a:pt x="344772" y="98023"/>
                </a:lnTo>
                <a:lnTo>
                  <a:pt x="372172" y="7940"/>
                </a:lnTo>
                <a:lnTo>
                  <a:pt x="372393" y="7001"/>
                </a:lnTo>
                <a:lnTo>
                  <a:pt x="372545" y="6178"/>
                </a:lnTo>
                <a:lnTo>
                  <a:pt x="372719" y="5583"/>
                </a:lnTo>
                <a:lnTo>
                  <a:pt x="366815" y="536"/>
                </a:lnTo>
                <a:lnTo>
                  <a:pt x="365169" y="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0" name="object 40"/>
          <p:cNvGrpSpPr/>
          <p:nvPr/>
        </p:nvGrpSpPr>
        <p:grpSpPr>
          <a:xfrm>
            <a:off x="3397758" y="5541132"/>
            <a:ext cx="280035" cy="193040"/>
            <a:chOff x="3397758" y="5541132"/>
            <a:chExt cx="280035" cy="193040"/>
          </a:xfrm>
        </p:grpSpPr>
        <p:pic>
          <p:nvPicPr>
            <p:cNvPr id="41" name="object 4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397758" y="5570219"/>
              <a:ext cx="100583" cy="1634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524986" y="5541132"/>
              <a:ext cx="152368" cy="116561"/>
            </a:xfrm>
            <a:prstGeom prst="rect">
              <a:avLst/>
            </a:prstGeom>
          </p:spPr>
        </p:pic>
      </p:grpSp>
      <p:pic>
        <p:nvPicPr>
          <p:cNvPr id="43" name="object 4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758702" y="5557015"/>
            <a:ext cx="739902" cy="176735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588886" y="5553205"/>
            <a:ext cx="2313218" cy="212655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6357" y="2103120"/>
            <a:ext cx="8436223" cy="2468117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36879" y="1634368"/>
            <a:ext cx="2787650" cy="31115"/>
          </a:xfrm>
          <a:custGeom>
            <a:avLst/>
            <a:gdLst/>
            <a:ahLst/>
            <a:cxnLst/>
            <a:rect l="l" t="t" r="r" b="b"/>
            <a:pathLst>
              <a:path w="2787650" h="31114">
                <a:moveTo>
                  <a:pt x="2787420" y="0"/>
                </a:moveTo>
                <a:lnTo>
                  <a:pt x="0" y="15483"/>
                </a:lnTo>
                <a:lnTo>
                  <a:pt x="85" y="30723"/>
                </a:lnTo>
                <a:lnTo>
                  <a:pt x="2787420" y="15239"/>
                </a:lnTo>
                <a:lnTo>
                  <a:pt x="27874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1023" y="1981078"/>
            <a:ext cx="66175" cy="661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8480" y="1881895"/>
            <a:ext cx="2175001" cy="20979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23572" y="2438278"/>
            <a:ext cx="66162" cy="6617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42135" y="2335773"/>
            <a:ext cx="2138187" cy="2133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26107" y="2895478"/>
            <a:ext cx="66162" cy="6617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41800" y="2794253"/>
            <a:ext cx="2137881" cy="21207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4146" y="3258555"/>
            <a:ext cx="1126273" cy="17842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38702" y="3243437"/>
            <a:ext cx="4050801" cy="18608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0528" y="3677533"/>
            <a:ext cx="8290132" cy="25311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0325" y="4169795"/>
            <a:ext cx="2372996" cy="22300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892000" y="4621148"/>
            <a:ext cx="250231" cy="16586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219712" y="4603872"/>
            <a:ext cx="992245" cy="21945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660391" y="5060572"/>
            <a:ext cx="744230" cy="21831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662921" y="5517772"/>
            <a:ext cx="744230" cy="21831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697364" y="5974722"/>
            <a:ext cx="693340" cy="21837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896856" y="6434340"/>
            <a:ext cx="116342" cy="21503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8656" y="1393693"/>
            <a:ext cx="403860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Consider</a:t>
            </a:r>
            <a:r>
              <a:rPr b="0" spc="-5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b="0" spc="-3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below</a:t>
            </a:r>
            <a:r>
              <a:rPr b="0" spc="-3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b="0" spc="-35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–</a:t>
            </a:r>
            <a:endParaRPr b="0" dirty="0">
              <a:solidFill>
                <a:srgbClr val="0065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8652" y="1780789"/>
            <a:ext cx="3089275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6804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#include&lt;stdio.h&gt;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int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main()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16535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int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i,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j;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16535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int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a[3][2]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=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1,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4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},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170940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5,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2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},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170940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6,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5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}};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21005" marR="173990" indent="-205105">
              <a:lnSpc>
                <a:spcPct val="100000"/>
              </a:lnSpc>
            </a:pPr>
            <a:r>
              <a:rPr sz="2400" spc="-20" dirty="0">
                <a:latin typeface="Calibri" panose="020F0502020204030204"/>
                <a:cs typeface="Calibri" panose="020F0502020204030204"/>
              </a:rPr>
              <a:t>for </a:t>
            </a:r>
            <a:r>
              <a:rPr sz="2400" dirty="0">
                <a:latin typeface="Calibri" panose="020F0502020204030204"/>
                <a:cs typeface="Calibri" panose="020F0502020204030204"/>
              </a:rPr>
              <a:t>(i = 0; i &lt; 3; i++) {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for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30" dirty="0">
                <a:latin typeface="Calibri" panose="020F0502020204030204"/>
                <a:cs typeface="Calibri" panose="020F0502020204030204"/>
              </a:rPr>
              <a:t>(j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=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0;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j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&lt;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2;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j++)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625475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printf("%d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",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a[i][j]);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2100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21005">
              <a:lnSpc>
                <a:spcPct val="100000"/>
              </a:lnSpc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printf("\n");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16535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return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0;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64459" y="2180586"/>
            <a:ext cx="1246505" cy="1611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Output</a:t>
            </a:r>
            <a:r>
              <a:rPr sz="2600" b="1" spc="-9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600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4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5</a:t>
            </a:r>
            <a:r>
              <a:rPr sz="2600" spc="-1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6</a:t>
            </a:r>
            <a:r>
              <a:rPr sz="2600" spc="-1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5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8656" y="1328161"/>
            <a:ext cx="8547735" cy="3866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1055370" algn="l"/>
              </a:tabLst>
            </a:pPr>
            <a:r>
              <a:rPr sz="2400" spc="-45" dirty="0">
                <a:latin typeface="Calibri" panose="020F0502020204030204"/>
                <a:cs typeface="Calibri" panose="020F0502020204030204"/>
              </a:rPr>
              <a:t>We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have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declared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array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size </a:t>
            </a:r>
            <a:r>
              <a:rPr sz="2400" dirty="0">
                <a:latin typeface="Calibri" panose="020F0502020204030204"/>
                <a:cs typeface="Calibri" panose="020F0502020204030204"/>
              </a:rPr>
              <a:t>3 X 2, It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contain overall </a:t>
            </a:r>
            <a:r>
              <a:rPr sz="2400" dirty="0">
                <a:latin typeface="Calibri" panose="020F0502020204030204"/>
                <a:cs typeface="Calibri" panose="020F0502020204030204"/>
              </a:rPr>
              <a:t>6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elements.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Row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1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: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1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,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4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},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  <a:tabLst>
                <a:tab pos="1055370" algn="l"/>
              </a:tabLst>
            </a:pPr>
            <a:r>
              <a:rPr sz="2400" spc="-25" dirty="0">
                <a:latin typeface="Calibri" panose="020F0502020204030204"/>
                <a:cs typeface="Calibri" panose="020F0502020204030204"/>
              </a:rPr>
              <a:t>Row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2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: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5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,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2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},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  <a:tabLst>
                <a:tab pos="1055370" algn="l"/>
              </a:tabLst>
            </a:pPr>
            <a:r>
              <a:rPr sz="2400" spc="-25" dirty="0">
                <a:latin typeface="Calibri" panose="020F0502020204030204"/>
                <a:cs typeface="Calibri" panose="020F0502020204030204"/>
              </a:rPr>
              <a:t>Row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3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: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6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,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5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45" dirty="0">
                <a:latin typeface="Calibri" panose="020F0502020204030204"/>
                <a:cs typeface="Calibri" panose="020F0502020204030204"/>
              </a:rPr>
              <a:t>We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have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initialized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each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row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independently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a[0][0]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=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1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A[0][1]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=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4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8656" y="1546093"/>
            <a:ext cx="60032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Method</a:t>
            </a:r>
            <a:r>
              <a:rPr sz="3200" spc="-1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3200" spc="-1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sz="3200" spc="-3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COMBINE</a:t>
            </a:r>
            <a:r>
              <a:rPr sz="3200" spc="-1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ASSIGNMENT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8656" y="2046702"/>
            <a:ext cx="8609965" cy="3867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430530">
              <a:lnSpc>
                <a:spcPct val="150000"/>
              </a:lnSpc>
              <a:spcBef>
                <a:spcPts val="105"/>
              </a:spcBef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Initialize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all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Array</a:t>
            </a:r>
            <a:r>
              <a:rPr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elements</a:t>
            </a:r>
            <a:r>
              <a:rPr sz="2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but</a:t>
            </a:r>
            <a:r>
              <a:rPr sz="2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initialization</a:t>
            </a:r>
            <a:r>
              <a:rPr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is</a:t>
            </a:r>
            <a:r>
              <a:rPr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much </a:t>
            </a:r>
            <a:r>
              <a:rPr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straight</a:t>
            </a:r>
            <a:r>
              <a:rPr sz="28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forward.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 All</a:t>
            </a:r>
            <a:r>
              <a:rPr sz="2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values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are</a:t>
            </a:r>
            <a:r>
              <a:rPr sz="2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assigned</a:t>
            </a:r>
            <a:r>
              <a:rPr sz="2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sequentially</a:t>
            </a:r>
            <a:r>
              <a:rPr sz="2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and </a:t>
            </a:r>
            <a:r>
              <a:rPr sz="2800" spc="-6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row-wise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2014220">
              <a:lnSpc>
                <a:spcPct val="100000"/>
              </a:lnSpc>
              <a:spcBef>
                <a:spcPts val="1680"/>
              </a:spcBef>
            </a:pPr>
            <a:r>
              <a:rPr sz="2800" b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int</a:t>
            </a:r>
            <a:r>
              <a:rPr sz="2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a[3][2]</a:t>
            </a:r>
            <a:r>
              <a:rPr sz="2800" b="1" spc="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2800" b="1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{1 ,</a:t>
            </a:r>
            <a:r>
              <a:rPr sz="2800" b="1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4 ,</a:t>
            </a:r>
            <a:r>
              <a:rPr sz="2800" b="1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5</a:t>
            </a:r>
            <a:r>
              <a:rPr sz="2800" b="1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, 2</a:t>
            </a:r>
            <a:r>
              <a:rPr sz="2800" b="1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, 6</a:t>
            </a:r>
            <a:r>
              <a:rPr sz="2800" b="1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, 5</a:t>
            </a:r>
            <a:r>
              <a:rPr sz="2800" b="1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};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ts val="5040"/>
              </a:lnSpc>
              <a:spcBef>
                <a:spcPts val="245"/>
              </a:spcBef>
              <a:tabLst>
                <a:tab pos="7413625" algn="l"/>
              </a:tabLst>
            </a:pPr>
            <a:r>
              <a:rPr sz="2800" spc="-5" dirty="0">
                <a:latin typeface="Calibri" panose="020F0502020204030204"/>
                <a:cs typeface="Calibri" panose="020F0502020204030204"/>
              </a:rPr>
              <a:t>So</a:t>
            </a:r>
            <a:r>
              <a:rPr sz="2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here</a:t>
            </a:r>
            <a:r>
              <a:rPr sz="2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it</a:t>
            </a:r>
            <a:r>
              <a:rPr sz="2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automatically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assigns</a:t>
            </a:r>
            <a:r>
              <a:rPr sz="28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that</a:t>
            </a:r>
            <a:r>
              <a:rPr sz="2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number</a:t>
            </a:r>
            <a:r>
              <a:rPr sz="28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3</a:t>
            </a:r>
            <a:r>
              <a:rPr sz="28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has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row</a:t>
            </a:r>
            <a:r>
              <a:rPr sz="2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and </a:t>
            </a:r>
            <a:r>
              <a:rPr sz="2800" spc="-6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number</a:t>
            </a:r>
            <a:r>
              <a:rPr sz="28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2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has</a:t>
            </a:r>
            <a:r>
              <a:rPr sz="2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column.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8656" y="1392169"/>
            <a:ext cx="4662805" cy="37674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570"/>
              </a:lnSpc>
              <a:spcBef>
                <a:spcPts val="100"/>
              </a:spcBef>
            </a:pPr>
            <a:r>
              <a:rPr sz="300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Consider</a:t>
            </a:r>
            <a:r>
              <a:rPr sz="3000" spc="-25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000" spc="-25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below</a:t>
            </a:r>
            <a:r>
              <a:rPr sz="3000" spc="-25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3000" spc="-1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–</a:t>
            </a:r>
            <a:endParaRPr sz="3000">
              <a:latin typeface="Times New Roman" panose="02020603050405020304"/>
              <a:cs typeface="Times New Roman" panose="02020603050405020304"/>
            </a:endParaRPr>
          </a:p>
          <a:p>
            <a:pPr marL="12700" marR="2374265">
              <a:lnSpc>
                <a:spcPts val="2880"/>
              </a:lnSpc>
              <a:spcBef>
                <a:spcPts val="65"/>
              </a:spcBef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#include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&lt;stdio.h&gt; </a:t>
            </a:r>
            <a:r>
              <a:rPr sz="2400" spc="-5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int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main()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16535">
              <a:lnSpc>
                <a:spcPts val="2785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int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i,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j;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16535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int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a[3][2]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=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1,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4,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5,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2,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6,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5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};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21005" marR="1746885" indent="-205105">
              <a:lnSpc>
                <a:spcPct val="100000"/>
              </a:lnSpc>
            </a:pPr>
            <a:r>
              <a:rPr sz="2400" spc="-20" dirty="0">
                <a:latin typeface="Calibri" panose="020F0502020204030204"/>
                <a:cs typeface="Calibri" panose="020F0502020204030204"/>
              </a:rPr>
              <a:t>for </a:t>
            </a:r>
            <a:r>
              <a:rPr sz="2400" dirty="0">
                <a:latin typeface="Calibri" panose="020F0502020204030204"/>
                <a:cs typeface="Calibri" panose="020F0502020204030204"/>
              </a:rPr>
              <a:t>(i = 0; i &lt; 3; i++) {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for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35" dirty="0">
                <a:latin typeface="Calibri" panose="020F0502020204030204"/>
                <a:cs typeface="Calibri" panose="020F0502020204030204"/>
              </a:rPr>
              <a:t>(j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=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0;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j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&lt;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2;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j++)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625475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printf("%d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",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a[i][j]);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21005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21005">
              <a:lnSpc>
                <a:spcPct val="100000"/>
              </a:lnSpc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printf("\n");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8652" y="5134474"/>
            <a:ext cx="16148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0"/>
              </a:spcBef>
              <a:tabLst>
                <a:tab pos="51752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return</a:t>
            </a:r>
            <a:r>
              <a:rPr sz="24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0;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66033" y="1619830"/>
            <a:ext cx="152336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Output</a:t>
            </a:r>
            <a:r>
              <a:rPr sz="3200" spc="-130" dirty="0"/>
              <a:t> </a:t>
            </a:r>
            <a:r>
              <a:rPr sz="3200" dirty="0"/>
              <a:t>:</a:t>
            </a:r>
            <a:endParaRPr sz="3200"/>
          </a:p>
          <a:p>
            <a:pPr marL="12700">
              <a:lnSpc>
                <a:spcPct val="100000"/>
              </a:lnSpc>
            </a:pPr>
            <a:r>
              <a:rPr sz="3200" b="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3200" b="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0" dirty="0">
                <a:latin typeface="Times New Roman" panose="02020603050405020304"/>
                <a:cs typeface="Times New Roman" panose="02020603050405020304"/>
              </a:rPr>
              <a:t>4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66033" y="2595495"/>
            <a:ext cx="53467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5</a:t>
            </a:r>
            <a:r>
              <a:rPr sz="3200" spc="-1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6</a:t>
            </a:r>
            <a:r>
              <a:rPr sz="3200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5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8656" y="1328161"/>
            <a:ext cx="8623935" cy="496443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540"/>
              </a:spcBef>
            </a:pPr>
            <a:r>
              <a:rPr sz="2400" b="1" spc="-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Method</a:t>
            </a:r>
            <a:r>
              <a:rPr sz="2400" b="1" spc="-2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3:</a:t>
            </a:r>
            <a:r>
              <a:rPr sz="2400" b="1" spc="-3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SELECTIVE</a:t>
            </a:r>
            <a:r>
              <a:rPr sz="2400" b="1" spc="-3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ASSIGNMENT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3500755" algn="r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int</a:t>
            </a:r>
            <a:r>
              <a:rPr sz="2400" spc="-3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a[3][2]</a:t>
            </a:r>
            <a:r>
              <a:rPr sz="2400" spc="-20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2400" spc="-20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{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3447415" algn="r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{</a:t>
            </a:r>
            <a:r>
              <a:rPr sz="2400" spc="-50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1</a:t>
            </a:r>
            <a:r>
              <a:rPr sz="2400" spc="-3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},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155700" algn="ctr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{</a:t>
            </a:r>
            <a:r>
              <a:rPr sz="2400" spc="-40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5</a:t>
            </a:r>
            <a:r>
              <a:rPr sz="2400" spc="-2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2400" spc="-30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2400" spc="-2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},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156335" algn="ctr">
              <a:lnSpc>
                <a:spcPct val="100000"/>
              </a:lnSpc>
              <a:spcBef>
                <a:spcPts val="1445"/>
              </a:spcBef>
            </a:pPr>
            <a:r>
              <a:rPr sz="2400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{</a:t>
            </a:r>
            <a:r>
              <a:rPr sz="2400" spc="-50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6</a:t>
            </a:r>
            <a:r>
              <a:rPr sz="2400" spc="-40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953770" algn="ctr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};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 marR="5080" algn="just">
              <a:lnSpc>
                <a:spcPct val="15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Now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we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have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again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going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with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way </a:t>
            </a:r>
            <a:r>
              <a:rPr sz="2400" dirty="0">
                <a:latin typeface="Calibri" panose="020F0502020204030204"/>
                <a:cs typeface="Calibri" panose="020F0502020204030204"/>
              </a:rPr>
              <a:t>1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but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we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are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removing some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of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elements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from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the 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array.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In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this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case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we have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declared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initialized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2-D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array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like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this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8656" y="1390645"/>
            <a:ext cx="49682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Consider</a:t>
            </a:r>
            <a:r>
              <a:rPr sz="3200" b="0" spc="-55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200" b="0" spc="-1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below</a:t>
            </a:r>
            <a:r>
              <a:rPr sz="3200" b="0" spc="-3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3200" b="0" spc="-35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–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8652" y="1872230"/>
            <a:ext cx="308927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0073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#include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&lt;stdio.h&gt; </a:t>
            </a:r>
            <a:r>
              <a:rPr sz="2400" spc="-5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int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main()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16535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int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i,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j;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16535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int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a[3][2]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=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1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},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170940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5,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2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},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170940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6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}};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21005" marR="173990" indent="-205105">
              <a:lnSpc>
                <a:spcPct val="100000"/>
              </a:lnSpc>
            </a:pPr>
            <a:r>
              <a:rPr sz="2400" spc="-20" dirty="0">
                <a:latin typeface="Calibri" panose="020F0502020204030204"/>
                <a:cs typeface="Calibri" panose="020F0502020204030204"/>
              </a:rPr>
              <a:t>for </a:t>
            </a:r>
            <a:r>
              <a:rPr sz="2400" dirty="0">
                <a:latin typeface="Calibri" panose="020F0502020204030204"/>
                <a:cs typeface="Calibri" panose="020F0502020204030204"/>
              </a:rPr>
              <a:t>(i = 0; i &lt; 3; i++) {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for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30" dirty="0">
                <a:latin typeface="Calibri" panose="020F0502020204030204"/>
                <a:cs typeface="Calibri" panose="020F0502020204030204"/>
              </a:rPr>
              <a:t>(j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=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0;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j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&lt;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2;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j++)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625475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printf("%d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",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a[i][j]);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16535" marR="857250" indent="20447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printf("\n");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}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return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0;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66033" y="1619830"/>
            <a:ext cx="1523365" cy="17964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Output</a:t>
            </a:r>
            <a:r>
              <a:rPr sz="3200" b="1" spc="-13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800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spc="-1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5</a:t>
            </a:r>
            <a:r>
              <a:rPr sz="2800" spc="-1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6</a:t>
            </a:r>
            <a:r>
              <a:rPr sz="2800" spc="-1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3476" y="1511295"/>
            <a:ext cx="8126095" cy="3684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65" dirty="0">
                <a:latin typeface="Calibri" panose="020F0502020204030204"/>
                <a:cs typeface="Calibri" panose="020F0502020204030204"/>
              </a:rPr>
              <a:t>You</a:t>
            </a:r>
            <a:r>
              <a:rPr sz="2400" spc="9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can</a:t>
            </a:r>
            <a:r>
              <a:rPr sz="2400" spc="10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initialize</a:t>
            </a:r>
            <a:r>
              <a:rPr sz="2400" spc="9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spc="1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three</a:t>
            </a:r>
            <a:r>
              <a:rPr sz="2400" spc="10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dimensional</a:t>
            </a:r>
            <a:r>
              <a:rPr sz="2400" spc="9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array</a:t>
            </a:r>
            <a:r>
              <a:rPr sz="2400" spc="10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</a:t>
            </a:r>
            <a:r>
              <a:rPr sz="2400" spc="10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spc="1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similar</a:t>
            </a:r>
            <a:r>
              <a:rPr sz="2400" spc="9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way</a:t>
            </a:r>
            <a:r>
              <a:rPr sz="2400" spc="9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like</a:t>
            </a:r>
            <a:r>
              <a:rPr sz="2400" spc="1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 </a:t>
            </a:r>
            <a:r>
              <a:rPr sz="2400" spc="-5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two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dimensional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array.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Here's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example,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>
              <a:latin typeface="Calibri" panose="020F0502020204030204"/>
              <a:cs typeface="Calibri" panose="020F0502020204030204"/>
            </a:endParaRPr>
          </a:p>
          <a:p>
            <a:pPr marL="802005">
              <a:lnSpc>
                <a:spcPct val="100000"/>
              </a:lnSpc>
            </a:pPr>
            <a:r>
              <a:rPr sz="2400" b="1" i="1" spc="-10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int test[2][3][4]</a:t>
            </a:r>
            <a:r>
              <a:rPr sz="2400" b="1" i="1" spc="-50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2400" b="1" i="1" spc="-1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{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631440">
              <a:lnSpc>
                <a:spcPct val="100000"/>
              </a:lnSpc>
            </a:pPr>
            <a:r>
              <a:rPr sz="2400" b="1" i="1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{</a:t>
            </a:r>
            <a:r>
              <a:rPr sz="2400" b="1" i="1" spc="-1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{3,</a:t>
            </a:r>
            <a:r>
              <a:rPr sz="2400" b="1" i="1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4,</a:t>
            </a:r>
            <a:r>
              <a:rPr sz="2400" b="1" i="1" spc="-1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2,</a:t>
            </a:r>
            <a:r>
              <a:rPr sz="2400" b="1" i="1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3},</a:t>
            </a:r>
            <a:r>
              <a:rPr sz="2400" b="1" i="1" spc="-1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{0, </a:t>
            </a:r>
            <a:r>
              <a:rPr sz="2400" b="1" i="1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-3,</a:t>
            </a:r>
            <a:r>
              <a:rPr sz="2400" b="1" i="1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9,</a:t>
            </a:r>
            <a:r>
              <a:rPr sz="2400" b="1" i="1" spc="-1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11},</a:t>
            </a:r>
            <a:r>
              <a:rPr sz="2400" b="1" i="1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{9,</a:t>
            </a:r>
            <a:r>
              <a:rPr sz="2400" b="1" i="1" spc="-1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1,</a:t>
            </a:r>
            <a:r>
              <a:rPr sz="2400" b="1" i="1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6,</a:t>
            </a:r>
            <a:r>
              <a:rPr sz="2400" b="1" i="1" spc="-1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2} </a:t>
            </a:r>
            <a:r>
              <a:rPr sz="2400" b="1" i="1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},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631440">
              <a:lnSpc>
                <a:spcPct val="100000"/>
              </a:lnSpc>
            </a:pPr>
            <a:r>
              <a:rPr sz="2400" b="1" i="1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{</a:t>
            </a:r>
            <a:r>
              <a:rPr sz="2400" b="1" i="1" spc="-20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{13,</a:t>
            </a:r>
            <a:r>
              <a:rPr sz="2400" b="1" i="1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4,</a:t>
            </a:r>
            <a:r>
              <a:rPr sz="2400" b="1" i="1" spc="-1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56,</a:t>
            </a:r>
            <a:r>
              <a:rPr sz="2400" b="1" i="1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3},</a:t>
            </a:r>
            <a:r>
              <a:rPr sz="2400" b="1" i="1" spc="-10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{5,</a:t>
            </a:r>
            <a:r>
              <a:rPr sz="2400" b="1" i="1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9,</a:t>
            </a:r>
            <a:r>
              <a:rPr sz="2400" b="1" i="1" spc="-1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3,</a:t>
            </a:r>
            <a:r>
              <a:rPr sz="2400" b="1" i="1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5},</a:t>
            </a:r>
            <a:r>
              <a:rPr sz="2400" b="1" i="1" spc="-1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{3, </a:t>
            </a:r>
            <a:r>
              <a:rPr sz="2400" b="1" i="1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1,</a:t>
            </a:r>
            <a:r>
              <a:rPr sz="2400" b="1" i="1" spc="-1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4,</a:t>
            </a:r>
            <a:r>
              <a:rPr sz="2400" b="1" i="1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9}</a:t>
            </a:r>
            <a:r>
              <a:rPr sz="2400" b="1" i="1" spc="-15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631440">
              <a:lnSpc>
                <a:spcPct val="100000"/>
              </a:lnSpc>
              <a:spcBef>
                <a:spcPts val="5"/>
              </a:spcBef>
            </a:pPr>
            <a:r>
              <a:rPr sz="2400" b="1" i="1" dirty="0">
                <a:solidFill>
                  <a:srgbClr val="CC0000"/>
                </a:solidFill>
                <a:latin typeface="Calibri" panose="020F0502020204030204"/>
                <a:cs typeface="Calibri" panose="020F0502020204030204"/>
              </a:rPr>
              <a:t>};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In</a:t>
            </a:r>
            <a:r>
              <a:rPr sz="2400" spc="20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this</a:t>
            </a:r>
            <a:r>
              <a:rPr sz="2400" spc="19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program</a:t>
            </a:r>
            <a:r>
              <a:rPr sz="2400" spc="19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we</a:t>
            </a:r>
            <a:r>
              <a:rPr sz="2400" spc="19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mention</a:t>
            </a:r>
            <a:r>
              <a:rPr sz="2400" spc="2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size1</a:t>
            </a:r>
            <a:r>
              <a:rPr sz="2400" spc="20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–</a:t>
            </a:r>
            <a:r>
              <a:rPr sz="2400" spc="18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row,</a:t>
            </a:r>
            <a:r>
              <a:rPr sz="2400" spc="2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size2</a:t>
            </a:r>
            <a:r>
              <a:rPr sz="2400" spc="19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–</a:t>
            </a:r>
            <a:r>
              <a:rPr sz="2400" spc="2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column,</a:t>
            </a:r>
            <a:r>
              <a:rPr sz="2400" spc="2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size3</a:t>
            </a:r>
            <a:r>
              <a:rPr sz="2400" spc="20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–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number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elements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that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array.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6393" y="1228695"/>
            <a:ext cx="8131809" cy="551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00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000" spc="28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Program</a:t>
            </a:r>
            <a:r>
              <a:rPr sz="2000" spc="28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27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store</a:t>
            </a:r>
            <a:r>
              <a:rPr sz="2000" spc="28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values</a:t>
            </a:r>
            <a:r>
              <a:rPr sz="2000" spc="28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entered</a:t>
            </a:r>
            <a:r>
              <a:rPr sz="2000" spc="28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2000" spc="28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26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user</a:t>
            </a:r>
            <a:r>
              <a:rPr sz="2000" spc="27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000" spc="29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28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three-dimensional</a:t>
            </a:r>
            <a:r>
              <a:rPr sz="2000" spc="28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array </a:t>
            </a:r>
            <a:r>
              <a:rPr sz="2000" spc="-434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2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display </a:t>
            </a:r>
            <a:r>
              <a:rPr sz="2000" spc="-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it.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 marR="6219190">
              <a:lnSpc>
                <a:spcPts val="3600"/>
              </a:lnSpc>
              <a:spcBef>
                <a:spcPts val="320"/>
              </a:spcBef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#include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&lt;stdio.h&gt; </a:t>
            </a:r>
            <a:r>
              <a:rPr sz="2000" spc="-4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int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main()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2000" dirty="0">
                <a:latin typeface="Calibri" panose="020F0502020204030204"/>
                <a:cs typeface="Calibri" panose="020F0502020204030204"/>
              </a:rPr>
              <a:t>{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241300" marR="2045335" indent="-58420">
              <a:lnSpc>
                <a:spcPts val="3600"/>
              </a:lnSpc>
              <a:spcBef>
                <a:spcPts val="320"/>
              </a:spcBef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int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i,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j,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k,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test[2][3][2];</a:t>
            </a:r>
            <a:r>
              <a:rPr sz="2000" spc="434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//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this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array</a:t>
            </a:r>
            <a:r>
              <a:rPr sz="20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can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store</a:t>
            </a:r>
            <a:r>
              <a:rPr sz="2000" dirty="0">
                <a:latin typeface="Calibri" panose="020F0502020204030204"/>
                <a:cs typeface="Calibri" panose="020F0502020204030204"/>
              </a:rPr>
              <a:t> 12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elements </a:t>
            </a:r>
            <a:r>
              <a:rPr sz="2000" spc="-434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printf("Enter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12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values: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\n");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469900" marR="5579110" indent="-228600">
              <a:lnSpc>
                <a:spcPts val="3600"/>
              </a:lnSpc>
              <a:spcBef>
                <a:spcPts val="5"/>
              </a:spcBef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for(i</a:t>
            </a:r>
            <a:r>
              <a:rPr sz="2000" dirty="0">
                <a:latin typeface="Calibri" panose="020F0502020204030204"/>
                <a:cs typeface="Calibri" panose="020F0502020204030204"/>
              </a:rPr>
              <a:t> = 0;</a:t>
            </a:r>
            <a:r>
              <a:rPr sz="20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</a:t>
            </a:r>
            <a:r>
              <a:rPr sz="20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&lt; 2;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++i)</a:t>
            </a:r>
            <a:r>
              <a:rPr sz="20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{ 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for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30" dirty="0">
                <a:latin typeface="Calibri" panose="020F0502020204030204"/>
                <a:cs typeface="Calibri" panose="020F0502020204030204"/>
              </a:rPr>
              <a:t>(j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=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0;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j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&lt;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3;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++j)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{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925830" marR="4537075" indent="-227330">
              <a:lnSpc>
                <a:spcPts val="3600"/>
              </a:lnSpc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for(k </a:t>
            </a:r>
            <a:r>
              <a:rPr sz="2000" dirty="0">
                <a:latin typeface="Calibri" panose="020F0502020204030204"/>
                <a:cs typeface="Calibri" panose="020F0502020204030204"/>
              </a:rPr>
              <a:t>= 0; k &lt; 2; ++k ) { 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scanf("%d",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&amp;test[i][j][k]);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698500">
              <a:lnSpc>
                <a:spcPct val="100000"/>
              </a:lnSpc>
              <a:spcBef>
                <a:spcPts val="885"/>
              </a:spcBef>
            </a:pPr>
            <a:r>
              <a:rPr sz="2000" dirty="0">
                <a:latin typeface="Calibri" panose="020F0502020204030204"/>
                <a:cs typeface="Calibri" panose="020F0502020204030204"/>
              </a:rPr>
              <a:t>}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9468" y="1572205"/>
            <a:ext cx="7588250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printf("\nDisplaying values:\n");//Displaying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values</a:t>
            </a:r>
            <a:r>
              <a:rPr sz="24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with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3545840">
              <a:lnSpc>
                <a:spcPct val="100000"/>
              </a:lnSpc>
              <a:tabLst>
                <a:tab pos="4521835" algn="l"/>
              </a:tabLst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proper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index.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85750">
              <a:lnSpc>
                <a:spcPct val="100000"/>
              </a:lnSpc>
              <a:spcBef>
                <a:spcPts val="5"/>
              </a:spcBef>
            </a:pPr>
            <a:r>
              <a:rPr sz="2400" spc="-15" dirty="0">
                <a:latin typeface="Calibri" panose="020F0502020204030204"/>
                <a:cs typeface="Calibri" panose="020F0502020204030204"/>
              </a:rPr>
              <a:t>for(i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=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0;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&lt;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2;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++i)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829310" marR="4077335" indent="-271780">
              <a:lnSpc>
                <a:spcPct val="100000"/>
              </a:lnSpc>
            </a:pPr>
            <a:r>
              <a:rPr sz="2400" spc="-20" dirty="0">
                <a:latin typeface="Calibri" panose="020F0502020204030204"/>
                <a:cs typeface="Calibri" panose="020F0502020204030204"/>
              </a:rPr>
              <a:t>for </a:t>
            </a:r>
            <a:r>
              <a:rPr sz="2400" spc="35" dirty="0">
                <a:latin typeface="Calibri" panose="020F0502020204030204"/>
                <a:cs typeface="Calibri" panose="020F0502020204030204"/>
              </a:rPr>
              <a:t>(j </a:t>
            </a:r>
            <a:r>
              <a:rPr sz="2400" dirty="0">
                <a:latin typeface="Calibri" panose="020F0502020204030204"/>
                <a:cs typeface="Calibri" panose="020F0502020204030204"/>
              </a:rPr>
              <a:t>= 0; j &lt; 3; ++j) {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for(k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=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0;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k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&lt;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2;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++k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)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102360">
              <a:lnSpc>
                <a:spcPct val="100000"/>
              </a:lnSpc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printf("test[%d][%d][%d]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=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%d\n",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i,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j,</a:t>
            </a:r>
            <a:r>
              <a:rPr sz="2400" dirty="0">
                <a:latin typeface="Calibri" panose="020F0502020204030204"/>
                <a:cs typeface="Calibri" panose="020F0502020204030204"/>
              </a:rPr>
              <a:t> k,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test[i][j][k]);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716405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802005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8575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return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0;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3060" y="1350005"/>
            <a:ext cx="2312035" cy="5481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95"/>
              </a:lnSpc>
              <a:spcBef>
                <a:spcPts val="105"/>
              </a:spcBef>
            </a:pPr>
            <a:r>
              <a:rPr sz="2000" b="1" spc="-2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OUTPUT: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3115"/>
              </a:lnSpc>
            </a:pPr>
            <a:r>
              <a:rPr sz="26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2600" b="1" spc="-10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12</a:t>
            </a:r>
            <a:r>
              <a:rPr sz="2600" b="1" spc="-5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values: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6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6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6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6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4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6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5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6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6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6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7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6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8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6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9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600" b="1" spc="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10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600" b="1" spc="-14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11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600" b="1" spc="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12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64459" y="1441445"/>
            <a:ext cx="2036445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Displa</a:t>
            </a:r>
            <a:r>
              <a:rPr sz="2000" b="1" spc="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000" b="1" spc="-2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000" b="1" spc="-7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7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V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alues: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test[0][0][0]</a:t>
            </a:r>
            <a:r>
              <a:rPr sz="2000" b="1" spc="-7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000" b="1" spc="-4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test[0][0][1]</a:t>
            </a:r>
            <a:r>
              <a:rPr sz="2000" b="1" spc="-7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000" b="1" spc="-3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test[0][1][0]</a:t>
            </a:r>
            <a:r>
              <a:rPr sz="2000" b="1" spc="-7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000" b="1" spc="-3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test[0][1][1]</a:t>
            </a:r>
            <a:r>
              <a:rPr sz="2000" b="1" spc="-7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000" b="1" spc="-3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test[0][2][0]</a:t>
            </a:r>
            <a:r>
              <a:rPr sz="2000" b="1" spc="-7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000" b="1" spc="-3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test[0][2][1]</a:t>
            </a:r>
            <a:r>
              <a:rPr sz="2000" b="1" spc="-7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000" b="1" spc="-4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test[1][0][0]</a:t>
            </a:r>
            <a:r>
              <a:rPr sz="2000" b="1" spc="-7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000" b="1" spc="-3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7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test[1][0][1]</a:t>
            </a:r>
            <a:r>
              <a:rPr sz="2000" b="1" spc="-7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000" b="1" spc="-3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8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test[1][1][0]</a:t>
            </a:r>
            <a:r>
              <a:rPr sz="2000" b="1" spc="-7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000" b="1" spc="-3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test[1][1][1]</a:t>
            </a:r>
            <a:r>
              <a:rPr sz="2000" b="1" spc="-7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000" b="1" spc="-3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10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test[1][2][0]</a:t>
            </a:r>
            <a:r>
              <a:rPr sz="2000" b="1" spc="-6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000" b="1" spc="-3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11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test[1][2][1]</a:t>
            </a:r>
            <a:r>
              <a:rPr sz="2000" b="1" spc="-7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000" b="1" spc="-3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74396" y="1519169"/>
            <a:ext cx="41211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326500"/>
                </a:solidFill>
                <a:latin typeface="Calibri" panose="020F0502020204030204"/>
                <a:cs typeface="Calibri" panose="020F0502020204030204"/>
              </a:rPr>
              <a:t>3.3</a:t>
            </a:r>
            <a:r>
              <a:rPr sz="2800" dirty="0">
                <a:solidFill>
                  <a:srgbClr val="32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5" dirty="0">
                <a:solidFill>
                  <a:srgbClr val="326500"/>
                </a:solidFill>
                <a:latin typeface="Calibri" panose="020F0502020204030204"/>
                <a:cs typeface="Calibri" panose="020F0502020204030204"/>
              </a:rPr>
              <a:t>ARRAY</a:t>
            </a:r>
            <a:r>
              <a:rPr sz="2800" dirty="0">
                <a:solidFill>
                  <a:srgbClr val="32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solidFill>
                  <a:srgbClr val="326500"/>
                </a:solidFill>
                <a:latin typeface="Calibri" panose="020F0502020204030204"/>
                <a:cs typeface="Calibri" panose="020F0502020204030204"/>
              </a:rPr>
              <a:t>PROGRAMS</a:t>
            </a:r>
            <a:r>
              <a:rPr sz="2800" dirty="0">
                <a:solidFill>
                  <a:srgbClr val="32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326500"/>
                </a:solidFill>
                <a:latin typeface="Calibri" panose="020F0502020204030204"/>
                <a:cs typeface="Calibri" panose="020F0502020204030204"/>
              </a:rPr>
              <a:t>– 2D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0408" y="2258691"/>
            <a:ext cx="6651625" cy="276987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403860" indent="-391795">
              <a:lnSpc>
                <a:spcPct val="100000"/>
              </a:lnSpc>
              <a:spcBef>
                <a:spcPts val="1540"/>
              </a:spcBef>
              <a:buAutoNum type="alphaLcParenR"/>
              <a:tabLst>
                <a:tab pos="403860" algn="l"/>
                <a:tab pos="40449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Basic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2d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array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program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03860" indent="-391795">
              <a:lnSpc>
                <a:spcPct val="100000"/>
              </a:lnSpc>
              <a:spcBef>
                <a:spcPts val="1440"/>
              </a:spcBef>
              <a:buAutoNum type="alphaLcParenR"/>
              <a:tabLst>
                <a:tab pos="403860" algn="l"/>
                <a:tab pos="404495" algn="l"/>
              </a:tabLst>
            </a:pPr>
            <a:r>
              <a:rPr sz="2400" spc="-15" dirty="0">
                <a:latin typeface="Calibri" panose="020F0502020204030204"/>
                <a:cs typeface="Calibri" panose="020F0502020204030204"/>
              </a:rPr>
              <a:t>Store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display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values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03860" indent="-391795">
              <a:lnSpc>
                <a:spcPct val="100000"/>
              </a:lnSpc>
              <a:spcBef>
                <a:spcPts val="1440"/>
              </a:spcBef>
              <a:buAutoNum type="alphaLcParenR"/>
              <a:tabLst>
                <a:tab pos="403860" algn="l"/>
                <a:tab pos="404495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Sum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two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matrices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using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Two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dimensional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arrays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03860" indent="-391795">
              <a:lnSpc>
                <a:spcPct val="100000"/>
              </a:lnSpc>
              <a:spcBef>
                <a:spcPts val="1440"/>
              </a:spcBef>
              <a:buAutoNum type="alphaLcParenR"/>
              <a:tabLst>
                <a:tab pos="403860" algn="l"/>
                <a:tab pos="404495" algn="l"/>
              </a:tabLst>
            </a:pPr>
            <a:r>
              <a:rPr sz="2400" spc="-25" dirty="0">
                <a:latin typeface="Calibri" panose="020F0502020204030204"/>
                <a:cs typeface="Calibri" panose="020F0502020204030204"/>
              </a:rPr>
              <a:t>Transpose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Matrix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03860" indent="-391795">
              <a:lnSpc>
                <a:spcPct val="100000"/>
              </a:lnSpc>
              <a:spcBef>
                <a:spcPts val="1445"/>
              </a:spcBef>
              <a:buAutoNum type="alphaLcParenR"/>
              <a:tabLst>
                <a:tab pos="403860" algn="l"/>
                <a:tab pos="404495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Multiplication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2d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matrices.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3477" y="1705174"/>
            <a:ext cx="370776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#include&lt;stdio.h&gt;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tabLst>
                <a:tab pos="477520" algn="l"/>
              </a:tabLst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int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main(){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 marR="160020" indent="408305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int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disp[2][3];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/*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2D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array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declaration*/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21005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int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i,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j;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/*Counter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variables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spc="-20" dirty="0">
                <a:latin typeface="Calibri" panose="020F0502020204030204"/>
                <a:cs typeface="Calibri" panose="020F0502020204030204"/>
              </a:rPr>
              <a:t>for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loop*/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21005" marR="1267460" indent="-204470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for(i=0;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i&lt;2; </a:t>
            </a:r>
            <a:r>
              <a:rPr sz="2400" dirty="0">
                <a:latin typeface="Calibri" panose="020F0502020204030204"/>
                <a:cs typeface="Calibri" panose="020F0502020204030204"/>
              </a:rPr>
              <a:t>i++) {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for(j=0;j&lt;3;j++)</a:t>
            </a:r>
            <a:r>
              <a:rPr sz="24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625475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printf("Enter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value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for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disp[%d][%d]:",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i,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j);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625475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scanf("%d",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&amp;disp[i][j]);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2100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23796" y="1663648"/>
            <a:ext cx="3948429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//Displaying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array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elements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 marR="5080" indent="203835">
              <a:lnSpc>
                <a:spcPct val="100000"/>
              </a:lnSpc>
            </a:pPr>
            <a:r>
              <a:rPr sz="2400" spc="-15" dirty="0">
                <a:latin typeface="Calibri" panose="020F0502020204030204"/>
                <a:cs typeface="Calibri" panose="020F0502020204030204"/>
              </a:rPr>
              <a:t>printf("Two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Dimensional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array </a:t>
            </a:r>
            <a:r>
              <a:rPr sz="2400" spc="-5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elements:\n");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21005" marR="1510665" indent="-204470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for(i=0;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i&lt;2; </a:t>
            </a:r>
            <a:r>
              <a:rPr sz="2400" dirty="0">
                <a:latin typeface="Calibri" panose="020F0502020204030204"/>
                <a:cs typeface="Calibri" panose="020F0502020204030204"/>
              </a:rPr>
              <a:t>i++) {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for(j=0;j&lt;3;j++)</a:t>
            </a:r>
            <a:r>
              <a:rPr sz="2400" spc="-1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995680" marR="201295" indent="-6858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printf("%d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",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disp[i][j]);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if(j==2){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printf("\n");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3218815" algn="r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3191510" algn="r">
              <a:lnSpc>
                <a:spcPct val="100000"/>
              </a:lnSpc>
              <a:tabLst>
                <a:tab pos="231140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16535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return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0;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" y="1796614"/>
            <a:ext cx="4139565" cy="3684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OUTPUT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14655" marR="408305" algn="just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Enter value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for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disp[0][0]:1 </a:t>
            </a:r>
            <a:r>
              <a:rPr sz="2400" spc="-5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Enter value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for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disp[0][1]:2 </a:t>
            </a:r>
            <a:r>
              <a:rPr sz="2400" spc="-5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Enter value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for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disp[0][2]:3 </a:t>
            </a:r>
            <a:r>
              <a:rPr sz="2400" spc="-5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Enter value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for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disp[1][0]:4 </a:t>
            </a:r>
            <a:r>
              <a:rPr sz="2400" spc="-5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Enter value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for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disp[1][1]:5 </a:t>
            </a:r>
            <a:r>
              <a:rPr sz="2400" spc="-5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Enter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value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for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disp[1][2]:6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 marR="5080" algn="ctr">
              <a:lnSpc>
                <a:spcPct val="100000"/>
              </a:lnSpc>
              <a:spcBef>
                <a:spcPts val="5"/>
              </a:spcBef>
            </a:pPr>
            <a:r>
              <a:rPr sz="2400" spc="-45" dirty="0">
                <a:latin typeface="Calibri" panose="020F0502020204030204"/>
                <a:cs typeface="Calibri" panose="020F0502020204030204"/>
              </a:rPr>
              <a:t>Two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Dimensional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array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elements: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1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2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3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4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5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6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" y="1613657"/>
            <a:ext cx="4140835" cy="5147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3926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#include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&lt;stdio.h&gt;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const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int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CITY </a:t>
            </a:r>
            <a:r>
              <a:rPr sz="2400" dirty="0">
                <a:latin typeface="Calibri" panose="020F0502020204030204"/>
                <a:cs typeface="Calibri" panose="020F0502020204030204"/>
              </a:rPr>
              <a:t>=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1; 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const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int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WEEK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=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7;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int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main()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85115" marR="164465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int temperature[CITY][WEEK];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for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(int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=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0;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&lt;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CITY;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++i)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831215" marR="5080" indent="-273685">
              <a:lnSpc>
                <a:spcPct val="100000"/>
              </a:lnSpc>
            </a:pPr>
            <a:r>
              <a:rPr sz="2400" spc="-15" dirty="0">
                <a:latin typeface="Calibri" panose="020F0502020204030204"/>
                <a:cs typeface="Calibri" panose="020F0502020204030204"/>
              </a:rPr>
              <a:t>for(int </a:t>
            </a:r>
            <a:r>
              <a:rPr sz="2400" dirty="0">
                <a:latin typeface="Calibri" panose="020F0502020204030204"/>
                <a:cs typeface="Calibri" panose="020F0502020204030204"/>
              </a:rPr>
              <a:t>j =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0; </a:t>
            </a:r>
            <a:r>
              <a:rPr sz="2400" dirty="0">
                <a:latin typeface="Calibri" panose="020F0502020204030204"/>
                <a:cs typeface="Calibri" panose="020F0502020204030204"/>
              </a:rPr>
              <a:t>j &lt; WEEK; ++j) {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printf("City</a:t>
            </a:r>
            <a:r>
              <a:rPr sz="2400" spc="1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%d,</a:t>
            </a:r>
            <a:r>
              <a:rPr sz="2400" spc="1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Day</a:t>
            </a:r>
            <a:r>
              <a:rPr sz="2400" spc="1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%d:</a:t>
            </a:r>
            <a:r>
              <a:rPr sz="2400" spc="1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",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i+1,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j+1);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 marR="1654175" indent="818515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scanf("%d",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&amp;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2400" dirty="0">
                <a:latin typeface="Calibri" panose="020F0502020204030204"/>
                <a:cs typeface="Calibri" panose="020F0502020204030204"/>
              </a:rPr>
              <a:t>e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m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pe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dirty="0">
                <a:latin typeface="Calibri" panose="020F0502020204030204"/>
                <a:cs typeface="Calibri" panose="020F0502020204030204"/>
              </a:rPr>
              <a:t>tu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400" dirty="0">
                <a:latin typeface="Calibri" panose="020F0502020204030204"/>
                <a:cs typeface="Calibri" panose="020F0502020204030204"/>
              </a:rPr>
              <a:t>e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[</a:t>
            </a:r>
            <a:r>
              <a:rPr sz="2400" dirty="0">
                <a:latin typeface="Calibri" panose="020F0502020204030204"/>
                <a:cs typeface="Calibri" panose="020F0502020204030204"/>
              </a:rPr>
              <a:t>i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][</a:t>
            </a:r>
            <a:r>
              <a:rPr sz="2400" dirty="0">
                <a:latin typeface="Calibri" panose="020F0502020204030204"/>
                <a:cs typeface="Calibri" panose="020F0502020204030204"/>
              </a:rPr>
              <a:t>j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]</a:t>
            </a:r>
            <a:r>
              <a:rPr sz="2400" dirty="0">
                <a:latin typeface="Calibri" panose="020F0502020204030204"/>
                <a:cs typeface="Calibri" panose="020F0502020204030204"/>
              </a:rPr>
              <a:t>);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927100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56814" y="1692655"/>
            <a:ext cx="394842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73400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pr</a:t>
            </a:r>
            <a:r>
              <a:rPr sz="2400" dirty="0">
                <a:latin typeface="Calibri" panose="020F0502020204030204"/>
                <a:cs typeface="Calibri" panose="020F0502020204030204"/>
              </a:rPr>
              <a:t>i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400" dirty="0">
                <a:latin typeface="Calibri" panose="020F0502020204030204"/>
                <a:cs typeface="Calibri" panose="020F0502020204030204"/>
              </a:rPr>
              <a:t>tf(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"\nD</a:t>
            </a:r>
            <a:r>
              <a:rPr sz="2400" dirty="0">
                <a:latin typeface="Calibri" panose="020F0502020204030204"/>
                <a:cs typeface="Calibri" panose="020F0502020204030204"/>
              </a:rPr>
              <a:t>i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400" dirty="0">
                <a:latin typeface="Calibri" panose="020F0502020204030204"/>
                <a:cs typeface="Calibri" panose="020F0502020204030204"/>
              </a:rPr>
              <a:t>l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dirty="0">
                <a:latin typeface="Calibri" panose="020F0502020204030204"/>
                <a:cs typeface="Calibri" panose="020F0502020204030204"/>
              </a:rPr>
              <a:t>yi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n</a:t>
            </a:r>
            <a:r>
              <a:rPr sz="2400" dirty="0">
                <a:latin typeface="Calibri" panose="020F0502020204030204"/>
                <a:cs typeface="Calibri" panose="020F0502020204030204"/>
              </a:rPr>
              <a:t>g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v</a:t>
            </a:r>
            <a:r>
              <a:rPr sz="2400" dirty="0">
                <a:latin typeface="Calibri" panose="020F0502020204030204"/>
                <a:cs typeface="Calibri" panose="020F0502020204030204"/>
              </a:rPr>
              <a:t>al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u</a:t>
            </a:r>
            <a:r>
              <a:rPr sz="2400" dirty="0">
                <a:latin typeface="Calibri" panose="020F0502020204030204"/>
                <a:cs typeface="Calibri" panose="020F0502020204030204"/>
              </a:rPr>
              <a:t>e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s: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\n\n");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29610" y="2424426"/>
            <a:ext cx="367411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163830" indent="-27305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libri" panose="020F0502020204030204"/>
                <a:cs typeface="Calibri" panose="020F0502020204030204"/>
              </a:rPr>
              <a:t>for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(int </a:t>
            </a:r>
            <a:r>
              <a:rPr sz="2400" dirty="0">
                <a:latin typeface="Calibri" panose="020F0502020204030204"/>
                <a:cs typeface="Calibri" panose="020F0502020204030204"/>
              </a:rPr>
              <a:t>i =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0; </a:t>
            </a:r>
            <a:r>
              <a:rPr sz="2400" dirty="0">
                <a:latin typeface="Calibri" panose="020F0502020204030204"/>
                <a:cs typeface="Calibri" panose="020F0502020204030204"/>
              </a:rPr>
              <a:t>i &lt; 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CITY; </a:t>
            </a:r>
            <a:r>
              <a:rPr sz="2400" dirty="0">
                <a:latin typeface="Calibri" panose="020F0502020204030204"/>
                <a:cs typeface="Calibri" panose="020F0502020204030204"/>
              </a:rPr>
              <a:t>++i) {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for(int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j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=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0;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j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&lt;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WEEK;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++j)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85115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558165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printf("City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%d,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Day</a:t>
            </a:r>
            <a:r>
              <a:rPr sz="24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%d </a:t>
            </a:r>
            <a:r>
              <a:rPr sz="2400" dirty="0">
                <a:latin typeface="Calibri" panose="020F0502020204030204"/>
                <a:cs typeface="Calibri" panose="020F0502020204030204"/>
              </a:rPr>
              <a:t>=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56823" y="3887848"/>
            <a:ext cx="3947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6275" algn="l"/>
                <a:tab pos="347789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%d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\n"</a:t>
            </a:r>
            <a:r>
              <a:rPr sz="2400" dirty="0">
                <a:latin typeface="Calibri" panose="020F0502020204030204"/>
                <a:cs typeface="Calibri" panose="020F0502020204030204"/>
              </a:rPr>
              <a:t>,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i+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1</a:t>
            </a:r>
            <a:r>
              <a:rPr sz="2400" dirty="0">
                <a:latin typeface="Calibri" panose="020F0502020204030204"/>
                <a:cs typeface="Calibri" panose="020F0502020204030204"/>
              </a:rPr>
              <a:t>,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j+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1</a:t>
            </a:r>
            <a:r>
              <a:rPr sz="2400" dirty="0">
                <a:latin typeface="Calibri" panose="020F0502020204030204"/>
                <a:cs typeface="Calibri" panose="020F0502020204030204"/>
              </a:rPr>
              <a:t>,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56823" y="4253608"/>
            <a:ext cx="228346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temperature[i][j]);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558165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85115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85115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return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0;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40" y="1622801"/>
            <a:ext cx="3134995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OUTPUT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017270">
              <a:lnSpc>
                <a:spcPct val="100000"/>
              </a:lnSpc>
            </a:pP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City</a:t>
            </a:r>
            <a:r>
              <a:rPr sz="2400" spc="-4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1,</a:t>
            </a:r>
            <a:r>
              <a:rPr sz="2400" spc="-2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Day</a:t>
            </a:r>
            <a:r>
              <a:rPr sz="2400" spc="-2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1:</a:t>
            </a:r>
            <a:r>
              <a:rPr sz="2400" spc="-3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33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017270">
              <a:lnSpc>
                <a:spcPct val="100000"/>
              </a:lnSpc>
            </a:pP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City</a:t>
            </a:r>
            <a:r>
              <a:rPr sz="2400" spc="-4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1,</a:t>
            </a:r>
            <a:r>
              <a:rPr sz="2400" spc="-2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Day</a:t>
            </a:r>
            <a:r>
              <a:rPr sz="2400" spc="-2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2:</a:t>
            </a:r>
            <a:r>
              <a:rPr sz="2400" spc="-3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34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017270">
              <a:lnSpc>
                <a:spcPct val="100000"/>
              </a:lnSpc>
            </a:pP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City</a:t>
            </a:r>
            <a:r>
              <a:rPr sz="2400" spc="-4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1,</a:t>
            </a:r>
            <a:r>
              <a:rPr sz="2400" spc="-2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Day</a:t>
            </a:r>
            <a:r>
              <a:rPr sz="2400" spc="-2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3:</a:t>
            </a:r>
            <a:r>
              <a:rPr sz="2400" spc="-3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35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01727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City</a:t>
            </a:r>
            <a:r>
              <a:rPr sz="2400" spc="-4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1,</a:t>
            </a:r>
            <a:r>
              <a:rPr sz="2400" spc="-2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Day</a:t>
            </a:r>
            <a:r>
              <a:rPr sz="2400" spc="-2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4:</a:t>
            </a:r>
            <a:r>
              <a:rPr sz="2400" spc="-3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33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017270">
              <a:lnSpc>
                <a:spcPct val="100000"/>
              </a:lnSpc>
            </a:pP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City</a:t>
            </a:r>
            <a:r>
              <a:rPr sz="2400" spc="-4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1,</a:t>
            </a:r>
            <a:r>
              <a:rPr sz="2400" spc="-2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Day</a:t>
            </a:r>
            <a:r>
              <a:rPr sz="2400" spc="-2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5:</a:t>
            </a:r>
            <a:r>
              <a:rPr sz="2400" spc="-3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32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017270">
              <a:lnSpc>
                <a:spcPct val="100000"/>
              </a:lnSpc>
            </a:pP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City</a:t>
            </a:r>
            <a:r>
              <a:rPr sz="2400" spc="-4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1,</a:t>
            </a:r>
            <a:r>
              <a:rPr sz="2400" spc="-2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Day</a:t>
            </a:r>
            <a:r>
              <a:rPr sz="2400" spc="-2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6:</a:t>
            </a:r>
            <a:r>
              <a:rPr sz="2400" spc="-3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31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017270">
              <a:lnSpc>
                <a:spcPct val="100000"/>
              </a:lnSpc>
            </a:pP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City</a:t>
            </a:r>
            <a:r>
              <a:rPr sz="2400" spc="-4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1,</a:t>
            </a:r>
            <a:r>
              <a:rPr sz="2400" spc="-2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Day</a:t>
            </a:r>
            <a:r>
              <a:rPr sz="2400" spc="-2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7:</a:t>
            </a:r>
            <a:r>
              <a:rPr sz="2400" spc="-3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30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37635" y="1947795"/>
            <a:ext cx="2300605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Displaying</a:t>
            </a:r>
            <a:r>
              <a:rPr sz="2400" spc="-13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values: </a:t>
            </a:r>
            <a:r>
              <a:rPr sz="2400" spc="-58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City</a:t>
            </a:r>
            <a:r>
              <a:rPr sz="2400" spc="-4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1,</a:t>
            </a:r>
            <a:r>
              <a:rPr sz="2400" spc="-2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Day</a:t>
            </a:r>
            <a:r>
              <a:rPr sz="2400" spc="-2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400" spc="-2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400" spc="-3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33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7145">
              <a:lnSpc>
                <a:spcPct val="100000"/>
              </a:lnSpc>
            </a:pP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City</a:t>
            </a:r>
            <a:r>
              <a:rPr sz="2400" spc="-4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1,</a:t>
            </a:r>
            <a:r>
              <a:rPr sz="2400" spc="-1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Day</a:t>
            </a:r>
            <a:r>
              <a:rPr sz="2400" spc="-1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400" spc="-1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400" spc="-3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34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7145">
              <a:lnSpc>
                <a:spcPct val="100000"/>
              </a:lnSpc>
            </a:pP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City</a:t>
            </a:r>
            <a:r>
              <a:rPr sz="2400" spc="-4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1,</a:t>
            </a:r>
            <a:r>
              <a:rPr sz="2400" spc="-2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Day</a:t>
            </a:r>
            <a:r>
              <a:rPr sz="2400" spc="-2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r>
              <a:rPr sz="2400" spc="-2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400" spc="-3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35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7145">
              <a:lnSpc>
                <a:spcPct val="100000"/>
              </a:lnSpc>
            </a:pP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City</a:t>
            </a:r>
            <a:r>
              <a:rPr sz="2400" spc="-4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1,</a:t>
            </a:r>
            <a:r>
              <a:rPr sz="2400" spc="-2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Day</a:t>
            </a:r>
            <a:r>
              <a:rPr sz="2400" spc="-2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4</a:t>
            </a:r>
            <a:r>
              <a:rPr sz="2400" spc="-2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400" spc="-3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33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7145">
              <a:lnSpc>
                <a:spcPct val="100000"/>
              </a:lnSpc>
            </a:pP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City</a:t>
            </a:r>
            <a:r>
              <a:rPr sz="2400" spc="-4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1,</a:t>
            </a:r>
            <a:r>
              <a:rPr sz="2400" spc="-2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Day</a:t>
            </a:r>
            <a:r>
              <a:rPr sz="2400" spc="-2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5</a:t>
            </a:r>
            <a:r>
              <a:rPr sz="2400" spc="-2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400" spc="-3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32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714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City</a:t>
            </a:r>
            <a:r>
              <a:rPr sz="2400" spc="-4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1,</a:t>
            </a:r>
            <a:r>
              <a:rPr sz="2400" spc="-1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Day</a:t>
            </a:r>
            <a:r>
              <a:rPr sz="2400" spc="-1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6</a:t>
            </a:r>
            <a:r>
              <a:rPr sz="2400" spc="-1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400" spc="-3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31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7145">
              <a:lnSpc>
                <a:spcPct val="100000"/>
              </a:lnSpc>
            </a:pP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City</a:t>
            </a:r>
            <a:r>
              <a:rPr sz="2400" spc="-4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1,</a:t>
            </a:r>
            <a:r>
              <a:rPr sz="2400" spc="-2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Day</a:t>
            </a:r>
            <a:r>
              <a:rPr sz="2400" spc="-2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7</a:t>
            </a:r>
            <a:r>
              <a:rPr sz="2400" spc="-2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400" spc="-3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30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32" y="1917315"/>
            <a:ext cx="4138929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22631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#include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&lt;stdio.h&gt; </a:t>
            </a:r>
            <a:r>
              <a:rPr sz="2000" spc="-4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int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main()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{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82880">
              <a:lnSpc>
                <a:spcPct val="100000"/>
              </a:lnSpc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float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a[2][2],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b[2][2],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c[2][2];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 marR="5080" indent="172085">
              <a:lnSpc>
                <a:spcPct val="100000"/>
              </a:lnSpc>
              <a:tabLst>
                <a:tab pos="1099185" algn="l"/>
              </a:tabLst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int</a:t>
            </a:r>
            <a:r>
              <a:rPr sz="2000" spc="3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i,</a:t>
            </a:r>
            <a:r>
              <a:rPr sz="2000" spc="3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j;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dirty="0">
                <a:latin typeface="Calibri" panose="020F0502020204030204"/>
                <a:cs typeface="Calibri" panose="020F0502020204030204"/>
              </a:rPr>
              <a:t>//</a:t>
            </a:r>
            <a:r>
              <a:rPr sz="2000" spc="30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Taking</a:t>
            </a:r>
            <a:r>
              <a:rPr sz="2000" spc="3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input</a:t>
            </a:r>
            <a:r>
              <a:rPr sz="2000" spc="3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using</a:t>
            </a:r>
            <a:r>
              <a:rPr sz="2000" spc="29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nested </a:t>
            </a:r>
            <a:r>
              <a:rPr sz="2000" spc="-4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for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loop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42690" y="3746446"/>
            <a:ext cx="22733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56995" algn="l"/>
                <a:tab pos="1952625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e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000" dirty="0">
                <a:latin typeface="Calibri" panose="020F0502020204030204"/>
                <a:cs typeface="Calibri" panose="020F0502020204030204"/>
              </a:rPr>
              <a:t>e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m</a:t>
            </a:r>
            <a:r>
              <a:rPr sz="2000" dirty="0">
                <a:latin typeface="Calibri" panose="020F0502020204030204"/>
                <a:cs typeface="Calibri" panose="020F0502020204030204"/>
              </a:rPr>
              <a:t>e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000" spc="10" dirty="0">
                <a:latin typeface="Calibri" panose="020F0502020204030204"/>
                <a:cs typeface="Calibri" panose="020F0502020204030204"/>
              </a:rPr>
              <a:t>t</a:t>
            </a:r>
            <a:r>
              <a:rPr sz="2000" dirty="0">
                <a:latin typeface="Calibri" panose="020F0502020204030204"/>
                <a:cs typeface="Calibri" panose="020F0502020204030204"/>
              </a:rPr>
              <a:t>s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000" dirty="0">
                <a:latin typeface="Calibri" panose="020F0502020204030204"/>
                <a:cs typeface="Calibri" panose="020F0502020204030204"/>
              </a:rPr>
              <a:t>f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dirty="0">
                <a:latin typeface="Calibri" panose="020F0502020204030204"/>
                <a:cs typeface="Calibri" panose="020F0502020204030204"/>
              </a:rPr>
              <a:t>1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st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40" y="3746446"/>
            <a:ext cx="1837689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785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printf("Enter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82880" marR="5080" indent="-170815">
              <a:lnSpc>
                <a:spcPct val="100000"/>
              </a:lnSpc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matrix\n"); </a:t>
            </a:r>
            <a:r>
              <a:rPr sz="20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for(i=0;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i&lt;2;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++i)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336" y="4661152"/>
            <a:ext cx="3895090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 panose="020F0502020204030204"/>
                <a:cs typeface="Calibri" panose="020F0502020204030204"/>
              </a:rPr>
              <a:t>for(j=0;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j&lt;2;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++j)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{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82880" marR="344805">
              <a:lnSpc>
                <a:spcPct val="100000"/>
              </a:lnSpc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printf("Enter </a:t>
            </a:r>
            <a:r>
              <a:rPr sz="2000" dirty="0">
                <a:latin typeface="Calibri" panose="020F0502020204030204"/>
                <a:cs typeface="Calibri" panose="020F0502020204030204"/>
              </a:rPr>
              <a:t>a%d%d: ",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i+1, </a:t>
            </a:r>
            <a:r>
              <a:rPr sz="2000" dirty="0">
                <a:latin typeface="Calibri" panose="020F0502020204030204"/>
                <a:cs typeface="Calibri" panose="020F0502020204030204"/>
              </a:rPr>
              <a:t>j+1); </a:t>
            </a:r>
            <a:r>
              <a:rPr sz="2000" spc="-4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scanf("%f",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&amp;a[i][j]);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}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//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Taking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input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using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nested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for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loop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640651" y="1821934"/>
            <a:ext cx="24263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88745" algn="l"/>
                <a:tab pos="2016760" algn="l"/>
              </a:tabLst>
            </a:pPr>
            <a:r>
              <a:rPr sz="2000"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000" b="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000"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000"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2000"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000" b="0" spc="-2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000"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ts</a:t>
            </a:r>
            <a:r>
              <a:rPr sz="2000"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0" spc="-1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000"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000"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2000"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nd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43069" y="1821934"/>
            <a:ext cx="4322445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822575" indent="172085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pr</a:t>
            </a:r>
            <a:r>
              <a:rPr sz="2000" dirty="0">
                <a:latin typeface="Calibri" panose="020F0502020204030204"/>
                <a:cs typeface="Calibri" panose="020F0502020204030204"/>
              </a:rPr>
              <a:t>i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000" dirty="0">
                <a:latin typeface="Calibri" panose="020F0502020204030204"/>
                <a:cs typeface="Calibri" panose="020F0502020204030204"/>
              </a:rPr>
              <a:t>tf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(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"</a:t>
            </a:r>
            <a:r>
              <a:rPr sz="2000" dirty="0">
                <a:latin typeface="Calibri" panose="020F0502020204030204"/>
                <a:cs typeface="Calibri" panose="020F0502020204030204"/>
              </a:rPr>
              <a:t>E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nt</a:t>
            </a:r>
            <a:r>
              <a:rPr sz="2000" dirty="0">
                <a:latin typeface="Calibri" panose="020F0502020204030204"/>
                <a:cs typeface="Calibri" panose="020F0502020204030204"/>
              </a:rPr>
              <a:t>er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matrix\n");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82880">
              <a:lnSpc>
                <a:spcPct val="100000"/>
              </a:lnSpc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for(i=0;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i&lt;2; </a:t>
            </a:r>
            <a:r>
              <a:rPr sz="2000" dirty="0">
                <a:latin typeface="Calibri" panose="020F0502020204030204"/>
                <a:cs typeface="Calibri" panose="020F0502020204030204"/>
              </a:rPr>
              <a:t>++i)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for(j=0;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j&lt;2;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++j)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{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411480" marR="532130">
              <a:lnSpc>
                <a:spcPct val="100000"/>
              </a:lnSpc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printf("Enter </a:t>
            </a:r>
            <a:r>
              <a:rPr sz="2000" dirty="0">
                <a:latin typeface="Calibri" panose="020F0502020204030204"/>
                <a:cs typeface="Calibri" panose="020F0502020204030204"/>
              </a:rPr>
              <a:t>b%d%d: ",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i+1, </a:t>
            </a:r>
            <a:r>
              <a:rPr sz="2000" dirty="0">
                <a:latin typeface="Calibri" panose="020F0502020204030204"/>
                <a:cs typeface="Calibri" panose="020F0502020204030204"/>
              </a:rPr>
              <a:t>j+1); </a:t>
            </a:r>
            <a:r>
              <a:rPr sz="2000" spc="-4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scanf("%f",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&amp;b[i][j]);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 marR="5080" indent="228600">
              <a:lnSpc>
                <a:spcPct val="100000"/>
              </a:lnSpc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}//</a:t>
            </a:r>
            <a:r>
              <a:rPr sz="2000" spc="4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adding</a:t>
            </a:r>
            <a:r>
              <a:rPr sz="2000" spc="409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corresponding</a:t>
            </a:r>
            <a:r>
              <a:rPr sz="2000" spc="40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elements</a:t>
            </a:r>
            <a:r>
              <a:rPr sz="2000" spc="4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sz="2000" spc="-434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two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arrays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241300" marR="2419350" indent="-58420">
              <a:lnSpc>
                <a:spcPct val="100000"/>
              </a:lnSpc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for(i=0;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i&lt;2; </a:t>
            </a:r>
            <a:r>
              <a:rPr sz="2000" dirty="0">
                <a:latin typeface="Calibri" panose="020F0502020204030204"/>
                <a:cs typeface="Calibri" panose="020F0502020204030204"/>
              </a:rPr>
              <a:t>++i) 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for(j=0;</a:t>
            </a:r>
            <a:r>
              <a:rPr sz="2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j&lt;2;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++j)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{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41148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c[i][j]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=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a[i][j]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+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b[i][j];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}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060" y="1705174"/>
            <a:ext cx="357822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 marR="5080" indent="-204470">
              <a:lnSpc>
                <a:spcPct val="100000"/>
              </a:lnSpc>
              <a:spcBef>
                <a:spcPts val="100"/>
              </a:spcBef>
            </a:pPr>
            <a:r>
              <a:rPr sz="2400" b="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// </a:t>
            </a:r>
            <a:r>
              <a:rPr sz="2400"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Displaying </a:t>
            </a:r>
            <a:r>
              <a:rPr sz="2400" b="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the sum </a:t>
            </a:r>
            <a:r>
              <a:rPr sz="2400"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printf("\nSum</a:t>
            </a:r>
            <a:r>
              <a:rPr sz="2400" b="0" spc="-6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400" b="0" spc="-3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Matrix:"); </a:t>
            </a:r>
            <a:r>
              <a:rPr sz="2400" b="0" spc="-52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for(i=0;</a:t>
            </a:r>
            <a:r>
              <a:rPr sz="2400" b="0" spc="-2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i&lt;2;</a:t>
            </a:r>
            <a:r>
              <a:rPr sz="2400" b="0" spc="-2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++i)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85115">
              <a:lnSpc>
                <a:spcPct val="100000"/>
              </a:lnSpc>
            </a:pPr>
            <a:r>
              <a:rPr sz="2400"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for(j=0;</a:t>
            </a:r>
            <a:r>
              <a:rPr sz="2400" b="0" spc="-4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j&lt;2;</a:t>
            </a:r>
            <a:r>
              <a:rPr sz="2400" b="0" spc="-4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++j)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3048" y="3168476"/>
            <a:ext cx="324993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966470" marR="5080" indent="-477520">
              <a:lnSpc>
                <a:spcPct val="100000"/>
              </a:lnSpc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printf("%.1f\t",</a:t>
            </a:r>
            <a:r>
              <a:rPr sz="2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c[i][j]); </a:t>
            </a:r>
            <a:r>
              <a:rPr sz="2400" spc="-5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if(j==1)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694055">
              <a:lnSpc>
                <a:spcPct val="100000"/>
              </a:lnSpc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printf("\n");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8511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return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0;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68752" y="1258565"/>
            <a:ext cx="3192780" cy="3684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OUTPUT: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2000" b="1" spc="-7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elements</a:t>
            </a:r>
            <a:r>
              <a:rPr sz="2000" b="1" spc="-4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3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1st</a:t>
            </a:r>
            <a:r>
              <a:rPr sz="2000" b="1" spc="-3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matrix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2000" b="1" spc="-8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a11:</a:t>
            </a:r>
            <a:r>
              <a:rPr sz="2000" b="1" spc="-5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2;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2000" b="1" spc="-8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a12:</a:t>
            </a:r>
            <a:r>
              <a:rPr sz="2000" b="1" spc="-5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0.5;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2000" b="1" spc="-8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a21:</a:t>
            </a:r>
            <a:r>
              <a:rPr sz="2000" b="1" spc="-5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-1.1;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2000" b="1" spc="-8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a22:</a:t>
            </a:r>
            <a:r>
              <a:rPr sz="2000" b="1" spc="-5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2;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2000" b="1" spc="-7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elements</a:t>
            </a:r>
            <a:r>
              <a:rPr sz="2000" b="1" spc="-4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3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2nd</a:t>
            </a:r>
            <a:r>
              <a:rPr sz="2000" b="1" spc="-3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matrix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2000" b="1" spc="-8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b11:</a:t>
            </a:r>
            <a:r>
              <a:rPr sz="2000" b="1" spc="-5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0.2;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2000" b="1" spc="-8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b12:</a:t>
            </a:r>
            <a:r>
              <a:rPr sz="2000" b="1" spc="-5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0;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2000" b="1" spc="-7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b21:</a:t>
            </a:r>
            <a:r>
              <a:rPr sz="2000" b="1" spc="-4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0.23;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2000" b="1" spc="-8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b22:</a:t>
            </a:r>
            <a:r>
              <a:rPr sz="2000" b="1" spc="-5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23;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Sum</a:t>
            </a:r>
            <a:r>
              <a:rPr sz="2000" b="1" spc="-4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3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Matrix: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68752" y="4917184"/>
            <a:ext cx="112839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6430" algn="l"/>
              </a:tabLst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2.2	0.5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667385" algn="l"/>
              </a:tabLst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-</a:t>
            </a:r>
            <a:r>
              <a:rPr sz="2000" b="1" spc="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.9	</a:t>
            </a:r>
            <a:r>
              <a:rPr sz="2000" b="1" spc="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25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.0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36" y="1647185"/>
            <a:ext cx="4141470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22885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#include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&lt;stdio.h&gt; </a:t>
            </a:r>
            <a:r>
              <a:rPr sz="2000" spc="-4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int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main()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{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 marR="5080" indent="229870">
              <a:lnSpc>
                <a:spcPct val="100000"/>
              </a:lnSpc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int</a:t>
            </a:r>
            <a:r>
              <a:rPr sz="2000" spc="30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a[10][10],</a:t>
            </a:r>
            <a:r>
              <a:rPr sz="2000" spc="3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transpose[10][10],</a:t>
            </a:r>
            <a:r>
              <a:rPr sz="2000" spc="3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90" dirty="0">
                <a:latin typeface="Calibri" panose="020F0502020204030204"/>
                <a:cs typeface="Calibri" panose="020F0502020204030204"/>
              </a:rPr>
              <a:t>r,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c, </a:t>
            </a:r>
            <a:r>
              <a:rPr sz="2000" spc="-4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i,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j;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40" y="3171517"/>
            <a:ext cx="414083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5"/>
              </a:spcBef>
              <a:tabLst>
                <a:tab pos="1702435" algn="l"/>
                <a:tab pos="2352040" algn="l"/>
                <a:tab pos="2894965" algn="l"/>
                <a:tab pos="3916045" algn="l"/>
              </a:tabLst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pr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000" dirty="0">
                <a:latin typeface="Calibri" panose="020F0502020204030204"/>
                <a:cs typeface="Calibri" panose="020F0502020204030204"/>
              </a:rPr>
              <a:t>tf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(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"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E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000" dirty="0">
                <a:latin typeface="Calibri" panose="020F0502020204030204"/>
                <a:cs typeface="Calibri" panose="020F0502020204030204"/>
              </a:rPr>
              <a:t>er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w</a:t>
            </a:r>
            <a:r>
              <a:rPr sz="2000" dirty="0">
                <a:latin typeface="Calibri" panose="020F0502020204030204"/>
                <a:cs typeface="Calibri" panose="020F0502020204030204"/>
              </a:rPr>
              <a:t>s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dirty="0">
                <a:latin typeface="Calibri" panose="020F0502020204030204"/>
                <a:cs typeface="Calibri" panose="020F0502020204030204"/>
              </a:rPr>
              <a:t>a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000" dirty="0">
                <a:latin typeface="Calibri" panose="020F0502020204030204"/>
                <a:cs typeface="Calibri" panose="020F0502020204030204"/>
              </a:rPr>
              <a:t>d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olumn</a:t>
            </a:r>
            <a:r>
              <a:rPr sz="2000" dirty="0">
                <a:latin typeface="Calibri" panose="020F0502020204030204"/>
                <a:cs typeface="Calibri" panose="020F0502020204030204"/>
              </a:rPr>
              <a:t>s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of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matrix: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");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32" y="3781422"/>
            <a:ext cx="414020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29870">
              <a:lnSpc>
                <a:spcPct val="100000"/>
              </a:lnSpc>
              <a:spcBef>
                <a:spcPts val="105"/>
              </a:spcBef>
              <a:tabLst>
                <a:tab pos="1414780" algn="l"/>
                <a:tab pos="2037080" algn="l"/>
                <a:tab pos="2484120" algn="l"/>
                <a:tab pos="3054985" algn="l"/>
                <a:tab pos="3394710" algn="l"/>
              </a:tabLst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ca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n</a:t>
            </a:r>
            <a:r>
              <a:rPr sz="2000" dirty="0">
                <a:latin typeface="Calibri" panose="020F0502020204030204"/>
                <a:cs typeface="Calibri" panose="020F0502020204030204"/>
              </a:rPr>
              <a:t>f(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"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%</a:t>
            </a:r>
            <a:r>
              <a:rPr sz="2000" dirty="0">
                <a:latin typeface="Calibri" panose="020F0502020204030204"/>
                <a:cs typeface="Calibri" panose="020F0502020204030204"/>
              </a:rPr>
              <a:t>d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%d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"</a:t>
            </a:r>
            <a:r>
              <a:rPr sz="2000" dirty="0">
                <a:latin typeface="Calibri" panose="020F0502020204030204"/>
                <a:cs typeface="Calibri" panose="020F0502020204030204"/>
              </a:rPr>
              <a:t>,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&amp;</a:t>
            </a:r>
            <a:r>
              <a:rPr sz="2000" spc="-185" dirty="0">
                <a:latin typeface="Calibri" panose="020F0502020204030204"/>
                <a:cs typeface="Calibri" panose="020F0502020204030204"/>
              </a:rPr>
              <a:t>r</a:t>
            </a:r>
            <a:r>
              <a:rPr sz="2000" dirty="0">
                <a:latin typeface="Calibri" panose="020F0502020204030204"/>
                <a:cs typeface="Calibri" panose="020F0502020204030204"/>
              </a:rPr>
              <a:t>,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&amp;</a:t>
            </a:r>
            <a:r>
              <a:rPr sz="2000" dirty="0">
                <a:latin typeface="Calibri" panose="020F0502020204030204"/>
                <a:cs typeface="Calibri" panose="020F0502020204030204"/>
              </a:rPr>
              <a:t>c</a:t>
            </a:r>
            <a:r>
              <a:rPr sz="2000" spc="10" dirty="0">
                <a:latin typeface="Calibri" panose="020F0502020204030204"/>
                <a:cs typeface="Calibri" panose="020F0502020204030204"/>
              </a:rPr>
              <a:t>)</a:t>
            </a:r>
            <a:r>
              <a:rPr sz="2000" dirty="0">
                <a:latin typeface="Calibri" panose="020F0502020204030204"/>
                <a:cs typeface="Calibri" panose="020F0502020204030204"/>
              </a:rPr>
              <a:t>;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/</a:t>
            </a:r>
            <a:r>
              <a:rPr sz="2000" dirty="0">
                <a:latin typeface="Calibri" panose="020F0502020204030204"/>
                <a:cs typeface="Calibri" panose="020F0502020204030204"/>
              </a:rPr>
              <a:t>/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or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in</a:t>
            </a:r>
            <a:r>
              <a:rPr sz="2000" dirty="0">
                <a:latin typeface="Calibri" panose="020F0502020204030204"/>
                <a:cs typeface="Calibri" panose="020F0502020204030204"/>
              </a:rPr>
              <a:t>g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elements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35142" y="4390718"/>
            <a:ext cx="17843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59560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e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000" dirty="0">
                <a:latin typeface="Calibri" panose="020F0502020204030204"/>
                <a:cs typeface="Calibri" panose="020F0502020204030204"/>
              </a:rPr>
              <a:t>e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m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e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000" dirty="0">
                <a:latin typeface="Calibri" panose="020F0502020204030204"/>
                <a:cs typeface="Calibri" panose="020F0502020204030204"/>
              </a:rPr>
              <a:t>ts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of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06372" y="5915354"/>
            <a:ext cx="8845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 panose="020F0502020204030204"/>
                <a:cs typeface="Calibri" panose="020F0502020204030204"/>
              </a:rPr>
              <a:t>e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000" dirty="0">
                <a:latin typeface="Calibri" panose="020F0502020204030204"/>
                <a:cs typeface="Calibri" panose="020F0502020204030204"/>
              </a:rPr>
              <a:t>e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m</a:t>
            </a:r>
            <a:r>
              <a:rPr sz="2000" dirty="0">
                <a:latin typeface="Calibri" panose="020F0502020204030204"/>
                <a:cs typeface="Calibri" panose="020F0502020204030204"/>
              </a:rPr>
              <a:t>e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000" dirty="0">
                <a:latin typeface="Calibri" panose="020F0502020204030204"/>
                <a:cs typeface="Calibri" panose="020F0502020204030204"/>
              </a:rPr>
              <a:t>t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76181" y="5915354"/>
            <a:ext cx="8439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a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%</a:t>
            </a:r>
            <a:r>
              <a:rPr sz="2000" dirty="0">
                <a:latin typeface="Calibri" panose="020F0502020204030204"/>
                <a:cs typeface="Calibri" panose="020F0502020204030204"/>
              </a:rPr>
              <a:t>d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%</a:t>
            </a:r>
            <a:r>
              <a:rPr sz="2000" dirty="0">
                <a:latin typeface="Calibri" panose="020F0502020204030204"/>
                <a:cs typeface="Calibri" panose="020F0502020204030204"/>
              </a:rPr>
              <a:t>d: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740" y="4390718"/>
            <a:ext cx="2114550" cy="2160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printf("\nEnter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241300" marR="264795" indent="-2286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matrix:\n"); </a:t>
            </a:r>
            <a:r>
              <a:rPr sz="20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for(i=0;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i&lt;r;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++i)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469265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for(j=0;</a:t>
            </a:r>
            <a:r>
              <a:rPr sz="2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j&lt;c;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++j)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469265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{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525780">
              <a:lnSpc>
                <a:spcPct val="100000"/>
              </a:lnSpc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printf("Enter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",i+1,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j+1);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4540" y="6525259"/>
            <a:ext cx="26847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91435" algn="l"/>
              </a:tabLst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000" dirty="0">
                <a:latin typeface="Calibri" panose="020F0502020204030204"/>
                <a:cs typeface="Calibri" panose="020F0502020204030204"/>
              </a:rPr>
              <a:t>a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n</a:t>
            </a:r>
            <a:r>
              <a:rPr sz="2000" dirty="0">
                <a:latin typeface="Calibri" panose="020F0502020204030204"/>
                <a:cs typeface="Calibri" panose="020F0502020204030204"/>
              </a:rPr>
              <a:t>f("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%d"</a:t>
            </a:r>
            <a:r>
              <a:rPr sz="2000" dirty="0">
                <a:latin typeface="Calibri" panose="020F0502020204030204"/>
                <a:cs typeface="Calibri" panose="020F0502020204030204"/>
              </a:rPr>
              <a:t>,</a:t>
            </a:r>
            <a:r>
              <a:rPr sz="20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&amp;a[</a:t>
            </a:r>
            <a:r>
              <a:rPr sz="2000" dirty="0">
                <a:latin typeface="Calibri" panose="020F0502020204030204"/>
                <a:cs typeface="Calibri" panose="020F0502020204030204"/>
              </a:rPr>
              <a:t>i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][</a:t>
            </a:r>
            <a:r>
              <a:rPr sz="2000" dirty="0">
                <a:latin typeface="Calibri" panose="020F0502020204030204"/>
                <a:cs typeface="Calibri" panose="020F0502020204030204"/>
              </a:rPr>
              <a:t>j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]</a:t>
            </a:r>
            <a:r>
              <a:rPr sz="2000" dirty="0">
                <a:latin typeface="Calibri" panose="020F0502020204030204"/>
                <a:cs typeface="Calibri" panose="020F0502020204030204"/>
              </a:rPr>
              <a:t>);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dirty="0">
                <a:latin typeface="Calibri" panose="020F0502020204030204"/>
                <a:cs typeface="Calibri" panose="020F0502020204030204"/>
              </a:rPr>
              <a:t>}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48491" y="1695699"/>
            <a:ext cx="3163570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printf("\nEntered</a:t>
            </a:r>
            <a:r>
              <a:rPr sz="20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Matrix: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\n"); </a:t>
            </a:r>
            <a:r>
              <a:rPr sz="2000" spc="-434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for(i=0;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i&lt;r;</a:t>
            </a:r>
            <a:r>
              <a:rPr sz="2000" dirty="0">
                <a:latin typeface="Calibri" panose="020F0502020204030204"/>
                <a:cs typeface="Calibri" panose="020F0502020204030204"/>
              </a:rPr>
              <a:t> ++i)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240665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for(j=0;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j&lt;c;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++j)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240665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{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469265" marR="585470">
              <a:lnSpc>
                <a:spcPct val="100000"/>
              </a:lnSpc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printf("%d</a:t>
            </a:r>
            <a:r>
              <a:rPr sz="2000" spc="39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",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a[i][j]); </a:t>
            </a:r>
            <a:r>
              <a:rPr sz="2000" spc="-434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if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30" dirty="0">
                <a:latin typeface="Calibri" panose="020F0502020204030204"/>
                <a:cs typeface="Calibri" panose="020F0502020204030204"/>
              </a:rPr>
              <a:t>(j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== </a:t>
            </a:r>
            <a:r>
              <a:rPr sz="2000" dirty="0">
                <a:latin typeface="Calibri" panose="020F0502020204030204"/>
                <a:cs typeface="Calibri" panose="020F0502020204030204"/>
              </a:rPr>
              <a:t>c-1)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696595">
              <a:lnSpc>
                <a:spcPct val="100000"/>
              </a:lnSpc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printf("\n\n");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97952" y="3829936"/>
            <a:ext cx="14693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43965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t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nspos</a:t>
            </a:r>
            <a:r>
              <a:rPr sz="2000" dirty="0">
                <a:latin typeface="Calibri" panose="020F0502020204030204"/>
                <a:cs typeface="Calibri" panose="020F0502020204030204"/>
              </a:rPr>
              <a:t>e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of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19501" y="3829936"/>
            <a:ext cx="2287270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55930">
              <a:lnSpc>
                <a:spcPct val="100000"/>
              </a:lnSpc>
              <a:spcBef>
                <a:spcPts val="105"/>
              </a:spcBef>
              <a:tabLst>
                <a:tab pos="960755" algn="l"/>
                <a:tab pos="1929130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}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/</a:t>
            </a:r>
            <a:r>
              <a:rPr sz="2000" dirty="0">
                <a:latin typeface="Calibri" panose="020F0502020204030204"/>
                <a:cs typeface="Calibri" panose="020F0502020204030204"/>
              </a:rPr>
              <a:t>/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F</a:t>
            </a:r>
            <a:r>
              <a:rPr sz="2000" dirty="0">
                <a:latin typeface="Calibri" panose="020F0502020204030204"/>
                <a:cs typeface="Calibri" panose="020F0502020204030204"/>
              </a:rPr>
              <a:t>i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n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d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i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n</a:t>
            </a:r>
            <a:r>
              <a:rPr sz="2000" dirty="0">
                <a:latin typeface="Calibri" panose="020F0502020204030204"/>
                <a:cs typeface="Calibri" panose="020F0502020204030204"/>
              </a:rPr>
              <a:t>g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t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he 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matrix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a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469900" marR="177800" indent="-228600">
              <a:lnSpc>
                <a:spcPct val="100000"/>
              </a:lnSpc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for(i=0;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i&lt;r; </a:t>
            </a:r>
            <a:r>
              <a:rPr sz="2000" dirty="0">
                <a:latin typeface="Calibri" panose="020F0502020204030204"/>
                <a:cs typeface="Calibri" panose="020F0502020204030204"/>
              </a:rPr>
              <a:t>++i) 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for(j=0;</a:t>
            </a:r>
            <a:r>
              <a:rPr sz="2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j&lt;c;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++j)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{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05683" y="5354219"/>
            <a:ext cx="23323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transpose[j][i]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=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a[i][j];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77083" y="5659020"/>
            <a:ext cx="1060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 panose="020F0502020204030204"/>
                <a:cs typeface="Calibri" panose="020F0502020204030204"/>
              </a:rPr>
              <a:t>}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40" y="1616705"/>
            <a:ext cx="3975100" cy="33801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 panose="020F0502020204030204"/>
                <a:cs typeface="Calibri" panose="020F0502020204030204"/>
              </a:rPr>
              <a:t>//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Displaying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the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transpose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matrix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a </a:t>
            </a:r>
            <a:r>
              <a:rPr sz="2000" spc="-4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printf("\nTranspose </a:t>
            </a:r>
            <a:r>
              <a:rPr sz="2000" dirty="0">
                <a:latin typeface="Calibri" panose="020F0502020204030204"/>
                <a:cs typeface="Calibri" panose="020F0502020204030204"/>
              </a:rPr>
              <a:t>of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Matrix:\n"); </a:t>
            </a:r>
            <a:r>
              <a:rPr sz="20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for(i=0;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i&lt;c;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++i)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469265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for(j=0;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j&lt;r;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++j)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469265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{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6985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printf("%d</a:t>
            </a:r>
            <a:r>
              <a:rPr sz="2000" spc="38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",transpose[i][j]);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925830" marR="1572260" indent="-227965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if(j==r-1) 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printf("\n\n");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}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ct val="100000"/>
              </a:lnSpc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return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0;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}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68752" y="1257041"/>
            <a:ext cx="889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6500"/>
                </a:solidFill>
              </a:rPr>
              <a:t>output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4468752" y="1624325"/>
            <a:ext cx="4256405" cy="4599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2000" b="1" spc="-6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rows</a:t>
            </a:r>
            <a:r>
              <a:rPr sz="2000" b="1" spc="-1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000" b="1" spc="-1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columns</a:t>
            </a:r>
            <a:r>
              <a:rPr sz="2000" b="1" spc="-4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2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matrix:</a:t>
            </a:r>
            <a:r>
              <a:rPr sz="2000" b="1" spc="-4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000" b="1" spc="48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 marR="1554480">
              <a:lnSpc>
                <a:spcPct val="100000"/>
              </a:lnSpc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2000" b="1" spc="-8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element</a:t>
            </a:r>
            <a:r>
              <a:rPr sz="2000" b="1" spc="-5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4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matrix: </a:t>
            </a:r>
            <a:r>
              <a:rPr sz="2000" b="1" spc="-484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 element </a:t>
            </a:r>
            <a:r>
              <a:rPr sz="2000" b="1" spc="-2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a11: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2 </a:t>
            </a:r>
            <a:r>
              <a:rPr sz="2000" b="1" spc="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 element </a:t>
            </a:r>
            <a:r>
              <a:rPr sz="2000" b="1" spc="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a12: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3 </a:t>
            </a:r>
            <a:r>
              <a:rPr sz="2000" b="1" spc="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 element </a:t>
            </a:r>
            <a:r>
              <a:rPr sz="2000" b="1" spc="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a13: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4 </a:t>
            </a:r>
            <a:r>
              <a:rPr sz="2000" b="1" spc="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 element a21: 5 </a:t>
            </a:r>
            <a:r>
              <a:rPr sz="2000" b="1" spc="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 element </a:t>
            </a:r>
            <a:r>
              <a:rPr sz="2000" b="1" spc="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a22: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6 </a:t>
            </a:r>
            <a:r>
              <a:rPr sz="2000" b="1" spc="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 element </a:t>
            </a:r>
            <a:r>
              <a:rPr sz="2000" b="1" spc="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a23: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4 </a:t>
            </a:r>
            <a:r>
              <a:rPr sz="2000" b="1" spc="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Entered</a:t>
            </a:r>
            <a:r>
              <a:rPr sz="2000" b="1" spc="-2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Matrix: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66700" algn="l"/>
              </a:tabLst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2	3</a:t>
            </a:r>
            <a:r>
              <a:rPr sz="2000" b="1" spc="39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266700" algn="l"/>
              </a:tabLst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5	6</a:t>
            </a:r>
            <a:r>
              <a:rPr sz="2000" b="1" spc="39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 marR="1938655">
              <a:lnSpc>
                <a:spcPct val="100000"/>
              </a:lnSpc>
              <a:tabLst>
                <a:tab pos="266700" algn="l"/>
              </a:tabLst>
            </a:pPr>
            <a:r>
              <a:rPr sz="2000" b="1" spc="-1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Transpose</a:t>
            </a:r>
            <a:r>
              <a:rPr sz="2000" b="1" spc="-7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5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Matrix: </a:t>
            </a:r>
            <a:r>
              <a:rPr sz="2000" b="1" spc="-484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2	5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266700" algn="l"/>
              </a:tabLst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3	6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66700" algn="l"/>
              </a:tabLst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4	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740" y="1677665"/>
            <a:ext cx="2098675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#include</a:t>
            </a:r>
            <a:r>
              <a:rPr sz="2200" b="0" spc="-6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&lt;stdio.h&gt; </a:t>
            </a:r>
            <a:r>
              <a:rPr sz="2200" b="0" spc="-484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0" spc="-1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int</a:t>
            </a:r>
            <a:r>
              <a:rPr sz="2200" b="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main()</a:t>
            </a:r>
            <a:endParaRPr sz="2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b="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{</a:t>
            </a:r>
            <a:endParaRPr sz="2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52203" y="4696211"/>
            <a:ext cx="4686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220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200" spc="-25" dirty="0">
                <a:latin typeface="Calibri" panose="020F0502020204030204"/>
                <a:cs typeface="Calibri" panose="020F0502020204030204"/>
              </a:rPr>
              <a:t>s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t</a:t>
            </a:r>
            <a:endParaRPr sz="2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24" y="2683887"/>
            <a:ext cx="4140835" cy="3714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95"/>
              </a:spcBef>
            </a:pPr>
            <a:r>
              <a:rPr sz="2200" spc="-15" dirty="0">
                <a:latin typeface="Calibri" panose="020F0502020204030204"/>
                <a:cs typeface="Calibri" panose="020F0502020204030204"/>
              </a:rPr>
              <a:t>int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m,</a:t>
            </a:r>
            <a:r>
              <a:rPr sz="22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n,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p, q,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c, d,</a:t>
            </a:r>
            <a:r>
              <a:rPr sz="22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k,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 sum</a:t>
            </a:r>
            <a:r>
              <a:rPr sz="22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= 0;</a:t>
            </a:r>
            <a:endParaRPr sz="2200">
              <a:latin typeface="Calibri" panose="020F0502020204030204"/>
              <a:cs typeface="Calibri" panose="020F0502020204030204"/>
            </a:endParaRPr>
          </a:p>
          <a:p>
            <a:pPr marL="12700" marR="5080" indent="124460">
              <a:lnSpc>
                <a:spcPct val="100000"/>
              </a:lnSpc>
              <a:tabLst>
                <a:tab pos="682625" algn="l"/>
                <a:tab pos="2345690" algn="l"/>
              </a:tabLst>
            </a:pPr>
            <a:r>
              <a:rPr sz="2200" spc="-15" dirty="0">
                <a:latin typeface="Calibri" panose="020F0502020204030204"/>
                <a:cs typeface="Calibri" panose="020F0502020204030204"/>
              </a:rPr>
              <a:t>int</a:t>
            </a:r>
            <a:r>
              <a:rPr sz="2200" spc="-1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first[10][10],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second[10][10], </a:t>
            </a:r>
            <a:r>
              <a:rPr sz="2200" spc="-484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multiply[10][10];</a:t>
            </a:r>
            <a:endParaRPr sz="2200">
              <a:latin typeface="Calibri" panose="020F0502020204030204"/>
              <a:cs typeface="Calibri" panose="020F0502020204030204"/>
            </a:endParaRPr>
          </a:p>
          <a:p>
            <a:pPr marL="12700" marR="5080" indent="188595">
              <a:lnSpc>
                <a:spcPct val="100000"/>
              </a:lnSpc>
              <a:tabLst>
                <a:tab pos="1722755" algn="l"/>
                <a:tab pos="3051810" algn="l"/>
              </a:tabLst>
            </a:pPr>
            <a:r>
              <a:rPr sz="2200" spc="-10" dirty="0">
                <a:latin typeface="Calibri" panose="020F0502020204030204"/>
                <a:cs typeface="Calibri" panose="020F0502020204030204"/>
              </a:rPr>
              <a:t>printf("Enter</a:t>
            </a:r>
            <a:r>
              <a:rPr sz="2200" spc="24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number</a:t>
            </a:r>
            <a:r>
              <a:rPr sz="2200" spc="26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dirty="0">
                <a:latin typeface="Calibri" panose="020F0502020204030204"/>
                <a:cs typeface="Calibri" panose="020F0502020204030204"/>
              </a:rPr>
              <a:t>of</a:t>
            </a:r>
            <a:r>
              <a:rPr sz="2200" spc="26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20" dirty="0">
                <a:latin typeface="Calibri" panose="020F0502020204030204"/>
                <a:cs typeface="Calibri" panose="020F0502020204030204"/>
              </a:rPr>
              <a:t>rows</a:t>
            </a:r>
            <a:r>
              <a:rPr sz="2200" spc="25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and </a:t>
            </a:r>
            <a:r>
              <a:rPr sz="2200" spc="-484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columns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dirty="0">
                <a:latin typeface="Calibri" panose="020F0502020204030204"/>
                <a:cs typeface="Calibri" panose="020F0502020204030204"/>
              </a:rPr>
              <a:t>of</a:t>
            </a:r>
            <a:r>
              <a:rPr sz="22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first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matrix\n");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scanf("%d%d",</a:t>
            </a:r>
            <a:r>
              <a:rPr sz="22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&amp;m,</a:t>
            </a:r>
            <a:r>
              <a:rPr sz="22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&amp;n);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printf("Enter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elements</a:t>
            </a:r>
            <a:r>
              <a:rPr sz="22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dirty="0">
                <a:latin typeface="Calibri" panose="020F0502020204030204"/>
                <a:cs typeface="Calibri" panose="020F0502020204030204"/>
              </a:rPr>
              <a:t>of </a:t>
            </a:r>
            <a:r>
              <a:rPr sz="22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matrix\n");</a:t>
            </a:r>
            <a:endParaRPr sz="2200">
              <a:latin typeface="Calibri" panose="020F0502020204030204"/>
              <a:cs typeface="Calibri" panose="020F0502020204030204"/>
            </a:endParaRPr>
          </a:p>
          <a:p>
            <a:pPr marL="265430" marR="1497965" indent="-62865">
              <a:lnSpc>
                <a:spcPct val="100000"/>
              </a:lnSpc>
              <a:spcBef>
                <a:spcPts val="5"/>
              </a:spcBef>
            </a:pPr>
            <a:r>
              <a:rPr sz="2200" spc="-20" dirty="0">
                <a:latin typeface="Calibri" panose="020F0502020204030204"/>
                <a:cs typeface="Calibri" panose="020F0502020204030204"/>
              </a:rPr>
              <a:t>for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 (c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= 0;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c</a:t>
            </a:r>
            <a:r>
              <a:rPr sz="22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&lt;</a:t>
            </a:r>
            <a:r>
              <a:rPr sz="22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m; c++) </a:t>
            </a:r>
            <a:r>
              <a:rPr sz="22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20" dirty="0">
                <a:latin typeface="Calibri" panose="020F0502020204030204"/>
                <a:cs typeface="Calibri" panose="020F0502020204030204"/>
              </a:rPr>
              <a:t>for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(d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 =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0;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d &lt;</a:t>
            </a:r>
            <a:r>
              <a:rPr sz="22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n;</a:t>
            </a:r>
            <a:r>
              <a:rPr sz="22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spc="-5" dirty="0">
                <a:latin typeface="Calibri" panose="020F0502020204030204"/>
                <a:cs typeface="Calibri" panose="020F0502020204030204"/>
              </a:rPr>
              <a:t>d++)</a:t>
            </a:r>
            <a:endParaRPr sz="2200">
              <a:latin typeface="Calibri" panose="020F0502020204030204"/>
              <a:cs typeface="Calibri" panose="020F0502020204030204"/>
            </a:endParaRPr>
          </a:p>
          <a:p>
            <a:pPr marL="391795">
              <a:lnSpc>
                <a:spcPct val="100000"/>
              </a:lnSpc>
            </a:pPr>
            <a:r>
              <a:rPr sz="2200" spc="-10" dirty="0">
                <a:latin typeface="Calibri" panose="020F0502020204030204"/>
                <a:cs typeface="Calibri" panose="020F0502020204030204"/>
              </a:rPr>
              <a:t>scanf("%d", &amp;first[c][d]);</a:t>
            </a:r>
            <a:endParaRPr sz="2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19491" y="1695703"/>
            <a:ext cx="3945890" cy="276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14300">
              <a:lnSpc>
                <a:spcPct val="100000"/>
              </a:lnSpc>
              <a:spcBef>
                <a:spcPts val="105"/>
              </a:spcBef>
              <a:tabLst>
                <a:tab pos="1579245" algn="l"/>
                <a:tab pos="2545715" algn="l"/>
                <a:tab pos="2903855" algn="l"/>
                <a:tab pos="3545840" algn="l"/>
              </a:tabLst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pr</a:t>
            </a:r>
            <a:r>
              <a:rPr sz="2000" dirty="0">
                <a:latin typeface="Calibri" panose="020F0502020204030204"/>
                <a:cs typeface="Calibri" panose="020F0502020204030204"/>
              </a:rPr>
              <a:t>i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000" dirty="0">
                <a:latin typeface="Calibri" panose="020F0502020204030204"/>
                <a:cs typeface="Calibri" panose="020F0502020204030204"/>
              </a:rPr>
              <a:t>tf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("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E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nt</a:t>
            </a:r>
            <a:r>
              <a:rPr sz="2000" dirty="0">
                <a:latin typeface="Calibri" panose="020F0502020204030204"/>
                <a:cs typeface="Calibri" panose="020F0502020204030204"/>
              </a:rPr>
              <a:t>er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n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u</a:t>
            </a:r>
            <a:r>
              <a:rPr sz="2000" dirty="0">
                <a:latin typeface="Calibri" panose="020F0502020204030204"/>
                <a:cs typeface="Calibri" panose="020F0502020204030204"/>
              </a:rPr>
              <a:t>mber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000" dirty="0">
                <a:latin typeface="Calibri" panose="020F0502020204030204"/>
                <a:cs typeface="Calibri" panose="020F0502020204030204"/>
              </a:rPr>
              <a:t>f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w</a:t>
            </a:r>
            <a:r>
              <a:rPr sz="2000" dirty="0">
                <a:latin typeface="Calibri" panose="020F0502020204030204"/>
                <a:cs typeface="Calibri" panose="020F0502020204030204"/>
              </a:rPr>
              <a:t>s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n</a:t>
            </a:r>
            <a:r>
              <a:rPr sz="2000" dirty="0">
                <a:latin typeface="Calibri" panose="020F0502020204030204"/>
                <a:cs typeface="Calibri" panose="020F0502020204030204"/>
              </a:rPr>
              <a:t>d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columns of second matrix\n"); </a:t>
            </a:r>
            <a:r>
              <a:rPr sz="20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scanf("%d%d",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&amp;p,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&amp;q);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68580">
              <a:lnSpc>
                <a:spcPct val="100000"/>
              </a:lnSpc>
            </a:pPr>
            <a:r>
              <a:rPr sz="2000" spc="-15" dirty="0">
                <a:latin typeface="Calibri" panose="020F0502020204030204"/>
                <a:cs typeface="Calibri" panose="020F0502020204030204"/>
              </a:rPr>
              <a:t>for </a:t>
            </a:r>
            <a:r>
              <a:rPr sz="2000" dirty="0">
                <a:latin typeface="Calibri" panose="020F0502020204030204"/>
                <a:cs typeface="Calibri" panose="020F0502020204030204"/>
              </a:rPr>
              <a:t>(c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=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0;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c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&lt;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p;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c++)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469900" marR="608330" indent="-114300">
              <a:lnSpc>
                <a:spcPct val="100000"/>
              </a:lnSpc>
            </a:pPr>
            <a:r>
              <a:rPr sz="2000" spc="-15" dirty="0">
                <a:latin typeface="Calibri" panose="020F0502020204030204"/>
                <a:cs typeface="Calibri" panose="020F0502020204030204"/>
              </a:rPr>
              <a:t>for </a:t>
            </a:r>
            <a:r>
              <a:rPr sz="2000" dirty="0">
                <a:latin typeface="Calibri" panose="020F0502020204030204"/>
                <a:cs typeface="Calibri" panose="020F0502020204030204"/>
              </a:rPr>
              <a:t>(d = 0; d &lt; q; d++) 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scanf("%d",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&amp;second[c][d]);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5600" marR="1227455" indent="-58420" algn="just">
              <a:lnSpc>
                <a:spcPct val="100000"/>
              </a:lnSpc>
            </a:pPr>
            <a:r>
              <a:rPr sz="2000" spc="-15" dirty="0">
                <a:latin typeface="Calibri" panose="020F0502020204030204"/>
                <a:cs typeface="Calibri" panose="020F0502020204030204"/>
              </a:rPr>
              <a:t>for </a:t>
            </a:r>
            <a:r>
              <a:rPr sz="2000" dirty="0">
                <a:latin typeface="Calibri" panose="020F0502020204030204"/>
                <a:cs typeface="Calibri" panose="020F0502020204030204"/>
              </a:rPr>
              <a:t>(c = 0; c &lt;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m; </a:t>
            </a:r>
            <a:r>
              <a:rPr sz="2000" dirty="0">
                <a:latin typeface="Calibri" panose="020F0502020204030204"/>
                <a:cs typeface="Calibri" panose="020F0502020204030204"/>
              </a:rPr>
              <a:t>c++) { 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for </a:t>
            </a:r>
            <a:r>
              <a:rPr sz="2000" dirty="0">
                <a:latin typeface="Calibri" panose="020F0502020204030204"/>
                <a:cs typeface="Calibri" panose="020F0502020204030204"/>
              </a:rPr>
              <a:t>(d = 0; d &lt; q; d++) { </a:t>
            </a:r>
            <a:r>
              <a:rPr sz="2000" spc="-4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for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(k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=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0;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k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&lt;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p;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k++)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{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19501" y="4439537"/>
            <a:ext cx="3947795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71500">
              <a:lnSpc>
                <a:spcPct val="100000"/>
              </a:lnSpc>
              <a:spcBef>
                <a:spcPts val="105"/>
              </a:spcBef>
              <a:tabLst>
                <a:tab pos="1760855" algn="l"/>
                <a:tab pos="2629535" algn="l"/>
                <a:tab pos="3808095" algn="l"/>
              </a:tabLst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su</a:t>
            </a:r>
            <a:r>
              <a:rPr sz="2000" dirty="0">
                <a:latin typeface="Calibri" panose="020F0502020204030204"/>
                <a:cs typeface="Calibri" panose="020F0502020204030204"/>
              </a:rPr>
              <a:t>m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dirty="0">
                <a:latin typeface="Calibri" panose="020F0502020204030204"/>
                <a:cs typeface="Calibri" panose="020F0502020204030204"/>
              </a:rPr>
              <a:t>=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su</a:t>
            </a:r>
            <a:r>
              <a:rPr sz="2000" dirty="0">
                <a:latin typeface="Calibri" panose="020F0502020204030204"/>
                <a:cs typeface="Calibri" panose="020F0502020204030204"/>
              </a:rPr>
              <a:t>m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dirty="0">
                <a:latin typeface="Calibri" panose="020F0502020204030204"/>
                <a:cs typeface="Calibri" panose="020F0502020204030204"/>
              </a:rPr>
              <a:t>+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first[c][k]*second[k][d];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}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469900" marR="1271905" indent="55880">
              <a:lnSpc>
                <a:spcPct val="100000"/>
              </a:lnSpc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multiply[c][d]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=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sum; </a:t>
            </a:r>
            <a:r>
              <a:rPr sz="2000" spc="-434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sum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=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0;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}</a:t>
            </a:r>
            <a:r>
              <a:rPr sz="2000" spc="38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}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1534" y="1333876"/>
            <a:ext cx="44653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8580">
              <a:lnSpc>
                <a:spcPct val="100000"/>
              </a:lnSpc>
              <a:spcBef>
                <a:spcPts val="100"/>
              </a:spcBef>
              <a:tabLst>
                <a:tab pos="2870200" algn="l"/>
                <a:tab pos="4037965" algn="l"/>
              </a:tabLst>
            </a:pPr>
            <a:r>
              <a:rPr sz="2400" b="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pr</a:t>
            </a:r>
            <a:r>
              <a:rPr sz="2400"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400" b="0" spc="-2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400"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tf</a:t>
            </a:r>
            <a:r>
              <a:rPr sz="2400" b="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("</a:t>
            </a:r>
            <a:r>
              <a:rPr sz="2400" b="0" spc="-1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400" b="0" spc="-3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400" b="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oduc</a:t>
            </a:r>
            <a:r>
              <a:rPr sz="2400"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400"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400"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400"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the </a:t>
            </a:r>
            <a:r>
              <a:rPr sz="2400"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matrices:\n");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7177" y="2065778"/>
            <a:ext cx="405257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1092835" indent="-6731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libri" panose="020F0502020204030204"/>
                <a:cs typeface="Calibri" panose="020F0502020204030204"/>
              </a:rPr>
              <a:t>for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(c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=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0;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&lt;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m;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c++)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{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for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(d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=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0;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d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&lt;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q;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d++)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353695" marR="5080" indent="68580">
              <a:lnSpc>
                <a:spcPct val="100000"/>
              </a:lnSpc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printf("%d\t", multiply[c][d]);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printf("\n");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49860">
              <a:lnSpc>
                <a:spcPct val="100000"/>
              </a:lnSpc>
              <a:tabLst>
                <a:tab pos="381000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return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0;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534" y="4260589"/>
            <a:ext cx="4465320" cy="2232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OUTPUT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0000"/>
              </a:lnSpc>
              <a:tabLst>
                <a:tab pos="1931670" algn="l"/>
              </a:tabLst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2000" b="1" spc="22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000" b="1" spc="27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2000" b="1" spc="22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28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rows</a:t>
            </a:r>
            <a:r>
              <a:rPr sz="2000" b="1" spc="26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000" b="1" spc="27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columns </a:t>
            </a:r>
            <a:r>
              <a:rPr sz="2000" b="1" spc="-484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1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first</a:t>
            </a:r>
            <a:r>
              <a:rPr sz="2000" b="1" spc="-2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matrix:</a:t>
            </a:r>
            <a:r>
              <a:rPr sz="2000" b="1" spc="-5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3	3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2000" b="1" spc="-6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000" b="1" spc="-1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elements</a:t>
            </a:r>
            <a:r>
              <a:rPr sz="2000" b="1" spc="-5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2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first</a:t>
            </a:r>
            <a:r>
              <a:rPr sz="2000" b="1" spc="-3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matrix:</a:t>
            </a:r>
            <a:r>
              <a:rPr sz="2000" b="1" spc="45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000" b="1" spc="-2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000" b="1" spc="-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000" b="1" spc="-5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000" b="1" spc="-5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000" b="1" spc="-5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000" b="1" spc="-5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08833" y="1258565"/>
            <a:ext cx="39585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24865" algn="l"/>
                <a:tab pos="1361440" algn="l"/>
                <a:tab pos="2413000" algn="l"/>
                <a:tab pos="2821940" algn="l"/>
                <a:tab pos="3535045" algn="l"/>
              </a:tabLst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	the	</a:t>
            </a:r>
            <a:r>
              <a:rPr sz="2000" b="1" spc="-1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umb</a:t>
            </a:r>
            <a:r>
              <a:rPr sz="2000" b="1" spc="-1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r	</a:t>
            </a:r>
            <a:r>
              <a:rPr sz="2000" b="1" spc="-1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f	</a:t>
            </a:r>
            <a:r>
              <a:rPr sz="2000" b="1" spc="-5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000" b="1" spc="-1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s	and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08833" y="1563365"/>
            <a:ext cx="288163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columns</a:t>
            </a:r>
            <a:r>
              <a:rPr sz="2000" b="1" spc="-5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3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second</a:t>
            </a:r>
            <a:r>
              <a:rPr sz="2000" b="1" spc="-4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matrix: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08831" y="2478147"/>
            <a:ext cx="24580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27455" algn="l"/>
                <a:tab pos="1711960" algn="l"/>
              </a:tabLst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000" b="1" spc="-1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em</a:t>
            </a:r>
            <a:r>
              <a:rPr sz="2000" b="1" spc="-2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nts	</a:t>
            </a:r>
            <a:r>
              <a:rPr sz="2000" b="1" spc="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f	sec</a:t>
            </a:r>
            <a:r>
              <a:rPr sz="2000" b="1" spc="-1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d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08833" y="2478147"/>
            <a:ext cx="1254125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901065" algn="l"/>
              </a:tabLst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	the  matrix: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000" b="1" spc="-5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000" b="1" spc="-5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000" b="1" spc="-5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000" b="1" spc="-5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000" b="1" spc="-5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000" b="1" spc="-5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08833" y="4002402"/>
            <a:ext cx="32092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Product</a:t>
            </a:r>
            <a:r>
              <a:rPr sz="2000" b="1" spc="-3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2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entered</a:t>
            </a:r>
            <a:r>
              <a:rPr sz="2000" b="1" spc="-40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CC0000"/>
                </a:solidFill>
                <a:latin typeface="Times New Roman" panose="02020603050405020304"/>
                <a:cs typeface="Times New Roman" panose="02020603050405020304"/>
              </a:rPr>
              <a:t>matrices:-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5089783" y="4378286"/>
          <a:ext cx="1650364" cy="8648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865"/>
                <a:gridCol w="729615"/>
                <a:gridCol w="476884"/>
              </a:tblGrid>
              <a:tr h="279727">
                <a:tc>
                  <a:txBody>
                    <a:bodyPr/>
                    <a:lstStyle/>
                    <a:p>
                      <a:pPr marL="31750">
                        <a:lnSpc>
                          <a:spcPts val="1945"/>
                        </a:lnSpc>
                      </a:pPr>
                      <a:r>
                        <a:rPr sz="2000" b="1" dirty="0">
                          <a:solidFill>
                            <a:srgbClr val="CC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ctr">
                        <a:lnSpc>
                          <a:spcPts val="1945"/>
                        </a:lnSpc>
                      </a:pPr>
                      <a:r>
                        <a:rPr sz="2000" b="1" dirty="0">
                          <a:solidFill>
                            <a:srgbClr val="CC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945"/>
                        </a:lnSpc>
                      </a:pPr>
                      <a:r>
                        <a:rPr sz="2000" b="1" dirty="0">
                          <a:solidFill>
                            <a:srgbClr val="CC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305143">
                <a:tc>
                  <a:txBody>
                    <a:bodyPr/>
                    <a:lstStyle/>
                    <a:p>
                      <a:pPr marL="31750">
                        <a:lnSpc>
                          <a:spcPts val="2145"/>
                        </a:lnSpc>
                      </a:pPr>
                      <a:r>
                        <a:rPr sz="2000" b="1" dirty="0">
                          <a:solidFill>
                            <a:srgbClr val="CC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2145"/>
                        </a:lnSpc>
                      </a:pPr>
                      <a:r>
                        <a:rPr sz="2000" b="1" dirty="0">
                          <a:solidFill>
                            <a:srgbClr val="CC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145"/>
                        </a:lnSpc>
                      </a:pPr>
                      <a:r>
                        <a:rPr sz="2000" b="1" dirty="0">
                          <a:solidFill>
                            <a:srgbClr val="CC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279619">
                <a:tc>
                  <a:txBody>
                    <a:bodyPr/>
                    <a:lstStyle/>
                    <a:p>
                      <a:pPr marL="31750">
                        <a:lnSpc>
                          <a:spcPts val="2100"/>
                        </a:lnSpc>
                      </a:pPr>
                      <a:r>
                        <a:rPr sz="2000" b="1" dirty="0">
                          <a:solidFill>
                            <a:srgbClr val="CC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ctr">
                        <a:lnSpc>
                          <a:spcPts val="2100"/>
                        </a:lnSpc>
                      </a:pPr>
                      <a:r>
                        <a:rPr sz="2000" b="1" dirty="0">
                          <a:solidFill>
                            <a:srgbClr val="CC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100"/>
                        </a:lnSpc>
                      </a:pPr>
                      <a:r>
                        <a:rPr sz="2000" b="1" dirty="0">
                          <a:solidFill>
                            <a:srgbClr val="CC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1620" y="1515694"/>
            <a:ext cx="8440420" cy="441642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464820" lvl="1" indent="-452755">
              <a:lnSpc>
                <a:spcPct val="100000"/>
              </a:lnSpc>
              <a:spcBef>
                <a:spcPts val="1540"/>
              </a:spcBef>
              <a:buFont typeface="Calibri" panose="020F0502020204030204"/>
              <a:buAutoNum type="arabicPeriod" startAt="4"/>
              <a:tabLst>
                <a:tab pos="465455" algn="l"/>
              </a:tabLst>
            </a:pPr>
            <a:r>
              <a:rPr sz="2400" b="1" spc="-4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ARRAY</a:t>
            </a:r>
            <a:r>
              <a:rPr sz="2400" b="1" spc="-5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CONTIGUOUS</a:t>
            </a:r>
            <a:r>
              <a:rPr sz="2400" b="1" spc="-3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MEMORY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45135" marR="5080" lvl="2" indent="-325120" algn="just">
              <a:lnSpc>
                <a:spcPct val="150000"/>
              </a:lnSpc>
              <a:buSzPct val="44000"/>
              <a:buFont typeface="Wingdings" panose="05000000000000000000"/>
              <a:buChar char=""/>
              <a:tabLst>
                <a:tab pos="445770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When Big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Block of </a:t>
            </a:r>
            <a:r>
              <a:rPr sz="2400" dirty="0">
                <a:latin typeface="Calibri" panose="020F0502020204030204"/>
                <a:cs typeface="Calibri" panose="020F0502020204030204"/>
              </a:rPr>
              <a:t>memory is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reserved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or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allocated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then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that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memory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block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called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as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Contiguous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Memory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Block.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45135" marR="6985" lvl="2" indent="-325120" algn="just">
              <a:lnSpc>
                <a:spcPct val="150000"/>
              </a:lnSpc>
              <a:spcBef>
                <a:spcPts val="5"/>
              </a:spcBef>
              <a:buSzPct val="44000"/>
              <a:buFont typeface="Wingdings" panose="05000000000000000000"/>
              <a:buChar char=""/>
              <a:tabLst>
                <a:tab pos="445770" algn="l"/>
              </a:tabLst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Alternate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meaning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Contiguous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Memory</a:t>
            </a:r>
            <a:r>
              <a:rPr sz="2400" dirty="0">
                <a:latin typeface="Calibri" panose="020F0502020204030204"/>
                <a:cs typeface="Calibri" panose="020F0502020204030204"/>
              </a:rPr>
              <a:t> is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continuous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memory.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45135" marR="5715" lvl="2" indent="-325120" algn="just">
              <a:lnSpc>
                <a:spcPct val="150000"/>
              </a:lnSpc>
              <a:buSzPct val="44000"/>
              <a:buFont typeface="Wingdings" panose="05000000000000000000"/>
              <a:buChar char=""/>
              <a:tabLst>
                <a:tab pos="445770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Suppose inside </a:t>
            </a:r>
            <a:r>
              <a:rPr sz="2400" dirty="0">
                <a:latin typeface="Calibri" panose="020F0502020204030204"/>
                <a:cs typeface="Calibri" panose="020F0502020204030204"/>
              </a:rPr>
              <a:t>memory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we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have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reserved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1000-1200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memory 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addresses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for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special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purposes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then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we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can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say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that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these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200 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blocks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are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going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to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reserve</a:t>
            </a:r>
            <a:r>
              <a:rPr sz="24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contiguous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memory.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1620" y="1716984"/>
            <a:ext cx="54552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How</a:t>
            </a:r>
            <a:r>
              <a:rPr sz="2800" spc="-2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80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allocate</a:t>
            </a:r>
            <a:r>
              <a:rPr sz="2800" spc="1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contiguous</a:t>
            </a:r>
            <a:r>
              <a:rPr sz="2800" spc="-1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memory: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1629" y="2143508"/>
            <a:ext cx="8500110" cy="459867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525780" indent="-405765">
              <a:lnSpc>
                <a:spcPct val="100000"/>
              </a:lnSpc>
              <a:spcBef>
                <a:spcPts val="1780"/>
              </a:spcBef>
              <a:buSzPct val="45000"/>
              <a:buFont typeface="Wingdings" panose="05000000000000000000"/>
              <a:buChar char=""/>
              <a:tabLst>
                <a:tab pos="525780" algn="l"/>
                <a:tab pos="526415" algn="l"/>
              </a:tabLst>
            </a:pPr>
            <a:r>
              <a:rPr sz="2800" spc="-5" dirty="0">
                <a:latin typeface="Calibri" panose="020F0502020204030204"/>
                <a:cs typeface="Calibri" panose="020F0502020204030204"/>
              </a:rPr>
              <a:t>Using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static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array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declaration.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445135" marR="5080" indent="-325120">
              <a:lnSpc>
                <a:spcPct val="150000"/>
              </a:lnSpc>
              <a:buSzPct val="45000"/>
              <a:buFont typeface="Wingdings" panose="05000000000000000000"/>
              <a:buChar char=""/>
              <a:tabLst>
                <a:tab pos="525780" algn="l"/>
                <a:tab pos="526415" algn="l"/>
              </a:tabLst>
            </a:pPr>
            <a:r>
              <a:rPr dirty="0"/>
              <a:t>	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Using</a:t>
            </a:r>
            <a:r>
              <a:rPr sz="28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alloc()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/</a:t>
            </a:r>
            <a:r>
              <a:rPr sz="28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malloc() function</a:t>
            </a:r>
            <a:r>
              <a:rPr sz="2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to</a:t>
            </a:r>
            <a:r>
              <a:rPr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allocate</a:t>
            </a:r>
            <a:r>
              <a:rPr sz="2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big</a:t>
            </a:r>
            <a:r>
              <a:rPr sz="2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chunk</a:t>
            </a:r>
            <a:r>
              <a:rPr sz="28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of </a:t>
            </a:r>
            <a:r>
              <a:rPr sz="2800" spc="-6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memory</a:t>
            </a:r>
            <a:r>
              <a:rPr sz="2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dynamically.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3200" b="1" spc="-5" dirty="0">
                <a:latin typeface="Calibri" panose="020F0502020204030204"/>
                <a:cs typeface="Calibri" panose="020F0502020204030204"/>
              </a:rPr>
              <a:t>Contiguous</a:t>
            </a:r>
            <a:r>
              <a:rPr sz="32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latin typeface="Calibri" panose="020F0502020204030204"/>
                <a:cs typeface="Calibri" panose="020F0502020204030204"/>
              </a:rPr>
              <a:t>Memory</a:t>
            </a:r>
            <a:r>
              <a:rPr sz="32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5" dirty="0">
                <a:latin typeface="Calibri" panose="020F0502020204030204"/>
                <a:cs typeface="Calibri" panose="020F0502020204030204"/>
              </a:rPr>
              <a:t>Allocation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445135" marR="340360" indent="-325120">
              <a:lnSpc>
                <a:spcPct val="150000"/>
              </a:lnSpc>
              <a:spcBef>
                <a:spcPts val="100"/>
              </a:spcBef>
              <a:buSzPct val="45000"/>
              <a:buFont typeface="Wingdings" panose="05000000000000000000"/>
              <a:buChar char=""/>
              <a:tabLst>
                <a:tab pos="525780" algn="l"/>
                <a:tab pos="526415" algn="l"/>
              </a:tabLst>
            </a:pPr>
            <a:r>
              <a:rPr dirty="0"/>
              <a:t>	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Two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registers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are</a:t>
            </a:r>
            <a:r>
              <a:rPr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used</a:t>
            </a:r>
            <a:r>
              <a:rPr sz="28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while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implementing</a:t>
            </a:r>
            <a:r>
              <a:rPr sz="28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the </a:t>
            </a:r>
            <a:r>
              <a:rPr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contiguous</a:t>
            </a:r>
            <a:r>
              <a:rPr sz="28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memory scheme.</a:t>
            </a:r>
            <a:r>
              <a:rPr sz="28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These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registers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are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base </a:t>
            </a:r>
            <a:r>
              <a:rPr sz="2800" spc="-6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register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and</a:t>
            </a:r>
            <a:r>
              <a:rPr sz="2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limit</a:t>
            </a:r>
            <a:r>
              <a:rPr sz="2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register.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1620" y="1572205"/>
            <a:ext cx="84397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5510" algn="l"/>
                <a:tab pos="1395095" algn="l"/>
                <a:tab pos="1731645" algn="l"/>
                <a:tab pos="3067050" algn="l"/>
                <a:tab pos="3360420" algn="l"/>
                <a:tab pos="4449445" algn="l"/>
                <a:tab pos="5330190" algn="l"/>
                <a:tab pos="5891530" algn="l"/>
                <a:tab pos="6657975" algn="l"/>
                <a:tab pos="785177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When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400" dirty="0">
                <a:latin typeface="Calibri" panose="020F0502020204030204"/>
                <a:cs typeface="Calibri" panose="020F0502020204030204"/>
              </a:rPr>
              <a:t>S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i</a:t>
            </a:r>
            <a:r>
              <a:rPr sz="2400" dirty="0">
                <a:latin typeface="Calibri" panose="020F0502020204030204"/>
                <a:cs typeface="Calibri" panose="020F0502020204030204"/>
              </a:rPr>
              <a:t>s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e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x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400" dirty="0">
                <a:latin typeface="Calibri" panose="020F0502020204030204"/>
                <a:cs typeface="Calibri" panose="020F0502020204030204"/>
              </a:rPr>
              <a:t>cuti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n</a:t>
            </a:r>
            <a:r>
              <a:rPr sz="2400" dirty="0">
                <a:latin typeface="Calibri" panose="020F0502020204030204"/>
                <a:cs typeface="Calibri" panose="020F0502020204030204"/>
              </a:rPr>
              <a:t>g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400" dirty="0">
                <a:latin typeface="Calibri" panose="020F0502020204030204"/>
                <a:cs typeface="Calibri" panose="020F0502020204030204"/>
              </a:rPr>
              <a:t>c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e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2400" dirty="0">
                <a:latin typeface="Calibri" panose="020F0502020204030204"/>
                <a:cs typeface="Calibri" panose="020F0502020204030204"/>
              </a:rPr>
              <a:t>s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i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ns</a:t>
            </a:r>
            <a:r>
              <a:rPr sz="2400" dirty="0">
                <a:latin typeface="Calibri" panose="020F0502020204030204"/>
                <a:cs typeface="Calibri" panose="020F0502020204030204"/>
              </a:rPr>
              <a:t>i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</a:t>
            </a:r>
            <a:r>
              <a:rPr sz="2400" dirty="0">
                <a:latin typeface="Calibri" panose="020F0502020204030204"/>
                <a:cs typeface="Calibri" panose="020F0502020204030204"/>
              </a:rPr>
              <a:t>e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2400" dirty="0">
                <a:latin typeface="Calibri" panose="020F0502020204030204"/>
                <a:cs typeface="Calibri" panose="020F0502020204030204"/>
              </a:rPr>
              <a:t>e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main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me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m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400" dirty="0">
                <a:latin typeface="Calibri" panose="020F0502020204030204"/>
                <a:cs typeface="Calibri" panose="020F0502020204030204"/>
              </a:rPr>
              <a:t>ry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then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spc="-15" dirty="0">
                <a:latin typeface="Calibri" panose="020F0502020204030204"/>
                <a:cs typeface="Calibri" panose="020F0502020204030204"/>
              </a:rPr>
              <a:t>content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each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register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are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as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–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6330" y="2249297"/>
            <a:ext cx="6200140" cy="1172210"/>
          </a:xfrm>
          <a:prstGeom prst="rect">
            <a:avLst/>
          </a:prstGeom>
        </p:spPr>
        <p:txBody>
          <a:bodyPr vert="horz" wrap="square" lIns="0" tIns="219710" rIns="0" bIns="0" rtlCol="0">
            <a:spAutoFit/>
          </a:bodyPr>
          <a:lstStyle/>
          <a:p>
            <a:pPr marL="284480" indent="-272415">
              <a:lnSpc>
                <a:spcPct val="100000"/>
              </a:lnSpc>
              <a:spcBef>
                <a:spcPts val="1730"/>
              </a:spcBef>
              <a:buSzPct val="96000"/>
              <a:buFont typeface="Wingdings" panose="05000000000000000000"/>
              <a:buChar char=""/>
              <a:tabLst>
                <a:tab pos="285115" algn="l"/>
                <a:tab pos="1910080" algn="l"/>
                <a:tab pos="2755900" algn="l"/>
              </a:tabLst>
            </a:pPr>
            <a:r>
              <a:rPr sz="240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Register</a:t>
            </a:r>
            <a:r>
              <a:rPr sz="2400" spc="-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24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Content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register.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85115" indent="-273050">
              <a:lnSpc>
                <a:spcPct val="100000"/>
              </a:lnSpc>
              <a:spcBef>
                <a:spcPts val="1635"/>
              </a:spcBef>
              <a:buSzPct val="96000"/>
              <a:buFont typeface="Wingdings" panose="05000000000000000000"/>
              <a:buChar char=""/>
              <a:tabLst>
                <a:tab pos="285750" algn="l"/>
                <a:tab pos="2755900" algn="l"/>
                <a:tab pos="4000500" algn="l"/>
                <a:tab pos="5239385" algn="l"/>
                <a:tab pos="5772785" algn="l"/>
              </a:tabLst>
            </a:pPr>
            <a:r>
              <a:rPr sz="24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Base</a:t>
            </a:r>
            <a:r>
              <a:rPr sz="2400" spc="-7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4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egi</a:t>
            </a:r>
            <a:r>
              <a:rPr sz="240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40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4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40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4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24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400" dirty="0">
                <a:latin typeface="Calibri" panose="020F0502020204030204"/>
                <a:cs typeface="Calibri" panose="020F0502020204030204"/>
              </a:rPr>
              <a:t>ar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400" dirty="0">
                <a:latin typeface="Calibri" panose="020F0502020204030204"/>
                <a:cs typeface="Calibri" panose="020F0502020204030204"/>
              </a:rPr>
              <a:t>i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n</a:t>
            </a:r>
            <a:r>
              <a:rPr sz="2400" dirty="0">
                <a:latin typeface="Calibri" panose="020F0502020204030204"/>
                <a:cs typeface="Calibri" panose="020F0502020204030204"/>
              </a:rPr>
              <a:t>g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400" dirty="0">
                <a:latin typeface="Calibri" panose="020F0502020204030204"/>
                <a:cs typeface="Calibri" panose="020F0502020204030204"/>
              </a:rPr>
              <a:t>ess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400" dirty="0">
                <a:latin typeface="Calibri" panose="020F0502020204030204"/>
                <a:cs typeface="Calibri" panose="020F0502020204030204"/>
              </a:rPr>
              <a:t>f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the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29924" y="3029531"/>
            <a:ext cx="10706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 panose="020F0502020204030204"/>
                <a:cs typeface="Calibri" panose="020F0502020204030204"/>
              </a:rPr>
              <a:t>mem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400" spc="10" dirty="0">
                <a:latin typeface="Calibri" panose="020F0502020204030204"/>
                <a:cs typeface="Calibri" panose="020F0502020204030204"/>
              </a:rPr>
              <a:t>r</a:t>
            </a:r>
            <a:r>
              <a:rPr sz="2400" dirty="0">
                <a:latin typeface="Calibri" panose="020F0502020204030204"/>
                <a:cs typeface="Calibri" panose="020F0502020204030204"/>
              </a:rPr>
              <a:t>y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1620" y="3369434"/>
            <a:ext cx="8439150" cy="2903855"/>
          </a:xfrm>
          <a:prstGeom prst="rect">
            <a:avLst/>
          </a:prstGeom>
        </p:spPr>
        <p:txBody>
          <a:bodyPr vert="horz" wrap="square" lIns="0" tIns="221615" rIns="0" bIns="0" rtlCol="0">
            <a:spAutoFit/>
          </a:bodyPr>
          <a:lstStyle/>
          <a:p>
            <a:pPr marL="927100" algn="just">
              <a:lnSpc>
                <a:spcPct val="100000"/>
              </a:lnSpc>
              <a:spcBef>
                <a:spcPts val="1745"/>
              </a:spcBef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location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where process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execution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happening.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927100" marR="6350" indent="-635" algn="just">
              <a:lnSpc>
                <a:spcPct val="150000"/>
              </a:lnSpc>
              <a:spcBef>
                <a:spcPts val="205"/>
              </a:spcBef>
              <a:buSzPct val="96000"/>
              <a:buFont typeface="Wingdings" panose="05000000000000000000"/>
              <a:buChar char=""/>
              <a:tabLst>
                <a:tab pos="1200150" algn="l"/>
              </a:tabLst>
            </a:pPr>
            <a:r>
              <a:rPr sz="240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Limit </a:t>
            </a:r>
            <a:r>
              <a:rPr sz="24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register-</a:t>
            </a:r>
            <a:r>
              <a:rPr sz="240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Total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amount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of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memory</a:t>
            </a:r>
            <a:r>
              <a:rPr sz="2400" spc="5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</a:t>
            </a:r>
            <a:r>
              <a:rPr sz="2400" spc="5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bytes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consumed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by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process.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 marR="5080" indent="-635" algn="just">
              <a:lnSpc>
                <a:spcPct val="100000"/>
              </a:lnSpc>
              <a:spcBef>
                <a:spcPts val="650"/>
              </a:spcBef>
            </a:pPr>
            <a:r>
              <a:rPr sz="2400" dirty="0">
                <a:latin typeface="Calibri" panose="020F0502020204030204"/>
                <a:cs typeface="Calibri" panose="020F0502020204030204"/>
              </a:rPr>
              <a:t>When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process </a:t>
            </a:r>
            <a:r>
              <a:rPr sz="2400" dirty="0">
                <a:latin typeface="Calibri" panose="020F0502020204030204"/>
                <a:cs typeface="Calibri" panose="020F0502020204030204"/>
              </a:rPr>
              <a:t>try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refer </a:t>
            </a:r>
            <a:r>
              <a:rPr sz="2400" dirty="0">
                <a:latin typeface="Calibri" panose="020F0502020204030204"/>
                <a:cs typeface="Calibri" panose="020F0502020204030204"/>
              </a:rPr>
              <a:t>a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part of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memory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then it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will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firstly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refer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base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address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from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base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register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dirty="0">
                <a:latin typeface="Calibri" panose="020F0502020204030204"/>
                <a:cs typeface="Calibri" panose="020F0502020204030204"/>
              </a:rPr>
              <a:t> then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it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will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refer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relative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address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sz="2400" dirty="0">
                <a:latin typeface="Calibri" panose="020F0502020204030204"/>
                <a:cs typeface="Calibri" panose="020F0502020204030204"/>
              </a:rPr>
              <a:t>memory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location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with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respect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base address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1620" y="1581349"/>
            <a:ext cx="7969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6500"/>
                </a:solidFill>
              </a:rPr>
              <a:t>3</a:t>
            </a:r>
            <a:r>
              <a:rPr sz="2800" spc="-10" dirty="0">
                <a:solidFill>
                  <a:srgbClr val="006500"/>
                </a:solidFill>
              </a:rPr>
              <a:t>.</a:t>
            </a:r>
            <a:r>
              <a:rPr sz="2800" spc="-5" dirty="0">
                <a:solidFill>
                  <a:srgbClr val="006500"/>
                </a:solidFill>
              </a:rPr>
              <a:t>5</a:t>
            </a:r>
            <a:r>
              <a:rPr sz="2800" spc="-160" dirty="0">
                <a:solidFill>
                  <a:srgbClr val="006500"/>
                </a:solidFill>
              </a:rPr>
              <a:t> </a:t>
            </a:r>
            <a:r>
              <a:rPr sz="2800" spc="-5" dirty="0">
                <a:solidFill>
                  <a:srgbClr val="006500"/>
                </a:solidFill>
              </a:rPr>
              <a:t>A</a:t>
            </a:r>
            <a:r>
              <a:rPr sz="2800" spc="-15" dirty="0">
                <a:solidFill>
                  <a:srgbClr val="006500"/>
                </a:solidFill>
              </a:rPr>
              <a:t>D</a:t>
            </a:r>
            <a:r>
              <a:rPr sz="2800" spc="-370" dirty="0">
                <a:solidFill>
                  <a:srgbClr val="006500"/>
                </a:solidFill>
              </a:rPr>
              <a:t>V</a:t>
            </a:r>
            <a:r>
              <a:rPr sz="2800" spc="-5" dirty="0">
                <a:solidFill>
                  <a:srgbClr val="006500"/>
                </a:solidFill>
              </a:rPr>
              <a:t>A</a:t>
            </a:r>
            <a:r>
              <a:rPr sz="2800" spc="-15" dirty="0">
                <a:solidFill>
                  <a:srgbClr val="006500"/>
                </a:solidFill>
              </a:rPr>
              <a:t>N</a:t>
            </a:r>
            <a:r>
              <a:rPr sz="2800" spc="-215" dirty="0">
                <a:solidFill>
                  <a:srgbClr val="006500"/>
                </a:solidFill>
              </a:rPr>
              <a:t>T</a:t>
            </a:r>
            <a:r>
              <a:rPr sz="2800" spc="-5" dirty="0">
                <a:solidFill>
                  <a:srgbClr val="006500"/>
                </a:solidFill>
              </a:rPr>
              <a:t>A</a:t>
            </a:r>
            <a:r>
              <a:rPr sz="2800" spc="-15" dirty="0">
                <a:solidFill>
                  <a:srgbClr val="006500"/>
                </a:solidFill>
              </a:rPr>
              <a:t>G</a:t>
            </a:r>
            <a:r>
              <a:rPr sz="2800" spc="-5" dirty="0">
                <a:solidFill>
                  <a:srgbClr val="006500"/>
                </a:solidFill>
              </a:rPr>
              <a:t>E</a:t>
            </a:r>
            <a:r>
              <a:rPr sz="2800" spc="-120" dirty="0">
                <a:solidFill>
                  <a:srgbClr val="006500"/>
                </a:solidFill>
              </a:rPr>
              <a:t> </a:t>
            </a:r>
            <a:r>
              <a:rPr sz="2800" spc="-10" dirty="0">
                <a:solidFill>
                  <a:srgbClr val="006500"/>
                </a:solidFill>
              </a:rPr>
              <a:t>AN</a:t>
            </a:r>
            <a:r>
              <a:rPr sz="2800" spc="-5" dirty="0">
                <a:solidFill>
                  <a:srgbClr val="006500"/>
                </a:solidFill>
              </a:rPr>
              <a:t>D</a:t>
            </a:r>
            <a:r>
              <a:rPr sz="2800" spc="15" dirty="0">
                <a:solidFill>
                  <a:srgbClr val="006500"/>
                </a:solidFill>
              </a:rPr>
              <a:t> </a:t>
            </a:r>
            <a:r>
              <a:rPr sz="2800" spc="-5" dirty="0">
                <a:solidFill>
                  <a:srgbClr val="006500"/>
                </a:solidFill>
              </a:rPr>
              <a:t>LIMI</a:t>
            </a:r>
            <a:r>
              <a:rPr sz="2800" spc="-220" dirty="0">
                <a:solidFill>
                  <a:srgbClr val="006500"/>
                </a:solidFill>
              </a:rPr>
              <a:t>T</a:t>
            </a:r>
            <a:r>
              <a:rPr sz="2800" spc="-215" dirty="0">
                <a:solidFill>
                  <a:srgbClr val="006500"/>
                </a:solidFill>
              </a:rPr>
              <a:t>A</a:t>
            </a:r>
            <a:r>
              <a:rPr sz="2800" spc="-5" dirty="0">
                <a:solidFill>
                  <a:srgbClr val="006500"/>
                </a:solidFill>
              </a:rPr>
              <a:t>TIO</a:t>
            </a:r>
            <a:r>
              <a:rPr sz="2800" spc="-20" dirty="0">
                <a:solidFill>
                  <a:srgbClr val="006500"/>
                </a:solidFill>
              </a:rPr>
              <a:t>N</a:t>
            </a:r>
            <a:r>
              <a:rPr sz="2800" spc="-5" dirty="0">
                <a:solidFill>
                  <a:srgbClr val="006500"/>
                </a:solidFill>
              </a:rPr>
              <a:t>S</a:t>
            </a:r>
            <a:r>
              <a:rPr sz="2800" spc="5" dirty="0">
                <a:solidFill>
                  <a:srgbClr val="006500"/>
                </a:solidFill>
              </a:rPr>
              <a:t> </a:t>
            </a:r>
            <a:r>
              <a:rPr sz="2800" spc="-15" dirty="0">
                <a:solidFill>
                  <a:srgbClr val="006500"/>
                </a:solidFill>
              </a:rPr>
              <a:t>O</a:t>
            </a:r>
            <a:r>
              <a:rPr sz="2800" spc="-5" dirty="0">
                <a:solidFill>
                  <a:srgbClr val="006500"/>
                </a:solidFill>
              </a:rPr>
              <a:t>F</a:t>
            </a:r>
            <a:r>
              <a:rPr sz="2800" spc="-250" dirty="0">
                <a:solidFill>
                  <a:srgbClr val="006500"/>
                </a:solidFill>
              </a:rPr>
              <a:t> </a:t>
            </a:r>
            <a:r>
              <a:rPr sz="2800" spc="-5" dirty="0">
                <a:solidFill>
                  <a:srgbClr val="006500"/>
                </a:solidFill>
              </a:rPr>
              <a:t>A</a:t>
            </a:r>
            <a:r>
              <a:rPr sz="2800" spc="-15" dirty="0">
                <a:solidFill>
                  <a:srgbClr val="006500"/>
                </a:solidFill>
              </a:rPr>
              <a:t>R</a:t>
            </a:r>
            <a:r>
              <a:rPr sz="2800" spc="-5" dirty="0">
                <a:solidFill>
                  <a:srgbClr val="006500"/>
                </a:solidFill>
              </a:rPr>
              <a:t>R</a:t>
            </a:r>
            <a:r>
              <a:rPr sz="2800" spc="-270" dirty="0">
                <a:solidFill>
                  <a:srgbClr val="006500"/>
                </a:solidFill>
              </a:rPr>
              <a:t>A</a:t>
            </a:r>
            <a:r>
              <a:rPr sz="2800" spc="-5" dirty="0">
                <a:solidFill>
                  <a:srgbClr val="006500"/>
                </a:solidFill>
              </a:rPr>
              <a:t>Y</a:t>
            </a:r>
            <a:endParaRPr sz="2800"/>
          </a:p>
        </p:txBody>
      </p:sp>
      <p:sp>
        <p:nvSpPr>
          <p:cNvPr id="5" name="object 5"/>
          <p:cNvSpPr txBox="1"/>
          <p:nvPr/>
        </p:nvSpPr>
        <p:spPr>
          <a:xfrm>
            <a:off x="261620" y="2008374"/>
            <a:ext cx="8568690" cy="458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92480" lvl="2" indent="-780415" algn="just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793115" algn="l"/>
              </a:tabLst>
            </a:pPr>
            <a:r>
              <a:rPr sz="2800" b="1" spc="-5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Advantages: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45135" marR="6350" lvl="3" indent="-325120" algn="just">
              <a:lnSpc>
                <a:spcPct val="100000"/>
              </a:lnSpc>
              <a:spcBef>
                <a:spcPts val="40"/>
              </a:spcBef>
              <a:buSzPct val="44000"/>
              <a:buFont typeface="Wingdings" panose="05000000000000000000"/>
              <a:buChar char=""/>
              <a:tabLst>
                <a:tab pos="445770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It</a:t>
            </a:r>
            <a:r>
              <a:rPr sz="2400" dirty="0">
                <a:latin typeface="Calibri" panose="020F0502020204030204"/>
                <a:cs typeface="Calibri" panose="020F0502020204030204"/>
              </a:rPr>
              <a:t> is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better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convenient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way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storing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data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same 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datatype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with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same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size.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45135" lvl="3" indent="-325120" algn="just">
              <a:lnSpc>
                <a:spcPct val="100000"/>
              </a:lnSpc>
              <a:spcBef>
                <a:spcPts val="195"/>
              </a:spcBef>
              <a:buSzPct val="44000"/>
              <a:buFont typeface="Wingdings" panose="05000000000000000000"/>
              <a:buChar char=""/>
              <a:tabLst>
                <a:tab pos="445770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It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allows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us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store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known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number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elements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it.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45135" marR="5080" lvl="3" indent="-325120" algn="just">
              <a:lnSpc>
                <a:spcPct val="100000"/>
              </a:lnSpc>
              <a:spcBef>
                <a:spcPts val="205"/>
              </a:spcBef>
              <a:buSzPct val="44000"/>
              <a:buFont typeface="Wingdings" panose="05000000000000000000"/>
              <a:buChar char=""/>
              <a:tabLst>
                <a:tab pos="445770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It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allocates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memory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in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contiguous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memory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locations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for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its 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elements. It does not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allocate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any extra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space/ memory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for </a:t>
            </a:r>
            <a:r>
              <a:rPr sz="2400" dirty="0">
                <a:latin typeface="Calibri" panose="020F0502020204030204"/>
                <a:cs typeface="Calibri" panose="020F0502020204030204"/>
              </a:rPr>
              <a:t>its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elements. Hence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there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no memory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overflow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or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shortage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of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memory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arrays.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45135" marR="5715" lvl="3" indent="-325120" algn="just">
              <a:lnSpc>
                <a:spcPct val="100000"/>
              </a:lnSpc>
              <a:spcBef>
                <a:spcPts val="205"/>
              </a:spcBef>
              <a:buSzPct val="44000"/>
              <a:buFont typeface="Wingdings" panose="05000000000000000000"/>
              <a:buChar char=""/>
              <a:tabLst>
                <a:tab pos="445770" algn="l"/>
              </a:tabLst>
            </a:pPr>
            <a:r>
              <a:rPr sz="2400" spc="-15" dirty="0">
                <a:latin typeface="Calibri" panose="020F0502020204030204"/>
                <a:cs typeface="Calibri" panose="020F0502020204030204"/>
              </a:rPr>
              <a:t>Iterating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the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arrays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using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their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index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faster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compared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to any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other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methods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like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linked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list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etc.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45135" marR="5080" lvl="3" indent="-325120" algn="just">
              <a:lnSpc>
                <a:spcPct val="100000"/>
              </a:lnSpc>
              <a:spcBef>
                <a:spcPts val="195"/>
              </a:spcBef>
              <a:buSzPct val="44000"/>
              <a:buFont typeface="Wingdings" panose="05000000000000000000"/>
              <a:buChar char=""/>
              <a:tabLst>
                <a:tab pos="445770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It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allows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store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elements</a:t>
            </a:r>
            <a:r>
              <a:rPr sz="2400" dirty="0">
                <a:latin typeface="Calibri" panose="020F0502020204030204"/>
                <a:cs typeface="Calibri" panose="020F0502020204030204"/>
              </a:rPr>
              <a:t> in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any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dimensional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array</a:t>
            </a:r>
            <a:r>
              <a:rPr sz="2400" spc="5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- 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supports multidimensional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array.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3563" y="1523487"/>
            <a:ext cx="46653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5" dirty="0">
                <a:solidFill>
                  <a:srgbClr val="006500"/>
                </a:solidFill>
              </a:rPr>
              <a:t>3</a:t>
            </a:r>
            <a:r>
              <a:rPr sz="3200" dirty="0">
                <a:solidFill>
                  <a:srgbClr val="006500"/>
                </a:solidFill>
              </a:rPr>
              <a:t>.</a:t>
            </a:r>
            <a:r>
              <a:rPr sz="3200" spc="5" dirty="0">
                <a:solidFill>
                  <a:srgbClr val="006500"/>
                </a:solidFill>
              </a:rPr>
              <a:t>5</a:t>
            </a:r>
            <a:r>
              <a:rPr sz="3200" dirty="0">
                <a:solidFill>
                  <a:srgbClr val="006500"/>
                </a:solidFill>
              </a:rPr>
              <a:t>.2</a:t>
            </a:r>
            <a:r>
              <a:rPr sz="3200" spc="-40" dirty="0">
                <a:solidFill>
                  <a:srgbClr val="006500"/>
                </a:solidFill>
              </a:rPr>
              <a:t> </a:t>
            </a:r>
            <a:r>
              <a:rPr sz="3200" dirty="0">
                <a:solidFill>
                  <a:srgbClr val="006500"/>
                </a:solidFill>
              </a:rPr>
              <a:t>Limit</a:t>
            </a:r>
            <a:r>
              <a:rPr sz="3200" spc="5" dirty="0">
                <a:solidFill>
                  <a:srgbClr val="006500"/>
                </a:solidFill>
              </a:rPr>
              <a:t>a</a:t>
            </a:r>
            <a:r>
              <a:rPr sz="3200" dirty="0">
                <a:solidFill>
                  <a:srgbClr val="006500"/>
                </a:solidFill>
              </a:rPr>
              <a:t>ti</a:t>
            </a:r>
            <a:r>
              <a:rPr sz="3200" spc="5" dirty="0">
                <a:solidFill>
                  <a:srgbClr val="006500"/>
                </a:solidFill>
              </a:rPr>
              <a:t>o</a:t>
            </a:r>
            <a:r>
              <a:rPr sz="3200" dirty="0">
                <a:solidFill>
                  <a:srgbClr val="006500"/>
                </a:solidFill>
              </a:rPr>
              <a:t>ns</a:t>
            </a:r>
            <a:r>
              <a:rPr sz="3200" spc="-50" dirty="0">
                <a:solidFill>
                  <a:srgbClr val="006500"/>
                </a:solidFill>
              </a:rPr>
              <a:t> </a:t>
            </a:r>
            <a:r>
              <a:rPr sz="3200" spc="5" dirty="0">
                <a:solidFill>
                  <a:srgbClr val="006500"/>
                </a:solidFill>
              </a:rPr>
              <a:t>o</a:t>
            </a:r>
            <a:r>
              <a:rPr sz="3200" dirty="0">
                <a:solidFill>
                  <a:srgbClr val="006500"/>
                </a:solidFill>
              </a:rPr>
              <a:t>f</a:t>
            </a:r>
            <a:r>
              <a:rPr sz="3200" spc="-204" dirty="0">
                <a:solidFill>
                  <a:srgbClr val="006500"/>
                </a:solidFill>
              </a:rPr>
              <a:t> </a:t>
            </a:r>
            <a:r>
              <a:rPr sz="3200" dirty="0">
                <a:solidFill>
                  <a:srgbClr val="006500"/>
                </a:solidFill>
              </a:rPr>
              <a:t>A</a:t>
            </a:r>
            <a:r>
              <a:rPr sz="3200" spc="5" dirty="0">
                <a:solidFill>
                  <a:srgbClr val="006500"/>
                </a:solidFill>
              </a:rPr>
              <a:t>r</a:t>
            </a:r>
            <a:r>
              <a:rPr sz="3200" dirty="0">
                <a:solidFill>
                  <a:srgbClr val="006500"/>
                </a:solidFill>
              </a:rPr>
              <a:t>r</a:t>
            </a:r>
            <a:r>
              <a:rPr sz="3200" spc="10" dirty="0">
                <a:solidFill>
                  <a:srgbClr val="006500"/>
                </a:solidFill>
              </a:rPr>
              <a:t>a</a:t>
            </a:r>
            <a:r>
              <a:rPr sz="3200" spc="5" dirty="0">
                <a:solidFill>
                  <a:srgbClr val="006500"/>
                </a:solidFill>
              </a:rPr>
              <a:t>y</a:t>
            </a:r>
            <a:r>
              <a:rPr sz="3200" dirty="0">
                <a:solidFill>
                  <a:srgbClr val="006500"/>
                </a:solidFill>
              </a:rPr>
              <a:t>: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283565" y="1994404"/>
            <a:ext cx="8439150" cy="422656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60045" indent="-347980" algn="just">
              <a:lnSpc>
                <a:spcPct val="100000"/>
              </a:lnSpc>
              <a:spcBef>
                <a:spcPts val="290"/>
              </a:spcBef>
              <a:buAutoNum type="alphaUcParenR"/>
              <a:tabLst>
                <a:tab pos="360680" algn="l"/>
              </a:tabLst>
            </a:pPr>
            <a:r>
              <a:rPr sz="2400" b="1" i="1" spc="-5" dirty="0">
                <a:latin typeface="Calibri" panose="020F0502020204030204"/>
                <a:cs typeface="Calibri" panose="020F0502020204030204"/>
              </a:rPr>
              <a:t>Static</a:t>
            </a:r>
            <a:r>
              <a:rPr sz="2400" b="1" i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10" dirty="0">
                <a:latin typeface="Calibri" panose="020F0502020204030204"/>
                <a:cs typeface="Calibri" panose="020F0502020204030204"/>
              </a:rPr>
              <a:t>Data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876935" lvl="1" indent="-323850" algn="just">
              <a:lnSpc>
                <a:spcPct val="100000"/>
              </a:lnSpc>
              <a:spcBef>
                <a:spcPts val="195"/>
              </a:spcBef>
              <a:buSzPct val="75000"/>
              <a:buFont typeface="Symbol" panose="05050102010706020507"/>
              <a:buChar char=""/>
              <a:tabLst>
                <a:tab pos="876935" algn="l"/>
              </a:tabLst>
            </a:pPr>
            <a:r>
              <a:rPr sz="2400" spc="-20" dirty="0">
                <a:latin typeface="Calibri" panose="020F0502020204030204"/>
                <a:cs typeface="Calibri" panose="020F0502020204030204"/>
              </a:rPr>
              <a:t>Array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Static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data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Structure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876935" lvl="1" indent="-323850" algn="just">
              <a:lnSpc>
                <a:spcPct val="100000"/>
              </a:lnSpc>
              <a:spcBef>
                <a:spcPts val="205"/>
              </a:spcBef>
              <a:buSzPct val="75000"/>
              <a:buFont typeface="Symbol" panose="05050102010706020507"/>
              <a:buChar char=""/>
              <a:tabLst>
                <a:tab pos="87693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Memory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Allocated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during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Compile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time.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876935" marR="5715" lvl="1" indent="-323215" algn="just">
              <a:lnSpc>
                <a:spcPct val="100000"/>
              </a:lnSpc>
              <a:spcBef>
                <a:spcPts val="200"/>
              </a:spcBef>
              <a:buSzPct val="75000"/>
              <a:buFont typeface="Symbol" panose="05050102010706020507"/>
              <a:buChar char=""/>
              <a:tabLst>
                <a:tab pos="876935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Once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Memory</a:t>
            </a:r>
            <a:r>
              <a:rPr sz="2400" dirty="0">
                <a:latin typeface="Calibri" panose="020F0502020204030204"/>
                <a:cs typeface="Calibri" panose="020F0502020204030204"/>
              </a:rPr>
              <a:t> is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allocated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at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Compile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Time</a:t>
            </a:r>
            <a:r>
              <a:rPr sz="2400" dirty="0">
                <a:latin typeface="Calibri" panose="020F0502020204030204"/>
                <a:cs typeface="Calibri" panose="020F0502020204030204"/>
              </a:rPr>
              <a:t> it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Cannot</a:t>
            </a:r>
            <a:r>
              <a:rPr sz="2400" dirty="0">
                <a:latin typeface="Calibri" panose="020F0502020204030204"/>
                <a:cs typeface="Calibri" panose="020F0502020204030204"/>
              </a:rPr>
              <a:t> be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Changed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during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Run-time.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347980" indent="-335915" algn="just">
              <a:lnSpc>
                <a:spcPct val="100000"/>
              </a:lnSpc>
              <a:spcBef>
                <a:spcPts val="195"/>
              </a:spcBef>
              <a:buAutoNum type="alphaUcParenR"/>
              <a:tabLst>
                <a:tab pos="348615" algn="l"/>
              </a:tabLst>
            </a:pPr>
            <a:r>
              <a:rPr sz="2400" b="1" i="1" dirty="0">
                <a:latin typeface="Calibri" panose="020F0502020204030204"/>
                <a:cs typeface="Calibri" panose="020F0502020204030204"/>
              </a:rPr>
              <a:t>Can</a:t>
            </a:r>
            <a:r>
              <a:rPr sz="2400" b="1" i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latin typeface="Calibri" panose="020F0502020204030204"/>
                <a:cs typeface="Calibri" panose="020F0502020204030204"/>
              </a:rPr>
              <a:t>hold</a:t>
            </a:r>
            <a:r>
              <a:rPr sz="2400" b="1" i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latin typeface="Calibri" panose="020F0502020204030204"/>
                <a:cs typeface="Calibri" panose="020F0502020204030204"/>
              </a:rPr>
              <a:t>data</a:t>
            </a:r>
            <a:r>
              <a:rPr sz="2400" b="1" i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dirty="0">
                <a:latin typeface="Calibri" panose="020F0502020204030204"/>
                <a:cs typeface="Calibri" panose="020F0502020204030204"/>
              </a:rPr>
              <a:t>belonging</a:t>
            </a:r>
            <a:r>
              <a:rPr sz="2400" b="1" i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15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b="1" i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dirty="0">
                <a:latin typeface="Calibri" panose="020F0502020204030204"/>
                <a:cs typeface="Calibri" panose="020F0502020204030204"/>
              </a:rPr>
              <a:t>same</a:t>
            </a:r>
            <a:r>
              <a:rPr sz="2400" b="1" i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10" dirty="0">
                <a:latin typeface="Calibri" panose="020F0502020204030204"/>
                <a:cs typeface="Calibri" panose="020F0502020204030204"/>
              </a:rPr>
              <a:t>Data</a:t>
            </a:r>
            <a:r>
              <a:rPr sz="2400" b="1" i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dirty="0">
                <a:latin typeface="Calibri" panose="020F0502020204030204"/>
                <a:cs typeface="Calibri" panose="020F0502020204030204"/>
              </a:rPr>
              <a:t>types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876935" marR="5080" lvl="1" indent="-323215" algn="just">
              <a:lnSpc>
                <a:spcPct val="100000"/>
              </a:lnSpc>
              <a:spcBef>
                <a:spcPts val="205"/>
              </a:spcBef>
              <a:buSzPct val="75000"/>
              <a:buFont typeface="Symbol" panose="05050102010706020507"/>
              <a:buChar char=""/>
              <a:tabLst>
                <a:tab pos="876935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Elements belonging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different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data </a:t>
            </a:r>
            <a:r>
              <a:rPr sz="2400" dirty="0">
                <a:latin typeface="Calibri" panose="020F0502020204030204"/>
                <a:cs typeface="Calibri" panose="020F0502020204030204"/>
              </a:rPr>
              <a:t>types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cannot </a:t>
            </a:r>
            <a:r>
              <a:rPr sz="2400" dirty="0">
                <a:latin typeface="Calibri" panose="020F0502020204030204"/>
                <a:cs typeface="Calibri" panose="020F0502020204030204"/>
              </a:rPr>
              <a:t>be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stored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array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because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array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data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structure can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hold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data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belonging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same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data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type.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876935" marR="5715" lvl="1" indent="-323215" algn="just">
              <a:lnSpc>
                <a:spcPct val="100000"/>
              </a:lnSpc>
              <a:spcBef>
                <a:spcPts val="210"/>
              </a:spcBef>
              <a:buSzPct val="75000"/>
              <a:buFont typeface="Symbol" panose="05050102010706020507"/>
              <a:buChar char=""/>
              <a:tabLst>
                <a:tab pos="876935" algn="l"/>
              </a:tabLst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Example </a:t>
            </a:r>
            <a:r>
              <a:rPr sz="2400" dirty="0">
                <a:latin typeface="Calibri" panose="020F0502020204030204"/>
                <a:cs typeface="Calibri" panose="020F0502020204030204"/>
              </a:rPr>
              <a:t>: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Character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Integer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values can </a:t>
            </a:r>
            <a:r>
              <a:rPr sz="2400" dirty="0">
                <a:latin typeface="Calibri" panose="020F0502020204030204"/>
                <a:cs typeface="Calibri" panose="020F0502020204030204"/>
              </a:rPr>
              <a:t>be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stored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inside 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separate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array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but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cannot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be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stored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single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array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1606" y="1325986"/>
            <a:ext cx="8667115" cy="493585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34010" indent="-321945">
              <a:lnSpc>
                <a:spcPct val="100000"/>
              </a:lnSpc>
              <a:spcBef>
                <a:spcPts val="305"/>
              </a:spcBef>
              <a:buAutoNum type="alphaUcParenR" startAt="3"/>
              <a:tabLst>
                <a:tab pos="334645" algn="l"/>
              </a:tabLst>
            </a:pPr>
            <a:r>
              <a:rPr sz="2400" b="1" i="1" spc="-5" dirty="0">
                <a:latin typeface="Calibri" panose="020F0502020204030204"/>
                <a:cs typeface="Calibri" panose="020F0502020204030204"/>
              </a:rPr>
              <a:t>Inserting</a:t>
            </a:r>
            <a:r>
              <a:rPr sz="2400" b="1" i="1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10" dirty="0">
                <a:latin typeface="Calibri" panose="020F0502020204030204"/>
                <a:cs typeface="Calibri" panose="020F0502020204030204"/>
              </a:rPr>
              <a:t>data</a:t>
            </a:r>
            <a:r>
              <a:rPr sz="2400" b="1" i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latin typeface="Calibri" panose="020F0502020204030204"/>
                <a:cs typeface="Calibri" panose="020F0502020204030204"/>
              </a:rPr>
              <a:t>in</a:t>
            </a:r>
            <a:r>
              <a:rPr sz="2400" b="1" i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latin typeface="Calibri" panose="020F0502020204030204"/>
                <a:cs typeface="Calibri" panose="020F0502020204030204"/>
              </a:rPr>
              <a:t>Array</a:t>
            </a:r>
            <a:r>
              <a:rPr sz="2400" b="1" i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latin typeface="Calibri" panose="020F0502020204030204"/>
                <a:cs typeface="Calibri" panose="020F0502020204030204"/>
              </a:rPr>
              <a:t>is</a:t>
            </a:r>
            <a:r>
              <a:rPr sz="2400" b="1" i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10" dirty="0">
                <a:latin typeface="Calibri" panose="020F0502020204030204"/>
                <a:cs typeface="Calibri" panose="020F0502020204030204"/>
              </a:rPr>
              <a:t>Difficult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876935" marR="5080" lvl="1" indent="-323215">
              <a:lnSpc>
                <a:spcPct val="100000"/>
              </a:lnSpc>
              <a:spcBef>
                <a:spcPts val="205"/>
              </a:spcBef>
              <a:buSzPct val="75000"/>
              <a:buFont typeface="Symbol" panose="05050102010706020507"/>
              <a:buChar char=""/>
              <a:tabLst>
                <a:tab pos="876935" algn="l"/>
                <a:tab pos="876935" algn="l"/>
                <a:tab pos="7329170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Inserting element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very</a:t>
            </a:r>
            <a:r>
              <a:rPr sz="24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difficult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because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before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inserting 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element</a:t>
            </a:r>
            <a:r>
              <a:rPr sz="2400" spc="4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</a:t>
            </a:r>
            <a:r>
              <a:rPr sz="2400" spc="4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</a:t>
            </a:r>
            <a:r>
              <a:rPr sz="2400" spc="43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array</a:t>
            </a:r>
            <a:r>
              <a:rPr sz="2400" spc="4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have</a:t>
            </a:r>
            <a:r>
              <a:rPr sz="2400" spc="4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4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create</a:t>
            </a:r>
            <a:r>
              <a:rPr sz="2400" spc="4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empty</a:t>
            </a:r>
            <a:r>
              <a:rPr sz="2400" spc="4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space</a:t>
            </a:r>
            <a:r>
              <a:rPr sz="2400" spc="4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by</a:t>
            </a:r>
            <a:r>
              <a:rPr sz="2400" spc="4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shifting </a:t>
            </a:r>
            <a:r>
              <a:rPr sz="2400" spc="-5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other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elements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one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position </a:t>
            </a:r>
            <a:r>
              <a:rPr sz="2400" dirty="0">
                <a:latin typeface="Calibri" panose="020F0502020204030204"/>
                <a:cs typeface="Calibri" panose="020F0502020204030204"/>
              </a:rPr>
              <a:t>ahead.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876935" marR="6985" lvl="1" indent="-323215" algn="just">
              <a:lnSpc>
                <a:spcPct val="100000"/>
              </a:lnSpc>
              <a:spcBef>
                <a:spcPts val="205"/>
              </a:spcBef>
              <a:buSzPct val="75000"/>
              <a:buFont typeface="Symbol" panose="05050102010706020507"/>
              <a:buChar char=""/>
              <a:tabLst>
                <a:tab pos="876935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This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operation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faster </a:t>
            </a:r>
            <a:r>
              <a:rPr sz="2400" dirty="0">
                <a:latin typeface="Calibri" panose="020F0502020204030204"/>
                <a:cs typeface="Calibri" panose="020F0502020204030204"/>
              </a:rPr>
              <a:t>if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the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array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size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 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smaller,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but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same 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operation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will be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more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more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time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consuming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non- 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efficient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case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array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with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large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size.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367030" indent="-354965" algn="just">
              <a:lnSpc>
                <a:spcPct val="100000"/>
              </a:lnSpc>
              <a:spcBef>
                <a:spcPts val="195"/>
              </a:spcBef>
              <a:buAutoNum type="alphaUcParenR" startAt="3"/>
              <a:tabLst>
                <a:tab pos="367665" algn="l"/>
              </a:tabLst>
            </a:pPr>
            <a:r>
              <a:rPr sz="2400" b="1" i="1" spc="-10" dirty="0">
                <a:latin typeface="Calibri" panose="020F0502020204030204"/>
                <a:cs typeface="Calibri" panose="020F0502020204030204"/>
              </a:rPr>
              <a:t>Deletion</a:t>
            </a:r>
            <a:r>
              <a:rPr sz="2400" b="1" i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latin typeface="Calibri" panose="020F0502020204030204"/>
                <a:cs typeface="Calibri" panose="020F0502020204030204"/>
              </a:rPr>
              <a:t>Operation</a:t>
            </a:r>
            <a:r>
              <a:rPr sz="2400" b="1" i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latin typeface="Calibri" panose="020F0502020204030204"/>
                <a:cs typeface="Calibri" panose="020F0502020204030204"/>
              </a:rPr>
              <a:t>is</a:t>
            </a:r>
            <a:r>
              <a:rPr sz="2400" b="1" i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5" dirty="0">
                <a:latin typeface="Calibri" panose="020F0502020204030204"/>
                <a:cs typeface="Calibri" panose="020F0502020204030204"/>
              </a:rPr>
              <a:t>difficult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876935" marR="6985" lvl="1" indent="-323215" algn="just">
              <a:lnSpc>
                <a:spcPct val="100000"/>
              </a:lnSpc>
              <a:spcBef>
                <a:spcPts val="205"/>
              </a:spcBef>
              <a:buSzPct val="75000"/>
              <a:buFont typeface="Symbol" panose="05050102010706020507"/>
              <a:buChar char=""/>
              <a:tabLst>
                <a:tab pos="876935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Deletion</a:t>
            </a:r>
            <a:r>
              <a:rPr sz="2400" spc="10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  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not</a:t>
            </a:r>
            <a:r>
              <a:rPr sz="2400" spc="10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easy</a:t>
            </a:r>
            <a:r>
              <a:rPr sz="2400" spc="10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because</a:t>
            </a:r>
            <a:r>
              <a:rPr sz="2400" spc="10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  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elements</a:t>
            </a:r>
            <a:r>
              <a:rPr sz="2400" spc="10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are</a:t>
            </a:r>
            <a:r>
              <a:rPr sz="2400" spc="10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stored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contiguous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memory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location.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876935" marR="5715" lvl="1" indent="-323215" algn="just">
              <a:lnSpc>
                <a:spcPct val="100000"/>
              </a:lnSpc>
              <a:spcBef>
                <a:spcPts val="205"/>
              </a:spcBef>
              <a:buSzPct val="75000"/>
              <a:buFont typeface="Symbol" panose="05050102010706020507"/>
              <a:buChar char=""/>
              <a:tabLst>
                <a:tab pos="876935" algn="l"/>
              </a:tabLst>
            </a:pPr>
            <a:r>
              <a:rPr sz="2400" spc="-20" dirty="0">
                <a:latin typeface="Calibri" panose="020F0502020204030204"/>
                <a:cs typeface="Calibri" panose="020F0502020204030204"/>
              </a:rPr>
              <a:t>Like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insertion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operation </a:t>
            </a:r>
            <a:r>
              <a:rPr sz="2400" dirty="0">
                <a:latin typeface="Calibri" panose="020F0502020204030204"/>
                <a:cs typeface="Calibri" panose="020F0502020204030204"/>
              </a:rPr>
              <a:t>,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we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have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delete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element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from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the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array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after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deletion empty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space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will be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created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thus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we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need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fill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space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by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moving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elements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up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array.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1620" y="1285717"/>
            <a:ext cx="8440420" cy="482727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73050" indent="-260985" algn="just">
              <a:lnSpc>
                <a:spcPct val="100000"/>
              </a:lnSpc>
              <a:spcBef>
                <a:spcPts val="300"/>
              </a:spcBef>
              <a:buAutoNum type="alphaUcParenR" startAt="5"/>
              <a:tabLst>
                <a:tab pos="273685" algn="l"/>
              </a:tabLst>
            </a:pPr>
            <a:r>
              <a:rPr sz="2000" b="1" i="1" dirty="0">
                <a:latin typeface="Calibri" panose="020F0502020204030204"/>
                <a:cs typeface="Calibri" panose="020F0502020204030204"/>
              </a:rPr>
              <a:t>Bound</a:t>
            </a:r>
            <a:r>
              <a:rPr sz="2000" b="1" i="1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dirty="0">
                <a:latin typeface="Calibri" panose="020F0502020204030204"/>
                <a:cs typeface="Calibri" panose="020F0502020204030204"/>
              </a:rPr>
              <a:t>Checking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876935" marR="5080" lvl="1" indent="-323215" algn="just">
              <a:lnSpc>
                <a:spcPct val="100000"/>
              </a:lnSpc>
              <a:spcBef>
                <a:spcPts val="205"/>
              </a:spcBef>
              <a:buSzPct val="75000"/>
              <a:buFont typeface="Symbol" panose="05050102010706020507"/>
              <a:buChar char=""/>
              <a:tabLst>
                <a:tab pos="876935" algn="l"/>
              </a:tabLst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If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we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specify the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size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array </a:t>
            </a:r>
            <a:r>
              <a:rPr sz="2000" dirty="0">
                <a:latin typeface="Calibri" panose="020F0502020204030204"/>
                <a:cs typeface="Calibri" panose="020F0502020204030204"/>
              </a:rPr>
              <a:t>as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‘N’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then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we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can </a:t>
            </a:r>
            <a:r>
              <a:rPr sz="2000" dirty="0">
                <a:latin typeface="Calibri" panose="020F0502020204030204"/>
                <a:cs typeface="Calibri" panose="020F0502020204030204"/>
              </a:rPr>
              <a:t>access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elements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upto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‘N-1’ but in </a:t>
            </a:r>
            <a:r>
              <a:rPr sz="2000" dirty="0">
                <a:latin typeface="Calibri" panose="020F0502020204030204"/>
                <a:cs typeface="Calibri" panose="020F0502020204030204"/>
              </a:rPr>
              <a:t>C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if we </a:t>
            </a:r>
            <a:r>
              <a:rPr sz="2000" dirty="0">
                <a:latin typeface="Calibri" panose="020F0502020204030204"/>
                <a:cs typeface="Calibri" panose="020F0502020204030204"/>
              </a:rPr>
              <a:t>try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000" dirty="0">
                <a:latin typeface="Calibri" panose="020F0502020204030204"/>
                <a:cs typeface="Calibri" panose="020F0502020204030204"/>
              </a:rPr>
              <a:t>access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elements after ‘N-1’ i.e Nth element or </a:t>
            </a:r>
            <a:r>
              <a:rPr sz="2000" dirty="0">
                <a:latin typeface="Calibri" panose="020F0502020204030204"/>
                <a:cs typeface="Calibri" panose="020F0502020204030204"/>
              </a:rPr>
              <a:t> N+1th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element</a:t>
            </a:r>
            <a:r>
              <a:rPr sz="20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then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we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does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not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get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any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error</a:t>
            </a:r>
            <a:r>
              <a:rPr sz="20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message.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876935" lvl="1" indent="-323850" algn="just">
              <a:lnSpc>
                <a:spcPct val="100000"/>
              </a:lnSpc>
              <a:spcBef>
                <a:spcPts val="195"/>
              </a:spcBef>
              <a:buSzPct val="75000"/>
              <a:buFont typeface="Symbol" panose="05050102010706020507"/>
              <a:buChar char=""/>
              <a:tabLst>
                <a:tab pos="876935" algn="l"/>
              </a:tabLst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Process</a:t>
            </a:r>
            <a:r>
              <a:rPr sz="2000" spc="19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000" spc="2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Checking</a:t>
            </a:r>
            <a:r>
              <a:rPr sz="2000" spc="19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the</a:t>
            </a:r>
            <a:r>
              <a:rPr sz="2000" spc="19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extreme</a:t>
            </a:r>
            <a:r>
              <a:rPr sz="2000" spc="2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limit</a:t>
            </a:r>
            <a:r>
              <a:rPr sz="2000" spc="2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000" spc="2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array</a:t>
            </a:r>
            <a:r>
              <a:rPr sz="2000" spc="19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is</a:t>
            </a:r>
            <a:r>
              <a:rPr sz="2000" spc="19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called</a:t>
            </a:r>
            <a:r>
              <a:rPr sz="2000" spc="2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i="1" spc="-10" dirty="0">
                <a:latin typeface="Calibri" panose="020F0502020204030204"/>
                <a:cs typeface="Calibri" panose="020F0502020204030204"/>
              </a:rPr>
              <a:t>Bound</a:t>
            </a:r>
            <a:r>
              <a:rPr sz="2000" i="1" spc="204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i="1" spc="-5" dirty="0">
                <a:latin typeface="Calibri" panose="020F0502020204030204"/>
                <a:cs typeface="Calibri" panose="020F0502020204030204"/>
              </a:rPr>
              <a:t>checking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876935" algn="just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and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C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does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not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perform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Bound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Checking.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876935" lvl="1" indent="-323850" algn="just">
              <a:lnSpc>
                <a:spcPct val="100000"/>
              </a:lnSpc>
              <a:spcBef>
                <a:spcPts val="205"/>
              </a:spcBef>
              <a:buSzPct val="75000"/>
              <a:buFont typeface="Symbol" panose="05050102010706020507"/>
              <a:buChar char=""/>
              <a:tabLst>
                <a:tab pos="876935" algn="l"/>
              </a:tabLst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If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the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array</a:t>
            </a:r>
            <a:r>
              <a:rPr sz="20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range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exceeds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then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we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will</a:t>
            </a:r>
            <a:r>
              <a:rPr sz="20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get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garbage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value </a:t>
            </a:r>
            <a:r>
              <a:rPr sz="2000" dirty="0">
                <a:latin typeface="Calibri" panose="020F0502020204030204"/>
                <a:cs typeface="Calibri" panose="020F0502020204030204"/>
              </a:rPr>
              <a:t>as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result.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264160" indent="-251460" algn="just">
              <a:lnSpc>
                <a:spcPct val="100000"/>
              </a:lnSpc>
              <a:spcBef>
                <a:spcPts val="205"/>
              </a:spcBef>
              <a:buAutoNum type="alphaUcParenR" startAt="5"/>
              <a:tabLst>
                <a:tab pos="264160" algn="l"/>
              </a:tabLst>
            </a:pPr>
            <a:r>
              <a:rPr sz="2000" b="1" spc="-10" dirty="0">
                <a:latin typeface="Calibri" panose="020F0502020204030204"/>
                <a:cs typeface="Calibri" panose="020F0502020204030204"/>
              </a:rPr>
              <a:t>Shortage</a:t>
            </a:r>
            <a:r>
              <a:rPr sz="20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of</a:t>
            </a:r>
            <a:r>
              <a:rPr sz="20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Memory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876935" marR="5080" lvl="1" indent="-323215" algn="just">
              <a:lnSpc>
                <a:spcPct val="100000"/>
              </a:lnSpc>
              <a:spcBef>
                <a:spcPts val="195"/>
              </a:spcBef>
              <a:buSzPct val="75000"/>
              <a:buFont typeface="Symbol" panose="05050102010706020507"/>
              <a:buChar char=""/>
              <a:tabLst>
                <a:tab pos="876935" algn="l"/>
              </a:tabLst>
            </a:pPr>
            <a:r>
              <a:rPr sz="2000" spc="-15" dirty="0">
                <a:latin typeface="Calibri" panose="020F0502020204030204"/>
                <a:cs typeface="Calibri" panose="020F0502020204030204"/>
              </a:rPr>
              <a:t>Array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is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Static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data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structure. </a:t>
            </a:r>
            <a:r>
              <a:rPr sz="2000" dirty="0">
                <a:latin typeface="Calibri" panose="020F0502020204030204"/>
                <a:cs typeface="Calibri" panose="020F0502020204030204"/>
              </a:rPr>
              <a:t>Memory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can </a:t>
            </a:r>
            <a:r>
              <a:rPr sz="2000" dirty="0">
                <a:latin typeface="Calibri" panose="020F0502020204030204"/>
                <a:cs typeface="Calibri" panose="020F0502020204030204"/>
              </a:rPr>
              <a:t>be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allocated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at </a:t>
            </a:r>
            <a:r>
              <a:rPr sz="2000" i="1" spc="-5" dirty="0">
                <a:latin typeface="Calibri" panose="020F0502020204030204"/>
                <a:cs typeface="Calibri" panose="020F0502020204030204"/>
              </a:rPr>
              <a:t>compile </a:t>
            </a:r>
            <a:r>
              <a:rPr sz="2000" i="1" dirty="0">
                <a:latin typeface="Calibri" panose="020F0502020204030204"/>
                <a:cs typeface="Calibri" panose="020F0502020204030204"/>
              </a:rPr>
              <a:t>time </a:t>
            </a:r>
            <a:r>
              <a:rPr sz="2000" i="1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only Thus if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after executing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program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we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need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more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space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for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storing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additional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information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then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we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cannot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allocate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additional space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at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run </a:t>
            </a:r>
            <a:r>
              <a:rPr sz="20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time.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876935" lvl="1" indent="-323850" algn="just">
              <a:lnSpc>
                <a:spcPct val="100000"/>
              </a:lnSpc>
              <a:spcBef>
                <a:spcPts val="205"/>
              </a:spcBef>
              <a:buSzPct val="75000"/>
              <a:buFont typeface="Symbol" panose="05050102010706020507"/>
              <a:buChar char=""/>
              <a:tabLst>
                <a:tab pos="876935" algn="l"/>
              </a:tabLst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Shortage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Memory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,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if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we </a:t>
            </a:r>
            <a:r>
              <a:rPr sz="2000" dirty="0">
                <a:latin typeface="Calibri" panose="020F0502020204030204"/>
                <a:cs typeface="Calibri" panose="020F0502020204030204"/>
              </a:rPr>
              <a:t>don’t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know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the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size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of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memory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in advance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11150" indent="-299085" algn="just">
              <a:lnSpc>
                <a:spcPct val="100000"/>
              </a:lnSpc>
              <a:spcBef>
                <a:spcPts val="205"/>
              </a:spcBef>
              <a:buAutoNum type="alphaUcParenR" startAt="5"/>
              <a:tabLst>
                <a:tab pos="311785" algn="l"/>
              </a:tabLst>
            </a:pPr>
            <a:r>
              <a:rPr sz="2000" b="1" spc="-25" dirty="0">
                <a:latin typeface="Calibri" panose="020F0502020204030204"/>
                <a:cs typeface="Calibri" panose="020F0502020204030204"/>
              </a:rPr>
              <a:t>Wastage 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of</a:t>
            </a:r>
            <a:r>
              <a:rPr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Memory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876935" lvl="1" indent="-323850" algn="just">
              <a:lnSpc>
                <a:spcPct val="100000"/>
              </a:lnSpc>
              <a:spcBef>
                <a:spcPts val="190"/>
              </a:spcBef>
              <a:buSzPct val="75000"/>
              <a:buFont typeface="Symbol" panose="05050102010706020507"/>
              <a:buChar char=""/>
              <a:tabLst>
                <a:tab pos="876935" algn="l"/>
              </a:tabLst>
            </a:pPr>
            <a:r>
              <a:rPr sz="2000" spc="-20" dirty="0">
                <a:latin typeface="Calibri" panose="020F0502020204030204"/>
                <a:cs typeface="Calibri" panose="020F0502020204030204"/>
              </a:rPr>
              <a:t>Wastage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Memory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,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if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array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 of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large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size</a:t>
            </a:r>
            <a:r>
              <a:rPr sz="20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is</a:t>
            </a:r>
            <a:r>
              <a:rPr sz="20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defined</a:t>
            </a:r>
            <a:r>
              <a:rPr sz="2000" b="1" spc="-5" dirty="0">
                <a:latin typeface="Calibri" panose="020F0502020204030204"/>
                <a:cs typeface="Calibri" panose="020F0502020204030204"/>
              </a:rPr>
              <a:t>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839" y="66620"/>
            <a:ext cx="9019862" cy="66998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188573"/>
            <a:ext cx="1039684" cy="1066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1620" y="1418966"/>
            <a:ext cx="8743315" cy="4720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625475" algn="l"/>
                <a:tab pos="1768475" algn="l"/>
                <a:tab pos="4271010" algn="l"/>
                <a:tab pos="5026660" algn="l"/>
                <a:tab pos="6781800" algn="l"/>
              </a:tabLst>
            </a:pPr>
            <a:r>
              <a:rPr sz="2800" b="1" i="1" spc="-1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3.</a:t>
            </a:r>
            <a:r>
              <a:rPr sz="2800" b="1" i="1" spc="-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6</a:t>
            </a:r>
            <a:r>
              <a:rPr sz="280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b="1" i="1" spc="-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ARR</a:t>
            </a:r>
            <a:r>
              <a:rPr sz="2800" b="1" i="1" spc="-24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800" b="1" i="1" spc="-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80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b="1" i="1" spc="-4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800" b="1" i="1" spc="-1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2800" b="1" i="1" spc="-3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800" b="1" i="1" spc="-1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800" b="1" i="1" spc="-2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800" b="1" i="1" spc="-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800" b="1" i="1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800" b="1" i="1" spc="-1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TIO</a:t>
            </a:r>
            <a:r>
              <a:rPr sz="2800" b="1" i="1" spc="-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80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b="1" i="1" spc="-3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800" b="1" i="1" spc="-1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800" b="1" i="1" spc="-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80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b="1" i="1" spc="-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800" b="1" i="1" spc="-4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800" b="1" i="1" spc="-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800" b="1" i="1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800" b="1" i="1" spc="-1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-TIM</a:t>
            </a:r>
            <a:r>
              <a:rPr sz="2800" b="1" i="1" spc="-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80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b="1" i="1" spc="-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AP</a:t>
            </a:r>
            <a:r>
              <a:rPr sz="2800" b="1" i="1" spc="-2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800" b="1" i="1" spc="-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LIC</a:t>
            </a:r>
            <a:r>
              <a:rPr sz="2800" b="1" i="1" spc="-23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800" b="1" i="1" spc="-1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TION </a:t>
            </a:r>
            <a:r>
              <a:rPr sz="2800" spc="-10" dirty="0">
                <a:solidFill>
                  <a:srgbClr val="0065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1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COMMON</a:t>
            </a:r>
            <a:r>
              <a:rPr sz="2800" b="1" i="1" spc="-1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i="1" spc="-1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PROGRAMMING</a:t>
            </a:r>
            <a:r>
              <a:rPr sz="2800" b="1" i="1" spc="10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i="1" spc="-15" dirty="0">
                <a:solidFill>
                  <a:srgbClr val="006500"/>
                </a:solidFill>
                <a:latin typeface="Calibri" panose="020F0502020204030204"/>
                <a:cs typeface="Calibri" panose="020F0502020204030204"/>
              </a:rPr>
              <a:t>ERRORS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800" b="1" spc="-5" dirty="0">
                <a:latin typeface="Calibri" panose="020F0502020204030204"/>
                <a:cs typeface="Calibri" panose="020F0502020204030204"/>
              </a:rPr>
              <a:t>(i)</a:t>
            </a:r>
            <a:r>
              <a:rPr sz="2800" b="1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20" dirty="0">
                <a:latin typeface="Calibri" panose="020F0502020204030204"/>
                <a:cs typeface="Calibri" panose="020F0502020204030204"/>
              </a:rPr>
              <a:t>Constant</a:t>
            </a:r>
            <a:r>
              <a:rPr sz="2800" b="1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10" dirty="0">
                <a:latin typeface="Calibri" panose="020F0502020204030204"/>
                <a:cs typeface="Calibri" panose="020F0502020204030204"/>
              </a:rPr>
              <a:t>Expression</a:t>
            </a:r>
            <a:r>
              <a:rPr sz="2800" b="1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20" dirty="0">
                <a:latin typeface="Calibri" panose="020F0502020204030204"/>
                <a:cs typeface="Calibri" panose="020F0502020204030204"/>
              </a:rPr>
              <a:t>Require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 marR="6162675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#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i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nc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l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u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d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e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&lt;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st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d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i</a:t>
            </a:r>
            <a:r>
              <a:rPr sz="2800" spc="5" dirty="0">
                <a:latin typeface="Calibri" panose="020F0502020204030204"/>
                <a:cs typeface="Calibri" panose="020F0502020204030204"/>
              </a:rPr>
              <a:t>o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.</a:t>
            </a:r>
            <a:r>
              <a:rPr sz="2800" dirty="0">
                <a:latin typeface="Calibri" panose="020F0502020204030204"/>
                <a:cs typeface="Calibri" panose="020F0502020204030204"/>
              </a:rPr>
              <a:t>h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&gt;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void</a:t>
            </a:r>
            <a:r>
              <a:rPr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main()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Calibri" panose="020F0502020204030204"/>
                <a:cs typeface="Calibri" panose="020F0502020204030204"/>
              </a:rPr>
              <a:t>{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 marR="7545070">
              <a:lnSpc>
                <a:spcPct val="100000"/>
              </a:lnSpc>
            </a:pPr>
            <a:r>
              <a:rPr sz="2800" spc="-15" dirty="0">
                <a:latin typeface="Calibri" panose="020F0502020204030204"/>
                <a:cs typeface="Calibri" panose="020F0502020204030204"/>
              </a:rPr>
              <a:t>int</a:t>
            </a:r>
            <a:r>
              <a:rPr sz="28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i=10; </a:t>
            </a:r>
            <a:r>
              <a:rPr sz="2800" spc="-6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int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a[i];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Calibri" panose="020F0502020204030204"/>
                <a:cs typeface="Calibri" panose="020F0502020204030204"/>
              </a:rPr>
              <a:t>}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Calibri" panose="020F0502020204030204"/>
                <a:cs typeface="Calibri" panose="020F0502020204030204"/>
              </a:rPr>
              <a:t>In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this</a:t>
            </a:r>
            <a:r>
              <a:rPr sz="28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example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we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see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what’s</a:t>
            </a:r>
            <a:r>
              <a:rPr sz="2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that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error?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4131" y="1610305"/>
            <a:ext cx="8331834" cy="4796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7185" marR="8255" indent="-325120" algn="just">
              <a:lnSpc>
                <a:spcPct val="100000"/>
              </a:lnSpc>
              <a:spcBef>
                <a:spcPts val="95"/>
              </a:spcBef>
              <a:buSzPct val="45000"/>
              <a:buFont typeface="Wingdings" panose="05000000000000000000"/>
              <a:buChar char=""/>
              <a:tabLst>
                <a:tab pos="337820" algn="l"/>
              </a:tabLst>
            </a:pPr>
            <a:r>
              <a:rPr sz="2800" spc="-60" dirty="0">
                <a:latin typeface="Calibri" panose="020F0502020204030204"/>
                <a:cs typeface="Calibri" panose="020F0502020204030204"/>
              </a:rPr>
              <a:t>We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are going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to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declare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an </a:t>
            </a:r>
            <a:r>
              <a:rPr sz="2800" spc="-30" dirty="0">
                <a:latin typeface="Calibri" panose="020F0502020204030204"/>
                <a:cs typeface="Calibri" panose="020F0502020204030204"/>
              </a:rPr>
              <a:t>array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whose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size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is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equal </a:t>
            </a:r>
            <a:r>
              <a:rPr sz="2800" spc="-35" dirty="0">
                <a:latin typeface="Calibri" panose="020F0502020204030204"/>
                <a:cs typeface="Calibri" panose="020F0502020204030204"/>
              </a:rPr>
              <a:t>to </a:t>
            </a:r>
            <a:r>
              <a:rPr sz="2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the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value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variable.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337185" marR="5080" indent="-325120" algn="just">
              <a:lnSpc>
                <a:spcPct val="100000"/>
              </a:lnSpc>
              <a:spcBef>
                <a:spcPts val="210"/>
              </a:spcBef>
              <a:buSzPct val="45000"/>
              <a:buFont typeface="Wingdings" panose="05000000000000000000"/>
              <a:buChar char=""/>
              <a:tabLst>
                <a:tab pos="337820" algn="l"/>
              </a:tabLst>
            </a:pPr>
            <a:r>
              <a:rPr sz="2800" spc="-5" dirty="0">
                <a:latin typeface="Calibri" panose="020F0502020204030204"/>
                <a:cs typeface="Calibri" panose="020F0502020204030204"/>
              </a:rPr>
              <a:t>If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we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changed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the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value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variable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then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array size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is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going</a:t>
            </a:r>
            <a:r>
              <a:rPr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to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change.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337185" marR="6985" indent="-325120" algn="just">
              <a:lnSpc>
                <a:spcPct val="100000"/>
              </a:lnSpc>
              <a:spcBef>
                <a:spcPts val="205"/>
              </a:spcBef>
              <a:buSzPct val="45000"/>
              <a:buFont typeface="Wingdings" panose="05000000000000000000"/>
              <a:buChar char=""/>
              <a:tabLst>
                <a:tab pos="337820" algn="l"/>
              </a:tabLst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According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array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concept, we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are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allocating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memory </a:t>
            </a:r>
            <a:r>
              <a:rPr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for array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at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compile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time so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if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the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size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array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is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going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to</a:t>
            </a:r>
            <a:r>
              <a:rPr sz="2800" spc="32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vary</a:t>
            </a:r>
            <a:r>
              <a:rPr sz="2800" spc="3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then</a:t>
            </a:r>
            <a:r>
              <a:rPr sz="2800" spc="33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how</a:t>
            </a:r>
            <a:r>
              <a:rPr sz="2800" spc="3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it</a:t>
            </a:r>
            <a:r>
              <a:rPr sz="2800" spc="3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is</a:t>
            </a:r>
            <a:r>
              <a:rPr sz="2800" spc="33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possible</a:t>
            </a:r>
            <a:r>
              <a:rPr sz="2800" spc="32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to</a:t>
            </a:r>
            <a:r>
              <a:rPr sz="2800" spc="32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allocate</a:t>
            </a:r>
            <a:r>
              <a:rPr sz="2800" spc="32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memory</a:t>
            </a:r>
            <a:r>
              <a:rPr sz="2800" spc="32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30" dirty="0">
                <a:latin typeface="Calibri" panose="020F0502020204030204"/>
                <a:cs typeface="Calibri" panose="020F0502020204030204"/>
              </a:rPr>
              <a:t>to </a:t>
            </a:r>
            <a:r>
              <a:rPr sz="2800" spc="-6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an 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array.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337185" marR="5715" indent="-325120" algn="just">
              <a:lnSpc>
                <a:spcPct val="100000"/>
              </a:lnSpc>
              <a:spcBef>
                <a:spcPts val="195"/>
              </a:spcBef>
              <a:buSzPct val="45000"/>
              <a:buFont typeface="Wingdings" panose="05000000000000000000"/>
              <a:buChar char=""/>
              <a:tabLst>
                <a:tab pos="337820" algn="l"/>
              </a:tabLst>
            </a:pPr>
            <a:r>
              <a:rPr sz="2800" i="1" spc="-5" dirty="0">
                <a:latin typeface="Calibri" panose="020F0502020204030204"/>
                <a:cs typeface="Calibri" panose="020F0502020204030204"/>
              </a:rPr>
              <a:t>i </a:t>
            </a:r>
            <a:r>
              <a:rPr sz="2800" i="1" spc="-10" dirty="0">
                <a:latin typeface="Calibri" panose="020F0502020204030204"/>
                <a:cs typeface="Calibri" panose="020F0502020204030204"/>
              </a:rPr>
              <a:t>is initialized </a:t>
            </a:r>
            <a:r>
              <a:rPr sz="2800" i="1" spc="-25" dirty="0">
                <a:latin typeface="Calibri" panose="020F0502020204030204"/>
                <a:cs typeface="Calibri" panose="020F0502020204030204"/>
              </a:rPr>
              <a:t>to </a:t>
            </a:r>
            <a:r>
              <a:rPr sz="2800" i="1" spc="-5" dirty="0">
                <a:latin typeface="Calibri" panose="020F0502020204030204"/>
                <a:cs typeface="Calibri" panose="020F0502020204030204"/>
              </a:rPr>
              <a:t>10 and using </a:t>
            </a:r>
            <a:r>
              <a:rPr sz="2800" i="1" spc="-10" dirty="0">
                <a:latin typeface="Calibri" panose="020F0502020204030204"/>
                <a:cs typeface="Calibri" panose="020F0502020204030204"/>
              </a:rPr>
              <a:t>a[i] </a:t>
            </a:r>
            <a:r>
              <a:rPr sz="2800" i="1" spc="-5" dirty="0">
                <a:latin typeface="Calibri" panose="020F0502020204030204"/>
                <a:cs typeface="Calibri" panose="020F0502020204030204"/>
              </a:rPr>
              <a:t>does not mean </a:t>
            </a:r>
            <a:r>
              <a:rPr sz="2800" i="1" dirty="0">
                <a:latin typeface="Calibri" panose="020F0502020204030204"/>
                <a:cs typeface="Calibri" panose="020F0502020204030204"/>
              </a:rPr>
              <a:t>a[10] </a:t>
            </a:r>
            <a:r>
              <a:rPr sz="2800" i="1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i="1" spc="-10" dirty="0">
                <a:latin typeface="Calibri" panose="020F0502020204030204"/>
                <a:cs typeface="Calibri" panose="020F0502020204030204"/>
              </a:rPr>
              <a:t>because</a:t>
            </a:r>
            <a:r>
              <a:rPr sz="2800" i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i="1" spc="5" dirty="0">
                <a:latin typeface="Calibri" panose="020F0502020204030204"/>
                <a:cs typeface="Calibri" panose="020F0502020204030204"/>
              </a:rPr>
              <a:t>‘i’</a:t>
            </a:r>
            <a:r>
              <a:rPr sz="2800" i="1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i="1" spc="-10" dirty="0">
                <a:latin typeface="Calibri" panose="020F0502020204030204"/>
                <a:cs typeface="Calibri" panose="020F0502020204030204"/>
              </a:rPr>
              <a:t>is</a:t>
            </a:r>
            <a:r>
              <a:rPr sz="2800" i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i="1" spc="-15" dirty="0">
                <a:latin typeface="Calibri" panose="020F0502020204030204"/>
                <a:cs typeface="Calibri" panose="020F0502020204030204"/>
              </a:rPr>
              <a:t>Integer</a:t>
            </a:r>
            <a:r>
              <a:rPr sz="2800" i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i="1" spc="-25" dirty="0">
                <a:latin typeface="Calibri" panose="020F0502020204030204"/>
                <a:cs typeface="Calibri" panose="020F0502020204030204"/>
              </a:rPr>
              <a:t>Variable</a:t>
            </a:r>
            <a:r>
              <a:rPr sz="2800" i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i="1" spc="-5" dirty="0">
                <a:latin typeface="Calibri" panose="020F0502020204030204"/>
                <a:cs typeface="Calibri" panose="020F0502020204030204"/>
              </a:rPr>
              <a:t>whose</a:t>
            </a:r>
            <a:r>
              <a:rPr sz="2800" i="1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i="1" spc="-5" dirty="0">
                <a:latin typeface="Calibri" panose="020F0502020204030204"/>
                <a:cs typeface="Calibri" panose="020F0502020204030204"/>
              </a:rPr>
              <a:t>value</a:t>
            </a:r>
            <a:r>
              <a:rPr sz="2800" i="1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i="1" spc="-10" dirty="0">
                <a:latin typeface="Calibri" panose="020F0502020204030204"/>
                <a:cs typeface="Calibri" panose="020F0502020204030204"/>
              </a:rPr>
              <a:t>can</a:t>
            </a:r>
            <a:r>
              <a:rPr sz="2800" i="1" spc="-5" dirty="0">
                <a:latin typeface="Calibri" panose="020F0502020204030204"/>
                <a:cs typeface="Calibri" panose="020F0502020204030204"/>
              </a:rPr>
              <a:t> be </a:t>
            </a:r>
            <a:r>
              <a:rPr sz="2800" i="1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i="1" spc="-5" dirty="0">
                <a:latin typeface="Calibri" panose="020F0502020204030204"/>
                <a:cs typeface="Calibri" panose="020F0502020204030204"/>
              </a:rPr>
              <a:t>changed</a:t>
            </a:r>
            <a:r>
              <a:rPr sz="2800" i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i="1" spc="-5" dirty="0">
                <a:latin typeface="Calibri" panose="020F0502020204030204"/>
                <a:cs typeface="Calibri" panose="020F0502020204030204"/>
              </a:rPr>
              <a:t>inside</a:t>
            </a:r>
            <a:r>
              <a:rPr sz="2800" i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i="1" spc="-5" dirty="0">
                <a:latin typeface="Calibri" panose="020F0502020204030204"/>
                <a:cs typeface="Calibri" panose="020F0502020204030204"/>
              </a:rPr>
              <a:t>program.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9760" y="1610305"/>
            <a:ext cx="7213600" cy="5147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5915" indent="-323850">
              <a:lnSpc>
                <a:spcPct val="100000"/>
              </a:lnSpc>
              <a:spcBef>
                <a:spcPts val="95"/>
              </a:spcBef>
              <a:buSzPct val="75000"/>
              <a:buFont typeface="Symbol" panose="05050102010706020507"/>
              <a:buChar char=""/>
              <a:tabLst>
                <a:tab pos="335915" algn="l"/>
                <a:tab pos="336550" algn="l"/>
              </a:tabLst>
            </a:pPr>
            <a:r>
              <a:rPr sz="2800" b="1" spc="-35" dirty="0">
                <a:latin typeface="Calibri" panose="020F0502020204030204"/>
                <a:cs typeface="Calibri" panose="020F0502020204030204"/>
              </a:rPr>
              <a:t>Value</a:t>
            </a:r>
            <a:r>
              <a:rPr sz="2800" b="1" spc="-5" dirty="0">
                <a:latin typeface="Calibri" panose="020F0502020204030204"/>
                <a:cs typeface="Calibri" panose="020F0502020204030204"/>
              </a:rPr>
              <a:t> of </a:t>
            </a:r>
            <a:r>
              <a:rPr sz="2800" b="1" spc="-15" dirty="0">
                <a:latin typeface="Calibri" panose="020F0502020204030204"/>
                <a:cs typeface="Calibri" panose="020F0502020204030204"/>
              </a:rPr>
              <a:t>Const</a:t>
            </a:r>
            <a:r>
              <a:rPr sz="2800" b="1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25" dirty="0">
                <a:latin typeface="Calibri" panose="020F0502020204030204"/>
                <a:cs typeface="Calibri" panose="020F0502020204030204"/>
              </a:rPr>
              <a:t>Variable</a:t>
            </a:r>
            <a:r>
              <a:rPr sz="2800" b="1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5" dirty="0">
                <a:latin typeface="Calibri" panose="020F0502020204030204"/>
                <a:cs typeface="Calibri" panose="020F0502020204030204"/>
              </a:rPr>
              <a:t>Cannot be </a:t>
            </a:r>
            <a:r>
              <a:rPr sz="2800" b="1" spc="-10" dirty="0">
                <a:latin typeface="Calibri" panose="020F0502020204030204"/>
                <a:cs typeface="Calibri" panose="020F0502020204030204"/>
              </a:rPr>
              <a:t>changed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335915" marR="5080" indent="-323850">
              <a:lnSpc>
                <a:spcPct val="100000"/>
              </a:lnSpc>
              <a:spcBef>
                <a:spcPts val="5"/>
              </a:spcBef>
              <a:buSzPct val="75000"/>
              <a:buFont typeface="Symbol" panose="05050102010706020507"/>
              <a:buChar char=""/>
              <a:tabLst>
                <a:tab pos="335915" algn="l"/>
                <a:tab pos="336550" algn="l"/>
              </a:tabLst>
            </a:pPr>
            <a:r>
              <a:rPr sz="2800" spc="-15" dirty="0">
                <a:latin typeface="Calibri" panose="020F0502020204030204"/>
                <a:cs typeface="Calibri" panose="020F0502020204030204"/>
              </a:rPr>
              <a:t>we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know</a:t>
            </a:r>
            <a:r>
              <a:rPr sz="2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that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value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Const</a:t>
            </a:r>
            <a:r>
              <a:rPr sz="28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Variable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cannot</a:t>
            </a:r>
            <a:r>
              <a:rPr sz="2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be </a:t>
            </a:r>
            <a:r>
              <a:rPr sz="2800" spc="-6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changed</a:t>
            </a:r>
            <a:r>
              <a:rPr sz="2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once</a:t>
            </a:r>
            <a:r>
              <a:rPr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initialized</a:t>
            </a:r>
            <a:r>
              <a:rPr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so</a:t>
            </a:r>
            <a:r>
              <a:rPr sz="28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we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can</a:t>
            </a:r>
            <a:r>
              <a:rPr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write</a:t>
            </a:r>
            <a:r>
              <a:rPr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above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example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as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below</a:t>
            </a:r>
            <a:r>
              <a:rPr sz="2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–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2626360" marR="2018665" algn="ctr">
              <a:lnSpc>
                <a:spcPct val="100000"/>
              </a:lnSpc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#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cl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u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e&lt;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st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d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i</a:t>
            </a:r>
            <a:r>
              <a:rPr sz="2800" spc="5" dirty="0">
                <a:latin typeface="Calibri" panose="020F0502020204030204"/>
                <a:cs typeface="Calibri" panose="020F0502020204030204"/>
              </a:rPr>
              <a:t>o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.</a:t>
            </a:r>
            <a:r>
              <a:rPr sz="2800" spc="5" dirty="0">
                <a:latin typeface="Calibri" panose="020F0502020204030204"/>
                <a:cs typeface="Calibri" panose="020F0502020204030204"/>
              </a:rPr>
              <a:t>h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&gt;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void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 main()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600075" algn="ctr">
              <a:lnSpc>
                <a:spcPct val="100000"/>
              </a:lnSpc>
            </a:pPr>
            <a:r>
              <a:rPr sz="2800" spc="-5" dirty="0">
                <a:latin typeface="Calibri" panose="020F0502020204030204"/>
                <a:cs typeface="Calibri" panose="020F0502020204030204"/>
              </a:rPr>
              <a:t>{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2888615" marR="2282190" algn="ctr">
              <a:lnSpc>
                <a:spcPct val="100000"/>
              </a:lnSpc>
              <a:spcBef>
                <a:spcPts val="5"/>
              </a:spcBef>
            </a:pPr>
            <a:r>
              <a:rPr sz="2800" spc="-20" dirty="0">
                <a:latin typeface="Calibri" panose="020F0502020204030204"/>
                <a:cs typeface="Calibri" panose="020F0502020204030204"/>
              </a:rPr>
              <a:t>const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int</a:t>
            </a:r>
            <a:r>
              <a:rPr sz="2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i=10; </a:t>
            </a:r>
            <a:r>
              <a:rPr sz="2800" spc="-6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int</a:t>
            </a:r>
            <a:r>
              <a:rPr sz="2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a[i];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600075" algn="ctr">
              <a:lnSpc>
                <a:spcPct val="100000"/>
              </a:lnSpc>
            </a:pPr>
            <a:r>
              <a:rPr sz="2800" spc="-5" dirty="0">
                <a:latin typeface="Calibri" panose="020F0502020204030204"/>
                <a:cs typeface="Calibri" panose="020F0502020204030204"/>
              </a:rPr>
              <a:t>}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598170" algn="ctr">
              <a:lnSpc>
                <a:spcPct val="100000"/>
              </a:lnSpc>
            </a:pPr>
            <a:r>
              <a:rPr sz="2800" spc="-5" dirty="0">
                <a:latin typeface="Calibri" panose="020F0502020204030204"/>
                <a:cs typeface="Calibri" panose="020F0502020204030204"/>
              </a:rPr>
              <a:t>or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599440" algn="ctr">
              <a:lnSpc>
                <a:spcPct val="100000"/>
              </a:lnSpc>
            </a:pPr>
            <a:r>
              <a:rPr sz="2800" b="1" spc="-15" dirty="0">
                <a:latin typeface="Calibri" panose="020F0502020204030204"/>
                <a:cs typeface="Calibri" panose="020F0502020204030204"/>
              </a:rPr>
              <a:t>int</a:t>
            </a:r>
            <a:r>
              <a:rPr sz="2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5" dirty="0">
                <a:latin typeface="Calibri" panose="020F0502020204030204"/>
                <a:cs typeface="Calibri" panose="020F0502020204030204"/>
              </a:rPr>
              <a:t>a[10];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918" y="1489705"/>
            <a:ext cx="390588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(ii)</a:t>
            </a:r>
            <a:r>
              <a:rPr sz="280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Empty</a:t>
            </a:r>
            <a:r>
              <a:rPr sz="2800" spc="-1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3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Valued</a:t>
            </a:r>
            <a:r>
              <a:rPr sz="2800" spc="-2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1D</a:t>
            </a:r>
            <a:r>
              <a:rPr sz="280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2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Array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 marR="1325245">
              <a:lnSpc>
                <a:spcPct val="100000"/>
              </a:lnSpc>
            </a:pPr>
            <a:r>
              <a:rPr sz="2800"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#</a:t>
            </a:r>
            <a:r>
              <a:rPr sz="2800" b="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800"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nc</a:t>
            </a:r>
            <a:r>
              <a:rPr sz="2800" b="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800"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800" b="0" spc="-1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800" b="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800" b="0" spc="-1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&lt;</a:t>
            </a:r>
            <a:r>
              <a:rPr sz="2800" b="0" spc="-4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st</a:t>
            </a:r>
            <a:r>
              <a:rPr sz="2800"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800" b="0" spc="-1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800" b="0" spc="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800"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.</a:t>
            </a:r>
            <a:r>
              <a:rPr sz="2800" b="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h&gt; </a:t>
            </a:r>
            <a:r>
              <a:rPr sz="2800" b="0" spc="-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void </a:t>
            </a:r>
            <a:r>
              <a:rPr sz="2800" b="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main()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{</a:t>
            </a:r>
            <a:endParaRPr spc="-5" dirty="0"/>
          </a:p>
          <a:p>
            <a:pPr marL="12700">
              <a:lnSpc>
                <a:spcPct val="100000"/>
              </a:lnSpc>
            </a:pPr>
            <a:r>
              <a:rPr spc="-15" dirty="0"/>
              <a:t>int</a:t>
            </a:r>
            <a:r>
              <a:rPr spc="-30" dirty="0"/>
              <a:t> </a:t>
            </a:r>
            <a:r>
              <a:rPr spc="-5" dirty="0"/>
              <a:t>arr[];</a:t>
            </a:r>
            <a:endParaRPr spc="-5" dirty="0"/>
          </a:p>
          <a:p>
            <a:pPr marL="12700">
              <a:lnSpc>
                <a:spcPct val="100000"/>
              </a:lnSpc>
            </a:pPr>
            <a:r>
              <a:rPr spc="-5" dirty="0"/>
              <a:t>}</a:t>
            </a:r>
            <a:endParaRPr spc="-5" dirty="0"/>
          </a:p>
          <a:p>
            <a:pPr marL="12700">
              <a:lnSpc>
                <a:spcPct val="100000"/>
              </a:lnSpc>
            </a:pPr>
            <a:r>
              <a:rPr b="1" spc="-15" dirty="0">
                <a:latin typeface="Calibri" panose="020F0502020204030204"/>
                <a:cs typeface="Calibri" panose="020F0502020204030204"/>
              </a:rPr>
              <a:t>Instead</a:t>
            </a:r>
            <a:r>
              <a:rPr b="1" spc="5" dirty="0">
                <a:latin typeface="Calibri" panose="020F0502020204030204"/>
                <a:cs typeface="Calibri" panose="020F0502020204030204"/>
              </a:rPr>
              <a:t> </a:t>
            </a:r>
            <a:r>
              <a:rPr b="1" spc="-5" dirty="0">
                <a:latin typeface="Calibri" panose="020F0502020204030204"/>
                <a:cs typeface="Calibri" panose="020F0502020204030204"/>
              </a:rPr>
              <a:t>of</a:t>
            </a:r>
            <a:r>
              <a:rPr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b="1" spc="-5" dirty="0">
                <a:latin typeface="Calibri" panose="020F0502020204030204"/>
                <a:cs typeface="Calibri" panose="020F0502020204030204"/>
              </a:rPr>
              <a:t>it</a:t>
            </a:r>
            <a:r>
              <a:rPr b="1" dirty="0">
                <a:latin typeface="Calibri" panose="020F0502020204030204"/>
                <a:cs typeface="Calibri" panose="020F0502020204030204"/>
              </a:rPr>
              <a:t> </a:t>
            </a:r>
            <a:r>
              <a:rPr b="1" spc="-25" dirty="0">
                <a:latin typeface="Calibri" panose="020F0502020204030204"/>
                <a:cs typeface="Calibri" panose="020F0502020204030204"/>
              </a:rPr>
              <a:t>Write</a:t>
            </a:r>
            <a:r>
              <a:rPr b="1" spc="10" dirty="0">
                <a:latin typeface="Calibri" panose="020F0502020204030204"/>
                <a:cs typeface="Calibri" panose="020F0502020204030204"/>
              </a:rPr>
              <a:t> </a:t>
            </a:r>
            <a:r>
              <a:rPr b="1" spc="-5" dirty="0">
                <a:latin typeface="Calibri" panose="020F0502020204030204"/>
                <a:cs typeface="Calibri" panose="020F0502020204030204"/>
              </a:rPr>
              <a:t>it</a:t>
            </a:r>
            <a:r>
              <a:rPr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b="1" spc="-5" dirty="0">
                <a:latin typeface="Calibri" panose="020F0502020204030204"/>
                <a:cs typeface="Calibri" panose="020F0502020204030204"/>
              </a:rPr>
              <a:t>as</a:t>
            </a:r>
            <a:r>
              <a:rPr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b="1" spc="-5" dirty="0">
                <a:latin typeface="Calibri" panose="020F0502020204030204"/>
                <a:cs typeface="Calibri" panose="020F0502020204030204"/>
              </a:rPr>
              <a:t>–</a:t>
            </a:r>
            <a:endParaRPr b="1" spc="-5" dirty="0">
              <a:latin typeface="Calibri" panose="020F0502020204030204"/>
              <a:cs typeface="Calibri" panose="020F0502020204030204"/>
            </a:endParaRPr>
          </a:p>
          <a:p>
            <a:pPr marL="12700" marR="1062355">
              <a:lnSpc>
                <a:spcPct val="100000"/>
              </a:lnSpc>
            </a:pPr>
            <a:r>
              <a:rPr spc="-10" dirty="0"/>
              <a:t>#</a:t>
            </a:r>
            <a:r>
              <a:rPr spc="-5" dirty="0"/>
              <a:t>i</a:t>
            </a:r>
            <a:r>
              <a:rPr spc="-10" dirty="0"/>
              <a:t>nc</a:t>
            </a:r>
            <a:r>
              <a:rPr spc="-5" dirty="0"/>
              <a:t>l</a:t>
            </a:r>
            <a:r>
              <a:rPr spc="-10" dirty="0"/>
              <a:t>u</a:t>
            </a:r>
            <a:r>
              <a:rPr spc="-15" dirty="0"/>
              <a:t>d</a:t>
            </a:r>
            <a:r>
              <a:rPr spc="-5" dirty="0"/>
              <a:t>e</a:t>
            </a:r>
            <a:r>
              <a:rPr spc="-15" dirty="0"/>
              <a:t>&lt;</a:t>
            </a:r>
            <a:r>
              <a:rPr spc="-40" dirty="0"/>
              <a:t>st</a:t>
            </a:r>
            <a:r>
              <a:rPr spc="-10" dirty="0"/>
              <a:t>d</a:t>
            </a:r>
            <a:r>
              <a:rPr spc="-15" dirty="0"/>
              <a:t>i</a:t>
            </a:r>
            <a:r>
              <a:rPr spc="5" dirty="0"/>
              <a:t>o</a:t>
            </a:r>
            <a:r>
              <a:rPr spc="-10" dirty="0"/>
              <a:t>.</a:t>
            </a:r>
            <a:r>
              <a:rPr spc="-5" dirty="0"/>
              <a:t>h&gt; </a:t>
            </a:r>
            <a:r>
              <a:rPr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10" dirty="0"/>
              <a:t>void </a:t>
            </a:r>
            <a:r>
              <a:rPr spc="-5" dirty="0"/>
              <a:t>main()</a:t>
            </a:r>
            <a:endParaRPr spc="-5" dirty="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{</a:t>
            </a:r>
            <a:endParaRPr spc="-5" dirty="0"/>
          </a:p>
          <a:p>
            <a:pPr marL="12700">
              <a:lnSpc>
                <a:spcPct val="100000"/>
              </a:lnSpc>
            </a:pPr>
            <a:r>
              <a:rPr spc="-15" dirty="0"/>
              <a:t>int</a:t>
            </a:r>
            <a:r>
              <a:rPr spc="-5" dirty="0"/>
              <a:t> a[] =</a:t>
            </a:r>
            <a:r>
              <a:rPr spc="-15" dirty="0"/>
              <a:t> </a:t>
            </a:r>
            <a:r>
              <a:rPr spc="-10" dirty="0"/>
              <a:t>{1,1};</a:t>
            </a:r>
            <a:endParaRPr spc="-10" dirty="0"/>
          </a:p>
          <a:p>
            <a:pPr marL="12700">
              <a:lnSpc>
                <a:spcPct val="100000"/>
              </a:lnSpc>
            </a:pPr>
            <a:r>
              <a:rPr spc="-5" dirty="0"/>
              <a:t>}</a:t>
            </a:r>
            <a:endParaRPr spc="-5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810248" y="1405117"/>
          <a:ext cx="4093845" cy="1402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804"/>
                <a:gridCol w="3441700"/>
                <a:gridCol w="433070"/>
              </a:tblGrid>
              <a:tr h="33529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050" dirty="0">
                          <a:latin typeface="Microsoft Sans Serif" panose="020B0604020202020204"/>
                          <a:cs typeface="Microsoft Sans Serif" panose="020B0604020202020204"/>
                        </a:rPr>
                        <a:t>•</a:t>
                      </a:r>
                      <a:endParaRPr sz="1050">
                        <a:latin typeface="Microsoft Sans Serif" panose="020B0604020202020204"/>
                        <a:cs typeface="Microsoft Sans Serif" panose="020B0604020202020204"/>
                      </a:endParaRPr>
                    </a:p>
                  </a:txBody>
                  <a:tcPr marL="0" marR="0" marT="95250" marB="0"/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ts val="2280"/>
                        </a:lnSpc>
                        <a:tabLst>
                          <a:tab pos="1452880" algn="l"/>
                          <a:tab pos="2128520" algn="l"/>
                        </a:tabLst>
                      </a:pPr>
                      <a:r>
                        <a:rPr sz="2400" spc="-5" dirty="0">
                          <a:latin typeface="Calibri" panose="020F0502020204030204"/>
                          <a:cs typeface="Calibri" panose="020F0502020204030204"/>
                        </a:rPr>
                        <a:t>Consider</a:t>
                      </a:r>
                      <a:r>
                        <a:rPr sz="2400" spc="-5" dirty="0">
                          <a:latin typeface="Times New Roman" panose="02020603050405020304"/>
                          <a:cs typeface="Times New Roman" panose="02020603050405020304"/>
                        </a:rPr>
                        <a:t>	</a:t>
                      </a:r>
                      <a:r>
                        <a:rPr sz="2400" spc="-5" dirty="0">
                          <a:latin typeface="Calibri" panose="020F0502020204030204"/>
                          <a:cs typeface="Calibri" panose="020F0502020204030204"/>
                        </a:rPr>
                        <a:t>this</a:t>
                      </a:r>
                      <a:r>
                        <a:rPr sz="2400" spc="-5" dirty="0">
                          <a:latin typeface="Times New Roman" panose="02020603050405020304"/>
                          <a:cs typeface="Times New Roman" panose="02020603050405020304"/>
                        </a:rPr>
                        <a:t>	</a:t>
                      </a:r>
                      <a:r>
                        <a:rPr sz="2400" spc="-15" dirty="0">
                          <a:latin typeface="Calibri" panose="020F0502020204030204"/>
                          <a:cs typeface="Calibri" panose="020F0502020204030204"/>
                        </a:rPr>
                        <a:t>example,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8575" algn="r">
                        <a:lnSpc>
                          <a:spcPts val="2280"/>
                        </a:lnSpc>
                      </a:pPr>
                      <a:r>
                        <a:rPr sz="2400" spc="-25" dirty="0">
                          <a:latin typeface="Calibri" panose="020F0502020204030204"/>
                          <a:cs typeface="Calibri" panose="020F0502020204030204"/>
                        </a:rPr>
                        <a:t>we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</a:tr>
              <a:tr h="36603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ts val="2520"/>
                        </a:lnSpc>
                        <a:tabLst>
                          <a:tab pos="752475" algn="l"/>
                          <a:tab pos="1355090" algn="l"/>
                          <a:tab pos="1951355" algn="l"/>
                          <a:tab pos="2927350" algn="l"/>
                        </a:tabLst>
                      </a:pPr>
                      <a:r>
                        <a:rPr sz="2400" spc="-10" dirty="0">
                          <a:latin typeface="Calibri" panose="020F0502020204030204"/>
                          <a:cs typeface="Calibri" panose="020F0502020204030204"/>
                        </a:rPr>
                        <a:t>can</a:t>
                      </a:r>
                      <a:r>
                        <a:rPr sz="2400" spc="-10" dirty="0">
                          <a:latin typeface="Times New Roman" panose="02020603050405020304"/>
                          <a:cs typeface="Times New Roman" panose="02020603050405020304"/>
                        </a:rPr>
                        <a:t>	</a:t>
                      </a:r>
                      <a:r>
                        <a:rPr sz="2400" spc="-5" dirty="0">
                          <a:latin typeface="Calibri" panose="020F0502020204030204"/>
                          <a:cs typeface="Calibri" panose="020F0502020204030204"/>
                        </a:rPr>
                        <a:t>see</a:t>
                      </a:r>
                      <a:r>
                        <a:rPr sz="2400" spc="-5" dirty="0">
                          <a:latin typeface="Times New Roman" panose="02020603050405020304"/>
                          <a:cs typeface="Times New Roman" panose="02020603050405020304"/>
                        </a:rPr>
                        <a:t>	</a:t>
                      </a: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2400" dirty="0">
                          <a:latin typeface="Times New Roman" panose="02020603050405020304"/>
                          <a:cs typeface="Times New Roman" panose="02020603050405020304"/>
                        </a:rPr>
                        <a:t>	</a:t>
                      </a:r>
                      <a:r>
                        <a:rPr sz="2400" spc="-5" dirty="0">
                          <a:latin typeface="Calibri" panose="020F0502020204030204"/>
                          <a:cs typeface="Calibri" panose="020F0502020204030204"/>
                        </a:rPr>
                        <a:t>empty</a:t>
                      </a:r>
                      <a:r>
                        <a:rPr sz="2400" spc="-5" dirty="0">
                          <a:latin typeface="Times New Roman" panose="02020603050405020304"/>
                          <a:cs typeface="Times New Roman" panose="02020603050405020304"/>
                        </a:rPr>
                        <a:t>	</a:t>
                      </a:r>
                      <a:r>
                        <a:rPr sz="2400" spc="-5" dirty="0">
                          <a:latin typeface="Calibri" panose="020F0502020204030204"/>
                          <a:cs typeface="Calibri" panose="020F0502020204030204"/>
                        </a:rPr>
                        <a:t>pair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520"/>
                        </a:lnSpc>
                      </a:pPr>
                      <a:r>
                        <a:rPr sz="2400" spc="-5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</a:tr>
              <a:tr h="3657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ts val="2520"/>
                        </a:lnSpc>
                        <a:tabLst>
                          <a:tab pos="1192530" algn="l"/>
                          <a:tab pos="2440940" algn="l"/>
                        </a:tabLst>
                      </a:pPr>
                      <a:r>
                        <a:rPr sz="2400" spc="-10" dirty="0">
                          <a:latin typeface="Calibri" panose="020F0502020204030204"/>
                          <a:cs typeface="Calibri" panose="020F0502020204030204"/>
                        </a:rPr>
                        <a:t>square</a:t>
                      </a:r>
                      <a:r>
                        <a:rPr sz="2400" spc="-10" dirty="0">
                          <a:latin typeface="Times New Roman" panose="02020603050405020304"/>
                          <a:cs typeface="Times New Roman" panose="02020603050405020304"/>
                        </a:rPr>
                        <a:t>	</a:t>
                      </a:r>
                      <a:r>
                        <a:rPr sz="2400" spc="-20" dirty="0">
                          <a:latin typeface="Calibri" panose="020F0502020204030204"/>
                          <a:cs typeface="Calibri" panose="020F0502020204030204"/>
                        </a:rPr>
                        <a:t>brackets</a:t>
                      </a:r>
                      <a:r>
                        <a:rPr sz="2400" spc="-20" dirty="0">
                          <a:latin typeface="Times New Roman" panose="02020603050405020304"/>
                          <a:cs typeface="Times New Roman" panose="02020603050405020304"/>
                        </a:rPr>
                        <a:t>	</a:t>
                      </a: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means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8575" algn="r">
                        <a:lnSpc>
                          <a:spcPts val="2520"/>
                        </a:lnSpc>
                      </a:pPr>
                      <a:r>
                        <a:rPr sz="2400" spc="-25" dirty="0">
                          <a:latin typeface="Calibri" panose="020F0502020204030204"/>
                          <a:cs typeface="Calibri" panose="020F0502020204030204"/>
                        </a:rPr>
                        <a:t>we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ts val="2520"/>
                        </a:lnSpc>
                        <a:tabLst>
                          <a:tab pos="1229360" algn="l"/>
                          <a:tab pos="2500630" algn="l"/>
                          <a:tab pos="3117850" algn="l"/>
                        </a:tabLst>
                      </a:pPr>
                      <a:r>
                        <a:rPr sz="2400" spc="-10" dirty="0">
                          <a:latin typeface="Calibri" panose="020F0502020204030204"/>
                          <a:cs typeface="Calibri" panose="020F0502020204030204"/>
                        </a:rPr>
                        <a:t>haven’t	</a:t>
                      </a: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specified</a:t>
                      </a:r>
                      <a:r>
                        <a:rPr sz="2400" dirty="0">
                          <a:latin typeface="Times New Roman" panose="02020603050405020304"/>
                          <a:cs typeface="Times New Roman" panose="02020603050405020304"/>
                        </a:rPr>
                        <a:t>	</a:t>
                      </a:r>
                      <a:r>
                        <a:rPr sz="2400" spc="-20" dirty="0">
                          <a:latin typeface="Calibri" panose="020F0502020204030204"/>
                          <a:cs typeface="Calibri" panose="020F0502020204030204"/>
                        </a:rPr>
                        <a:t>size</a:t>
                      </a:r>
                      <a:r>
                        <a:rPr sz="2400" spc="-20" dirty="0">
                          <a:latin typeface="Times New Roman" panose="02020603050405020304"/>
                          <a:cs typeface="Times New Roman" panose="02020603050405020304"/>
                        </a:rPr>
                        <a:t>	</a:t>
                      </a:r>
                      <a:r>
                        <a:rPr sz="2400" spc="-5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520"/>
                        </a:lnSpc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an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153905" y="3145345"/>
            <a:ext cx="13836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3440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ar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ra</a:t>
            </a:r>
            <a:r>
              <a:rPr sz="2400" dirty="0">
                <a:latin typeface="Calibri" panose="020F0502020204030204"/>
                <a:cs typeface="Calibri" panose="020F0502020204030204"/>
              </a:rPr>
              <a:t>y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‘</a:t>
            </a:r>
            <a:r>
              <a:rPr sz="2400" dirty="0">
                <a:latin typeface="Calibri" panose="020F0502020204030204"/>
                <a:cs typeface="Calibri" panose="020F0502020204030204"/>
              </a:rPr>
              <a:t>ar</a:t>
            </a:r>
            <a:r>
              <a:rPr sz="2400" spc="110" dirty="0">
                <a:latin typeface="Calibri" panose="020F0502020204030204"/>
                <a:cs typeface="Calibri" panose="020F0502020204030204"/>
              </a:rPr>
              <a:t>r</a:t>
            </a:r>
            <a:r>
              <a:rPr sz="2400" dirty="0">
                <a:latin typeface="Calibri" panose="020F0502020204030204"/>
                <a:cs typeface="Calibri" panose="020F0502020204030204"/>
              </a:rPr>
              <a:t>’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53905" y="2779508"/>
            <a:ext cx="37312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  <a:tabLst>
                <a:tab pos="569595" algn="l"/>
                <a:tab pos="1515110" algn="l"/>
                <a:tab pos="1979930" algn="l"/>
                <a:tab pos="2659380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1D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Array.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In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this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example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6985" algn="r">
              <a:lnSpc>
                <a:spcPct val="100000"/>
              </a:lnSpc>
              <a:tabLst>
                <a:tab pos="397510" algn="l"/>
                <a:tab pos="187134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is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undefined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or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20835" y="3511410"/>
            <a:ext cx="4164329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577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latin typeface="Calibri" panose="020F0502020204030204"/>
                <a:cs typeface="Calibri" panose="020F0502020204030204"/>
              </a:rPr>
              <a:t>empty.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45770" marR="6985" indent="-325120">
              <a:lnSpc>
                <a:spcPct val="100000"/>
              </a:lnSpc>
              <a:buSzPct val="44000"/>
              <a:buFont typeface="Microsoft Sans Serif" panose="020B0604020202020204"/>
              <a:buChar char="•"/>
              <a:tabLst>
                <a:tab pos="444500" algn="l"/>
                <a:tab pos="445770" algn="l"/>
                <a:tab pos="1088390" algn="l"/>
                <a:tab pos="1507490" algn="l"/>
                <a:tab pos="2014220" algn="l"/>
                <a:tab pos="2841625" algn="l"/>
                <a:tab pos="3836670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2400" dirty="0">
                <a:latin typeface="Calibri" panose="020F0502020204030204"/>
                <a:cs typeface="Calibri" panose="020F0502020204030204"/>
              </a:rPr>
              <a:t>i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z</a:t>
            </a:r>
            <a:r>
              <a:rPr sz="2400" dirty="0">
                <a:latin typeface="Calibri" panose="020F0502020204030204"/>
                <a:cs typeface="Calibri" panose="020F0502020204030204"/>
              </a:rPr>
              <a:t>e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400" dirty="0">
                <a:latin typeface="Calibri" panose="020F0502020204030204"/>
                <a:cs typeface="Calibri" panose="020F0502020204030204"/>
              </a:rPr>
              <a:t>f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1</a:t>
            </a:r>
            <a:r>
              <a:rPr sz="2400" dirty="0">
                <a:latin typeface="Calibri" panose="020F0502020204030204"/>
                <a:cs typeface="Calibri" panose="020F0502020204030204"/>
              </a:rPr>
              <a:t>D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r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dirty="0">
                <a:latin typeface="Calibri" panose="020F0502020204030204"/>
                <a:cs typeface="Calibri" panose="020F0502020204030204"/>
              </a:rPr>
              <a:t>y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shou</a:t>
            </a:r>
            <a:r>
              <a:rPr sz="2400" dirty="0">
                <a:latin typeface="Calibri" panose="020F0502020204030204"/>
                <a:cs typeface="Calibri" panose="020F0502020204030204"/>
              </a:rPr>
              <a:t>ld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be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Specified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as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Constant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Value.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927100" marR="1028700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#include&lt;stdio.h&gt;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void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main()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927100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  <a:tabLst>
                <a:tab pos="1438910" algn="l"/>
                <a:tab pos="1954530" algn="l"/>
                <a:tab pos="2286635" algn="l"/>
                <a:tab pos="2975610" algn="l"/>
                <a:tab pos="365569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i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400" dirty="0">
                <a:latin typeface="Calibri" panose="020F0502020204030204"/>
                <a:cs typeface="Calibri" panose="020F0502020204030204"/>
              </a:rPr>
              <a:t>t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a[]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=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}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;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/</a:t>
            </a:r>
            <a:r>
              <a:rPr sz="2400" dirty="0">
                <a:latin typeface="Calibri" panose="020F0502020204030204"/>
                <a:cs typeface="Calibri" panose="020F0502020204030204"/>
              </a:rPr>
              <a:t>/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2400" dirty="0">
                <a:latin typeface="Calibri" panose="020F0502020204030204"/>
                <a:cs typeface="Calibri" panose="020F0502020204030204"/>
              </a:rPr>
              <a:t>is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al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400" dirty="0">
                <a:latin typeface="Calibri" panose="020F0502020204030204"/>
                <a:cs typeface="Calibri" panose="020F0502020204030204"/>
              </a:rPr>
              <a:t>o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2256155" algn="ctr">
              <a:lnSpc>
                <a:spcPct val="100000"/>
              </a:lnSpc>
              <a:tabLst>
                <a:tab pos="876300" algn="l"/>
              </a:tabLst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Cause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an</a:t>
            </a:r>
            <a:r>
              <a:rPr sz="24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Error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2205990" algn="ctr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1616" y="1339337"/>
            <a:ext cx="4417060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671195" algn="l"/>
                <a:tab pos="1262380" algn="l"/>
                <a:tab pos="2190750" algn="l"/>
                <a:tab pos="3004820" algn="l"/>
                <a:tab pos="3577590" algn="l"/>
              </a:tabLst>
            </a:pPr>
            <a:r>
              <a:rPr sz="2400" b="1" dirty="0">
                <a:latin typeface="Calibri" panose="020F0502020204030204"/>
                <a:cs typeface="Calibri" panose="020F0502020204030204"/>
              </a:rPr>
              <a:t>(</a:t>
            </a:r>
            <a:r>
              <a:rPr sz="2400" b="1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400" b="1" dirty="0">
                <a:latin typeface="Calibri" panose="020F0502020204030204"/>
                <a:cs typeface="Calibri" panose="020F0502020204030204"/>
              </a:rPr>
              <a:t>ii)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b="1" spc="-5" dirty="0">
                <a:latin typeface="Calibri" panose="020F0502020204030204"/>
                <a:cs typeface="Calibri" panose="020F0502020204030204"/>
              </a:rPr>
              <a:t>1</a:t>
            </a:r>
            <a:r>
              <a:rPr sz="2400" b="1" dirty="0">
                <a:latin typeface="Calibri" panose="020F0502020204030204"/>
                <a:cs typeface="Calibri" panose="020F0502020204030204"/>
              </a:rPr>
              <a:t>D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b="1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b="1" spc="-15" dirty="0">
                <a:latin typeface="Calibri" panose="020F0502020204030204"/>
                <a:cs typeface="Calibri" panose="020F0502020204030204"/>
              </a:rPr>
              <a:t>r</a:t>
            </a:r>
            <a:r>
              <a:rPr sz="2400" b="1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400" b="1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b="1" dirty="0">
                <a:latin typeface="Calibri" panose="020F0502020204030204"/>
                <a:cs typeface="Calibri" panose="020F0502020204030204"/>
              </a:rPr>
              <a:t>y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b="1" spc="-5" dirty="0">
                <a:latin typeface="Calibri" panose="020F0502020204030204"/>
                <a:cs typeface="Calibri" panose="020F0502020204030204"/>
              </a:rPr>
              <a:t>wi</a:t>
            </a:r>
            <a:r>
              <a:rPr sz="2400" b="1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400" b="1" dirty="0">
                <a:latin typeface="Calibri" panose="020F0502020204030204"/>
                <a:cs typeface="Calibri" panose="020F0502020204030204"/>
              </a:rPr>
              <a:t>h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b="1" spc="-5" dirty="0">
                <a:latin typeface="Calibri" panose="020F0502020204030204"/>
                <a:cs typeface="Calibri" panose="020F0502020204030204"/>
              </a:rPr>
              <a:t>n</a:t>
            </a:r>
            <a:r>
              <a:rPr sz="2400" b="1" dirty="0">
                <a:latin typeface="Calibri" panose="020F0502020204030204"/>
                <a:cs typeface="Calibri" panose="020F0502020204030204"/>
              </a:rPr>
              <a:t>o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b="1" dirty="0">
                <a:latin typeface="Calibri" panose="020F0502020204030204"/>
                <a:cs typeface="Calibri" panose="020F0502020204030204"/>
              </a:rPr>
              <a:t>Bound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5" dirty="0">
                <a:latin typeface="Calibri" panose="020F0502020204030204"/>
                <a:cs typeface="Calibri" panose="020F0502020204030204"/>
              </a:rPr>
              <a:t>Checking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 marR="2196465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#include&lt;stdio.h&gt; </a:t>
            </a:r>
            <a:r>
              <a:rPr sz="2400" spc="-5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void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main()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{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int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a[5];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printf("%d",a[7]);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}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Here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Array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size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specified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5.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99838" y="1187313"/>
            <a:ext cx="15367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7185" marR="5080" indent="-325120">
              <a:lnSpc>
                <a:spcPct val="150000"/>
              </a:lnSpc>
              <a:spcBef>
                <a:spcPts val="100"/>
              </a:spcBef>
              <a:buSzPct val="44000"/>
              <a:buFont typeface="Wingdings" panose="05000000000000000000"/>
              <a:buChar char=""/>
              <a:tabLst>
                <a:tab pos="337185" algn="l"/>
                <a:tab pos="337820" algn="l"/>
                <a:tab pos="996950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So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we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F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400" dirty="0">
                <a:latin typeface="Calibri" panose="020F0502020204030204"/>
                <a:cs typeface="Calibri" panose="020F0502020204030204"/>
              </a:rPr>
              <a:t>ll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o</a:t>
            </a:r>
            <a:r>
              <a:rPr sz="2400" dirty="0">
                <a:latin typeface="Calibri" panose="020F0502020204030204"/>
                <a:cs typeface="Calibri" panose="020F0502020204030204"/>
              </a:rPr>
              <a:t>wi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ng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11541" y="1187313"/>
            <a:ext cx="6940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" marR="5080" indent="-8255">
              <a:lnSpc>
                <a:spcPct val="150000"/>
              </a:lnSpc>
              <a:spcBef>
                <a:spcPts val="100"/>
              </a:spcBef>
            </a:pPr>
            <a:r>
              <a:rPr sz="2400" spc="-20" dirty="0">
                <a:latin typeface="Calibri" panose="020F0502020204030204"/>
                <a:cs typeface="Calibri" panose="020F0502020204030204"/>
              </a:rPr>
              <a:t>have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Ar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dirty="0">
                <a:latin typeface="Calibri" panose="020F0502020204030204"/>
                <a:cs typeface="Calibri" panose="020F0502020204030204"/>
              </a:rPr>
              <a:t>y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92710" y="1187313"/>
            <a:ext cx="15214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indent="65405">
              <a:lnSpc>
                <a:spcPct val="150000"/>
              </a:lnSpc>
              <a:spcBef>
                <a:spcPts val="100"/>
              </a:spcBef>
              <a:tabLst>
                <a:tab pos="1261110" algn="l"/>
                <a:tab pos="1367790" algn="l"/>
              </a:tabLst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dirty="0">
                <a:latin typeface="Calibri" panose="020F0502020204030204"/>
                <a:cs typeface="Calibri" panose="020F0502020204030204"/>
              </a:rPr>
              <a:t>c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c</a:t>
            </a:r>
            <a:r>
              <a:rPr sz="2400" dirty="0">
                <a:latin typeface="Calibri" panose="020F0502020204030204"/>
                <a:cs typeface="Calibri" panose="020F0502020204030204"/>
              </a:rPr>
              <a:t>e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400" dirty="0">
                <a:latin typeface="Calibri" panose="020F0502020204030204"/>
                <a:cs typeface="Calibri" panose="020F0502020204030204"/>
              </a:rPr>
              <a:t>s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to 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E</a:t>
            </a:r>
            <a:r>
              <a:rPr sz="2400" dirty="0">
                <a:latin typeface="Calibri" panose="020F0502020204030204"/>
                <a:cs typeface="Calibri" panose="020F0502020204030204"/>
              </a:rPr>
              <a:t>le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m</a:t>
            </a:r>
            <a:r>
              <a:rPr sz="2400" dirty="0">
                <a:latin typeface="Calibri" panose="020F0502020204030204"/>
                <a:cs typeface="Calibri" panose="020F0502020204030204"/>
              </a:rPr>
              <a:t>e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400" dirty="0">
                <a:latin typeface="Calibri" panose="020F0502020204030204"/>
                <a:cs typeface="Calibri" panose="020F0502020204030204"/>
              </a:rPr>
              <a:t>ts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	</a:t>
            </a:r>
            <a:r>
              <a:rPr sz="2400" dirty="0">
                <a:latin typeface="Calibri" panose="020F0502020204030204"/>
                <a:cs typeface="Calibri" panose="020F0502020204030204"/>
              </a:rPr>
              <a:t>–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99846" y="2284428"/>
            <a:ext cx="4123690" cy="112331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37185">
              <a:lnSpc>
                <a:spcPct val="100000"/>
              </a:lnSpc>
              <a:spcBef>
                <a:spcPts val="1540"/>
              </a:spcBef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a[0],a[1],a[2],a[3]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a[4].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337185" indent="-325120">
              <a:lnSpc>
                <a:spcPct val="100000"/>
              </a:lnSpc>
              <a:spcBef>
                <a:spcPts val="1440"/>
              </a:spcBef>
              <a:buSzPct val="44000"/>
              <a:buFont typeface="Wingdings" panose="05000000000000000000"/>
              <a:buChar char=""/>
              <a:tabLst>
                <a:tab pos="337185" algn="l"/>
                <a:tab pos="337820" algn="l"/>
                <a:tab pos="1055370" algn="l"/>
                <a:tab pos="2512060" algn="l"/>
                <a:tab pos="328739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But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acces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400" dirty="0">
                <a:latin typeface="Calibri" panose="020F0502020204030204"/>
                <a:cs typeface="Calibri" panose="020F0502020204030204"/>
              </a:rPr>
              <a:t>i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n</a:t>
            </a:r>
            <a:r>
              <a:rPr sz="2400" dirty="0">
                <a:latin typeface="Calibri" panose="020F0502020204030204"/>
                <a:cs typeface="Calibri" panose="020F0502020204030204"/>
              </a:rPr>
              <a:t>g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[5</a:t>
            </a:r>
            <a:r>
              <a:rPr sz="2400" dirty="0">
                <a:latin typeface="Calibri" panose="020F0502020204030204"/>
                <a:cs typeface="Calibri" panose="020F0502020204030204"/>
              </a:rPr>
              <a:t>]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2400" dirty="0">
                <a:latin typeface="Calibri" panose="020F0502020204030204"/>
                <a:cs typeface="Calibri" panose="020F0502020204030204"/>
              </a:rPr>
              <a:t>auses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24705" y="3381755"/>
            <a:ext cx="3799204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400" spc="-5" dirty="0">
                <a:latin typeface="Calibri" panose="020F0502020204030204"/>
                <a:cs typeface="Calibri" panose="020F0502020204030204"/>
              </a:rPr>
              <a:t>Garbage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Value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be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used </a:t>
            </a:r>
            <a:r>
              <a:rPr sz="24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because </a:t>
            </a:r>
            <a:r>
              <a:rPr sz="2400" dirty="0">
                <a:latin typeface="Calibri" panose="020F0502020204030204"/>
                <a:cs typeface="Calibri" panose="020F0502020204030204"/>
              </a:rPr>
              <a:t>C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Does not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performs </a:t>
            </a:r>
            <a:r>
              <a:rPr sz="24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Array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Bound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Check.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0096" y="5137529"/>
            <a:ext cx="8570595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If</a:t>
            </a:r>
            <a:r>
              <a:rPr sz="20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maximum</a:t>
            </a:r>
            <a:r>
              <a:rPr sz="2000" spc="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size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array</a:t>
            </a:r>
            <a:r>
              <a:rPr sz="20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00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“MAX”</a:t>
            </a:r>
            <a:r>
              <a:rPr sz="200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then</a:t>
            </a:r>
            <a:r>
              <a:rPr sz="200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we</a:t>
            </a:r>
            <a:r>
              <a:rPr sz="200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can</a:t>
            </a:r>
            <a:r>
              <a:rPr sz="20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access</a:t>
            </a:r>
            <a:r>
              <a:rPr sz="200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following</a:t>
            </a:r>
            <a:r>
              <a:rPr sz="200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elements</a:t>
            </a:r>
            <a:r>
              <a:rPr sz="2000" spc="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an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00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array</a:t>
            </a:r>
            <a:r>
              <a:rPr sz="200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–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Elements 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accessible</a:t>
            </a:r>
            <a:r>
              <a:rPr sz="200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for Array Size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"MAX"</a:t>
            </a:r>
            <a:r>
              <a:rPr sz="200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200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arr[0]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2350770">
              <a:lnSpc>
                <a:spcPct val="100000"/>
              </a:lnSpc>
            </a:pP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=.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2350770">
              <a:lnSpc>
                <a:spcPct val="100000"/>
              </a:lnSpc>
            </a:pP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200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arr[MAX-1]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1616" y="1309718"/>
            <a:ext cx="8710295" cy="407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129020" algn="just">
              <a:lnSpc>
                <a:spcPct val="106000"/>
              </a:lnSpc>
              <a:spcBef>
                <a:spcPts val="100"/>
              </a:spcBef>
            </a:pPr>
            <a:r>
              <a:rPr sz="2800" b="1" spc="-5" dirty="0">
                <a:latin typeface="Calibri" panose="020F0502020204030204"/>
                <a:cs typeface="Calibri" panose="020F0502020204030204"/>
              </a:rPr>
              <a:t>4.</a:t>
            </a:r>
            <a:r>
              <a:rPr sz="2800" b="1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10" dirty="0">
                <a:latin typeface="Calibri" panose="020F0502020204030204"/>
                <a:cs typeface="Calibri" panose="020F0502020204030204"/>
              </a:rPr>
              <a:t>Case Sensitive </a:t>
            </a:r>
            <a:r>
              <a:rPr sz="2800" b="1" spc="-6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#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i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nc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l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u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d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e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&lt;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st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d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i</a:t>
            </a:r>
            <a:r>
              <a:rPr sz="2800" spc="5" dirty="0">
                <a:latin typeface="Calibri" panose="020F0502020204030204"/>
                <a:cs typeface="Calibri" panose="020F0502020204030204"/>
              </a:rPr>
              <a:t>o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.</a:t>
            </a:r>
            <a:r>
              <a:rPr sz="2800" dirty="0">
                <a:latin typeface="Calibri" panose="020F0502020204030204"/>
                <a:cs typeface="Calibri" panose="020F0502020204030204"/>
              </a:rPr>
              <a:t>h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&gt;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void</a:t>
            </a:r>
            <a:r>
              <a:rPr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main()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2800" spc="-5" dirty="0">
                <a:latin typeface="Calibri" panose="020F0502020204030204"/>
                <a:cs typeface="Calibri" panose="020F0502020204030204"/>
              </a:rPr>
              <a:t>{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 marR="6158230">
              <a:lnSpc>
                <a:spcPct val="106000"/>
              </a:lnSpc>
            </a:pPr>
            <a:r>
              <a:rPr sz="2800" spc="-15" dirty="0">
                <a:latin typeface="Calibri" panose="020F0502020204030204"/>
                <a:cs typeface="Calibri" panose="020F0502020204030204"/>
              </a:rPr>
              <a:t>int</a:t>
            </a:r>
            <a:r>
              <a:rPr sz="2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a[5]; </a:t>
            </a:r>
            <a:r>
              <a:rPr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pr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i</a:t>
            </a:r>
            <a:r>
              <a:rPr sz="2800" spc="-35" dirty="0">
                <a:latin typeface="Calibri" panose="020F0502020204030204"/>
                <a:cs typeface="Calibri" panose="020F0502020204030204"/>
              </a:rPr>
              <a:t>n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tf(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"</a:t>
            </a:r>
            <a:r>
              <a:rPr sz="2800" dirty="0">
                <a:latin typeface="Calibri" panose="020F0502020204030204"/>
                <a:cs typeface="Calibri" panose="020F0502020204030204"/>
              </a:rPr>
              <a:t>%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d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"</a:t>
            </a:r>
            <a:r>
              <a:rPr sz="2800" spc="15" dirty="0">
                <a:latin typeface="Calibri" panose="020F0502020204030204"/>
                <a:cs typeface="Calibri" panose="020F0502020204030204"/>
              </a:rPr>
              <a:t>,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[</a:t>
            </a:r>
            <a:r>
              <a:rPr sz="2800" spc="5" dirty="0">
                <a:latin typeface="Calibri" panose="020F0502020204030204"/>
                <a:cs typeface="Calibri" panose="020F0502020204030204"/>
              </a:rPr>
              <a:t>2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]</a:t>
            </a:r>
            <a:r>
              <a:rPr sz="2800" dirty="0">
                <a:latin typeface="Calibri" panose="020F0502020204030204"/>
                <a:cs typeface="Calibri" panose="020F0502020204030204"/>
              </a:rPr>
              <a:t>)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;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2800" spc="-5" dirty="0">
                <a:latin typeface="Calibri" panose="020F0502020204030204"/>
                <a:cs typeface="Calibri" panose="020F0502020204030204"/>
              </a:rPr>
              <a:t>}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 marR="5080" indent="-635">
              <a:lnSpc>
                <a:spcPct val="100000"/>
              </a:lnSpc>
              <a:spcBef>
                <a:spcPts val="205"/>
              </a:spcBef>
              <a:tabLst>
                <a:tab pos="977265" algn="l"/>
                <a:tab pos="2343150" algn="l"/>
                <a:tab pos="2757805" algn="l"/>
                <a:tab pos="3629025" algn="l"/>
                <a:tab pos="5104765" algn="l"/>
                <a:tab pos="5626100" algn="l"/>
                <a:tab pos="6429375" algn="l"/>
                <a:tab pos="7314565" algn="l"/>
                <a:tab pos="8003540" algn="l"/>
              </a:tabLst>
            </a:pPr>
            <a:r>
              <a:rPr sz="2800" spc="-5" dirty="0">
                <a:latin typeface="Calibri" panose="020F0502020204030204"/>
                <a:cs typeface="Calibri" panose="020F0502020204030204"/>
              </a:rPr>
              <a:t>Ar</a:t>
            </a:r>
            <a:r>
              <a:rPr sz="2800" spc="-75" dirty="0">
                <a:latin typeface="Calibri" panose="020F0502020204030204"/>
                <a:cs typeface="Calibri" panose="020F0502020204030204"/>
              </a:rPr>
              <a:t>r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a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y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170" dirty="0">
                <a:latin typeface="Calibri" panose="020F0502020204030204"/>
                <a:cs typeface="Calibri" panose="020F0502020204030204"/>
              </a:rPr>
              <a:t>V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ar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i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ab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l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i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dirty="0">
                <a:latin typeface="Calibri" panose="020F0502020204030204"/>
                <a:cs typeface="Calibri" panose="020F0502020204030204"/>
              </a:rPr>
              <a:t>C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ase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Sen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iti</a:t>
            </a:r>
            <a:r>
              <a:rPr sz="2800" spc="-40" dirty="0">
                <a:latin typeface="Calibri" panose="020F0502020204030204"/>
                <a:cs typeface="Calibri" panose="020F0502020204030204"/>
              </a:rPr>
              <a:t>v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5" dirty="0">
                <a:latin typeface="Calibri" panose="020F0502020204030204"/>
                <a:cs typeface="Calibri" panose="020F0502020204030204"/>
              </a:rPr>
              <a:t>A</a:t>
            </a:r>
            <a:r>
              <a:rPr sz="2800" dirty="0">
                <a:latin typeface="Calibri" panose="020F0502020204030204"/>
                <a:cs typeface="Calibri" panose="020F0502020204030204"/>
              </a:rPr>
              <a:t>[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2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]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doe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no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t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p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r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2800" spc="-35" dirty="0">
                <a:latin typeface="Calibri" panose="020F0502020204030204"/>
                <a:cs typeface="Calibri" panose="020F0502020204030204"/>
              </a:rPr>
              <a:t>n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t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anything</a:t>
            </a:r>
            <a:r>
              <a:rPr sz="28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it</a:t>
            </a:r>
            <a:r>
              <a:rPr sz="2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Displays</a:t>
            </a:r>
            <a:r>
              <a:rPr sz="28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Error</a:t>
            </a:r>
            <a:r>
              <a:rPr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Message</a:t>
            </a:r>
            <a:r>
              <a:rPr sz="2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:</a:t>
            </a:r>
            <a:r>
              <a:rPr sz="28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“Undefined</a:t>
            </a:r>
            <a:r>
              <a:rPr sz="28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Symbol</a:t>
            </a:r>
            <a:r>
              <a:rPr sz="2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54" dirty="0">
                <a:latin typeface="Calibri" panose="020F0502020204030204"/>
                <a:cs typeface="Calibri" panose="020F0502020204030204"/>
              </a:rPr>
              <a:t>A“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2218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>
                <a:solidFill>
                  <a:srgbClr val="C00000"/>
                </a:solidFill>
              </a:rPr>
              <a:t>P</a:t>
            </a:r>
            <a:r>
              <a:rPr sz="4000" spc="-80" dirty="0">
                <a:solidFill>
                  <a:srgbClr val="C00000"/>
                </a:solidFill>
              </a:rPr>
              <a:t>O</a:t>
            </a:r>
            <a:r>
              <a:rPr sz="4000" spc="-130" dirty="0">
                <a:solidFill>
                  <a:srgbClr val="C00000"/>
                </a:solidFill>
              </a:rPr>
              <a:t>IN</a:t>
            </a:r>
            <a:r>
              <a:rPr sz="4000" spc="-155" dirty="0">
                <a:solidFill>
                  <a:srgbClr val="C00000"/>
                </a:solidFill>
              </a:rPr>
              <a:t>T</a:t>
            </a:r>
            <a:r>
              <a:rPr sz="4000" spc="170" dirty="0">
                <a:solidFill>
                  <a:srgbClr val="C00000"/>
                </a:solidFill>
              </a:rPr>
              <a:t>ERS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347190"/>
            <a:ext cx="7613650" cy="31051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3200" b="1" spc="30" dirty="0">
                <a:latin typeface="Times New Roman" panose="02020603050405020304"/>
                <a:cs typeface="Times New Roman" panose="02020603050405020304"/>
              </a:rPr>
              <a:t>Definition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286385" marR="5080" algn="just">
              <a:lnSpc>
                <a:spcPct val="100000"/>
              </a:lnSpc>
              <a:spcBef>
                <a:spcPts val="605"/>
              </a:spcBef>
            </a:pPr>
            <a:r>
              <a:rPr sz="3200" spc="-409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3200" spc="-90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3200" spc="-204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3200" spc="-254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3200" spc="-165" dirty="0">
                <a:latin typeface="Times New Roman" panose="02020603050405020304"/>
                <a:cs typeface="Times New Roman" panose="02020603050405020304"/>
              </a:rPr>
              <a:t>variable </a:t>
            </a:r>
            <a:r>
              <a:rPr sz="3200" spc="-175" dirty="0">
                <a:latin typeface="Times New Roman" panose="02020603050405020304"/>
                <a:cs typeface="Times New Roman" panose="02020603050405020304"/>
              </a:rPr>
              <a:t>whose </a:t>
            </a:r>
            <a:r>
              <a:rPr sz="3200" spc="-195" dirty="0">
                <a:latin typeface="Times New Roman" panose="02020603050405020304"/>
                <a:cs typeface="Times New Roman" panose="02020603050405020304"/>
              </a:rPr>
              <a:t>value </a:t>
            </a:r>
            <a:r>
              <a:rPr sz="3200" spc="-204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3200" spc="-9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200" spc="-165" dirty="0">
                <a:latin typeface="Times New Roman" panose="02020603050405020304"/>
                <a:cs typeface="Times New Roman" panose="02020603050405020304"/>
              </a:rPr>
              <a:t>address  </a:t>
            </a:r>
            <a:r>
              <a:rPr sz="3200" spc="-19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200" spc="4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14" dirty="0">
                <a:latin typeface="Times New Roman" panose="02020603050405020304"/>
                <a:cs typeface="Times New Roman" panose="02020603050405020304"/>
              </a:rPr>
              <a:t>another </a:t>
            </a:r>
            <a:r>
              <a:rPr sz="3200" spc="-140" dirty="0">
                <a:latin typeface="Times New Roman" panose="02020603050405020304"/>
                <a:cs typeface="Times New Roman" panose="02020603050405020304"/>
              </a:rPr>
              <a:t>variable, </a:t>
            </a:r>
            <a:r>
              <a:rPr sz="3200" spc="10" dirty="0">
                <a:latin typeface="Times New Roman" panose="02020603050405020304"/>
                <a:cs typeface="Times New Roman" panose="02020603050405020304"/>
              </a:rPr>
              <a:t>i.e., </a:t>
            </a:r>
            <a:r>
              <a:rPr sz="3200" spc="-95" dirty="0">
                <a:latin typeface="Times New Roman" panose="02020603050405020304"/>
                <a:cs typeface="Times New Roman" panose="02020603050405020304"/>
              </a:rPr>
              <a:t>direct </a:t>
            </a:r>
            <a:r>
              <a:rPr sz="3200" spc="-165" dirty="0">
                <a:latin typeface="Times New Roman" panose="02020603050405020304"/>
                <a:cs typeface="Times New Roman" panose="02020603050405020304"/>
              </a:rPr>
              <a:t>address </a:t>
            </a:r>
            <a:r>
              <a:rPr sz="3200" spc="-19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200" spc="4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90" dirty="0">
                <a:latin typeface="Times New Roman" panose="02020603050405020304"/>
                <a:cs typeface="Times New Roman" panose="02020603050405020304"/>
              </a:rPr>
              <a:t>the  </a:t>
            </a:r>
            <a:r>
              <a:rPr sz="3200" spc="-145" dirty="0">
                <a:latin typeface="Times New Roman" panose="02020603050405020304"/>
                <a:cs typeface="Times New Roman" panose="02020603050405020304"/>
              </a:rPr>
              <a:t>memory </a:t>
            </a:r>
            <a:r>
              <a:rPr sz="3200" spc="-110" dirty="0">
                <a:latin typeface="Times New Roman" panose="02020603050405020304"/>
                <a:cs typeface="Times New Roman" panose="02020603050405020304"/>
              </a:rPr>
              <a:t>location. </a:t>
            </a:r>
            <a:r>
              <a:rPr sz="3200" spc="-190" dirty="0">
                <a:latin typeface="Times New Roman" panose="02020603050405020304"/>
                <a:cs typeface="Times New Roman" panose="02020603050405020304"/>
              </a:rPr>
              <a:t>This </a:t>
            </a:r>
            <a:r>
              <a:rPr sz="3200" spc="-20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3200" spc="-135" dirty="0">
                <a:latin typeface="Times New Roman" panose="02020603050405020304"/>
                <a:cs typeface="Times New Roman" panose="02020603050405020304"/>
              </a:rPr>
              <a:t>done </a:t>
            </a:r>
            <a:r>
              <a:rPr sz="3200" spc="-245" dirty="0">
                <a:latin typeface="Times New Roman" panose="02020603050405020304"/>
                <a:cs typeface="Times New Roman" panose="02020603050405020304"/>
              </a:rPr>
              <a:t>by </a:t>
            </a:r>
            <a:r>
              <a:rPr sz="3200" spc="-190" dirty="0">
                <a:latin typeface="Times New Roman" panose="02020603050405020304"/>
                <a:cs typeface="Times New Roman" panose="02020603050405020304"/>
              </a:rPr>
              <a:t>using </a:t>
            </a:r>
            <a:r>
              <a:rPr sz="3200" spc="-145" dirty="0">
                <a:latin typeface="Times New Roman" panose="02020603050405020304"/>
                <a:cs typeface="Times New Roman" panose="02020603050405020304"/>
              </a:rPr>
              <a:t>unary  </a:t>
            </a:r>
            <a:r>
              <a:rPr sz="3200" spc="-90" dirty="0">
                <a:latin typeface="Times New Roman" panose="02020603050405020304"/>
                <a:cs typeface="Times New Roman" panose="02020603050405020304"/>
              </a:rPr>
              <a:t>operator </a:t>
            </a:r>
            <a:r>
              <a:rPr sz="3200" spc="-135" dirty="0">
                <a:latin typeface="Times New Roman" panose="02020603050405020304"/>
                <a:cs typeface="Times New Roman" panose="02020603050405020304"/>
              </a:rPr>
              <a:t>* </a:t>
            </a:r>
            <a:r>
              <a:rPr sz="3200" spc="-95" dirty="0">
                <a:latin typeface="Times New Roman" panose="02020603050405020304"/>
                <a:cs typeface="Times New Roman" panose="02020603050405020304"/>
              </a:rPr>
              <a:t>that </a:t>
            </a:r>
            <a:r>
              <a:rPr sz="3200" spc="-70" dirty="0">
                <a:latin typeface="Times New Roman" panose="02020603050405020304"/>
                <a:cs typeface="Times New Roman" panose="02020603050405020304"/>
              </a:rPr>
              <a:t>returns </a:t>
            </a:r>
            <a:r>
              <a:rPr sz="3200" spc="-10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200" spc="-195" dirty="0">
                <a:latin typeface="Times New Roman" panose="02020603050405020304"/>
                <a:cs typeface="Times New Roman" panose="02020603050405020304"/>
              </a:rPr>
              <a:t>value </a:t>
            </a:r>
            <a:r>
              <a:rPr sz="3200" spc="-19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3200" spc="-9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200" spc="-170" dirty="0">
                <a:latin typeface="Times New Roman" panose="02020603050405020304"/>
                <a:cs typeface="Times New Roman" panose="02020603050405020304"/>
              </a:rPr>
              <a:t>variable  </a:t>
            </a:r>
            <a:r>
              <a:rPr sz="3200" spc="-140" dirty="0">
                <a:latin typeface="Times New Roman" panose="02020603050405020304"/>
                <a:cs typeface="Times New Roman" panose="02020603050405020304"/>
              </a:rPr>
              <a:t>located </a:t>
            </a:r>
            <a:r>
              <a:rPr sz="3200" spc="-120" dirty="0">
                <a:latin typeface="Times New Roman" panose="02020603050405020304"/>
                <a:cs typeface="Times New Roman" panose="02020603050405020304"/>
              </a:rPr>
              <a:t>at </a:t>
            </a:r>
            <a:r>
              <a:rPr sz="3200" spc="-9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200" spc="-165" dirty="0">
                <a:latin typeface="Times New Roman" panose="02020603050405020304"/>
                <a:cs typeface="Times New Roman" panose="02020603050405020304"/>
              </a:rPr>
              <a:t>address </a:t>
            </a:r>
            <a:r>
              <a:rPr sz="3200" spc="-170" dirty="0">
                <a:latin typeface="Times New Roman" panose="02020603050405020304"/>
                <a:cs typeface="Times New Roman" panose="02020603050405020304"/>
              </a:rPr>
              <a:t>specified </a:t>
            </a:r>
            <a:r>
              <a:rPr sz="3200" spc="-245" dirty="0">
                <a:latin typeface="Times New Roman" panose="02020603050405020304"/>
                <a:cs typeface="Times New Roman" panose="02020603050405020304"/>
              </a:rPr>
              <a:t>by </a:t>
            </a:r>
            <a:r>
              <a:rPr sz="3200" spc="-120" dirty="0">
                <a:latin typeface="Times New Roman" panose="02020603050405020304"/>
                <a:cs typeface="Times New Roman" panose="02020603050405020304"/>
              </a:rPr>
              <a:t>its</a:t>
            </a:r>
            <a:r>
              <a:rPr sz="3200" spc="43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95" dirty="0">
                <a:latin typeface="Times New Roman" panose="02020603050405020304"/>
                <a:cs typeface="Times New Roman" panose="02020603050405020304"/>
              </a:rPr>
              <a:t>operand.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2218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>
                <a:solidFill>
                  <a:srgbClr val="C00000"/>
                </a:solidFill>
              </a:rPr>
              <a:t>P</a:t>
            </a:r>
            <a:r>
              <a:rPr sz="4000" spc="-80" dirty="0">
                <a:solidFill>
                  <a:srgbClr val="C00000"/>
                </a:solidFill>
              </a:rPr>
              <a:t>O</a:t>
            </a:r>
            <a:r>
              <a:rPr sz="4000" spc="-130" dirty="0">
                <a:solidFill>
                  <a:srgbClr val="C00000"/>
                </a:solidFill>
              </a:rPr>
              <a:t>IN</a:t>
            </a:r>
            <a:r>
              <a:rPr sz="4000" spc="-155" dirty="0">
                <a:solidFill>
                  <a:srgbClr val="C00000"/>
                </a:solidFill>
              </a:rPr>
              <a:t>T</a:t>
            </a:r>
            <a:r>
              <a:rPr sz="4000" spc="170" dirty="0">
                <a:solidFill>
                  <a:srgbClr val="C00000"/>
                </a:solidFill>
              </a:rPr>
              <a:t>ERS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358613"/>
            <a:ext cx="4956810" cy="286067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695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Syntax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86385">
              <a:lnSpc>
                <a:spcPct val="100000"/>
              </a:lnSpc>
              <a:spcBef>
                <a:spcPts val="600"/>
              </a:spcBef>
              <a:tabLst>
                <a:tab pos="1581785" algn="l"/>
              </a:tabLst>
            </a:pP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Datatype	</a:t>
            </a:r>
            <a:r>
              <a:rPr sz="2600" spc="-95" dirty="0">
                <a:latin typeface="Times New Roman" panose="02020603050405020304"/>
                <a:cs typeface="Times New Roman" panose="02020603050405020304"/>
              </a:rPr>
              <a:t>*pointervariable;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>
              <a:latin typeface="Times New Roman" panose="02020603050405020304"/>
              <a:cs typeface="Times New Roman" panose="02020603050405020304"/>
            </a:endParaRPr>
          </a:p>
          <a:p>
            <a:pPr marL="286385" indent="-274320">
              <a:lnSpc>
                <a:spcPct val="100000"/>
              </a:lnSpc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Syntax</a:t>
            </a:r>
            <a:r>
              <a:rPr sz="2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Example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943610" algn="l"/>
                <a:tab pos="1702435" algn="l"/>
              </a:tabLst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1.</a:t>
            </a:r>
            <a:r>
              <a:rPr sz="2600" spc="-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70" dirty="0">
                <a:latin typeface="Times New Roman" panose="02020603050405020304"/>
                <a:cs typeface="Times New Roman" panose="02020603050405020304"/>
              </a:rPr>
              <a:t>int	</a:t>
            </a: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*ip;	</a:t>
            </a:r>
            <a:r>
              <a:rPr sz="2600" spc="240" dirty="0">
                <a:latin typeface="Times New Roman" panose="02020603050405020304"/>
                <a:cs typeface="Times New Roman" panose="02020603050405020304"/>
              </a:rPr>
              <a:t>/*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60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an 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integer</a:t>
            </a:r>
            <a:r>
              <a:rPr sz="2600" spc="-3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235" dirty="0">
                <a:latin typeface="Times New Roman" panose="02020603050405020304"/>
                <a:cs typeface="Times New Roman" panose="02020603050405020304"/>
              </a:rPr>
              <a:t>*/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444" y="4193514"/>
            <a:ext cx="1766570" cy="14433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21310" indent="-309245">
              <a:lnSpc>
                <a:spcPct val="100000"/>
              </a:lnSpc>
              <a:spcBef>
                <a:spcPts val="700"/>
              </a:spcBef>
              <a:buAutoNum type="arabicPeriod" startAt="2"/>
              <a:tabLst>
                <a:tab pos="321945" algn="l"/>
              </a:tabLst>
            </a:pP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double</a:t>
            </a:r>
            <a:r>
              <a:rPr sz="2600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*dp;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321310" indent="-309245">
              <a:lnSpc>
                <a:spcPct val="100000"/>
              </a:lnSpc>
              <a:spcBef>
                <a:spcPts val="600"/>
              </a:spcBef>
              <a:buAutoNum type="arabicPeriod" startAt="2"/>
              <a:tabLst>
                <a:tab pos="321945" algn="l"/>
                <a:tab pos="1000760" algn="l"/>
              </a:tabLst>
            </a:pP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float	</a:t>
            </a:r>
            <a:r>
              <a:rPr sz="2600" spc="-95" dirty="0">
                <a:latin typeface="Times New Roman" panose="02020603050405020304"/>
                <a:cs typeface="Times New Roman" panose="02020603050405020304"/>
              </a:rPr>
              <a:t>*fp;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321310" indent="-309245">
              <a:lnSpc>
                <a:spcPct val="100000"/>
              </a:lnSpc>
              <a:spcBef>
                <a:spcPts val="600"/>
              </a:spcBef>
              <a:buAutoNum type="arabicPeriod" startAt="2"/>
              <a:tabLst>
                <a:tab pos="321945" algn="l"/>
                <a:tab pos="1056005" algn="l"/>
              </a:tabLst>
            </a:pP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char	*ch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50872" y="4193514"/>
            <a:ext cx="3467735" cy="14433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700"/>
              </a:spcBef>
            </a:pPr>
            <a:r>
              <a:rPr sz="2600" spc="235" dirty="0">
                <a:latin typeface="Times New Roman" panose="02020603050405020304"/>
                <a:cs typeface="Times New Roman" panose="02020603050405020304"/>
              </a:rPr>
              <a:t>/*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60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double</a:t>
            </a:r>
            <a:r>
              <a:rPr sz="2600" spc="-3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235" dirty="0">
                <a:latin typeface="Times New Roman" panose="02020603050405020304"/>
                <a:cs typeface="Times New Roman" panose="02020603050405020304"/>
              </a:rPr>
              <a:t>*/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600" spc="235" dirty="0">
                <a:latin typeface="Times New Roman" panose="02020603050405020304"/>
                <a:cs typeface="Times New Roman" panose="02020603050405020304"/>
              </a:rPr>
              <a:t>/*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60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float</a:t>
            </a:r>
            <a:r>
              <a:rPr sz="2600" spc="-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235" dirty="0">
                <a:latin typeface="Times New Roman" panose="02020603050405020304"/>
                <a:cs typeface="Times New Roman" panose="02020603050405020304"/>
              </a:rPr>
              <a:t>*/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03505">
              <a:lnSpc>
                <a:spcPct val="100000"/>
              </a:lnSpc>
              <a:spcBef>
                <a:spcPts val="600"/>
              </a:spcBef>
            </a:pPr>
            <a:r>
              <a:rPr sz="2600" spc="235" dirty="0">
                <a:latin typeface="Times New Roman" panose="02020603050405020304"/>
                <a:cs typeface="Times New Roman" panose="02020603050405020304"/>
              </a:rPr>
              <a:t>/*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60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00" spc="-95" dirty="0">
                <a:latin typeface="Times New Roman" panose="02020603050405020304"/>
                <a:cs typeface="Times New Roman" panose="02020603050405020304"/>
              </a:rPr>
              <a:t>character</a:t>
            </a:r>
            <a:r>
              <a:rPr sz="2600" spc="-3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235" dirty="0">
                <a:latin typeface="Times New Roman" panose="02020603050405020304"/>
                <a:cs typeface="Times New Roman" panose="02020603050405020304"/>
              </a:rPr>
              <a:t>*/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2218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>
                <a:solidFill>
                  <a:srgbClr val="C00000"/>
                </a:solidFill>
              </a:rPr>
              <a:t>P</a:t>
            </a:r>
            <a:r>
              <a:rPr sz="4000" spc="-80" dirty="0">
                <a:solidFill>
                  <a:srgbClr val="C00000"/>
                </a:solidFill>
              </a:rPr>
              <a:t>O</a:t>
            </a:r>
            <a:r>
              <a:rPr sz="4000" spc="-130" dirty="0">
                <a:solidFill>
                  <a:srgbClr val="C00000"/>
                </a:solidFill>
              </a:rPr>
              <a:t>IN</a:t>
            </a:r>
            <a:r>
              <a:rPr sz="4000" spc="-155" dirty="0">
                <a:solidFill>
                  <a:srgbClr val="C00000"/>
                </a:solidFill>
              </a:rPr>
              <a:t>T</a:t>
            </a:r>
            <a:r>
              <a:rPr sz="4000" spc="170" dirty="0">
                <a:solidFill>
                  <a:srgbClr val="C00000"/>
                </a:solidFill>
              </a:rPr>
              <a:t>ERS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71930"/>
            <a:ext cx="158813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570" dirty="0">
                <a:solidFill>
                  <a:srgbClr val="D24717"/>
                </a:solidFill>
                <a:latin typeface="Arial" panose="020B0604020202020204"/>
                <a:cs typeface="Arial" panose="020B0604020202020204"/>
              </a:rPr>
              <a:t></a:t>
            </a:r>
            <a:r>
              <a:rPr sz="2200" spc="-535" dirty="0">
                <a:solidFill>
                  <a:srgbClr val="D2471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50" dirty="0">
                <a:latin typeface="Arial" panose="020B0604020202020204"/>
                <a:cs typeface="Arial" panose="020B0604020202020204"/>
              </a:rPr>
              <a:t>Example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7713" y="2417191"/>
            <a:ext cx="185420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45465" algn="l"/>
              </a:tabLst>
            </a:pPr>
            <a:r>
              <a:rPr sz="2600" dirty="0">
                <a:latin typeface="Arial" panose="020B0604020202020204"/>
                <a:cs typeface="Arial" panose="020B0604020202020204"/>
              </a:rPr>
              <a:t>int	var =</a:t>
            </a:r>
            <a:r>
              <a:rPr sz="26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latin typeface="Arial" panose="020B0604020202020204"/>
                <a:cs typeface="Arial" panose="020B0604020202020204"/>
              </a:rPr>
              <a:t>20;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21378" y="2417191"/>
            <a:ext cx="449008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Arial" panose="020B0604020202020204"/>
                <a:cs typeface="Arial" panose="020B0604020202020204"/>
              </a:rPr>
              <a:t>/* actual variable declaration</a:t>
            </a:r>
            <a:r>
              <a:rPr sz="26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latin typeface="Arial" panose="020B0604020202020204"/>
                <a:cs typeface="Arial" panose="020B0604020202020204"/>
              </a:rPr>
              <a:t>*/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9153" y="3361766"/>
            <a:ext cx="103695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45465" algn="l"/>
              </a:tabLst>
            </a:pPr>
            <a:r>
              <a:rPr sz="2600" dirty="0">
                <a:latin typeface="Arial" panose="020B0604020202020204"/>
                <a:cs typeface="Arial" panose="020B0604020202020204"/>
              </a:rPr>
              <a:t>int</a:t>
            </a:r>
            <a:r>
              <a:rPr sz="2600" dirty="0">
                <a:latin typeface="Arial" panose="020B0604020202020204"/>
                <a:cs typeface="Arial" panose="020B0604020202020204"/>
              </a:rPr>
              <a:t>	</a:t>
            </a:r>
            <a:r>
              <a:rPr sz="2600" spc="-10" dirty="0">
                <a:latin typeface="Arial" panose="020B0604020202020204"/>
                <a:cs typeface="Arial" panose="020B0604020202020204"/>
              </a:rPr>
              <a:t>*</a:t>
            </a:r>
            <a:r>
              <a:rPr sz="2600" spc="-5" dirty="0">
                <a:latin typeface="Arial" panose="020B0604020202020204"/>
                <a:cs typeface="Arial" panose="020B0604020202020204"/>
              </a:rPr>
              <a:t>i</a:t>
            </a:r>
            <a:r>
              <a:rPr sz="2600" dirty="0">
                <a:latin typeface="Arial" panose="020B0604020202020204"/>
                <a:cs typeface="Arial" panose="020B0604020202020204"/>
              </a:rPr>
              <a:t>p</a:t>
            </a:r>
            <a:r>
              <a:rPr sz="2600" dirty="0">
                <a:latin typeface="Arial" panose="020B0604020202020204"/>
                <a:cs typeface="Arial" panose="020B0604020202020204"/>
              </a:rPr>
              <a:t>;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28415" y="3361766"/>
            <a:ext cx="462089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Arial" panose="020B0604020202020204"/>
                <a:cs typeface="Arial" panose="020B0604020202020204"/>
              </a:rPr>
              <a:t>/* pointer variable declaration</a:t>
            </a:r>
            <a:r>
              <a:rPr sz="26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latin typeface="Arial" panose="020B0604020202020204"/>
                <a:cs typeface="Arial" panose="020B0604020202020204"/>
              </a:rPr>
              <a:t>*/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9153" y="4307204"/>
            <a:ext cx="143256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" dirty="0">
                <a:latin typeface="Arial" panose="020B0604020202020204"/>
                <a:cs typeface="Arial" panose="020B0604020202020204"/>
              </a:rPr>
              <a:t>ip </a:t>
            </a:r>
            <a:r>
              <a:rPr sz="2600" dirty="0">
                <a:latin typeface="Arial" panose="020B0604020202020204"/>
                <a:cs typeface="Arial" panose="020B0604020202020204"/>
              </a:rPr>
              <a:t>=</a:t>
            </a:r>
            <a:r>
              <a:rPr sz="26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latin typeface="Arial" panose="020B0604020202020204"/>
                <a:cs typeface="Arial" panose="020B0604020202020204"/>
              </a:rPr>
              <a:t>&amp;var;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36975" y="4231988"/>
            <a:ext cx="4717415" cy="970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505" marR="5080" indent="-91440">
              <a:lnSpc>
                <a:spcPct val="119000"/>
              </a:lnSpc>
              <a:spcBef>
                <a:spcPts val="95"/>
              </a:spcBef>
            </a:pPr>
            <a:r>
              <a:rPr sz="2600" dirty="0">
                <a:latin typeface="Arial" panose="020B0604020202020204"/>
                <a:cs typeface="Arial" panose="020B0604020202020204"/>
              </a:rPr>
              <a:t>/* store address of var in</a:t>
            </a:r>
            <a:r>
              <a:rPr sz="2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latin typeface="Arial" panose="020B0604020202020204"/>
                <a:cs typeface="Arial" panose="020B0604020202020204"/>
              </a:rPr>
              <a:t>pointer  variable*/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2218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>
                <a:solidFill>
                  <a:srgbClr val="C00000"/>
                </a:solidFill>
              </a:rPr>
              <a:t>P</a:t>
            </a:r>
            <a:r>
              <a:rPr sz="4000" spc="-80" dirty="0">
                <a:solidFill>
                  <a:srgbClr val="C00000"/>
                </a:solidFill>
              </a:rPr>
              <a:t>O</a:t>
            </a:r>
            <a:r>
              <a:rPr sz="4000" spc="-130" dirty="0">
                <a:solidFill>
                  <a:srgbClr val="C00000"/>
                </a:solidFill>
              </a:rPr>
              <a:t>IN</a:t>
            </a:r>
            <a:r>
              <a:rPr sz="4000" spc="-155" dirty="0">
                <a:solidFill>
                  <a:srgbClr val="C00000"/>
                </a:solidFill>
              </a:rPr>
              <a:t>T</a:t>
            </a:r>
            <a:r>
              <a:rPr sz="4000" spc="170" dirty="0">
                <a:solidFill>
                  <a:srgbClr val="C00000"/>
                </a:solidFill>
              </a:rPr>
              <a:t>ERS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18540" y="1430781"/>
            <a:ext cx="8113395" cy="3176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Reference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operator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(&amp;) </a:t>
            </a:r>
            <a:r>
              <a:rPr sz="2800" b="1" spc="-20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800" b="1" spc="5" dirty="0">
                <a:latin typeface="Times New Roman" panose="02020603050405020304"/>
                <a:cs typeface="Times New Roman" panose="02020603050405020304"/>
              </a:rPr>
              <a:t>Dereference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operator</a:t>
            </a:r>
            <a:r>
              <a:rPr sz="2800" b="1" spc="-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60" dirty="0">
                <a:latin typeface="Times New Roman" panose="02020603050405020304"/>
                <a:cs typeface="Times New Roman" panose="02020603050405020304"/>
              </a:rPr>
              <a:t>(*)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 marL="287020" marR="5080" indent="-274320">
              <a:lnSpc>
                <a:spcPct val="100000"/>
              </a:lnSpc>
              <a:buAutoNum type="arabicPeriod"/>
              <a:tabLst>
                <a:tab pos="381635" algn="l"/>
              </a:tabLst>
            </a:pPr>
            <a:r>
              <a:rPr sz="2600" dirty="0">
                <a:latin typeface="Arial" panose="020B0604020202020204"/>
                <a:cs typeface="Arial" panose="020B0604020202020204"/>
              </a:rPr>
              <a:t>&amp; is called reference </a:t>
            </a:r>
            <a:r>
              <a:rPr sz="2600" spc="-15" dirty="0">
                <a:latin typeface="Arial" panose="020B0604020202020204"/>
                <a:cs typeface="Arial" panose="020B0604020202020204"/>
              </a:rPr>
              <a:t>operator. </a:t>
            </a:r>
            <a:r>
              <a:rPr sz="2600" dirty="0">
                <a:latin typeface="Arial" panose="020B0604020202020204"/>
                <a:cs typeface="Arial" panose="020B0604020202020204"/>
              </a:rPr>
              <a:t>It gives the address</a:t>
            </a:r>
            <a:r>
              <a:rPr sz="26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latin typeface="Arial" panose="020B0604020202020204"/>
                <a:cs typeface="Arial" panose="020B0604020202020204"/>
              </a:rPr>
              <a:t>of  a</a:t>
            </a:r>
            <a:r>
              <a:rPr sz="26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latin typeface="Arial" panose="020B0604020202020204"/>
                <a:cs typeface="Arial" panose="020B0604020202020204"/>
              </a:rPr>
              <a:t>variable.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 panose="020B0604020202020204"/>
              <a:buAutoNum type="arabicPeriod"/>
            </a:pPr>
            <a:endParaRPr sz="3750">
              <a:latin typeface="Arial" panose="020B0604020202020204"/>
              <a:cs typeface="Arial" panose="020B0604020202020204"/>
            </a:endParaRPr>
          </a:p>
          <a:p>
            <a:pPr marL="287020" marR="480695" indent="-274320">
              <a:lnSpc>
                <a:spcPct val="100000"/>
              </a:lnSpc>
              <a:buAutoNum type="arabicPeriod"/>
              <a:tabLst>
                <a:tab pos="381635" algn="l"/>
              </a:tabLst>
            </a:pPr>
            <a:r>
              <a:rPr sz="2600" dirty="0">
                <a:latin typeface="Arial" panose="020B0604020202020204"/>
                <a:cs typeface="Arial" panose="020B0604020202020204"/>
              </a:rPr>
              <a:t>* is called dereference </a:t>
            </a:r>
            <a:r>
              <a:rPr sz="2600" spc="-15" dirty="0">
                <a:latin typeface="Arial" panose="020B0604020202020204"/>
                <a:cs typeface="Arial" panose="020B0604020202020204"/>
              </a:rPr>
              <a:t>operator. </a:t>
            </a:r>
            <a:r>
              <a:rPr sz="2600" dirty="0">
                <a:latin typeface="Arial" panose="020B0604020202020204"/>
                <a:cs typeface="Arial" panose="020B0604020202020204"/>
              </a:rPr>
              <a:t>It gives the value  from </a:t>
            </a:r>
            <a:r>
              <a:rPr sz="2600" spc="-5" dirty="0">
                <a:latin typeface="Arial" panose="020B0604020202020204"/>
                <a:cs typeface="Arial" panose="020B0604020202020204"/>
              </a:rPr>
              <a:t>the</a:t>
            </a:r>
            <a:r>
              <a:rPr sz="2600" dirty="0">
                <a:latin typeface="Arial" panose="020B0604020202020204"/>
                <a:cs typeface="Arial" panose="020B0604020202020204"/>
              </a:rPr>
              <a:t> address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8509" y="458850"/>
            <a:ext cx="372300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60" dirty="0">
                <a:solidFill>
                  <a:srgbClr val="C00000"/>
                </a:solidFill>
              </a:rPr>
              <a:t>Pointer </a:t>
            </a:r>
            <a:r>
              <a:rPr sz="4000" spc="-245" dirty="0">
                <a:solidFill>
                  <a:srgbClr val="C00000"/>
                </a:solidFill>
              </a:rPr>
              <a:t>to</a:t>
            </a:r>
            <a:r>
              <a:rPr sz="4000" spc="-315" dirty="0">
                <a:solidFill>
                  <a:srgbClr val="C00000"/>
                </a:solidFill>
              </a:rPr>
              <a:t> </a:t>
            </a:r>
            <a:r>
              <a:rPr sz="4000" spc="-160" dirty="0">
                <a:solidFill>
                  <a:srgbClr val="C00000"/>
                </a:solidFill>
              </a:rPr>
              <a:t>Pointer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395958"/>
            <a:ext cx="7159625" cy="1764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100"/>
              </a:spcBef>
              <a:tabLst>
                <a:tab pos="1811655" algn="l"/>
              </a:tabLst>
            </a:pPr>
            <a:r>
              <a:rPr sz="2600" dirty="0">
                <a:latin typeface="Arial" panose="020B0604020202020204"/>
                <a:cs typeface="Arial" panose="020B0604020202020204"/>
              </a:rPr>
              <a:t>Double</a:t>
            </a:r>
            <a:r>
              <a:rPr sz="2600" spc="-5" dirty="0">
                <a:latin typeface="Arial" panose="020B0604020202020204"/>
                <a:cs typeface="Arial" panose="020B0604020202020204"/>
              </a:rPr>
              <a:t> (**)	</a:t>
            </a:r>
            <a:r>
              <a:rPr sz="2600" dirty="0">
                <a:latin typeface="Arial" panose="020B0604020202020204"/>
                <a:cs typeface="Arial" panose="020B0604020202020204"/>
              </a:rPr>
              <a:t>is used to denote the double </a:t>
            </a:r>
            <a:r>
              <a:rPr sz="2600" spc="-20" dirty="0">
                <a:latin typeface="Arial" panose="020B0604020202020204"/>
                <a:cs typeface="Arial" panose="020B0604020202020204"/>
              </a:rPr>
              <a:t>pointer.  </a:t>
            </a:r>
            <a:r>
              <a:rPr sz="2600" dirty="0">
                <a:latin typeface="Arial" panose="020B0604020202020204"/>
                <a:cs typeface="Arial" panose="020B0604020202020204"/>
              </a:rPr>
              <a:t>Double Pointer Stores the address of the</a:t>
            </a:r>
            <a:r>
              <a:rPr sz="26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latin typeface="Arial" panose="020B0604020202020204"/>
                <a:cs typeface="Arial" panose="020B0604020202020204"/>
              </a:rPr>
              <a:t>Pointer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127000">
              <a:lnSpc>
                <a:spcPct val="100000"/>
              </a:lnSpc>
            </a:pPr>
            <a:r>
              <a:rPr sz="2600" spc="-25" dirty="0">
                <a:latin typeface="Arial" panose="020B0604020202020204"/>
                <a:cs typeface="Arial" panose="020B0604020202020204"/>
              </a:rPr>
              <a:t>Variable. </a:t>
            </a:r>
            <a:r>
              <a:rPr sz="2600" dirty="0">
                <a:latin typeface="Arial" panose="020B0604020202020204"/>
                <a:cs typeface="Arial" panose="020B0604020202020204"/>
              </a:rPr>
              <a:t>Conceptually we can have </a:t>
            </a:r>
            <a:r>
              <a:rPr sz="2600" spc="-15" dirty="0">
                <a:latin typeface="Arial" panose="020B0604020202020204"/>
                <a:cs typeface="Arial" panose="020B0604020202020204"/>
              </a:rPr>
              <a:t>Triple </a:t>
            </a:r>
            <a:r>
              <a:rPr sz="2600" dirty="0">
                <a:latin typeface="Arial" panose="020B0604020202020204"/>
                <a:cs typeface="Arial" panose="020B0604020202020204"/>
              </a:rPr>
              <a:t>…..</a:t>
            </a:r>
            <a:r>
              <a:rPr sz="2600" spc="-135" dirty="0"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latin typeface="Arial" panose="020B0604020202020204"/>
                <a:cs typeface="Arial" panose="020B0604020202020204"/>
              </a:rPr>
              <a:t>n  pointers.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67711" y="3500628"/>
            <a:ext cx="4320540" cy="228635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22726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20" dirty="0">
                <a:solidFill>
                  <a:srgbClr val="C00000"/>
                </a:solidFill>
              </a:rPr>
              <a:t>Example</a:t>
            </a:r>
            <a:r>
              <a:rPr sz="4000" spc="-280" dirty="0">
                <a:solidFill>
                  <a:srgbClr val="C00000"/>
                </a:solidFill>
              </a:rPr>
              <a:t> </a:t>
            </a:r>
            <a:r>
              <a:rPr sz="4000" spc="245" dirty="0">
                <a:solidFill>
                  <a:srgbClr val="C00000"/>
                </a:solidFill>
              </a:rPr>
              <a:t>1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358613"/>
            <a:ext cx="3960495" cy="427863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600" spc="-7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main()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{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9000"/>
              </a:lnSpc>
              <a:spcBef>
                <a:spcPts val="5"/>
              </a:spcBef>
              <a:tabLst>
                <a:tab pos="746760" algn="l"/>
                <a:tab pos="2016760" algn="l"/>
              </a:tabLst>
            </a:pPr>
            <a:r>
              <a:rPr sz="2600" spc="-7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30" dirty="0">
                <a:latin typeface="Times New Roman" panose="02020603050405020304"/>
                <a:cs typeface="Times New Roman" panose="02020603050405020304"/>
              </a:rPr>
              <a:t>num</a:t>
            </a:r>
            <a:r>
              <a:rPr sz="2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27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45</a:t>
            </a:r>
            <a:r>
              <a:rPr sz="26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11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600" spc="-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40" dirty="0">
                <a:latin typeface="Times New Roman" panose="02020603050405020304"/>
                <a:cs typeface="Times New Roman" panose="02020603050405020304"/>
              </a:rPr>
              <a:t>*ptr</a:t>
            </a:r>
            <a:r>
              <a:rPr sz="2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11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600" spc="-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55" dirty="0">
                <a:latin typeface="Times New Roman" panose="02020603050405020304"/>
                <a:cs typeface="Times New Roman" panose="02020603050405020304"/>
              </a:rPr>
              <a:t>**ptr2ptr </a:t>
            </a:r>
            <a:r>
              <a:rPr sz="2600" spc="35" dirty="0">
                <a:latin typeface="Times New Roman" panose="02020603050405020304"/>
                <a:cs typeface="Times New Roman" panose="02020603050405020304"/>
              </a:rPr>
              <a:t>;  </a:t>
            </a:r>
            <a:r>
              <a:rPr sz="2600" spc="-20" dirty="0">
                <a:latin typeface="Times New Roman" panose="02020603050405020304"/>
                <a:cs typeface="Times New Roman" panose="02020603050405020304"/>
              </a:rPr>
              <a:t>ptr	</a:t>
            </a:r>
            <a:r>
              <a:rPr sz="2600" spc="27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55" dirty="0">
                <a:latin typeface="Times New Roman" panose="02020603050405020304"/>
                <a:cs typeface="Times New Roman" panose="02020603050405020304"/>
              </a:rPr>
              <a:t>&amp;num;	</a:t>
            </a:r>
            <a:r>
              <a:rPr sz="2600" spc="120" dirty="0">
                <a:latin typeface="Times New Roman" panose="02020603050405020304"/>
                <a:cs typeface="Times New Roman" panose="02020603050405020304"/>
              </a:rPr>
              <a:t>//3000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2051050" algn="l"/>
              </a:tabLst>
            </a:pPr>
            <a:r>
              <a:rPr sz="2600" spc="-35" dirty="0">
                <a:latin typeface="Times New Roman" panose="02020603050405020304"/>
                <a:cs typeface="Times New Roman" panose="02020603050405020304"/>
              </a:rPr>
              <a:t>ptr2ptr</a:t>
            </a:r>
            <a:r>
              <a:rPr sz="2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27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95" dirty="0">
                <a:latin typeface="Times New Roman" panose="02020603050405020304"/>
                <a:cs typeface="Times New Roman" panose="02020603050405020304"/>
              </a:rPr>
              <a:t>&amp;ptr;	</a:t>
            </a:r>
            <a:r>
              <a:rPr sz="2600" spc="120" dirty="0">
                <a:latin typeface="Times New Roman" panose="02020603050405020304"/>
                <a:cs typeface="Times New Roman" panose="02020603050405020304"/>
              </a:rPr>
              <a:t>//4000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 marR="1014730">
              <a:lnSpc>
                <a:spcPct val="119000"/>
              </a:lnSpc>
            </a:pPr>
            <a:r>
              <a:rPr sz="2600" spc="-5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600" spc="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00" spc="-65" dirty="0">
                <a:latin typeface="Times New Roman" panose="02020603050405020304"/>
                <a:cs typeface="Times New Roman" panose="02020603050405020304"/>
              </a:rPr>
              <a:t>("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%</a:t>
            </a:r>
            <a:r>
              <a:rPr sz="2600" spc="-25" dirty="0">
                <a:latin typeface="Times New Roman" panose="02020603050405020304"/>
                <a:cs typeface="Times New Roman" panose="02020603050405020304"/>
              </a:rPr>
              <a:t>d",</a:t>
            </a:r>
            <a:r>
              <a:rPr sz="2600" spc="-45" dirty="0">
                <a:latin typeface="Times New Roman" panose="02020603050405020304"/>
                <a:cs typeface="Times New Roman" panose="02020603050405020304"/>
              </a:rPr>
              <a:t>*</a:t>
            </a: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*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600" spc="-35" dirty="0">
                <a:latin typeface="Times New Roman" panose="02020603050405020304"/>
                <a:cs typeface="Times New Roman" panose="02020603050405020304"/>
              </a:rPr>
              <a:t>tr2</a:t>
            </a:r>
            <a:r>
              <a:rPr sz="2600" spc="-6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600" spc="10" dirty="0">
                <a:latin typeface="Times New Roman" panose="02020603050405020304"/>
                <a:cs typeface="Times New Roman" panose="02020603050405020304"/>
              </a:rPr>
              <a:t>tr);  </a:t>
            </a:r>
            <a:r>
              <a:rPr sz="2600" spc="-40" dirty="0">
                <a:latin typeface="Times New Roman" panose="02020603050405020304"/>
                <a:cs typeface="Times New Roman" panose="02020603050405020304"/>
              </a:rPr>
              <a:t>return(0);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}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600" spc="-45" dirty="0">
                <a:latin typeface="Times New Roman" panose="02020603050405020304"/>
                <a:cs typeface="Times New Roman" panose="02020603050405020304"/>
              </a:rPr>
              <a:t>Output</a:t>
            </a:r>
            <a:r>
              <a:rPr sz="2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45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406" y="458850"/>
            <a:ext cx="58686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60" dirty="0">
                <a:solidFill>
                  <a:srgbClr val="C00000"/>
                </a:solidFill>
              </a:rPr>
              <a:t>Pointer </a:t>
            </a:r>
            <a:r>
              <a:rPr sz="4000" spc="-245" dirty="0">
                <a:solidFill>
                  <a:srgbClr val="C00000"/>
                </a:solidFill>
              </a:rPr>
              <a:t>to </a:t>
            </a:r>
            <a:r>
              <a:rPr sz="4000" spc="-80" dirty="0">
                <a:solidFill>
                  <a:srgbClr val="C00000"/>
                </a:solidFill>
              </a:rPr>
              <a:t>Constant</a:t>
            </a:r>
            <a:r>
              <a:rPr sz="4000" spc="-285" dirty="0">
                <a:solidFill>
                  <a:srgbClr val="C00000"/>
                </a:solidFill>
              </a:rPr>
              <a:t> </a:t>
            </a:r>
            <a:r>
              <a:rPr sz="4000" spc="-160" dirty="0">
                <a:solidFill>
                  <a:srgbClr val="C00000"/>
                </a:solidFill>
              </a:rPr>
              <a:t>Objects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20623" y="1471930"/>
            <a:ext cx="7790180" cy="3501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Arial" panose="020B0604020202020204"/>
                <a:cs typeface="Arial" panose="020B0604020202020204"/>
              </a:rPr>
              <a:t>These type of pointers are the one which cannot  change the value they are pointing to. This means  they cannot change the value of the variable whose  address they are</a:t>
            </a:r>
            <a:r>
              <a:rPr sz="26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latin typeface="Arial" panose="020B0604020202020204"/>
                <a:cs typeface="Arial" panose="020B0604020202020204"/>
              </a:rPr>
              <a:t>holding.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>
              <a:latin typeface="Arial" panose="020B0604020202020204"/>
              <a:cs typeface="Arial" panose="020B0604020202020204"/>
            </a:endParaRPr>
          </a:p>
          <a:p>
            <a:pPr marL="1741170">
              <a:lnSpc>
                <a:spcPct val="100000"/>
              </a:lnSpc>
            </a:pPr>
            <a:r>
              <a:rPr sz="2600" dirty="0">
                <a:latin typeface="Arial" panose="020B0604020202020204"/>
                <a:cs typeface="Arial" panose="020B0604020202020204"/>
              </a:rPr>
              <a:t>const datatype</a:t>
            </a:r>
            <a:r>
              <a:rPr sz="2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latin typeface="Arial" panose="020B0604020202020204"/>
                <a:cs typeface="Arial" panose="020B0604020202020204"/>
              </a:rPr>
              <a:t>*pointername;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741170" marR="1734185" indent="2673350">
              <a:lnSpc>
                <a:spcPct val="119000"/>
              </a:lnSpc>
            </a:pPr>
            <a:r>
              <a:rPr sz="2600" dirty="0">
                <a:latin typeface="Arial" panose="020B0604020202020204"/>
                <a:cs typeface="Arial" panose="020B0604020202020204"/>
              </a:rPr>
              <a:t>(or)  datatype const</a:t>
            </a:r>
            <a:r>
              <a:rPr sz="26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latin typeface="Arial" panose="020B0604020202020204"/>
                <a:cs typeface="Arial" panose="020B0604020202020204"/>
              </a:rPr>
              <a:t>*pointername;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7614920" cy="3114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>
                <a:solidFill>
                  <a:srgbClr val="C00000"/>
                </a:solidFill>
              </a:rPr>
              <a:t>Example</a:t>
            </a:r>
            <a:endParaRPr sz="4000"/>
          </a:p>
          <a:p>
            <a:pPr marL="286385" marR="5080" algn="just">
              <a:lnSpc>
                <a:spcPct val="150000"/>
              </a:lnSpc>
              <a:spcBef>
                <a:spcPts val="795"/>
              </a:spcBef>
            </a:pPr>
            <a:r>
              <a:rPr sz="2600" spc="5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26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pointer variable </a:t>
            </a:r>
            <a:r>
              <a:rPr sz="2600" spc="-5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is </a:t>
            </a:r>
            <a:r>
              <a:rPr sz="26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declared as a const. </a:t>
            </a:r>
            <a:r>
              <a:rPr sz="2600" spc="-5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We  </a:t>
            </a:r>
            <a:r>
              <a:rPr sz="26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can change address of such pointer so that </a:t>
            </a:r>
            <a:r>
              <a:rPr sz="2600" spc="-5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it </a:t>
            </a:r>
            <a:r>
              <a:rPr sz="26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will  point </a:t>
            </a:r>
            <a:r>
              <a:rPr sz="2600" spc="-5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26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new </a:t>
            </a:r>
            <a:r>
              <a:rPr sz="2600" spc="-5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memory </a:t>
            </a:r>
            <a:r>
              <a:rPr sz="26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location, but pointer </a:t>
            </a:r>
            <a:r>
              <a:rPr sz="2600" spc="-5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26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such  object cannot be modified</a:t>
            </a:r>
            <a:r>
              <a:rPr sz="2600" spc="-3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5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(*ptr).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314401"/>
            <a:ext cx="185356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>
                <a:solidFill>
                  <a:srgbClr val="C00000"/>
                </a:solidFill>
              </a:rPr>
              <a:t>Example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611123" y="1124711"/>
            <a:ext cx="7776972" cy="525627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38360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0" dirty="0">
                <a:solidFill>
                  <a:srgbClr val="C00000"/>
                </a:solidFill>
              </a:rPr>
              <a:t>Constant</a:t>
            </a:r>
            <a:r>
              <a:rPr sz="4000" spc="-285" dirty="0">
                <a:solidFill>
                  <a:srgbClr val="C00000"/>
                </a:solidFill>
              </a:rPr>
              <a:t> </a:t>
            </a:r>
            <a:r>
              <a:rPr sz="4000" spc="-105" dirty="0">
                <a:solidFill>
                  <a:srgbClr val="C00000"/>
                </a:solidFill>
              </a:rPr>
              <a:t>Pointers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052880" y="1433830"/>
            <a:ext cx="7567295" cy="3898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8580" algn="just">
              <a:lnSpc>
                <a:spcPct val="100000"/>
              </a:lnSpc>
              <a:spcBef>
                <a:spcPts val="105"/>
              </a:spcBef>
            </a:pP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Constant 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pointers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are </a:t>
            </a: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one </a:t>
            </a:r>
            <a:r>
              <a:rPr sz="2600" spc="-145" dirty="0">
                <a:latin typeface="Times New Roman" panose="02020603050405020304"/>
                <a:cs typeface="Times New Roman" panose="02020603050405020304"/>
              </a:rPr>
              <a:t>which 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cannot </a:t>
            </a:r>
            <a:r>
              <a:rPr sz="2600" spc="-155" dirty="0">
                <a:latin typeface="Times New Roman" panose="02020603050405020304"/>
                <a:cs typeface="Times New Roman" panose="02020603050405020304"/>
              </a:rPr>
              <a:t>change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address 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they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are 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pointing </a:t>
            </a:r>
            <a:r>
              <a:rPr sz="2600" spc="-35" dirty="0">
                <a:latin typeface="Times New Roman" panose="02020603050405020304"/>
                <a:cs typeface="Times New Roman" panose="02020603050405020304"/>
              </a:rPr>
              <a:t>to. </a:t>
            </a:r>
            <a:r>
              <a:rPr sz="2600" spc="-155" dirty="0">
                <a:latin typeface="Times New Roman" panose="02020603050405020304"/>
                <a:cs typeface="Times New Roman" panose="02020603050405020304"/>
              </a:rPr>
              <a:t>This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means </a:t>
            </a: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that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suppose </a:t>
            </a:r>
            <a:r>
              <a:rPr sz="2600" spc="-70" dirty="0">
                <a:latin typeface="Times New Roman" panose="02020603050405020304"/>
                <a:cs typeface="Times New Roman" panose="02020603050405020304"/>
              </a:rPr>
              <a:t>there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pointer  </a:t>
            </a:r>
            <a:r>
              <a:rPr sz="2600" spc="-140" dirty="0">
                <a:latin typeface="Times New Roman" panose="02020603050405020304"/>
                <a:cs typeface="Times New Roman" panose="02020603050405020304"/>
              </a:rPr>
              <a:t>which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points </a:t>
            </a:r>
            <a:r>
              <a:rPr sz="2600" spc="-4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00" spc="-140" dirty="0">
                <a:latin typeface="Times New Roman" panose="02020603050405020304"/>
                <a:cs typeface="Times New Roman" panose="02020603050405020304"/>
              </a:rPr>
              <a:t>variable </a:t>
            </a:r>
            <a:r>
              <a:rPr sz="2600" spc="-45" dirty="0">
                <a:latin typeface="Times New Roman" panose="02020603050405020304"/>
                <a:cs typeface="Times New Roman" panose="02020603050405020304"/>
              </a:rPr>
              <a:t>(or </a:t>
            </a:r>
            <a:r>
              <a:rPr sz="2600" spc="-95" dirty="0">
                <a:latin typeface="Times New Roman" panose="02020603050405020304"/>
                <a:cs typeface="Times New Roman" panose="02020603050405020304"/>
              </a:rPr>
              <a:t>stores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address </a:t>
            </a:r>
            <a:r>
              <a:rPr sz="2600" spc="-15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that 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variable). </a:t>
            </a:r>
            <a:r>
              <a:rPr sz="2600" spc="-190" dirty="0">
                <a:latin typeface="Times New Roman" panose="02020603050405020304"/>
                <a:cs typeface="Times New Roman" panose="02020603050405020304"/>
              </a:rPr>
              <a:t>If </a:t>
            </a:r>
            <a:r>
              <a:rPr sz="2600" spc="-170" dirty="0">
                <a:latin typeface="Times New Roman" panose="02020603050405020304"/>
                <a:cs typeface="Times New Roman" panose="02020603050405020304"/>
              </a:rPr>
              <a:t>we </a:t>
            </a:r>
            <a:r>
              <a:rPr sz="2600" spc="-45" dirty="0">
                <a:latin typeface="Times New Roman" panose="02020603050405020304"/>
                <a:cs typeface="Times New Roman" panose="02020603050405020304"/>
              </a:rPr>
              <a:t>try </a:t>
            </a:r>
            <a:r>
              <a:rPr sz="2600" spc="-4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point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pointer </a:t>
            </a:r>
            <a:r>
              <a:rPr sz="2600" spc="-4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00" spc="-140" dirty="0">
                <a:latin typeface="Times New Roman" panose="02020603050405020304"/>
                <a:cs typeface="Times New Roman" panose="02020603050405020304"/>
              </a:rPr>
              <a:t>some </a:t>
            </a:r>
            <a:r>
              <a:rPr sz="2600" spc="-65" dirty="0">
                <a:latin typeface="Times New Roman" panose="02020603050405020304"/>
                <a:cs typeface="Times New Roman" panose="02020603050405020304"/>
              </a:rPr>
              <a:t>other 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variable,  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then </a:t>
            </a:r>
            <a:r>
              <a:rPr sz="2600" spc="-45" dirty="0">
                <a:latin typeface="Times New Roman" panose="02020603050405020304"/>
                <a:cs typeface="Times New Roman" panose="02020603050405020304"/>
              </a:rPr>
              <a:t>it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65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2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possible.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867410" marR="4267200" indent="-640080">
              <a:lnSpc>
                <a:spcPct val="119000"/>
              </a:lnSpc>
            </a:pP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int* 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const </a:t>
            </a:r>
            <a:r>
              <a:rPr sz="2600" spc="-90" dirty="0">
                <a:latin typeface="Times New Roman" panose="02020603050405020304"/>
                <a:cs typeface="Times New Roman" panose="02020603050405020304"/>
              </a:rPr>
              <a:t>ptr=&amp;variable;  </a:t>
            </a:r>
            <a:r>
              <a:rPr sz="2600" spc="-45" dirty="0">
                <a:latin typeface="Times New Roman" panose="02020603050405020304"/>
                <a:cs typeface="Times New Roman" panose="02020603050405020304"/>
              </a:rPr>
              <a:t>(or)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27330">
              <a:lnSpc>
                <a:spcPct val="100000"/>
              </a:lnSpc>
              <a:spcBef>
                <a:spcPts val="600"/>
              </a:spcBef>
            </a:pPr>
            <a:r>
              <a:rPr sz="2600" spc="-65" dirty="0">
                <a:latin typeface="Times New Roman" panose="02020603050405020304"/>
                <a:cs typeface="Times New Roman" panose="02020603050405020304"/>
              </a:rPr>
              <a:t>int </a:t>
            </a: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*const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ptr=&amp;variable </a:t>
            </a:r>
            <a:r>
              <a:rPr sz="2600" spc="585" dirty="0">
                <a:latin typeface="Times New Roman" panose="02020603050405020304"/>
                <a:cs typeface="Times New Roman" panose="02020603050405020304"/>
              </a:rPr>
              <a:t>// </a:t>
            </a:r>
            <a:r>
              <a:rPr sz="2600" spc="-20" dirty="0">
                <a:latin typeface="Times New Roman" panose="02020603050405020304"/>
                <a:cs typeface="Times New Roman" panose="02020603050405020304"/>
              </a:rPr>
              <a:t>ptr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constant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600" spc="-3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600" spc="-40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65" dirty="0">
                <a:latin typeface="Times New Roman" panose="02020603050405020304"/>
                <a:cs typeface="Times New Roman" panose="02020603050405020304"/>
              </a:rPr>
              <a:t>int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6576" y="400938"/>
            <a:ext cx="25025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20" dirty="0">
                <a:solidFill>
                  <a:srgbClr val="C00000"/>
                </a:solidFill>
              </a:rPr>
              <a:t>Null</a:t>
            </a:r>
            <a:r>
              <a:rPr sz="4000" spc="-300" dirty="0">
                <a:solidFill>
                  <a:srgbClr val="C00000"/>
                </a:solidFill>
              </a:rPr>
              <a:t> </a:t>
            </a:r>
            <a:r>
              <a:rPr sz="4000" spc="-165" dirty="0">
                <a:solidFill>
                  <a:srgbClr val="C00000"/>
                </a:solidFill>
              </a:rPr>
              <a:t>pointer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358613"/>
            <a:ext cx="7518400" cy="325691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695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215" dirty="0">
                <a:latin typeface="Times New Roman" panose="02020603050405020304"/>
                <a:cs typeface="Times New Roman" panose="02020603050405020304"/>
              </a:rPr>
              <a:t>NULL </a:t>
            </a:r>
            <a:r>
              <a:rPr sz="2600" spc="-95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600" spc="-140" dirty="0">
                <a:latin typeface="Times New Roman" panose="02020603050405020304"/>
                <a:cs typeface="Times New Roman" panose="02020603050405020304"/>
              </a:rPr>
              <a:t>which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pointing </a:t>
            </a:r>
            <a:r>
              <a:rPr sz="2600" spc="-3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600" spc="5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nothing.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90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600" spc="-140" dirty="0">
                <a:latin typeface="Times New Roman" panose="02020603050405020304"/>
                <a:cs typeface="Times New Roman" panose="02020603050405020304"/>
              </a:rPr>
              <a:t>which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initialized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2600" spc="-215" dirty="0">
                <a:latin typeface="Times New Roman" panose="02020603050405020304"/>
                <a:cs typeface="Times New Roman" panose="02020603050405020304"/>
              </a:rPr>
              <a:t>NULL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value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considered </a:t>
            </a:r>
            <a:r>
              <a:rPr sz="2600" spc="-395" dirty="0">
                <a:latin typeface="Times New Roman" panose="02020603050405020304"/>
                <a:cs typeface="Times New Roman" panose="02020603050405020304"/>
              </a:rPr>
              <a:t>as  </a:t>
            </a:r>
            <a:r>
              <a:rPr sz="2600" spc="-215" dirty="0">
                <a:latin typeface="Times New Roman" panose="02020603050405020304"/>
                <a:cs typeface="Times New Roman" panose="02020603050405020304"/>
              </a:rPr>
              <a:t>NULL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pointer.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 marR="3213100">
              <a:lnSpc>
                <a:spcPct val="238000"/>
              </a:lnSpc>
            </a:pP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datatype </a:t>
            </a: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*pointer_variable=0; 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datatype</a:t>
            </a:r>
            <a:r>
              <a:rPr sz="2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*pointer_variable=NULL;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185356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>
                <a:solidFill>
                  <a:srgbClr val="C00000"/>
                </a:solidFill>
              </a:rPr>
              <a:t>Example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999744" y="1412747"/>
            <a:ext cx="7171944" cy="496824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38455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60" dirty="0">
                <a:solidFill>
                  <a:srgbClr val="C00000"/>
                </a:solidFill>
              </a:rPr>
              <a:t>Pointer</a:t>
            </a:r>
            <a:r>
              <a:rPr sz="4000" spc="-240" dirty="0">
                <a:solidFill>
                  <a:srgbClr val="C00000"/>
                </a:solidFill>
              </a:rPr>
              <a:t> </a:t>
            </a:r>
            <a:r>
              <a:rPr sz="4000" spc="-195" dirty="0">
                <a:solidFill>
                  <a:srgbClr val="C00000"/>
                </a:solidFill>
              </a:rPr>
              <a:t>Arithmetic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496809" cy="4305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75945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C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allows you </a:t>
            </a:r>
            <a:r>
              <a:rPr sz="260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perform </a:t>
            </a:r>
            <a:r>
              <a:rPr sz="2600" spc="-140" dirty="0">
                <a:latin typeface="Times New Roman" panose="02020603050405020304"/>
                <a:cs typeface="Times New Roman" panose="02020603050405020304"/>
              </a:rPr>
              <a:t>some </a:t>
            </a:r>
            <a:r>
              <a:rPr sz="2600" spc="-90" dirty="0">
                <a:latin typeface="Times New Roman" panose="02020603050405020304"/>
                <a:cs typeface="Times New Roman" panose="02020603050405020304"/>
              </a:rPr>
              <a:t>arithmetic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operations </a:t>
            </a:r>
            <a:r>
              <a:rPr sz="2600" spc="-300" dirty="0">
                <a:latin typeface="Times New Roman" panose="02020603050405020304"/>
                <a:cs typeface="Times New Roman" panose="02020603050405020304"/>
              </a:rPr>
              <a:t>on  </a:t>
            </a:r>
            <a:r>
              <a:rPr sz="2600" spc="-70" dirty="0">
                <a:latin typeface="Times New Roman" panose="02020603050405020304"/>
                <a:cs typeface="Times New Roman" panose="02020603050405020304"/>
              </a:rPr>
              <a:t>pointers.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b="1" spc="5" dirty="0">
                <a:latin typeface="Times New Roman" panose="02020603050405020304"/>
                <a:cs typeface="Times New Roman" panose="02020603050405020304"/>
              </a:rPr>
              <a:t>Incrementing </a:t>
            </a:r>
            <a:r>
              <a:rPr sz="2600" b="1" spc="-11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00" b="1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25" dirty="0">
                <a:latin typeface="Times New Roman" panose="02020603050405020304"/>
                <a:cs typeface="Times New Roman" panose="02020603050405020304"/>
              </a:rPr>
              <a:t>pointer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86385" marR="5080">
              <a:lnSpc>
                <a:spcPct val="100000"/>
              </a:lnSpc>
              <a:spcBef>
                <a:spcPts val="600"/>
              </a:spcBef>
              <a:tabLst>
                <a:tab pos="1359535" algn="l"/>
              </a:tabLst>
            </a:pP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Incrementing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00" spc="-70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one </a:t>
            </a:r>
            <a:r>
              <a:rPr sz="2600" spc="-140" dirty="0">
                <a:latin typeface="Times New Roman" panose="02020603050405020304"/>
                <a:cs typeface="Times New Roman" panose="02020603050405020304"/>
              </a:rPr>
              <a:t>which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increases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number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 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bytes</a:t>
            </a:r>
            <a:r>
              <a:rPr sz="2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	</a:t>
            </a:r>
            <a:r>
              <a:rPr sz="2600" spc="-95" dirty="0">
                <a:latin typeface="Times New Roman" panose="02020603050405020304"/>
                <a:cs typeface="Times New Roman" panose="02020603050405020304"/>
              </a:rPr>
              <a:t>its </a:t>
            </a:r>
            <a:r>
              <a:rPr sz="2600" spc="-13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70" dirty="0">
                <a:latin typeface="Times New Roman" panose="02020603050405020304"/>
                <a:cs typeface="Times New Roman" panose="02020603050405020304"/>
              </a:rPr>
              <a:t>type.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606425">
              <a:lnSpc>
                <a:spcPct val="100000"/>
              </a:lnSpc>
              <a:spcBef>
                <a:spcPts val="480"/>
              </a:spcBef>
            </a:pPr>
            <a:r>
              <a:rPr sz="2000" b="1" spc="-1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nt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*ptr;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606425">
              <a:lnSpc>
                <a:spcPct val="100000"/>
              </a:lnSpc>
              <a:spcBef>
                <a:spcPts val="410"/>
              </a:spcBef>
            </a:pPr>
            <a:r>
              <a:rPr sz="2000" spc="-55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a[]={1,2,3};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606425">
              <a:lnSpc>
                <a:spcPct val="100000"/>
              </a:lnSpc>
              <a:spcBef>
                <a:spcPts val="395"/>
              </a:spcBef>
            </a:pP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ptr=&amp;a;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606425">
              <a:lnSpc>
                <a:spcPct val="100000"/>
              </a:lnSpc>
              <a:spcBef>
                <a:spcPts val="395"/>
              </a:spcBef>
            </a:pPr>
            <a:r>
              <a:rPr sz="2000" b="1" spc="35" dirty="0">
                <a:latin typeface="Times New Roman" panose="02020603050405020304"/>
                <a:cs typeface="Times New Roman" panose="02020603050405020304"/>
              </a:rPr>
              <a:t>ptr++;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606425">
              <a:lnSpc>
                <a:spcPct val="100000"/>
              </a:lnSpc>
              <a:spcBef>
                <a:spcPts val="410"/>
              </a:spcBef>
            </a:pP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ptr=&amp;a;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606425">
              <a:lnSpc>
                <a:spcPct val="100000"/>
              </a:lnSpc>
              <a:spcBef>
                <a:spcPts val="400"/>
              </a:spcBef>
            </a:pPr>
            <a:r>
              <a:rPr sz="2000" b="1" spc="10" dirty="0">
                <a:latin typeface="Times New Roman" panose="02020603050405020304"/>
                <a:cs typeface="Times New Roman" panose="02020603050405020304"/>
              </a:rPr>
              <a:t>ptr=ptr+1;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38455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60" dirty="0">
                <a:solidFill>
                  <a:srgbClr val="C00000"/>
                </a:solidFill>
              </a:rPr>
              <a:t>Pointer</a:t>
            </a:r>
            <a:r>
              <a:rPr sz="4000" spc="-240" dirty="0">
                <a:solidFill>
                  <a:srgbClr val="C00000"/>
                </a:solidFill>
              </a:rPr>
              <a:t> </a:t>
            </a:r>
            <a:r>
              <a:rPr sz="4000" spc="-195" dirty="0">
                <a:solidFill>
                  <a:srgbClr val="C00000"/>
                </a:solidFill>
              </a:rPr>
              <a:t>Arithmetic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837385"/>
            <a:ext cx="7360284" cy="3743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570" dirty="0">
                <a:solidFill>
                  <a:srgbClr val="D24717"/>
                </a:solidFill>
                <a:latin typeface="Arial" panose="020B0604020202020204"/>
                <a:cs typeface="Arial" panose="020B0604020202020204"/>
              </a:rPr>
              <a:t></a:t>
            </a:r>
            <a:r>
              <a:rPr sz="2200" spc="-530" dirty="0">
                <a:solidFill>
                  <a:srgbClr val="D2471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15" dirty="0">
                <a:latin typeface="Times New Roman" panose="02020603050405020304"/>
                <a:cs typeface="Times New Roman" panose="02020603050405020304"/>
              </a:rPr>
              <a:t>Decrementing </a:t>
            </a:r>
            <a:r>
              <a:rPr sz="2600" b="1" spc="-11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00" b="1" spc="-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15" dirty="0">
                <a:latin typeface="Times New Roman" panose="02020603050405020304"/>
                <a:cs typeface="Times New Roman" panose="02020603050405020304"/>
              </a:rPr>
              <a:t>Pointer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500">
              <a:latin typeface="Times New Roman" panose="02020603050405020304"/>
              <a:cs typeface="Times New Roman" panose="02020603050405020304"/>
            </a:endParaRPr>
          </a:p>
          <a:p>
            <a:pPr marL="286385" marR="5080">
              <a:lnSpc>
                <a:spcPts val="2810"/>
              </a:lnSpc>
              <a:tabLst>
                <a:tab pos="1668780" algn="l"/>
              </a:tabLst>
            </a:pP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Decrementing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one </a:t>
            </a:r>
            <a:r>
              <a:rPr sz="2600" spc="-140" dirty="0">
                <a:latin typeface="Times New Roman" panose="02020603050405020304"/>
                <a:cs typeface="Times New Roman" panose="02020603050405020304"/>
              </a:rPr>
              <a:t>which </a:t>
            </a:r>
            <a:r>
              <a:rPr sz="2600" spc="-130" dirty="0">
                <a:latin typeface="Times New Roman" panose="02020603050405020304"/>
                <a:cs typeface="Times New Roman" panose="02020603050405020304"/>
              </a:rPr>
              <a:t>decreases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number 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bytes</a:t>
            </a:r>
            <a:r>
              <a:rPr sz="2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	</a:t>
            </a:r>
            <a:r>
              <a:rPr sz="2600" spc="-95" dirty="0">
                <a:latin typeface="Times New Roman" panose="02020603050405020304"/>
                <a:cs typeface="Times New Roman" panose="02020603050405020304"/>
              </a:rPr>
              <a:t>its </a:t>
            </a:r>
            <a:r>
              <a:rPr sz="2600" spc="-13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70" dirty="0">
                <a:latin typeface="Times New Roman" panose="02020603050405020304"/>
                <a:cs typeface="Times New Roman" panose="02020603050405020304"/>
              </a:rPr>
              <a:t>type.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Using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Unary</a:t>
            </a:r>
            <a:r>
              <a:rPr sz="2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60" dirty="0">
                <a:latin typeface="Times New Roman" panose="02020603050405020304"/>
                <a:cs typeface="Times New Roman" panose="02020603050405020304"/>
              </a:rPr>
              <a:t>Operator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606425">
              <a:lnSpc>
                <a:spcPct val="100000"/>
              </a:lnSpc>
              <a:spcBef>
                <a:spcPts val="215"/>
              </a:spcBef>
            </a:pPr>
            <a:r>
              <a:rPr sz="2000" b="1" spc="-1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nt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*ptr;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606425">
              <a:lnSpc>
                <a:spcPct val="100000"/>
              </a:lnSpc>
              <a:spcBef>
                <a:spcPts val="165"/>
              </a:spcBef>
            </a:pPr>
            <a:r>
              <a:rPr sz="2000" spc="-55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a[]={1,2,3};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606425">
              <a:lnSpc>
                <a:spcPct val="100000"/>
              </a:lnSpc>
              <a:spcBef>
                <a:spcPts val="160"/>
              </a:spcBef>
            </a:pP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ptr=&amp;a;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606425">
              <a:lnSpc>
                <a:spcPct val="100000"/>
              </a:lnSpc>
              <a:spcBef>
                <a:spcPts val="155"/>
              </a:spcBef>
            </a:pP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ptr--;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56793"/>
            <a:ext cx="68891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20" dirty="0">
                <a:solidFill>
                  <a:srgbClr val="C00000"/>
                </a:solidFill>
              </a:rPr>
              <a:t>Limitations </a:t>
            </a:r>
            <a:r>
              <a:rPr sz="4000" spc="-180" dirty="0">
                <a:solidFill>
                  <a:srgbClr val="C00000"/>
                </a:solidFill>
              </a:rPr>
              <a:t>of </a:t>
            </a:r>
            <a:r>
              <a:rPr sz="4000" spc="-160" dirty="0">
                <a:solidFill>
                  <a:srgbClr val="C00000"/>
                </a:solidFill>
              </a:rPr>
              <a:t>Pointer</a:t>
            </a:r>
            <a:r>
              <a:rPr sz="4000" spc="-345" dirty="0">
                <a:solidFill>
                  <a:srgbClr val="C00000"/>
                </a:solidFill>
              </a:rPr>
              <a:t> </a:t>
            </a:r>
            <a:r>
              <a:rPr sz="4000" spc="-195" dirty="0">
                <a:solidFill>
                  <a:srgbClr val="C00000"/>
                </a:solidFill>
              </a:rPr>
              <a:t>Arithmetic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18540" y="1069086"/>
            <a:ext cx="7766050" cy="5285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6385" algn="l"/>
                <a:tab pos="287020" algn="l"/>
              </a:tabLst>
            </a:pPr>
            <a:r>
              <a:rPr sz="2000" spc="-100" dirty="0">
                <a:latin typeface="Times New Roman" panose="02020603050405020304"/>
                <a:cs typeface="Times New Roman" panose="02020603050405020304"/>
              </a:rPr>
              <a:t>Addition </a:t>
            </a:r>
            <a:r>
              <a:rPr sz="2000" spc="-114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000" spc="-85" dirty="0">
                <a:latin typeface="Times New Roman" panose="02020603050405020304"/>
                <a:cs typeface="Times New Roman" panose="02020603050405020304"/>
              </a:rPr>
              <a:t>2 </a:t>
            </a:r>
            <a:r>
              <a:rPr sz="2000" spc="-65" dirty="0">
                <a:latin typeface="Times New Roman" panose="02020603050405020304"/>
                <a:cs typeface="Times New Roman" panose="02020603050405020304"/>
              </a:rPr>
              <a:t>pointers </a:t>
            </a:r>
            <a:r>
              <a:rPr sz="2000" spc="-12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2000" spc="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20" dirty="0">
                <a:latin typeface="Times New Roman" panose="02020603050405020304"/>
                <a:cs typeface="Times New Roman" panose="02020603050405020304"/>
              </a:rPr>
              <a:t>allowed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87020" indent="-274320">
              <a:lnSpc>
                <a:spcPct val="100000"/>
              </a:lnSpc>
              <a:spcBef>
                <a:spcPts val="1560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6385" algn="l"/>
                <a:tab pos="287020" algn="l"/>
              </a:tabLst>
            </a:pPr>
            <a:r>
              <a:rPr sz="2000" spc="-100" dirty="0">
                <a:latin typeface="Times New Roman" panose="02020603050405020304"/>
                <a:cs typeface="Times New Roman" panose="02020603050405020304"/>
              </a:rPr>
              <a:t>Addition </a:t>
            </a:r>
            <a:r>
              <a:rPr sz="2000" spc="-114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000" spc="-160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000" spc="-55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000" spc="-114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000" spc="-125" dirty="0">
                <a:latin typeface="Times New Roman" panose="02020603050405020304"/>
                <a:cs typeface="Times New Roman" panose="02020603050405020304"/>
              </a:rPr>
              <a:t>an </a:t>
            </a:r>
            <a:r>
              <a:rPr sz="2000" spc="-65" dirty="0">
                <a:latin typeface="Times New Roman" panose="02020603050405020304"/>
                <a:cs typeface="Times New Roman" panose="02020603050405020304"/>
              </a:rPr>
              <a:t>integer </a:t>
            </a:r>
            <a:r>
              <a:rPr sz="2000" spc="-12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000" spc="-100" dirty="0">
                <a:latin typeface="Times New Roman" panose="02020603050405020304"/>
                <a:cs typeface="Times New Roman" panose="02020603050405020304"/>
              </a:rPr>
              <a:t>commutative </a:t>
            </a:r>
            <a:r>
              <a:rPr sz="2000" spc="25" dirty="0">
                <a:latin typeface="Times New Roman" panose="02020603050405020304"/>
                <a:cs typeface="Times New Roman" panose="02020603050405020304"/>
              </a:rPr>
              <a:t>ptr+5</a:t>
            </a:r>
            <a:r>
              <a:rPr sz="2000" b="1" spc="25" dirty="0">
                <a:latin typeface="Times New Roman" panose="02020603050405020304"/>
                <a:cs typeface="Times New Roman" panose="02020603050405020304"/>
              </a:rPr>
              <a:t>ó</a:t>
            </a:r>
            <a:r>
              <a:rPr sz="2000" b="1" spc="4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15" dirty="0">
                <a:latin typeface="Times New Roman" panose="02020603050405020304"/>
                <a:cs typeface="Times New Roman" panose="02020603050405020304"/>
              </a:rPr>
              <a:t>5+ptr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87020" indent="-274320">
              <a:lnSpc>
                <a:spcPct val="100000"/>
              </a:lnSpc>
              <a:spcBef>
                <a:spcPts val="1560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6385" algn="l"/>
                <a:tab pos="287020" algn="l"/>
              </a:tabLst>
            </a:pPr>
            <a:r>
              <a:rPr sz="2000" spc="-85" dirty="0">
                <a:latin typeface="Times New Roman" panose="02020603050405020304"/>
                <a:cs typeface="Times New Roman" panose="02020603050405020304"/>
              </a:rPr>
              <a:t>Subtraction </a:t>
            </a:r>
            <a:r>
              <a:rPr sz="2000" spc="-12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000" spc="-85" dirty="0">
                <a:latin typeface="Times New Roman" panose="02020603050405020304"/>
                <a:cs typeface="Times New Roman" panose="02020603050405020304"/>
              </a:rPr>
              <a:t>2 </a:t>
            </a:r>
            <a:r>
              <a:rPr sz="2000" spc="-65" dirty="0">
                <a:latin typeface="Times New Roman" panose="02020603050405020304"/>
                <a:cs typeface="Times New Roman" panose="02020603050405020304"/>
              </a:rPr>
              <a:t>pointers </a:t>
            </a:r>
            <a:r>
              <a:rPr sz="2000" spc="-12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0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0" dirty="0">
                <a:latin typeface="Times New Roman" panose="02020603050405020304"/>
                <a:cs typeface="Times New Roman" panose="02020603050405020304"/>
              </a:rPr>
              <a:t>applicable.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87020" indent="-274320">
              <a:lnSpc>
                <a:spcPct val="100000"/>
              </a:lnSpc>
              <a:spcBef>
                <a:spcPts val="1555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6385" algn="l"/>
                <a:tab pos="287020" algn="l"/>
              </a:tabLst>
            </a:pPr>
            <a:r>
              <a:rPr sz="2000" spc="-75" dirty="0">
                <a:latin typeface="Times New Roman" panose="02020603050405020304"/>
                <a:cs typeface="Times New Roman" panose="02020603050405020304"/>
              </a:rPr>
              <a:t>subtraction </a:t>
            </a:r>
            <a:r>
              <a:rPr sz="2000" spc="-114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000" spc="-15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000" spc="-110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000" spc="-125" dirty="0">
                <a:latin typeface="Times New Roman" panose="02020603050405020304"/>
                <a:cs typeface="Times New Roman" panose="02020603050405020304"/>
              </a:rPr>
              <a:t>an </a:t>
            </a:r>
            <a:r>
              <a:rPr sz="2000" spc="-65" dirty="0">
                <a:latin typeface="Times New Roman" panose="02020603050405020304"/>
                <a:cs typeface="Times New Roman" panose="02020603050405020304"/>
              </a:rPr>
              <a:t>integer </a:t>
            </a:r>
            <a:r>
              <a:rPr sz="2000" spc="-12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not </a:t>
            </a:r>
            <a:r>
              <a:rPr sz="2000" spc="-100" dirty="0">
                <a:latin typeface="Times New Roman" panose="02020603050405020304"/>
                <a:cs typeface="Times New Roman" panose="02020603050405020304"/>
              </a:rPr>
              <a:t>commutative 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ptr-</a:t>
            </a:r>
            <a:r>
              <a:rPr sz="2000" b="1" spc="-45" dirty="0">
                <a:latin typeface="Arial" panose="020B0604020202020204"/>
                <a:cs typeface="Arial" panose="020B0604020202020204"/>
              </a:rPr>
              <a:t>5≠</a:t>
            </a:r>
            <a:r>
              <a:rPr sz="2000" b="1" spc="38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65" dirty="0">
                <a:latin typeface="Arial" panose="020B0604020202020204"/>
                <a:cs typeface="Arial" panose="020B0604020202020204"/>
              </a:rPr>
              <a:t>5</a:t>
            </a:r>
            <a:r>
              <a:rPr sz="2000" spc="-65" dirty="0">
                <a:latin typeface="Times New Roman" panose="02020603050405020304"/>
                <a:cs typeface="Times New Roman" panose="02020603050405020304"/>
              </a:rPr>
              <a:t>-ptr.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87020" marR="5080" indent="-274320">
              <a:lnSpc>
                <a:spcPct val="140000"/>
              </a:lnSpc>
              <a:spcBef>
                <a:spcPts val="605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6385" algn="l"/>
                <a:tab pos="287020" algn="l"/>
              </a:tabLst>
            </a:pPr>
            <a:r>
              <a:rPr sz="2000" spc="-90" dirty="0">
                <a:latin typeface="Times New Roman" panose="02020603050405020304"/>
                <a:cs typeface="Times New Roman" panose="02020603050405020304"/>
              </a:rPr>
              <a:t>Only </a:t>
            </a:r>
            <a:r>
              <a:rPr sz="2000" spc="-75" dirty="0">
                <a:latin typeface="Times New Roman" panose="02020603050405020304"/>
                <a:cs typeface="Times New Roman" panose="02020603050405020304"/>
              </a:rPr>
              <a:t>integers </a:t>
            </a:r>
            <a:r>
              <a:rPr sz="2000" spc="-120" dirty="0">
                <a:latin typeface="Times New Roman" panose="02020603050405020304"/>
                <a:cs typeface="Times New Roman" panose="02020603050405020304"/>
              </a:rPr>
              <a:t>can </a:t>
            </a:r>
            <a:r>
              <a:rPr sz="2000" spc="-90" dirty="0"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2000" spc="-100" dirty="0">
                <a:latin typeface="Times New Roman" panose="02020603050405020304"/>
                <a:cs typeface="Times New Roman" panose="02020603050405020304"/>
              </a:rPr>
              <a:t>added 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000" spc="-65" dirty="0">
                <a:latin typeface="Times New Roman" panose="02020603050405020304"/>
                <a:cs typeface="Times New Roman" panose="02020603050405020304"/>
              </a:rPr>
              <a:t>pointer. 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It </a:t>
            </a:r>
            <a:r>
              <a:rPr sz="2000" spc="-12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not </a:t>
            </a:r>
            <a:r>
              <a:rPr sz="2000" spc="-125" dirty="0">
                <a:latin typeface="Times New Roman" panose="02020603050405020304"/>
                <a:cs typeface="Times New Roman" panose="02020603050405020304"/>
              </a:rPr>
              <a:t>valid 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000" spc="-110" dirty="0">
                <a:latin typeface="Times New Roman" panose="02020603050405020304"/>
                <a:cs typeface="Times New Roman" panose="02020603050405020304"/>
              </a:rPr>
              <a:t>add </a:t>
            </a:r>
            <a:r>
              <a:rPr sz="2000" spc="-160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float 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double </a:t>
            </a:r>
            <a:r>
              <a:rPr sz="2000" spc="-125" dirty="0">
                <a:latin typeface="Times New Roman" panose="02020603050405020304"/>
                <a:cs typeface="Times New Roman" panose="02020603050405020304"/>
              </a:rPr>
              <a:t>value  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000" spc="-16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65" dirty="0">
                <a:latin typeface="Times New Roman" panose="02020603050405020304"/>
                <a:cs typeface="Times New Roman" panose="02020603050405020304"/>
              </a:rPr>
              <a:t>pointer.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87020" indent="-274320">
              <a:lnSpc>
                <a:spcPct val="100000"/>
              </a:lnSpc>
              <a:spcBef>
                <a:spcPts val="1560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6385" algn="l"/>
                <a:tab pos="287020" algn="l"/>
              </a:tabLst>
            </a:pPr>
            <a:r>
              <a:rPr sz="2000" spc="-254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000" spc="-110" dirty="0">
                <a:latin typeface="Times New Roman" panose="02020603050405020304"/>
                <a:cs typeface="Times New Roman" panose="02020603050405020304"/>
              </a:rPr>
              <a:t>variable </a:t>
            </a:r>
            <a:r>
              <a:rPr sz="2000" spc="-90" dirty="0">
                <a:latin typeface="Times New Roman" panose="02020603050405020304"/>
                <a:cs typeface="Times New Roman" panose="02020603050405020304"/>
              </a:rPr>
              <a:t>cannot be </a:t>
            </a:r>
            <a:r>
              <a:rPr sz="2000" spc="-125" dirty="0">
                <a:latin typeface="Times New Roman" panose="02020603050405020304"/>
                <a:cs typeface="Times New Roman" panose="02020603050405020304"/>
              </a:rPr>
              <a:t>assigned </a:t>
            </a:r>
            <a:r>
              <a:rPr sz="2000" spc="-15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000" spc="-90" dirty="0">
                <a:latin typeface="Times New Roman" panose="02020603050405020304"/>
                <a:cs typeface="Times New Roman" panose="02020603050405020304"/>
              </a:rPr>
              <a:t>non </a:t>
            </a:r>
            <a:r>
              <a:rPr sz="2000" spc="-105" dirty="0">
                <a:latin typeface="Times New Roman" panose="02020603050405020304"/>
                <a:cs typeface="Times New Roman" panose="02020603050405020304"/>
              </a:rPr>
              <a:t>address </a:t>
            </a:r>
            <a:r>
              <a:rPr sz="2000" spc="-125" dirty="0">
                <a:latin typeface="Times New Roman" panose="02020603050405020304"/>
                <a:cs typeface="Times New Roman" panose="02020603050405020304"/>
              </a:rPr>
              <a:t>value </a:t>
            </a:r>
            <a:r>
              <a:rPr sz="2000" spc="-70" dirty="0">
                <a:latin typeface="Times New Roman" panose="02020603050405020304"/>
                <a:cs typeface="Times New Roman" panose="02020603050405020304"/>
              </a:rPr>
              <a:t>except</a:t>
            </a:r>
            <a:r>
              <a:rPr sz="2000" spc="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70" dirty="0">
                <a:latin typeface="Times New Roman" panose="02020603050405020304"/>
                <a:cs typeface="Times New Roman" panose="02020603050405020304"/>
              </a:rPr>
              <a:t>zero.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87020" indent="-274320">
              <a:lnSpc>
                <a:spcPct val="100000"/>
              </a:lnSpc>
              <a:spcBef>
                <a:spcPts val="1560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6385" algn="l"/>
                <a:tab pos="287020" algn="l"/>
              </a:tabLst>
            </a:pPr>
            <a:r>
              <a:rPr sz="2000" spc="-95" dirty="0">
                <a:latin typeface="Times New Roman" panose="02020603050405020304"/>
                <a:cs typeface="Times New Roman" panose="02020603050405020304"/>
              </a:rPr>
              <a:t>Multiplication </a:t>
            </a:r>
            <a:r>
              <a:rPr sz="2000" spc="-110" dirty="0">
                <a:latin typeface="Times New Roman" panose="02020603050405020304"/>
                <a:cs typeface="Times New Roman" panose="02020603050405020304"/>
              </a:rPr>
              <a:t>and division </a:t>
            </a:r>
            <a:r>
              <a:rPr sz="2000" spc="-55" dirty="0">
                <a:latin typeface="Times New Roman" panose="02020603050405020304"/>
                <a:cs typeface="Times New Roman" panose="02020603050405020304"/>
              </a:rPr>
              <a:t>Operators </a:t>
            </a:r>
            <a:r>
              <a:rPr sz="2000" spc="-90" dirty="0">
                <a:latin typeface="Times New Roman" panose="02020603050405020304"/>
                <a:cs typeface="Times New Roman" panose="02020603050405020304"/>
              </a:rPr>
              <a:t>cannot be </a:t>
            </a:r>
            <a:r>
              <a:rPr sz="2000" spc="-100" dirty="0">
                <a:latin typeface="Times New Roman" panose="02020603050405020304"/>
                <a:cs typeface="Times New Roman" panose="02020603050405020304"/>
              </a:rPr>
              <a:t>applied </a:t>
            </a:r>
            <a:r>
              <a:rPr sz="2000" spc="-85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2000" spc="2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5" dirty="0">
                <a:latin typeface="Times New Roman" panose="02020603050405020304"/>
                <a:cs typeface="Times New Roman" panose="02020603050405020304"/>
              </a:rPr>
              <a:t>pointers.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87020" indent="-274320">
              <a:lnSpc>
                <a:spcPct val="100000"/>
              </a:lnSpc>
              <a:spcBef>
                <a:spcPts val="1560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6385" algn="l"/>
                <a:tab pos="287020" algn="l"/>
              </a:tabLst>
            </a:pPr>
            <a:r>
              <a:rPr sz="2000" spc="-120" dirty="0">
                <a:latin typeface="Times New Roman" panose="02020603050405020304"/>
                <a:cs typeface="Times New Roman" panose="02020603050405020304"/>
              </a:rPr>
              <a:t>Bitwise </a:t>
            </a:r>
            <a:r>
              <a:rPr sz="2000" spc="-65" dirty="0">
                <a:latin typeface="Times New Roman" panose="02020603050405020304"/>
                <a:cs typeface="Times New Roman" panose="02020603050405020304"/>
              </a:rPr>
              <a:t>operators </a:t>
            </a:r>
            <a:r>
              <a:rPr sz="2000" spc="-90" dirty="0">
                <a:latin typeface="Times New Roman" panose="02020603050405020304"/>
                <a:cs typeface="Times New Roman" panose="02020603050405020304"/>
              </a:rPr>
              <a:t>cannot be </a:t>
            </a:r>
            <a:r>
              <a:rPr sz="2000" spc="-100" dirty="0">
                <a:latin typeface="Times New Roman" panose="02020603050405020304"/>
                <a:cs typeface="Times New Roman" panose="02020603050405020304"/>
              </a:rPr>
              <a:t>applied </a:t>
            </a:r>
            <a:r>
              <a:rPr sz="2000" spc="-85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2000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5" dirty="0">
                <a:latin typeface="Times New Roman" panose="02020603050405020304"/>
                <a:cs typeface="Times New Roman" panose="02020603050405020304"/>
              </a:rPr>
              <a:t>pointers.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87020" indent="-274320">
              <a:lnSpc>
                <a:spcPct val="100000"/>
              </a:lnSpc>
              <a:spcBef>
                <a:spcPts val="1560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6385" algn="l"/>
                <a:tab pos="287020" algn="l"/>
              </a:tabLst>
            </a:pPr>
            <a:r>
              <a:rPr sz="2000" spc="-254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000" spc="-114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000" spc="-125" dirty="0">
                <a:latin typeface="Times New Roman" panose="02020603050405020304"/>
                <a:cs typeface="Times New Roman" panose="02020603050405020304"/>
              </a:rPr>
              <a:t>an </a:t>
            </a:r>
            <a:r>
              <a:rPr sz="2000" spc="-65" dirty="0">
                <a:latin typeface="Times New Roman" panose="02020603050405020304"/>
                <a:cs typeface="Times New Roman" panose="02020603050405020304"/>
              </a:rPr>
              <a:t>integer </a:t>
            </a:r>
            <a:r>
              <a:rPr sz="2000" spc="-120" dirty="0">
                <a:latin typeface="Times New Roman" panose="02020603050405020304"/>
                <a:cs typeface="Times New Roman" panose="02020603050405020304"/>
              </a:rPr>
              <a:t>can </a:t>
            </a:r>
            <a:r>
              <a:rPr sz="2000" spc="-9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0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subtracted.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87020" indent="-274320">
              <a:lnSpc>
                <a:spcPct val="100000"/>
              </a:lnSpc>
              <a:spcBef>
                <a:spcPts val="1565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6385" algn="l"/>
                <a:tab pos="287020" algn="l"/>
              </a:tabLst>
            </a:pPr>
            <a:r>
              <a:rPr sz="2000" spc="-254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000" spc="-110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000" spc="-125" dirty="0">
                <a:latin typeface="Times New Roman" panose="02020603050405020304"/>
                <a:cs typeface="Times New Roman" panose="02020603050405020304"/>
              </a:rPr>
              <a:t>an </a:t>
            </a:r>
            <a:r>
              <a:rPr sz="2000" spc="-65" dirty="0">
                <a:latin typeface="Times New Roman" panose="02020603050405020304"/>
                <a:cs typeface="Times New Roman" panose="02020603050405020304"/>
              </a:rPr>
              <a:t>integer </a:t>
            </a:r>
            <a:r>
              <a:rPr sz="2000" spc="-120" dirty="0">
                <a:latin typeface="Times New Roman" panose="02020603050405020304"/>
                <a:cs typeface="Times New Roman" panose="02020603050405020304"/>
              </a:rPr>
              <a:t>can </a:t>
            </a:r>
            <a:r>
              <a:rPr sz="2000" spc="-9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0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75" dirty="0">
                <a:latin typeface="Times New Roman" panose="02020603050405020304"/>
                <a:cs typeface="Times New Roman" panose="02020603050405020304"/>
              </a:rPr>
              <a:t>added.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406" y="247269"/>
            <a:ext cx="23190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60" dirty="0">
                <a:solidFill>
                  <a:srgbClr val="C00000"/>
                </a:solidFill>
              </a:rPr>
              <a:t>Void</a:t>
            </a:r>
            <a:r>
              <a:rPr sz="3600" spc="-265" dirty="0">
                <a:solidFill>
                  <a:srgbClr val="C00000"/>
                </a:solidFill>
              </a:rPr>
              <a:t> </a:t>
            </a:r>
            <a:r>
              <a:rPr sz="3600" spc="-150" dirty="0">
                <a:solidFill>
                  <a:srgbClr val="C00000"/>
                </a:solidFill>
              </a:rPr>
              <a:t>pointer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18540" y="1038859"/>
            <a:ext cx="7485380" cy="1687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marR="5080" indent="-274320" algn="just">
              <a:lnSpc>
                <a:spcPct val="100000"/>
              </a:lnSpc>
              <a:spcBef>
                <a:spcPts val="105"/>
              </a:spcBef>
            </a:pP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1.Void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generic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600" spc="-14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600" spc="-155" dirty="0">
                <a:latin typeface="Times New Roman" panose="02020603050405020304"/>
                <a:cs typeface="Times New Roman" panose="02020603050405020304"/>
              </a:rPr>
              <a:t>can 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point </a:t>
            </a:r>
            <a:r>
              <a:rPr sz="260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00" spc="-200" dirty="0">
                <a:latin typeface="Times New Roman" panose="02020603050405020304"/>
                <a:cs typeface="Times New Roman" panose="02020603050405020304"/>
              </a:rPr>
              <a:t>any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type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  </a:t>
            </a:r>
            <a:r>
              <a:rPr sz="2600" spc="-70" dirty="0">
                <a:latin typeface="Times New Roman" panose="02020603050405020304"/>
                <a:cs typeface="Times New Roman" panose="02020603050405020304"/>
              </a:rPr>
              <a:t>object.The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type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object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can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char, </a:t>
            </a:r>
            <a:r>
              <a:rPr sz="2600" spc="-25" dirty="0">
                <a:latin typeface="Times New Roman" panose="02020603050405020304"/>
                <a:cs typeface="Times New Roman" panose="02020603050405020304"/>
              </a:rPr>
              <a:t>int,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float </a:t>
            </a:r>
            <a:r>
              <a:rPr sz="2600" spc="-40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2600" spc="-200" dirty="0">
                <a:latin typeface="Times New Roman" panose="02020603050405020304"/>
                <a:cs typeface="Times New Roman" panose="02020603050405020304"/>
              </a:rPr>
              <a:t>any </a:t>
            </a:r>
            <a:r>
              <a:rPr sz="2600" spc="-65" dirty="0">
                <a:latin typeface="Times New Roman" panose="02020603050405020304"/>
                <a:cs typeface="Times New Roman" panose="02020603050405020304"/>
              </a:rPr>
              <a:t>other  </a:t>
            </a:r>
            <a:r>
              <a:rPr sz="2600" spc="-70" dirty="0">
                <a:latin typeface="Times New Roman" panose="02020603050405020304"/>
                <a:cs typeface="Times New Roman" panose="02020603050405020304"/>
              </a:rPr>
              <a:t>type.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600"/>
              </a:spcBef>
            </a:pPr>
            <a:r>
              <a:rPr sz="2200" spc="-570" dirty="0">
                <a:solidFill>
                  <a:srgbClr val="D24717"/>
                </a:solidFill>
                <a:latin typeface="Arial" panose="020B0604020202020204"/>
                <a:cs typeface="Arial" panose="020B0604020202020204"/>
              </a:rPr>
              <a:t></a:t>
            </a:r>
            <a:r>
              <a:rPr sz="2200" spc="-550" dirty="0">
                <a:solidFill>
                  <a:srgbClr val="D2471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-45" dirty="0">
                <a:latin typeface="Times New Roman" panose="02020603050405020304"/>
                <a:cs typeface="Times New Roman" panose="02020603050405020304"/>
              </a:rPr>
              <a:t>Example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36420" y="2852927"/>
            <a:ext cx="5451348" cy="359968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704" y="174497"/>
            <a:ext cx="6908165" cy="819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600" spc="-11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2.A </a:t>
            </a:r>
            <a:r>
              <a:rPr sz="2600" spc="-7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600" spc="-3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00" spc="-2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any </a:t>
            </a:r>
            <a:r>
              <a:rPr sz="2600" spc="-10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type </a:t>
            </a:r>
            <a:r>
              <a:rPr sz="2600" spc="-1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1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object </a:t>
            </a:r>
            <a:r>
              <a:rPr sz="2600" spc="-16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can </a:t>
            </a:r>
            <a:r>
              <a:rPr sz="2600" spc="-1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2600" spc="-16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assigned </a:t>
            </a:r>
            <a:r>
              <a:rPr sz="2600" spc="-3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00" spc="-20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00" spc="-15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void  </a:t>
            </a:r>
            <a:r>
              <a:rPr sz="2600" spc="-8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pointer.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15567" y="981455"/>
            <a:ext cx="6408420" cy="374294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31975" y="5012435"/>
            <a:ext cx="5999987" cy="16443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30200" y="4727194"/>
            <a:ext cx="867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1800" spc="-7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800" spc="-100" dirty="0">
                <a:latin typeface="Times New Roman" panose="02020603050405020304"/>
                <a:cs typeface="Times New Roman" panose="02020603050405020304"/>
              </a:rPr>
              <a:t>PUT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437" y="462229"/>
            <a:ext cx="575246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spc="-4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3.</a:t>
            </a:r>
            <a:r>
              <a:rPr sz="2600" b="1" spc="-36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14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00" b="1" spc="-6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4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void</a:t>
            </a:r>
            <a:r>
              <a:rPr sz="2600" b="1" spc="-9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2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pointer</a:t>
            </a:r>
            <a:r>
              <a:rPr sz="2600" b="1" spc="-6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cannot</a:t>
            </a:r>
            <a:r>
              <a:rPr sz="2600" b="1" spc="-8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3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600" b="1" spc="-5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dereferenced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48055" y="1196339"/>
            <a:ext cx="7652004" cy="518464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4339" y="472821"/>
            <a:ext cx="45929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20" dirty="0">
                <a:solidFill>
                  <a:srgbClr val="C00000"/>
                </a:solidFill>
              </a:rPr>
              <a:t>Relational</a:t>
            </a:r>
            <a:r>
              <a:rPr sz="4000" spc="-295" dirty="0">
                <a:solidFill>
                  <a:srgbClr val="C00000"/>
                </a:solidFill>
              </a:rPr>
              <a:t> </a:t>
            </a:r>
            <a:r>
              <a:rPr sz="4000" spc="-90" dirty="0">
                <a:solidFill>
                  <a:srgbClr val="C00000"/>
                </a:solidFill>
              </a:rPr>
              <a:t>operations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385290"/>
            <a:ext cx="7201534" cy="4492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50000"/>
              </a:lnSpc>
              <a:spcBef>
                <a:spcPts val="100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33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600" spc="-155" dirty="0">
                <a:latin typeface="Times New Roman" panose="02020603050405020304"/>
                <a:cs typeface="Times New Roman" panose="02020603050405020304"/>
              </a:rPr>
              <a:t>can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be compared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same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type </a:t>
            </a:r>
            <a:r>
              <a:rPr sz="2600" spc="-235" dirty="0">
                <a:latin typeface="Times New Roman" panose="02020603050405020304"/>
                <a:cs typeface="Times New Roman" panose="02020603050405020304"/>
              </a:rPr>
              <a:t>or  </a:t>
            </a:r>
            <a:r>
              <a:rPr sz="2600" spc="-90" dirty="0">
                <a:latin typeface="Times New Roman" panose="02020603050405020304"/>
                <a:cs typeface="Times New Roman" panose="02020603050405020304"/>
              </a:rPr>
              <a:t>zero.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86385" indent="-274320">
              <a:lnSpc>
                <a:spcPct val="100000"/>
              </a:lnSpc>
              <a:spcBef>
                <a:spcPts val="2160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180" dirty="0">
                <a:latin typeface="Times New Roman" panose="02020603050405020304"/>
                <a:cs typeface="Times New Roman" panose="02020603050405020304"/>
              </a:rPr>
              <a:t>Various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relational 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operators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2600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185" dirty="0">
                <a:latin typeface="Times New Roman" panose="02020603050405020304"/>
                <a:cs typeface="Times New Roman" panose="02020603050405020304"/>
              </a:rPr>
              <a:t>==.,!=,&lt;,&lt;=,&gt;,&gt;=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86385" indent="-274320">
              <a:lnSpc>
                <a:spcPct val="100000"/>
              </a:lnSpc>
              <a:spcBef>
                <a:spcPts val="2160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  <a:tab pos="926465" algn="l"/>
              </a:tabLst>
            </a:pP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Ex:	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float</a:t>
            </a:r>
            <a:r>
              <a:rPr sz="2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25" dirty="0">
                <a:latin typeface="Times New Roman" panose="02020603050405020304"/>
                <a:cs typeface="Times New Roman" panose="02020603050405020304"/>
              </a:rPr>
              <a:t>a=1.0,b=2.0,*fptr1,*fptr2;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86385" indent="-274320">
              <a:lnSpc>
                <a:spcPct val="100000"/>
              </a:lnSpc>
              <a:spcBef>
                <a:spcPts val="2160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70" dirty="0">
                <a:latin typeface="Times New Roman" panose="02020603050405020304"/>
                <a:cs typeface="Times New Roman" panose="02020603050405020304"/>
              </a:rPr>
              <a:t>fptr1=&amp;a;fptr2=&amp;b;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86385" indent="-274320">
              <a:lnSpc>
                <a:spcPct val="100000"/>
              </a:lnSpc>
              <a:spcBef>
                <a:spcPts val="2160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65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65" dirty="0">
                <a:latin typeface="Times New Roman" panose="02020603050405020304"/>
                <a:cs typeface="Times New Roman" panose="02020603050405020304"/>
              </a:rPr>
              <a:t>result;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86385">
              <a:lnSpc>
                <a:spcPct val="100000"/>
              </a:lnSpc>
              <a:spcBef>
                <a:spcPts val="1560"/>
              </a:spcBef>
            </a:pPr>
            <a:r>
              <a:rPr sz="2600" b="1" spc="-15" dirty="0">
                <a:latin typeface="Times New Roman" panose="02020603050405020304"/>
                <a:cs typeface="Times New Roman" panose="02020603050405020304"/>
              </a:rPr>
              <a:t>result=fptr1!=fptr2;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107949"/>
            <a:ext cx="185356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/>
              <a:t>Example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611123" y="765048"/>
            <a:ext cx="7633716" cy="568756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458850"/>
            <a:ext cx="41687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Pointers </a:t>
            </a:r>
            <a:r>
              <a:rPr sz="4000" spc="-30" dirty="0"/>
              <a:t>and</a:t>
            </a:r>
            <a:r>
              <a:rPr sz="4000" spc="-370" dirty="0"/>
              <a:t> </a:t>
            </a:r>
            <a:r>
              <a:rPr sz="4000" spc="-140" dirty="0"/>
              <a:t>Arrays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143092"/>
            <a:ext cx="7448550" cy="4693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189865" indent="-274320">
              <a:lnSpc>
                <a:spcPct val="140000"/>
              </a:lnSpc>
              <a:spcBef>
                <a:spcPts val="100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Pointers </a:t>
            </a:r>
            <a:r>
              <a:rPr sz="2600" spc="-14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600" spc="-140" dirty="0">
                <a:latin typeface="Times New Roman" panose="02020603050405020304"/>
                <a:cs typeface="Times New Roman" panose="02020603050405020304"/>
              </a:rPr>
              <a:t>arrays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are </a:t>
            </a:r>
            <a:r>
              <a:rPr sz="2600" spc="-155" dirty="0">
                <a:latin typeface="Times New Roman" panose="02020603050405020304"/>
                <a:cs typeface="Times New Roman" panose="02020603050405020304"/>
              </a:rPr>
              <a:t>closely 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related </a:t>
            </a:r>
            <a:r>
              <a:rPr sz="2600" spc="110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2600" spc="-220" dirty="0">
                <a:latin typeface="Times New Roman" panose="02020603050405020304"/>
                <a:cs typeface="Times New Roman" panose="02020603050405020304"/>
              </a:rPr>
              <a:t>An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array </a:t>
            </a:r>
            <a:r>
              <a:rPr sz="2600" spc="-140" dirty="0">
                <a:latin typeface="Times New Roman" panose="02020603050405020304"/>
                <a:cs typeface="Times New Roman" panose="02020603050405020304"/>
              </a:rPr>
              <a:t>variable </a:t>
            </a:r>
            <a:r>
              <a:rPr sz="2600" spc="-325" dirty="0">
                <a:latin typeface="Times New Roman" panose="02020603050405020304"/>
                <a:cs typeface="Times New Roman" panose="02020603050405020304"/>
              </a:rPr>
              <a:t>is  </a:t>
            </a:r>
            <a:r>
              <a:rPr sz="2600" spc="-145" dirty="0">
                <a:latin typeface="Times New Roman" panose="02020603050405020304"/>
                <a:cs typeface="Times New Roman" panose="02020603050405020304"/>
              </a:rPr>
              <a:t>actually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just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60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first </a:t>
            </a:r>
            <a:r>
              <a:rPr sz="2600" spc="-90" dirty="0">
                <a:latin typeface="Times New Roman" panose="02020603050405020304"/>
                <a:cs typeface="Times New Roman" panose="02020603050405020304"/>
              </a:rPr>
              <a:t>element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600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array.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86385" marR="5080" indent="-274320">
              <a:lnSpc>
                <a:spcPct val="140000"/>
              </a:lnSpc>
              <a:spcBef>
                <a:spcPts val="595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180" dirty="0">
                <a:latin typeface="Times New Roman" panose="02020603050405020304"/>
                <a:cs typeface="Times New Roman" panose="02020603050405020304"/>
              </a:rPr>
              <a:t>Accessing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array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elements </a:t>
            </a:r>
            <a:r>
              <a:rPr sz="2600" spc="-155" dirty="0">
                <a:latin typeface="Times New Roman" panose="02020603050405020304"/>
                <a:cs typeface="Times New Roman" panose="02020603050405020304"/>
              </a:rPr>
              <a:t>using 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pointers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efficient </a:t>
            </a:r>
            <a:r>
              <a:rPr sz="2600" spc="-229" dirty="0">
                <a:latin typeface="Times New Roman" panose="02020603050405020304"/>
                <a:cs typeface="Times New Roman" panose="02020603050405020304"/>
              </a:rPr>
              <a:t>way </a:t>
            </a:r>
            <a:r>
              <a:rPr sz="2600" spc="-210" dirty="0">
                <a:latin typeface="Times New Roman" panose="02020603050405020304"/>
                <a:cs typeface="Times New Roman" panose="02020603050405020304"/>
              </a:rPr>
              <a:t>than  </a:t>
            </a:r>
            <a:r>
              <a:rPr sz="2600" spc="-155" dirty="0">
                <a:latin typeface="Times New Roman" panose="02020603050405020304"/>
                <a:cs typeface="Times New Roman" panose="02020603050405020304"/>
              </a:rPr>
              <a:t>using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array</a:t>
            </a:r>
            <a:r>
              <a:rPr sz="2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notation.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86385" marR="130175" indent="-274320">
              <a:lnSpc>
                <a:spcPct val="140000"/>
              </a:lnSpc>
              <a:spcBef>
                <a:spcPts val="600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When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an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array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declared, </a:t>
            </a: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compiler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allocates </a:t>
            </a:r>
            <a:r>
              <a:rPr sz="2600" spc="-130" dirty="0">
                <a:latin typeface="Times New Roman" panose="02020603050405020304"/>
                <a:cs typeface="Times New Roman" panose="02020603050405020304"/>
              </a:rPr>
              <a:t>sufficient  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amount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memory </a:t>
            </a:r>
            <a:r>
              <a:rPr sz="260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contain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all </a:t>
            </a: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elements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600" spc="3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array.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86385" marR="303530" indent="-274320">
              <a:lnSpc>
                <a:spcPct val="140000"/>
              </a:lnSpc>
              <a:spcBef>
                <a:spcPts val="605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229" dirty="0">
                <a:latin typeface="Times New Roman" panose="02020603050405020304"/>
                <a:cs typeface="Times New Roman" panose="02020603050405020304"/>
              </a:rPr>
              <a:t>Base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address </a:t>
            </a:r>
            <a:r>
              <a:rPr sz="2600" spc="-40" dirty="0">
                <a:latin typeface="Times New Roman" panose="02020603050405020304"/>
                <a:cs typeface="Times New Roman" panose="02020603050405020304"/>
              </a:rPr>
              <a:t>i.e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address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first </a:t>
            </a:r>
            <a:r>
              <a:rPr sz="2600" spc="-90" dirty="0">
                <a:latin typeface="Times New Roman" panose="02020603050405020304"/>
                <a:cs typeface="Times New Roman" panose="02020603050405020304"/>
              </a:rPr>
              <a:t>element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array </a:t>
            </a:r>
            <a:r>
              <a:rPr sz="2600" spc="-350" dirty="0">
                <a:latin typeface="Times New Roman" panose="02020603050405020304"/>
                <a:cs typeface="Times New Roman" panose="02020603050405020304"/>
              </a:rPr>
              <a:t>is  </a:t>
            </a:r>
            <a:r>
              <a:rPr sz="2600" spc="-155" dirty="0">
                <a:latin typeface="Times New Roman" panose="02020603050405020304"/>
                <a:cs typeface="Times New Roman" panose="02020603050405020304"/>
              </a:rPr>
              <a:t>also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allocated </a:t>
            </a:r>
            <a:r>
              <a:rPr sz="2600" spc="-200" dirty="0">
                <a:latin typeface="Times New Roman" panose="02020603050405020304"/>
                <a:cs typeface="Times New Roman" panose="02020603050405020304"/>
              </a:rPr>
              <a:t>by </a:t>
            </a: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600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compiler.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4339" y="400938"/>
            <a:ext cx="56673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Pointers </a:t>
            </a:r>
            <a:r>
              <a:rPr sz="4000" spc="-30" dirty="0"/>
              <a:t>and </a:t>
            </a:r>
            <a:r>
              <a:rPr sz="4000" spc="-140" dirty="0"/>
              <a:t>Arrays</a:t>
            </a:r>
            <a:r>
              <a:rPr sz="4000" spc="-525" dirty="0"/>
              <a:t> </a:t>
            </a:r>
            <a:r>
              <a:rPr sz="4000" spc="-95" dirty="0"/>
              <a:t>Cont…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267713" y="1358613"/>
            <a:ext cx="7248525" cy="176339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Suppose </a:t>
            </a:r>
            <a:r>
              <a:rPr sz="2600" spc="-170" dirty="0">
                <a:latin typeface="Times New Roman" panose="02020603050405020304"/>
                <a:cs typeface="Times New Roman" panose="02020603050405020304"/>
              </a:rPr>
              <a:t>we 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declare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an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array</a:t>
            </a:r>
            <a:r>
              <a:rPr sz="260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35" dirty="0">
                <a:latin typeface="Times New Roman" panose="02020603050405020304"/>
                <a:cs typeface="Times New Roman" panose="02020603050405020304"/>
              </a:rPr>
              <a:t>arr</a:t>
            </a:r>
            <a:r>
              <a:rPr sz="2600" spc="-35" dirty="0">
                <a:latin typeface="Times New Roman" panose="02020603050405020304"/>
                <a:cs typeface="Times New Roman" panose="02020603050405020304"/>
              </a:rPr>
              <a:t>,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sz="2600" spc="-65" dirty="0">
                <a:latin typeface="Times New Roman" panose="02020603050405020304"/>
                <a:cs typeface="Times New Roman" panose="02020603050405020304"/>
              </a:rPr>
              <a:t>int </a:t>
            </a:r>
            <a:r>
              <a:rPr sz="2600" spc="-40" dirty="0">
                <a:latin typeface="Times New Roman" panose="02020603050405020304"/>
                <a:cs typeface="Times New Roman" panose="02020603050405020304"/>
              </a:rPr>
              <a:t>arr[5]={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1, 2, 3, 4,</a:t>
            </a:r>
            <a:r>
              <a:rPr sz="2600" spc="-45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5 </a:t>
            </a:r>
            <a:r>
              <a:rPr sz="2600" spc="-145" dirty="0">
                <a:latin typeface="Times New Roman" panose="02020603050405020304"/>
                <a:cs typeface="Times New Roman" panose="02020603050405020304"/>
              </a:rPr>
              <a:t>};Assuming </a:t>
            </a: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that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base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address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  </a:t>
            </a:r>
            <a:r>
              <a:rPr sz="2600" b="1" spc="-85" dirty="0">
                <a:latin typeface="Times New Roman" panose="02020603050405020304"/>
                <a:cs typeface="Times New Roman" panose="02020603050405020304"/>
              </a:rPr>
              <a:t>arr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1000 </a:t>
            </a:r>
            <a:r>
              <a:rPr sz="2600" spc="-145" dirty="0">
                <a:latin typeface="Times New Roman" panose="02020603050405020304"/>
                <a:cs typeface="Times New Roman" panose="02020603050405020304"/>
              </a:rPr>
              <a:t>and each 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integer </a:t>
            </a:r>
            <a:r>
              <a:rPr sz="2600" spc="-95" dirty="0">
                <a:latin typeface="Times New Roman" panose="02020603050405020304"/>
                <a:cs typeface="Times New Roman" panose="02020603050405020304"/>
              </a:rPr>
              <a:t>requires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two </a:t>
            </a:r>
            <a:r>
              <a:rPr sz="2600" spc="-95" dirty="0">
                <a:latin typeface="Times New Roman" panose="02020603050405020304"/>
                <a:cs typeface="Times New Roman" panose="02020603050405020304"/>
              </a:rPr>
              <a:t>bytes,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75" dirty="0">
                <a:latin typeface="Times New Roman" panose="02020603050405020304"/>
                <a:cs typeface="Times New Roman" panose="02020603050405020304"/>
              </a:rPr>
              <a:t>five 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elements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will be 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stored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2600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follows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15567" y="3959585"/>
            <a:ext cx="6727215" cy="162069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56673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Pointers </a:t>
            </a:r>
            <a:r>
              <a:rPr sz="4000" spc="-30" dirty="0"/>
              <a:t>and </a:t>
            </a:r>
            <a:r>
              <a:rPr sz="4000" spc="-140" dirty="0"/>
              <a:t>Arrays</a:t>
            </a:r>
            <a:r>
              <a:rPr sz="4000" spc="-530" dirty="0"/>
              <a:t> </a:t>
            </a:r>
            <a:r>
              <a:rPr sz="4000" spc="-95" dirty="0"/>
              <a:t>Cont…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385290"/>
            <a:ext cx="7615555" cy="3669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825500" indent="-274320">
              <a:lnSpc>
                <a:spcPct val="150000"/>
              </a:lnSpc>
              <a:spcBef>
                <a:spcPts val="100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Here </a:t>
            </a:r>
            <a:r>
              <a:rPr sz="2600" spc="-140" dirty="0">
                <a:latin typeface="Times New Roman" panose="02020603050405020304"/>
                <a:cs typeface="Times New Roman" panose="02020603050405020304"/>
              </a:rPr>
              <a:t>variable </a:t>
            </a:r>
            <a:r>
              <a:rPr sz="2600" b="1" spc="-80" dirty="0">
                <a:latin typeface="Times New Roman" panose="02020603050405020304"/>
                <a:cs typeface="Times New Roman" panose="02020603050405020304"/>
              </a:rPr>
              <a:t>arr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will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give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base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address, </a:t>
            </a:r>
            <a:r>
              <a:rPr sz="2600" spc="-140" dirty="0">
                <a:latin typeface="Times New Roman" panose="02020603050405020304"/>
                <a:cs typeface="Times New Roman" panose="02020603050405020304"/>
              </a:rPr>
              <a:t>which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580" dirty="0">
                <a:latin typeface="Times New Roman" panose="02020603050405020304"/>
                <a:cs typeface="Times New Roman" panose="02020603050405020304"/>
              </a:rPr>
              <a:t>a 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constant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pointing </a:t>
            </a:r>
            <a:r>
              <a:rPr sz="260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65" dirty="0">
                <a:latin typeface="Times New Roman" panose="02020603050405020304"/>
                <a:cs typeface="Times New Roman" panose="02020603050405020304"/>
              </a:rPr>
              <a:t>element,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15" dirty="0">
                <a:latin typeface="Times New Roman" panose="02020603050405020304"/>
                <a:cs typeface="Times New Roman" panose="02020603050405020304"/>
              </a:rPr>
              <a:t>arr[0]</a:t>
            </a:r>
            <a:r>
              <a:rPr sz="2600" spc="-15" dirty="0">
                <a:latin typeface="Times New Roman" panose="02020603050405020304"/>
                <a:cs typeface="Times New Roman" panose="02020603050405020304"/>
              </a:rPr>
              <a:t>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86385" marR="5080" indent="-274320">
              <a:lnSpc>
                <a:spcPct val="150000"/>
              </a:lnSpc>
              <a:spcBef>
                <a:spcPts val="600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Therefore </a:t>
            </a:r>
            <a:r>
              <a:rPr sz="2600" b="1" spc="-85" dirty="0">
                <a:latin typeface="Times New Roman" panose="02020603050405020304"/>
                <a:cs typeface="Times New Roman" panose="02020603050405020304"/>
              </a:rPr>
              <a:t>arr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containing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address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b="1" spc="-35" dirty="0">
                <a:latin typeface="Times New Roman" panose="02020603050405020304"/>
                <a:cs typeface="Times New Roman" panose="02020603050405020304"/>
              </a:rPr>
              <a:t>arr[0] </a:t>
            </a:r>
            <a:r>
              <a:rPr sz="2600" spc="-40" dirty="0">
                <a:latin typeface="Times New Roman" panose="02020603050405020304"/>
                <a:cs typeface="Times New Roman" panose="02020603050405020304"/>
              </a:rPr>
              <a:t>i.e </a:t>
            </a:r>
            <a:r>
              <a:rPr sz="2600" spc="-70" dirty="0">
                <a:latin typeface="Times New Roman" panose="02020603050405020304"/>
                <a:cs typeface="Times New Roman" panose="02020603050405020304"/>
              </a:rPr>
              <a:t>1000. </a:t>
            </a:r>
            <a:r>
              <a:rPr sz="2600" spc="-335" dirty="0">
                <a:latin typeface="Times New Roman" panose="02020603050405020304"/>
                <a:cs typeface="Times New Roman" panose="02020603050405020304"/>
              </a:rPr>
              <a:t>In  </a:t>
            </a:r>
            <a:r>
              <a:rPr sz="2600" spc="-35" dirty="0">
                <a:latin typeface="Times New Roman" panose="02020603050405020304"/>
                <a:cs typeface="Times New Roman" panose="02020603050405020304"/>
              </a:rPr>
              <a:t>short, arr </a:t>
            </a:r>
            <a:r>
              <a:rPr sz="2600" spc="-190" dirty="0">
                <a:latin typeface="Times New Roman" panose="02020603050405020304"/>
                <a:cs typeface="Times New Roman" panose="02020603050405020304"/>
              </a:rPr>
              <a:t>has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two </a:t>
            </a:r>
            <a:r>
              <a:rPr sz="2600" spc="-95" dirty="0">
                <a:latin typeface="Times New Roman" panose="02020603050405020304"/>
                <a:cs typeface="Times New Roman" panose="02020603050405020304"/>
              </a:rPr>
              <a:t>purpose- </a:t>
            </a:r>
            <a:r>
              <a:rPr sz="2600" spc="-45" dirty="0">
                <a:latin typeface="Times New Roman" panose="02020603050405020304"/>
                <a:cs typeface="Times New Roman" panose="02020603050405020304"/>
              </a:rPr>
              <a:t>it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45" dirty="0">
                <a:latin typeface="Times New Roman" panose="02020603050405020304"/>
                <a:cs typeface="Times New Roman" panose="02020603050405020304"/>
              </a:rPr>
              <a:t>name </a:t>
            </a:r>
            <a:r>
              <a:rPr sz="2600" spc="-15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an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array </a:t>
            </a:r>
            <a:r>
              <a:rPr sz="2600" spc="-14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600" spc="-45" dirty="0">
                <a:latin typeface="Times New Roman" panose="02020603050405020304"/>
                <a:cs typeface="Times New Roman" panose="02020603050405020304"/>
              </a:rPr>
              <a:t>it 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acts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as a </a:t>
            </a:r>
            <a:r>
              <a:rPr sz="2600" spc="-70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pointing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towards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first </a:t>
            </a:r>
            <a:r>
              <a:rPr sz="2600" spc="-90" dirty="0">
                <a:latin typeface="Times New Roman" panose="02020603050405020304"/>
                <a:cs typeface="Times New Roman" panose="02020603050405020304"/>
              </a:rPr>
              <a:t>element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array.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56673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Pointers </a:t>
            </a:r>
            <a:r>
              <a:rPr sz="4000" spc="-30" dirty="0"/>
              <a:t>and </a:t>
            </a:r>
            <a:r>
              <a:rPr sz="4000" spc="-140" dirty="0"/>
              <a:t>Arrays</a:t>
            </a:r>
            <a:r>
              <a:rPr sz="4000" spc="-530" dirty="0"/>
              <a:t> </a:t>
            </a:r>
            <a:r>
              <a:rPr sz="4000" spc="-95" dirty="0"/>
              <a:t>Cont…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313433" y="1388465"/>
            <a:ext cx="6701790" cy="2473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87390">
              <a:lnSpc>
                <a:spcPct val="114000"/>
              </a:lnSpc>
              <a:spcBef>
                <a:spcPts val="95"/>
              </a:spcBef>
            </a:pP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int 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*p;  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p </a:t>
            </a:r>
            <a:r>
              <a:rPr sz="2400" spc="24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arr;  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or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p </a:t>
            </a:r>
            <a:r>
              <a:rPr sz="2400" spc="24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&amp;arr[0];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ct val="100000"/>
              </a:lnSpc>
              <a:spcBef>
                <a:spcPts val="400"/>
              </a:spcBef>
            </a:pPr>
            <a:r>
              <a:rPr sz="2400" spc="-150" dirty="0">
                <a:latin typeface="Times New Roman" panose="02020603050405020304"/>
                <a:cs typeface="Times New Roman" panose="02020603050405020304"/>
              </a:rPr>
              <a:t>Now </a:t>
            </a:r>
            <a:r>
              <a:rPr sz="2400" spc="-160" dirty="0">
                <a:latin typeface="Times New Roman" panose="02020603050405020304"/>
                <a:cs typeface="Times New Roman" panose="02020603050405020304"/>
              </a:rPr>
              <a:t>we </a:t>
            </a:r>
            <a:r>
              <a:rPr sz="2400" spc="-145" dirty="0">
                <a:latin typeface="Times New Roman" panose="02020603050405020304"/>
                <a:cs typeface="Times New Roman" panose="02020603050405020304"/>
              </a:rPr>
              <a:t>can </a:t>
            </a:r>
            <a:r>
              <a:rPr sz="2400" spc="-160" dirty="0">
                <a:latin typeface="Times New Roman" panose="02020603050405020304"/>
                <a:cs typeface="Times New Roman" panose="02020603050405020304"/>
              </a:rPr>
              <a:t>access </a:t>
            </a:r>
            <a:r>
              <a:rPr sz="2400" spc="-130" dirty="0">
                <a:latin typeface="Times New Roman" panose="02020603050405020304"/>
                <a:cs typeface="Times New Roman" panose="02020603050405020304"/>
              </a:rPr>
              <a:t>every 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element </a:t>
            </a:r>
            <a:r>
              <a:rPr sz="2400" spc="-14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400" spc="-114" dirty="0">
                <a:latin typeface="Times New Roman" panose="02020603050405020304"/>
                <a:cs typeface="Times New Roman" panose="02020603050405020304"/>
              </a:rPr>
              <a:t>array </a:t>
            </a:r>
            <a:r>
              <a:rPr sz="2400" b="1" spc="-75" dirty="0">
                <a:latin typeface="Times New Roman" panose="02020603050405020304"/>
                <a:cs typeface="Times New Roman" panose="02020603050405020304"/>
              </a:rPr>
              <a:t>arr </a:t>
            </a:r>
            <a:r>
              <a:rPr sz="2400" spc="-140" dirty="0">
                <a:latin typeface="Times New Roman" panose="02020603050405020304"/>
                <a:cs typeface="Times New Roman" panose="02020603050405020304"/>
              </a:rPr>
              <a:t>using </a:t>
            </a:r>
            <a:r>
              <a:rPr sz="2400" b="1" spc="170" dirty="0">
                <a:latin typeface="Times New Roman" panose="02020603050405020304"/>
                <a:cs typeface="Times New Roman" panose="02020603050405020304"/>
              </a:rPr>
              <a:t>p++ 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to  </a:t>
            </a:r>
            <a:r>
              <a:rPr sz="2400" spc="-165" dirty="0">
                <a:latin typeface="Times New Roman" panose="02020603050405020304"/>
                <a:cs typeface="Times New Roman" panose="02020603050405020304"/>
              </a:rPr>
              <a:t>move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from </a:t>
            </a:r>
            <a:r>
              <a:rPr sz="2400" spc="-100" dirty="0">
                <a:latin typeface="Times New Roman" panose="02020603050405020304"/>
                <a:cs typeface="Times New Roman" panose="02020603050405020304"/>
              </a:rPr>
              <a:t>one </a:t>
            </a:r>
            <a:r>
              <a:rPr sz="2400" spc="-85" dirty="0">
                <a:latin typeface="Times New Roman" panose="02020603050405020304"/>
                <a:cs typeface="Times New Roman" panose="02020603050405020304"/>
              </a:rPr>
              <a:t>element 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4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another.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56673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Pointers </a:t>
            </a:r>
            <a:r>
              <a:rPr sz="4000" spc="-30" dirty="0"/>
              <a:t>and </a:t>
            </a:r>
            <a:r>
              <a:rPr sz="4000" spc="-140" dirty="0"/>
              <a:t>Arrays</a:t>
            </a:r>
            <a:r>
              <a:rPr sz="4000" spc="-530" dirty="0"/>
              <a:t> </a:t>
            </a:r>
            <a:r>
              <a:rPr sz="4000" spc="-95" dirty="0"/>
              <a:t>Cont…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358613"/>
            <a:ext cx="7616190" cy="270827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6385" indent="-274320">
              <a:lnSpc>
                <a:spcPct val="100000"/>
              </a:lnSpc>
              <a:spcBef>
                <a:spcPts val="695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180" dirty="0">
                <a:latin typeface="Times New Roman" panose="02020603050405020304"/>
                <a:cs typeface="Times New Roman" panose="02020603050405020304"/>
              </a:rPr>
              <a:t>a[0]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same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2600" spc="-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*a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863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180" dirty="0">
                <a:latin typeface="Times New Roman" panose="02020603050405020304"/>
                <a:cs typeface="Times New Roman" panose="02020603050405020304"/>
              </a:rPr>
              <a:t>a[1]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same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as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*(a </a:t>
            </a:r>
            <a:r>
              <a:rPr sz="2600" spc="27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600" spc="3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1)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86385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180" dirty="0">
                <a:latin typeface="Times New Roman" panose="02020603050405020304"/>
                <a:cs typeface="Times New Roman" panose="02020603050405020304"/>
              </a:rPr>
              <a:t>a[2]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same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as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*(a </a:t>
            </a:r>
            <a:r>
              <a:rPr sz="2600" spc="27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600" spc="4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2)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195" dirty="0">
                <a:latin typeface="Times New Roman" panose="02020603050405020304"/>
                <a:cs typeface="Times New Roman" panose="02020603050405020304"/>
              </a:rPr>
              <a:t>If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pa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points </a:t>
            </a:r>
            <a:r>
              <a:rPr sz="2600" spc="-4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particular </a:t>
            </a:r>
            <a:r>
              <a:rPr sz="2600" spc="-95" dirty="0">
                <a:latin typeface="Times New Roman" panose="02020603050405020304"/>
                <a:cs typeface="Times New Roman" panose="02020603050405020304"/>
              </a:rPr>
              <a:t>element </a:t>
            </a:r>
            <a:r>
              <a:rPr sz="2600" spc="-15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an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array, (pa </a:t>
            </a:r>
            <a:r>
              <a:rPr sz="2600" spc="270" dirty="0">
                <a:latin typeface="Times New Roman" panose="02020603050405020304"/>
                <a:cs typeface="Times New Roman" panose="02020603050405020304"/>
              </a:rPr>
              <a:t>+ </a:t>
            </a:r>
            <a:r>
              <a:rPr sz="2600" spc="-265" dirty="0">
                <a:latin typeface="Times New Roman" panose="02020603050405020304"/>
                <a:cs typeface="Times New Roman" panose="02020603050405020304"/>
              </a:rPr>
              <a:t>1) 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always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points </a:t>
            </a:r>
            <a:r>
              <a:rPr sz="2600" spc="-4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next </a:t>
            </a:r>
            <a:r>
              <a:rPr sz="2600" spc="-65" dirty="0">
                <a:latin typeface="Times New Roman" panose="02020603050405020304"/>
                <a:cs typeface="Times New Roman" panose="02020603050405020304"/>
              </a:rPr>
              <a:t>element,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(pa </a:t>
            </a:r>
            <a:r>
              <a:rPr sz="2600" spc="270" dirty="0">
                <a:latin typeface="Times New Roman" panose="02020603050405020304"/>
                <a:cs typeface="Times New Roman" panose="02020603050405020304"/>
              </a:rPr>
              <a:t>+ </a:t>
            </a:r>
            <a:r>
              <a:rPr sz="2600" spc="-90" dirty="0">
                <a:latin typeface="Times New Roman" panose="02020603050405020304"/>
                <a:cs typeface="Times New Roman" panose="02020603050405020304"/>
              </a:rPr>
              <a:t>i)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points </a:t>
            </a:r>
            <a:r>
              <a:rPr sz="2600" spc="-130" dirty="0">
                <a:latin typeface="Times New Roman" panose="02020603050405020304"/>
                <a:cs typeface="Times New Roman" panose="02020603050405020304"/>
              </a:rPr>
              <a:t>i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elements  </a:t>
            </a:r>
            <a:r>
              <a:rPr sz="2600" spc="-90" dirty="0">
                <a:latin typeface="Times New Roman" panose="02020603050405020304"/>
                <a:cs typeface="Times New Roman" panose="02020603050405020304"/>
              </a:rPr>
              <a:t>after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pa </a:t>
            </a:r>
            <a:r>
              <a:rPr sz="2600" spc="-14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(pa </a:t>
            </a:r>
            <a:r>
              <a:rPr sz="2600" spc="-55" dirty="0">
                <a:latin typeface="Times New Roman" panose="02020603050405020304"/>
                <a:cs typeface="Times New Roman" panose="02020603050405020304"/>
              </a:rPr>
              <a:t>- </a:t>
            </a:r>
            <a:r>
              <a:rPr sz="2600" spc="-90" dirty="0">
                <a:latin typeface="Times New Roman" panose="02020603050405020304"/>
                <a:cs typeface="Times New Roman" panose="02020603050405020304"/>
              </a:rPr>
              <a:t>i)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points </a:t>
            </a:r>
            <a:r>
              <a:rPr sz="2600" spc="-130" dirty="0">
                <a:latin typeface="Times New Roman" panose="02020603050405020304"/>
                <a:cs typeface="Times New Roman" panose="02020603050405020304"/>
              </a:rPr>
              <a:t>i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elements</a:t>
            </a:r>
            <a:r>
              <a:rPr sz="2600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before.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22745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/>
              <a:t>Example</a:t>
            </a:r>
            <a:r>
              <a:rPr sz="4000" spc="-300" dirty="0"/>
              <a:t> </a:t>
            </a:r>
            <a:r>
              <a:rPr sz="4000" spc="245" dirty="0"/>
              <a:t>1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371690"/>
            <a:ext cx="3651250" cy="4485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473200">
              <a:lnSpc>
                <a:spcPct val="111000"/>
              </a:lnSpc>
              <a:spcBef>
                <a:spcPts val="95"/>
              </a:spcBef>
            </a:pPr>
            <a:r>
              <a:rPr sz="2400" spc="140" dirty="0">
                <a:latin typeface="Times New Roman" panose="02020603050405020304"/>
                <a:cs typeface="Times New Roman" panose="02020603050405020304"/>
              </a:rPr>
              <a:t>#i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ncl</a:t>
            </a:r>
            <a:r>
              <a:rPr sz="2400" spc="-125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400" spc="15" dirty="0">
                <a:latin typeface="Times New Roman" panose="02020603050405020304"/>
                <a:cs typeface="Times New Roman" panose="02020603050405020304"/>
              </a:rPr>
              <a:t>de&lt;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stdi</a:t>
            </a:r>
            <a:r>
              <a:rPr sz="2400" spc="-225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.h</a:t>
            </a:r>
            <a:r>
              <a:rPr sz="2400" spc="155" dirty="0">
                <a:latin typeface="Times New Roman" panose="02020603050405020304"/>
                <a:cs typeface="Times New Roman" panose="02020603050405020304"/>
              </a:rPr>
              <a:t>&gt;  </a:t>
            </a:r>
            <a:r>
              <a:rPr sz="2400" spc="-145" dirty="0">
                <a:latin typeface="Times New Roman" panose="02020603050405020304"/>
                <a:cs typeface="Times New Roman" panose="02020603050405020304"/>
              </a:rPr>
              <a:t>void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main()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{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 marR="1652270">
              <a:lnSpc>
                <a:spcPct val="111000"/>
              </a:lnSpc>
              <a:spcBef>
                <a:spcPts val="5"/>
              </a:spcBef>
            </a:pP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int 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a[10],i,n;  </a:t>
            </a:r>
            <a:r>
              <a:rPr sz="2400" spc="-65" dirty="0">
                <a:latin typeface="Times New Roman" panose="02020603050405020304"/>
                <a:cs typeface="Times New Roman" panose="02020603050405020304"/>
              </a:rPr>
              <a:t>printf("Enter</a:t>
            </a:r>
            <a:r>
              <a:rPr sz="2400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n"); 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scanf("%d",&amp;n);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1000"/>
              </a:lnSpc>
            </a:pPr>
            <a:r>
              <a:rPr sz="2400" spc="5" dirty="0">
                <a:latin typeface="Times New Roman" panose="02020603050405020304"/>
                <a:cs typeface="Times New Roman" panose="02020603050405020304"/>
              </a:rPr>
              <a:t>for(i=0;i&lt;n;i++)  </a:t>
            </a:r>
            <a:r>
              <a:rPr sz="2400" spc="-120" dirty="0">
                <a:latin typeface="Times New Roman" panose="02020603050405020304"/>
                <a:cs typeface="Times New Roman" panose="02020603050405020304"/>
              </a:rPr>
              <a:t>scanf("%d",&amp;a[i]);  </a:t>
            </a:r>
            <a:r>
              <a:rPr sz="2400" spc="5" dirty="0">
                <a:latin typeface="Times New Roman" panose="02020603050405020304"/>
                <a:cs typeface="Times New Roman" panose="02020603050405020304"/>
              </a:rPr>
              <a:t>for(i=0;i&lt;n;i++)  </a:t>
            </a: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printf("a[%d]=%d\n",i,*(a+i));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}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14833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0" dirty="0"/>
              <a:t>O</a:t>
            </a:r>
            <a:r>
              <a:rPr sz="4000" spc="-80" dirty="0"/>
              <a:t>u</a:t>
            </a:r>
            <a:r>
              <a:rPr sz="4000" spc="-190" dirty="0"/>
              <a:t>t</a:t>
            </a:r>
            <a:r>
              <a:rPr sz="4000" spc="-250" dirty="0"/>
              <a:t>p</a:t>
            </a:r>
            <a:r>
              <a:rPr sz="4000" spc="-190" dirty="0"/>
              <a:t>ut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122375" y="1532382"/>
            <a:ext cx="1402080" cy="34404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0" dirty="0">
                <a:latin typeface="Times New Roman" panose="02020603050405020304"/>
                <a:cs typeface="Times New Roman" panose="02020603050405020304"/>
              </a:rPr>
              <a:t>Enter </a:t>
            </a:r>
            <a:r>
              <a:rPr sz="3200" spc="-13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35" dirty="0">
                <a:latin typeface="Times New Roman" panose="02020603050405020304"/>
                <a:cs typeface="Times New Roman" panose="02020603050405020304"/>
              </a:rPr>
              <a:t>5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81915">
              <a:lnSpc>
                <a:spcPct val="100000"/>
              </a:lnSpc>
            </a:pPr>
            <a:r>
              <a:rPr sz="3200" spc="-135" dirty="0">
                <a:latin typeface="Times New Roman" panose="02020603050405020304"/>
                <a:cs typeface="Times New Roman" panose="02020603050405020304"/>
              </a:rPr>
              <a:t>1 2 3 4 5  </a:t>
            </a:r>
            <a:r>
              <a:rPr sz="3200" spc="-114" dirty="0">
                <a:latin typeface="Times New Roman" panose="02020603050405020304"/>
                <a:cs typeface="Times New Roman" panose="02020603050405020304"/>
              </a:rPr>
              <a:t>a[0]=1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3200" spc="-114" dirty="0">
                <a:latin typeface="Times New Roman" panose="02020603050405020304"/>
                <a:cs typeface="Times New Roman" panose="02020603050405020304"/>
              </a:rPr>
              <a:t>a[1]=2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3200" spc="-114" dirty="0">
                <a:latin typeface="Times New Roman" panose="02020603050405020304"/>
                <a:cs typeface="Times New Roman" panose="02020603050405020304"/>
              </a:rPr>
              <a:t>a[2]=3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3200" spc="-114" dirty="0">
                <a:latin typeface="Times New Roman" panose="02020603050405020304"/>
                <a:cs typeface="Times New Roman" panose="02020603050405020304"/>
              </a:rPr>
              <a:t>a[3]=4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3200" spc="-114" dirty="0">
                <a:latin typeface="Times New Roman" panose="02020603050405020304"/>
                <a:cs typeface="Times New Roman" panose="02020603050405020304"/>
              </a:rPr>
              <a:t>a[4]=5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406" y="184785"/>
            <a:ext cx="71164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60" dirty="0"/>
              <a:t>Pointer </a:t>
            </a:r>
            <a:r>
              <a:rPr sz="4000" spc="-245" dirty="0"/>
              <a:t>to </a:t>
            </a:r>
            <a:r>
              <a:rPr sz="4000" spc="-80" dirty="0"/>
              <a:t>Multidimensional</a:t>
            </a:r>
            <a:r>
              <a:rPr sz="4000" spc="-240" dirty="0"/>
              <a:t> </a:t>
            </a:r>
            <a:r>
              <a:rPr sz="4000" spc="-215" dirty="0"/>
              <a:t>Array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46303" y="990701"/>
            <a:ext cx="8015605" cy="5010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118110" indent="-274320">
              <a:lnSpc>
                <a:spcPct val="150000"/>
              </a:lnSpc>
              <a:spcBef>
                <a:spcPts val="100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33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multidimensional array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55" dirty="0">
                <a:latin typeface="Times New Roman" panose="02020603050405020304"/>
                <a:cs typeface="Times New Roman" panose="02020603050405020304"/>
              </a:rPr>
              <a:t>form, </a:t>
            </a:r>
            <a:r>
              <a:rPr sz="2600" spc="-140" dirty="0">
                <a:latin typeface="Times New Roman" panose="02020603050405020304"/>
                <a:cs typeface="Times New Roman" panose="02020603050405020304"/>
              </a:rPr>
              <a:t>a[i][j]. Lets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see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how </a:t>
            </a:r>
            <a:r>
              <a:rPr sz="2600" spc="-170" dirty="0">
                <a:latin typeface="Times New Roman" panose="02020603050405020304"/>
                <a:cs typeface="Times New Roman" panose="02020603050405020304"/>
              </a:rPr>
              <a:t>we </a:t>
            </a:r>
            <a:r>
              <a:rPr sz="2600" spc="-285" dirty="0">
                <a:latin typeface="Times New Roman" panose="02020603050405020304"/>
                <a:cs typeface="Times New Roman" panose="02020603050405020304"/>
              </a:rPr>
              <a:t>can 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make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point </a:t>
            </a:r>
            <a:r>
              <a:rPr sz="260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such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2600" spc="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array.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87020" marR="5080" indent="-274320">
              <a:lnSpc>
                <a:spcPct val="150000"/>
              </a:lnSpc>
              <a:spcBef>
                <a:spcPts val="600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270" dirty="0">
                <a:latin typeface="Times New Roman" panose="02020603050405020304"/>
                <a:cs typeface="Times New Roman" panose="02020603050405020304"/>
              </a:rPr>
              <a:t>As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we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know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now, </a:t>
            </a:r>
            <a:r>
              <a:rPr sz="2600" spc="-140" dirty="0">
                <a:latin typeface="Times New Roman" panose="02020603050405020304"/>
                <a:cs typeface="Times New Roman" panose="02020603050405020304"/>
              </a:rPr>
              <a:t>name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array </a:t>
            </a:r>
            <a:r>
              <a:rPr sz="2600" spc="-175" dirty="0">
                <a:latin typeface="Times New Roman" panose="02020603050405020304"/>
                <a:cs typeface="Times New Roman" panose="02020603050405020304"/>
              </a:rPr>
              <a:t>gives </a:t>
            </a:r>
            <a:r>
              <a:rPr sz="2600" spc="-95" dirty="0">
                <a:latin typeface="Times New Roman" panose="02020603050405020304"/>
                <a:cs typeface="Times New Roman" panose="02020603050405020304"/>
              </a:rPr>
              <a:t>its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base </a:t>
            </a: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address.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In  </a:t>
            </a:r>
            <a:r>
              <a:rPr sz="2600" spc="-140" dirty="0">
                <a:latin typeface="Times New Roman" panose="02020603050405020304"/>
                <a:cs typeface="Times New Roman" panose="02020603050405020304"/>
              </a:rPr>
              <a:t>a[i][j], </a:t>
            </a:r>
            <a:r>
              <a:rPr sz="2600" b="1" spc="-110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will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give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base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address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this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array, </a:t>
            </a:r>
            <a:r>
              <a:rPr sz="2600" spc="-155" dirty="0">
                <a:latin typeface="Times New Roman" panose="02020603050405020304"/>
                <a:cs typeface="Times New Roman" panose="02020603050405020304"/>
              </a:rPr>
              <a:t>even </a:t>
            </a:r>
            <a:r>
              <a:rPr sz="2600" spc="20" dirty="0">
                <a:latin typeface="Times New Roman" panose="02020603050405020304"/>
                <a:cs typeface="Times New Roman" panose="02020603050405020304"/>
              </a:rPr>
              <a:t>a+0+0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will  </a:t>
            </a:r>
            <a:r>
              <a:rPr sz="2600" spc="-155" dirty="0">
                <a:latin typeface="Times New Roman" panose="02020603050405020304"/>
                <a:cs typeface="Times New Roman" panose="02020603050405020304"/>
              </a:rPr>
              <a:t>also </a:t>
            </a:r>
            <a:r>
              <a:rPr sz="2600" spc="-170" dirty="0">
                <a:latin typeface="Times New Roman" panose="02020603050405020304"/>
                <a:cs typeface="Times New Roman" panose="02020603050405020304"/>
              </a:rPr>
              <a:t>give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base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address, </a:t>
            </a: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that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address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b="1" spc="-5" dirty="0">
                <a:latin typeface="Times New Roman" panose="02020603050405020304"/>
                <a:cs typeface="Times New Roman" panose="02020603050405020304"/>
              </a:rPr>
              <a:t>a[0][0]</a:t>
            </a:r>
            <a:r>
              <a:rPr sz="2600" b="1" spc="4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65" dirty="0">
                <a:latin typeface="Times New Roman" panose="02020603050405020304"/>
                <a:cs typeface="Times New Roman" panose="02020603050405020304"/>
              </a:rPr>
              <a:t>element.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87020" marR="1639570" indent="-274320">
              <a:lnSpc>
                <a:spcPct val="150000"/>
              </a:lnSpc>
              <a:spcBef>
                <a:spcPts val="605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Here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generalized </a:t>
            </a:r>
            <a:r>
              <a:rPr sz="2600" spc="-95" dirty="0">
                <a:latin typeface="Times New Roman" panose="02020603050405020304"/>
                <a:cs typeface="Times New Roman" panose="02020603050405020304"/>
              </a:rPr>
              <a:t>form for </a:t>
            </a:r>
            <a:r>
              <a:rPr sz="2600" spc="-155" dirty="0">
                <a:latin typeface="Times New Roman" panose="02020603050405020304"/>
                <a:cs typeface="Times New Roman" panose="02020603050405020304"/>
              </a:rPr>
              <a:t>using </a:t>
            </a:r>
            <a:r>
              <a:rPr sz="2600" spc="-70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600" spc="-200" dirty="0">
                <a:latin typeface="Times New Roman" panose="02020603050405020304"/>
                <a:cs typeface="Times New Roman" panose="02020603050405020304"/>
              </a:rPr>
              <a:t>with 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multidimensional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arrays.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87020" indent="-274320">
              <a:lnSpc>
                <a:spcPct val="100000"/>
              </a:lnSpc>
              <a:spcBef>
                <a:spcPts val="2160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b="1" spc="20" dirty="0">
                <a:latin typeface="Times New Roman" panose="02020603050405020304"/>
                <a:cs typeface="Times New Roman" panose="02020603050405020304"/>
              </a:rPr>
              <a:t>*(*(a </a:t>
            </a:r>
            <a:r>
              <a:rPr sz="2600" b="1" spc="254" dirty="0">
                <a:latin typeface="Times New Roman" panose="02020603050405020304"/>
                <a:cs typeface="Times New Roman" panose="02020603050405020304"/>
              </a:rPr>
              <a:t>+ </a:t>
            </a:r>
            <a:r>
              <a:rPr sz="2600" b="1" spc="55" dirty="0">
                <a:latin typeface="Times New Roman" panose="02020603050405020304"/>
                <a:cs typeface="Times New Roman" panose="02020603050405020304"/>
              </a:rPr>
              <a:t>i) </a:t>
            </a:r>
            <a:r>
              <a:rPr sz="2600" b="1" spc="254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600" b="1" spc="-3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15" dirty="0">
                <a:latin typeface="Times New Roman" panose="02020603050405020304"/>
                <a:cs typeface="Times New Roman" panose="02020603050405020304"/>
              </a:rPr>
              <a:t>j)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is same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as </a:t>
            </a:r>
            <a:r>
              <a:rPr sz="2600" spc="-145" dirty="0">
                <a:latin typeface="Times New Roman" panose="02020603050405020304"/>
                <a:cs typeface="Times New Roman" panose="02020603050405020304"/>
              </a:rPr>
              <a:t>a[i][j].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942" y="112903"/>
            <a:ext cx="22745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/>
              <a:t>Example</a:t>
            </a:r>
            <a:r>
              <a:rPr sz="4000" spc="-300" dirty="0"/>
              <a:t> </a:t>
            </a:r>
            <a:r>
              <a:rPr sz="4000" spc="245" dirty="0"/>
              <a:t>2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18540" y="766064"/>
            <a:ext cx="4232910" cy="5787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01240">
              <a:lnSpc>
                <a:spcPct val="100000"/>
              </a:lnSpc>
              <a:spcBef>
                <a:spcPts val="100"/>
              </a:spcBef>
            </a:pPr>
            <a:r>
              <a:rPr sz="1800" b="1" spc="55" dirty="0">
                <a:latin typeface="Times New Roman" panose="02020603050405020304"/>
                <a:cs typeface="Times New Roman" panose="02020603050405020304"/>
              </a:rPr>
              <a:t>#include</a:t>
            </a:r>
            <a:r>
              <a:rPr sz="1800" b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45" dirty="0">
                <a:latin typeface="Times New Roman" panose="02020603050405020304"/>
                <a:cs typeface="Times New Roman" panose="02020603050405020304"/>
              </a:rPr>
              <a:t>&lt;stdio.h&gt;  </a:t>
            </a:r>
            <a:r>
              <a:rPr sz="1800" b="1" spc="55" dirty="0">
                <a:latin typeface="Times New Roman" panose="02020603050405020304"/>
                <a:cs typeface="Times New Roman" panose="02020603050405020304"/>
              </a:rPr>
              <a:t>#define </a:t>
            </a:r>
            <a:r>
              <a:rPr sz="1800" b="1" spc="-180" dirty="0">
                <a:latin typeface="Times New Roman" panose="02020603050405020304"/>
                <a:cs typeface="Times New Roman" panose="02020603050405020304"/>
              </a:rPr>
              <a:t>ROWS</a:t>
            </a:r>
            <a:r>
              <a:rPr sz="1800" b="1" spc="-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80" dirty="0">
                <a:latin typeface="Times New Roman" panose="02020603050405020304"/>
                <a:cs typeface="Times New Roman" panose="02020603050405020304"/>
              </a:rPr>
              <a:t>4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 marR="2713355">
              <a:lnSpc>
                <a:spcPct val="100000"/>
              </a:lnSpc>
            </a:pPr>
            <a:r>
              <a:rPr sz="1800" b="1" spc="55" dirty="0">
                <a:latin typeface="Times New Roman" panose="02020603050405020304"/>
                <a:cs typeface="Times New Roman" panose="02020603050405020304"/>
              </a:rPr>
              <a:t>#define </a:t>
            </a:r>
            <a:r>
              <a:rPr sz="1800" b="1" spc="-195" dirty="0">
                <a:latin typeface="Times New Roman" panose="02020603050405020304"/>
                <a:cs typeface="Times New Roman" panose="02020603050405020304"/>
              </a:rPr>
              <a:t>COLS </a:t>
            </a:r>
            <a:r>
              <a:rPr sz="1800" b="1" spc="-80" dirty="0">
                <a:latin typeface="Times New Roman" panose="02020603050405020304"/>
                <a:cs typeface="Times New Roman" panose="02020603050405020304"/>
              </a:rPr>
              <a:t>3  </a:t>
            </a:r>
            <a:r>
              <a:rPr sz="1800" b="1" spc="15" dirty="0">
                <a:latin typeface="Times New Roman" panose="02020603050405020304"/>
                <a:cs typeface="Times New Roman" panose="02020603050405020304"/>
              </a:rPr>
              <a:t>int </a:t>
            </a:r>
            <a:r>
              <a:rPr sz="1800" b="1" spc="-25" dirty="0">
                <a:latin typeface="Times New Roman" panose="02020603050405020304"/>
                <a:cs typeface="Times New Roman" panose="02020603050405020304"/>
              </a:rPr>
              <a:t>main</a:t>
            </a:r>
            <a:r>
              <a:rPr sz="1800" b="1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50" dirty="0">
                <a:latin typeface="Times New Roman" panose="02020603050405020304"/>
                <a:cs typeface="Times New Roman" panose="02020603050405020304"/>
              </a:rPr>
              <a:t>()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{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</a:pPr>
            <a:r>
              <a:rPr sz="1800" b="1" spc="2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8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40" dirty="0">
                <a:latin typeface="Times New Roman" panose="02020603050405020304"/>
                <a:cs typeface="Times New Roman" panose="02020603050405020304"/>
              </a:rPr>
              <a:t>i,j;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</a:pPr>
            <a:r>
              <a:rPr sz="1800" b="1" spc="455" dirty="0">
                <a:latin typeface="Times New Roman" panose="02020603050405020304"/>
                <a:cs typeface="Times New Roman" panose="02020603050405020304"/>
              </a:rPr>
              <a:t>//</a:t>
            </a:r>
            <a:r>
              <a:rPr sz="1800" b="1" spc="-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declare </a:t>
            </a:r>
            <a:r>
              <a:rPr sz="1800" b="1" spc="-20" dirty="0">
                <a:latin typeface="Times New Roman" panose="02020603050405020304"/>
                <a:cs typeface="Times New Roman" panose="02020603050405020304"/>
              </a:rPr>
              <a:t>4x3 </a:t>
            </a:r>
            <a:r>
              <a:rPr sz="1800" b="1" spc="-60" dirty="0">
                <a:latin typeface="Times New Roman" panose="02020603050405020304"/>
                <a:cs typeface="Times New Roman" panose="02020603050405020304"/>
              </a:rPr>
              <a:t>array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</a:pPr>
            <a:r>
              <a:rPr sz="1800" b="1" spc="15" dirty="0">
                <a:latin typeface="Times New Roman" panose="02020603050405020304"/>
                <a:cs typeface="Times New Roman" panose="02020603050405020304"/>
              </a:rPr>
              <a:t>int </a:t>
            </a:r>
            <a:r>
              <a:rPr sz="1800" b="1" spc="-75" dirty="0">
                <a:latin typeface="Times New Roman" panose="02020603050405020304"/>
                <a:cs typeface="Times New Roman" panose="02020603050405020304"/>
              </a:rPr>
              <a:t>matrix[ROWS][COLS] </a:t>
            </a:r>
            <a:r>
              <a:rPr sz="1800" b="1" spc="17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800" b="1" spc="-3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20" dirty="0">
                <a:latin typeface="Times New Roman" panose="02020603050405020304"/>
                <a:cs typeface="Times New Roman" panose="02020603050405020304"/>
              </a:rPr>
              <a:t>{{1, </a:t>
            </a:r>
            <a:r>
              <a:rPr sz="1800" b="1" spc="-30" dirty="0">
                <a:latin typeface="Times New Roman" panose="02020603050405020304"/>
                <a:cs typeface="Times New Roman" panose="02020603050405020304"/>
              </a:rPr>
              <a:t>2, </a:t>
            </a:r>
            <a:r>
              <a:rPr sz="1800" b="1" spc="-20" dirty="0">
                <a:latin typeface="Times New Roman" panose="02020603050405020304"/>
                <a:cs typeface="Times New Roman" panose="02020603050405020304"/>
              </a:rPr>
              <a:t>3},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031490">
              <a:lnSpc>
                <a:spcPct val="100000"/>
              </a:lnSpc>
            </a:pPr>
            <a:r>
              <a:rPr sz="1800" b="1" spc="-25" dirty="0">
                <a:latin typeface="Times New Roman" panose="02020603050405020304"/>
                <a:cs typeface="Times New Roman" panose="02020603050405020304"/>
              </a:rPr>
              <a:t>{4, </a:t>
            </a:r>
            <a:r>
              <a:rPr sz="1800" b="1" spc="-30" dirty="0">
                <a:latin typeface="Times New Roman" panose="02020603050405020304"/>
                <a:cs typeface="Times New Roman" panose="02020603050405020304"/>
              </a:rPr>
              <a:t>5,</a:t>
            </a:r>
            <a:r>
              <a:rPr sz="1800" b="1" spc="-25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20" dirty="0">
                <a:latin typeface="Times New Roman" panose="02020603050405020304"/>
                <a:cs typeface="Times New Roman" panose="02020603050405020304"/>
              </a:rPr>
              <a:t>6},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061970">
              <a:lnSpc>
                <a:spcPct val="100000"/>
              </a:lnSpc>
            </a:pPr>
            <a:r>
              <a:rPr sz="1800" b="1" spc="-25" dirty="0">
                <a:latin typeface="Times New Roman" panose="02020603050405020304"/>
                <a:cs typeface="Times New Roman" panose="02020603050405020304"/>
              </a:rPr>
              <a:t>{7, </a:t>
            </a:r>
            <a:r>
              <a:rPr sz="1800" b="1" spc="-30" dirty="0">
                <a:latin typeface="Times New Roman" panose="02020603050405020304"/>
                <a:cs typeface="Times New Roman" panose="02020603050405020304"/>
              </a:rPr>
              <a:t>8,</a:t>
            </a:r>
            <a:r>
              <a:rPr sz="1800" b="1" spc="-25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20" dirty="0">
                <a:latin typeface="Times New Roman" panose="02020603050405020304"/>
                <a:cs typeface="Times New Roman" panose="02020603050405020304"/>
              </a:rPr>
              <a:t>9},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061970">
              <a:lnSpc>
                <a:spcPct val="100000"/>
              </a:lnSpc>
            </a:pPr>
            <a:r>
              <a:rPr sz="1800" b="1" spc="-40" dirty="0">
                <a:latin typeface="Times New Roman" panose="02020603050405020304"/>
                <a:cs typeface="Times New Roman" panose="02020603050405020304"/>
              </a:rPr>
              <a:t>{10, </a:t>
            </a:r>
            <a:r>
              <a:rPr sz="1800" b="1" spc="-45" dirty="0">
                <a:latin typeface="Times New Roman" panose="02020603050405020304"/>
                <a:cs typeface="Times New Roman" panose="02020603050405020304"/>
              </a:rPr>
              <a:t>11,</a:t>
            </a:r>
            <a:r>
              <a:rPr sz="1800" b="1" spc="-3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60" dirty="0">
                <a:latin typeface="Times New Roman" panose="02020603050405020304"/>
                <a:cs typeface="Times New Roman" panose="02020603050405020304"/>
              </a:rPr>
              <a:t>12}};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</a:pP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800" b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40" dirty="0">
                <a:latin typeface="Times New Roman" panose="02020603050405020304"/>
                <a:cs typeface="Times New Roman" panose="02020603050405020304"/>
              </a:rPr>
              <a:t>(i</a:t>
            </a:r>
            <a:r>
              <a:rPr sz="18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17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8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5" dirty="0">
                <a:latin typeface="Times New Roman" panose="02020603050405020304"/>
                <a:cs typeface="Times New Roman" panose="02020603050405020304"/>
              </a:rPr>
              <a:t>0;</a:t>
            </a:r>
            <a:r>
              <a:rPr sz="1800" b="1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2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8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175" dirty="0">
                <a:latin typeface="Times New Roman" panose="02020603050405020304"/>
                <a:cs typeface="Times New Roman" panose="02020603050405020304"/>
              </a:rPr>
              <a:t>&lt;</a:t>
            </a:r>
            <a:r>
              <a:rPr sz="18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70" dirty="0">
                <a:latin typeface="Times New Roman" panose="02020603050405020304"/>
                <a:cs typeface="Times New Roman" panose="02020603050405020304"/>
              </a:rPr>
              <a:t>ROWS;</a:t>
            </a:r>
            <a:r>
              <a:rPr sz="1800" b="1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105" dirty="0">
                <a:latin typeface="Times New Roman" panose="02020603050405020304"/>
                <a:cs typeface="Times New Roman" panose="02020603050405020304"/>
              </a:rPr>
              <a:t>i++)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{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419100">
              <a:lnSpc>
                <a:spcPct val="100000"/>
              </a:lnSpc>
            </a:pP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1800" b="1" spc="-15" dirty="0">
                <a:latin typeface="Times New Roman" panose="02020603050405020304"/>
                <a:cs typeface="Times New Roman" panose="02020603050405020304"/>
              </a:rPr>
              <a:t>(j </a:t>
            </a:r>
            <a:r>
              <a:rPr sz="1800" b="1" spc="170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1800" b="1" spc="-105" dirty="0">
                <a:latin typeface="Times New Roman" panose="02020603050405020304"/>
                <a:cs typeface="Times New Roman" panose="02020603050405020304"/>
              </a:rPr>
              <a:t>0; </a:t>
            </a:r>
            <a:r>
              <a:rPr sz="1800" b="1" spc="-75" dirty="0">
                <a:latin typeface="Times New Roman" panose="02020603050405020304"/>
                <a:cs typeface="Times New Roman" panose="02020603050405020304"/>
              </a:rPr>
              <a:t>j </a:t>
            </a:r>
            <a:r>
              <a:rPr sz="1800" b="1" spc="170" dirty="0">
                <a:latin typeface="Times New Roman" panose="02020603050405020304"/>
                <a:cs typeface="Times New Roman" panose="02020603050405020304"/>
              </a:rPr>
              <a:t>&lt;</a:t>
            </a:r>
            <a:r>
              <a:rPr sz="1800" b="1" spc="-3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85" dirty="0">
                <a:latin typeface="Times New Roman" panose="02020603050405020304"/>
                <a:cs typeface="Times New Roman" panose="02020603050405020304"/>
              </a:rPr>
              <a:t>COLS; </a:t>
            </a:r>
            <a:r>
              <a:rPr sz="1800" b="1" spc="80" dirty="0">
                <a:latin typeface="Times New Roman" panose="02020603050405020304"/>
                <a:cs typeface="Times New Roman" panose="02020603050405020304"/>
              </a:rPr>
              <a:t>j++)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419100">
              <a:lnSpc>
                <a:spcPct val="100000"/>
              </a:lnSpc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{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623570">
              <a:lnSpc>
                <a:spcPct val="100000"/>
              </a:lnSpc>
            </a:pPr>
            <a:r>
              <a:rPr sz="1800" b="1" spc="10" dirty="0">
                <a:latin typeface="Times New Roman" panose="02020603050405020304"/>
                <a:cs typeface="Times New Roman" panose="02020603050405020304"/>
              </a:rPr>
              <a:t>printf("%d\t",</a:t>
            </a:r>
            <a:r>
              <a:rPr sz="1800" b="1" spc="-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matrix[i][j]);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419100">
              <a:lnSpc>
                <a:spcPct val="100000"/>
              </a:lnSpc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}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419100">
              <a:lnSpc>
                <a:spcPct val="100000"/>
              </a:lnSpc>
            </a:pPr>
            <a:r>
              <a:rPr sz="1800" b="1" spc="30" dirty="0">
                <a:latin typeface="Times New Roman" panose="02020603050405020304"/>
                <a:cs typeface="Times New Roman" panose="02020603050405020304"/>
              </a:rPr>
              <a:t>printf("\n");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}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216535">
              <a:lnSpc>
                <a:spcPct val="100000"/>
              </a:lnSpc>
            </a:pP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18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5" dirty="0">
                <a:latin typeface="Times New Roman" panose="02020603050405020304"/>
                <a:cs typeface="Times New Roman" panose="02020603050405020304"/>
              </a:rPr>
              <a:t>0;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}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406" y="256793"/>
            <a:ext cx="14833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0" dirty="0"/>
              <a:t>O</a:t>
            </a:r>
            <a:r>
              <a:rPr sz="4000" spc="-80" dirty="0"/>
              <a:t>u</a:t>
            </a:r>
            <a:r>
              <a:rPr sz="4000" spc="-190" dirty="0"/>
              <a:t>t</a:t>
            </a:r>
            <a:r>
              <a:rPr sz="4000" spc="-250" dirty="0"/>
              <a:t>p</a:t>
            </a:r>
            <a:r>
              <a:rPr sz="4000" spc="-190" dirty="0"/>
              <a:t>ut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43356" y="1290088"/>
          <a:ext cx="1863725" cy="2985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9430"/>
                <a:gridCol w="711200"/>
                <a:gridCol w="298450"/>
                <a:gridCol w="333375"/>
              </a:tblGrid>
              <a:tr h="623962">
                <a:tc>
                  <a:txBody>
                    <a:bodyPr/>
                    <a:lstStyle/>
                    <a:p>
                      <a:pPr marL="31750">
                        <a:lnSpc>
                          <a:spcPts val="2655"/>
                        </a:lnSpc>
                      </a:pPr>
                      <a:r>
                        <a:rPr sz="260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2655"/>
                        </a:lnSpc>
                      </a:pPr>
                      <a:r>
                        <a:rPr sz="26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2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655"/>
                        </a:lnSpc>
                      </a:pPr>
                      <a:r>
                        <a:rPr sz="2600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868682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2600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2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85420" marB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2600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2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8542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2600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2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854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8690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2600" dirty="0">
                          <a:latin typeface="Times New Roman" panose="02020603050405020304"/>
                          <a:cs typeface="Times New Roman" panose="02020603050405020304"/>
                        </a:rPr>
                        <a:t>7</a:t>
                      </a:r>
                      <a:endParaRPr sz="2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85420" marB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2600" dirty="0">
                          <a:latin typeface="Times New Roman" panose="02020603050405020304"/>
                          <a:cs typeface="Times New Roman" panose="02020603050405020304"/>
                        </a:rPr>
                        <a:t>8</a:t>
                      </a:r>
                      <a:endParaRPr sz="2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8542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2600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2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854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6239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2600" spc="-114" dirty="0">
                          <a:latin typeface="Times New Roman" panose="02020603050405020304"/>
                          <a:cs typeface="Times New Roman" panose="02020603050405020304"/>
                        </a:rPr>
                        <a:t>10</a:t>
                      </a:r>
                      <a:endParaRPr sz="2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85420" marB="0"/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2600" spc="-114" dirty="0">
                          <a:latin typeface="Times New Roman" panose="02020603050405020304"/>
                          <a:cs typeface="Times New Roman" panose="02020603050405020304"/>
                        </a:rPr>
                        <a:t>11</a:t>
                      </a:r>
                      <a:endParaRPr sz="2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854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2600" spc="-114" dirty="0">
                          <a:latin typeface="Times New Roman" panose="02020603050405020304"/>
                          <a:cs typeface="Times New Roman" panose="02020603050405020304"/>
                        </a:rPr>
                        <a:t>12</a:t>
                      </a:r>
                      <a:endParaRPr sz="2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8542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7713" y="1362004"/>
            <a:ext cx="6903084" cy="4416425"/>
          </a:xfrm>
          <a:prstGeom prst="rect">
            <a:avLst/>
          </a:prstGeom>
        </p:spPr>
        <p:txBody>
          <a:bodyPr vert="horz" wrap="square" lIns="0" tIns="257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25"/>
              </a:spcBef>
            </a:pPr>
            <a:r>
              <a:rPr sz="3200" spc="-155" dirty="0">
                <a:latin typeface="Times New Roman" panose="02020603050405020304"/>
                <a:cs typeface="Times New Roman" panose="02020603050405020304"/>
              </a:rPr>
              <a:t>matrix[0][0] </a:t>
            </a:r>
            <a:r>
              <a:rPr sz="3200" spc="33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32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95" dirty="0">
                <a:latin typeface="Times New Roman" panose="02020603050405020304"/>
                <a:cs typeface="Times New Roman" panose="02020603050405020304"/>
              </a:rPr>
              <a:t>*(*(matrix))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69850">
              <a:lnSpc>
                <a:spcPct val="150000"/>
              </a:lnSpc>
            </a:pPr>
            <a:r>
              <a:rPr sz="3200" spc="-160" dirty="0">
                <a:latin typeface="Times New Roman" panose="02020603050405020304"/>
                <a:cs typeface="Times New Roman" panose="02020603050405020304"/>
              </a:rPr>
              <a:t>matrix[i][j] </a:t>
            </a:r>
            <a:r>
              <a:rPr sz="3200" spc="330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3200" spc="-95" dirty="0">
                <a:latin typeface="Times New Roman" panose="02020603050405020304"/>
                <a:cs typeface="Times New Roman" panose="02020603050405020304"/>
              </a:rPr>
              <a:t>*((*(matrix)) </a:t>
            </a:r>
            <a:r>
              <a:rPr sz="3200" spc="330" dirty="0">
                <a:latin typeface="Times New Roman" panose="02020603050405020304"/>
                <a:cs typeface="Times New Roman" panose="02020603050405020304"/>
              </a:rPr>
              <a:t>+ </a:t>
            </a:r>
            <a:r>
              <a:rPr sz="3200" spc="-105" dirty="0">
                <a:latin typeface="Times New Roman" panose="02020603050405020304"/>
                <a:cs typeface="Times New Roman" panose="02020603050405020304"/>
              </a:rPr>
              <a:t>(i </a:t>
            </a:r>
            <a:r>
              <a:rPr sz="3200" spc="-135" dirty="0">
                <a:latin typeface="Times New Roman" panose="02020603050405020304"/>
                <a:cs typeface="Times New Roman" panose="02020603050405020304"/>
              </a:rPr>
              <a:t>* </a:t>
            </a:r>
            <a:r>
              <a:rPr sz="3200" spc="-235" dirty="0">
                <a:latin typeface="Times New Roman" panose="02020603050405020304"/>
                <a:cs typeface="Times New Roman" panose="02020603050405020304"/>
              </a:rPr>
              <a:t>COLS </a:t>
            </a:r>
            <a:r>
              <a:rPr sz="3200" spc="33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3200" spc="-5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95" dirty="0">
                <a:latin typeface="Times New Roman" panose="02020603050405020304"/>
                <a:cs typeface="Times New Roman" panose="02020603050405020304"/>
              </a:rPr>
              <a:t>j))  </a:t>
            </a:r>
            <a:r>
              <a:rPr sz="3200" spc="-160" dirty="0">
                <a:latin typeface="Times New Roman" panose="02020603050405020304"/>
                <a:cs typeface="Times New Roman" panose="02020603050405020304"/>
              </a:rPr>
              <a:t>matrix[i][j]</a:t>
            </a:r>
            <a:r>
              <a:rPr sz="3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33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3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5" dirty="0">
                <a:latin typeface="Times New Roman" panose="02020603050405020304"/>
                <a:cs typeface="Times New Roman" panose="02020603050405020304"/>
              </a:rPr>
              <a:t>*(*(matrix</a:t>
            </a:r>
            <a:r>
              <a:rPr sz="3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33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3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14" dirty="0">
                <a:latin typeface="Times New Roman" panose="02020603050405020304"/>
                <a:cs typeface="Times New Roman" panose="02020603050405020304"/>
              </a:rPr>
              <a:t>i)</a:t>
            </a:r>
            <a:r>
              <a:rPr sz="3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33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3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10" dirty="0">
                <a:latin typeface="Times New Roman" panose="02020603050405020304"/>
                <a:cs typeface="Times New Roman" panose="02020603050405020304"/>
              </a:rPr>
              <a:t>j)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2297430">
              <a:lnSpc>
                <a:spcPct val="150000"/>
              </a:lnSpc>
              <a:spcBef>
                <a:spcPts val="5"/>
              </a:spcBef>
            </a:pPr>
            <a:r>
              <a:rPr sz="3200" spc="-160" dirty="0">
                <a:latin typeface="Times New Roman" panose="02020603050405020304"/>
                <a:cs typeface="Times New Roman" panose="02020603050405020304"/>
              </a:rPr>
              <a:t>matrix[i][j] </a:t>
            </a:r>
            <a:r>
              <a:rPr sz="3200" spc="330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3200" spc="-135" dirty="0">
                <a:latin typeface="Times New Roman" panose="02020603050405020304"/>
                <a:cs typeface="Times New Roman" panose="02020603050405020304"/>
              </a:rPr>
              <a:t>*(matrix[i] </a:t>
            </a:r>
            <a:r>
              <a:rPr sz="3200" spc="330" dirty="0">
                <a:latin typeface="Times New Roman" panose="02020603050405020304"/>
                <a:cs typeface="Times New Roman" panose="02020603050405020304"/>
              </a:rPr>
              <a:t>+ </a:t>
            </a:r>
            <a:r>
              <a:rPr sz="3200" spc="-110" dirty="0">
                <a:latin typeface="Times New Roman" panose="02020603050405020304"/>
                <a:cs typeface="Times New Roman" panose="02020603050405020304"/>
              </a:rPr>
              <a:t>j)  </a:t>
            </a:r>
            <a:r>
              <a:rPr sz="3200" spc="-160" dirty="0">
                <a:latin typeface="Times New Roman" panose="02020603050405020304"/>
                <a:cs typeface="Times New Roman" panose="02020603050405020304"/>
              </a:rPr>
              <a:t>matrix[i][j] </a:t>
            </a:r>
            <a:r>
              <a:rPr sz="3200" spc="330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3200" spc="-100" dirty="0">
                <a:latin typeface="Times New Roman" panose="02020603050405020304"/>
                <a:cs typeface="Times New Roman" panose="02020603050405020304"/>
              </a:rPr>
              <a:t>(*(matrix </a:t>
            </a:r>
            <a:r>
              <a:rPr sz="3200" spc="33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3200" spc="-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55" dirty="0">
                <a:latin typeface="Times New Roman" panose="02020603050405020304"/>
                <a:cs typeface="Times New Roman" panose="02020603050405020304"/>
              </a:rPr>
              <a:t>i))[j]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3200" spc="-190" dirty="0">
                <a:latin typeface="Times New Roman" panose="02020603050405020304"/>
                <a:cs typeface="Times New Roman" panose="02020603050405020304"/>
              </a:rPr>
              <a:t>&amp;matrix[i][j] </a:t>
            </a:r>
            <a:r>
              <a:rPr sz="3200" spc="330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3200" spc="-90" dirty="0">
                <a:latin typeface="Times New Roman" panose="02020603050405020304"/>
                <a:cs typeface="Times New Roman" panose="02020603050405020304"/>
              </a:rPr>
              <a:t>((*(matrix)) </a:t>
            </a:r>
            <a:r>
              <a:rPr sz="3200" spc="330" dirty="0">
                <a:latin typeface="Times New Roman" panose="02020603050405020304"/>
                <a:cs typeface="Times New Roman" panose="02020603050405020304"/>
              </a:rPr>
              <a:t>+ </a:t>
            </a:r>
            <a:r>
              <a:rPr sz="3200" spc="-100" dirty="0">
                <a:latin typeface="Times New Roman" panose="02020603050405020304"/>
                <a:cs typeface="Times New Roman" panose="02020603050405020304"/>
              </a:rPr>
              <a:t>(i </a:t>
            </a:r>
            <a:r>
              <a:rPr sz="3200" spc="-135" dirty="0">
                <a:latin typeface="Times New Roman" panose="02020603050405020304"/>
                <a:cs typeface="Times New Roman" panose="02020603050405020304"/>
              </a:rPr>
              <a:t>* </a:t>
            </a:r>
            <a:r>
              <a:rPr sz="3200" spc="-240" dirty="0">
                <a:latin typeface="Times New Roman" panose="02020603050405020304"/>
                <a:cs typeface="Times New Roman" panose="02020603050405020304"/>
              </a:rPr>
              <a:t>COLS </a:t>
            </a:r>
            <a:r>
              <a:rPr sz="3200" spc="33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3200" spc="-50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95" dirty="0">
                <a:latin typeface="Times New Roman" panose="02020603050405020304"/>
                <a:cs typeface="Times New Roman" panose="02020603050405020304"/>
              </a:rPr>
              <a:t>j))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303" y="84200"/>
            <a:ext cx="16008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75" dirty="0"/>
              <a:t>Example</a:t>
            </a:r>
            <a:r>
              <a:rPr sz="2800" spc="-265" dirty="0"/>
              <a:t> </a:t>
            </a:r>
            <a:r>
              <a:rPr sz="2800" spc="170" dirty="0"/>
              <a:t>3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35940" y="480822"/>
            <a:ext cx="3654425" cy="6122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void </a:t>
            </a:r>
            <a:r>
              <a:rPr sz="1600" b="1" spc="-25" dirty="0">
                <a:latin typeface="Times New Roman" panose="02020603050405020304"/>
                <a:cs typeface="Times New Roman" panose="02020603050405020304"/>
              </a:rPr>
              <a:t>array_of_arrays_ver(int</a:t>
            </a:r>
            <a:r>
              <a:rPr sz="1600" b="1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0" dirty="0">
                <a:latin typeface="Times New Roman" panose="02020603050405020304"/>
                <a:cs typeface="Times New Roman" panose="02020603050405020304"/>
              </a:rPr>
              <a:t>arr[][COLS])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96850">
              <a:lnSpc>
                <a:spcPct val="100000"/>
              </a:lnSpc>
            </a:pP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int i,</a:t>
            </a:r>
            <a:r>
              <a:rPr sz="1600" b="1" spc="-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95" dirty="0">
                <a:latin typeface="Times New Roman" panose="02020603050405020304"/>
                <a:cs typeface="Times New Roman" panose="02020603050405020304"/>
              </a:rPr>
              <a:t>j;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96850">
              <a:lnSpc>
                <a:spcPct val="100000"/>
              </a:lnSpc>
            </a:pP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6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40" dirty="0">
                <a:latin typeface="Times New Roman" panose="02020603050405020304"/>
                <a:cs typeface="Times New Roman" panose="02020603050405020304"/>
              </a:rPr>
              <a:t>(i</a:t>
            </a:r>
            <a:r>
              <a:rPr sz="16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15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6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95" dirty="0">
                <a:latin typeface="Times New Roman" panose="02020603050405020304"/>
                <a:cs typeface="Times New Roman" panose="02020603050405020304"/>
              </a:rPr>
              <a:t>0; 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150" dirty="0">
                <a:latin typeface="Times New Roman" panose="02020603050405020304"/>
                <a:cs typeface="Times New Roman" panose="02020603050405020304"/>
              </a:rPr>
              <a:t>&lt;</a:t>
            </a:r>
            <a:r>
              <a:rPr sz="16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55" dirty="0">
                <a:latin typeface="Times New Roman" panose="02020603050405020304"/>
                <a:cs typeface="Times New Roman" panose="02020603050405020304"/>
              </a:rPr>
              <a:t>ROWS;</a:t>
            </a:r>
            <a:r>
              <a:rPr sz="1600" b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90" dirty="0">
                <a:latin typeface="Times New Roman" panose="02020603050405020304"/>
                <a:cs typeface="Times New Roman" panose="02020603050405020304"/>
              </a:rPr>
              <a:t>i++)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96850">
              <a:lnSpc>
                <a:spcPct val="100000"/>
              </a:lnSpc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81000">
              <a:lnSpc>
                <a:spcPct val="100000"/>
              </a:lnSpc>
            </a:pP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(j </a:t>
            </a:r>
            <a:r>
              <a:rPr sz="1600" b="1" spc="150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1600" b="1" spc="-95" dirty="0">
                <a:latin typeface="Times New Roman" panose="02020603050405020304"/>
                <a:cs typeface="Times New Roman" panose="02020603050405020304"/>
              </a:rPr>
              <a:t>0; </a:t>
            </a:r>
            <a:r>
              <a:rPr sz="1600" b="1" spc="-70" dirty="0">
                <a:latin typeface="Times New Roman" panose="02020603050405020304"/>
                <a:cs typeface="Times New Roman" panose="02020603050405020304"/>
              </a:rPr>
              <a:t>j </a:t>
            </a:r>
            <a:r>
              <a:rPr sz="1600" b="1" spc="150" dirty="0">
                <a:latin typeface="Times New Roman" panose="02020603050405020304"/>
                <a:cs typeface="Times New Roman" panose="02020603050405020304"/>
              </a:rPr>
              <a:t>&lt;</a:t>
            </a:r>
            <a:r>
              <a:rPr sz="1600" b="1" spc="-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60" dirty="0">
                <a:latin typeface="Times New Roman" panose="02020603050405020304"/>
                <a:cs typeface="Times New Roman" panose="02020603050405020304"/>
              </a:rPr>
              <a:t>COLS; </a:t>
            </a:r>
            <a:r>
              <a:rPr sz="1600" b="1" spc="70" dirty="0">
                <a:latin typeface="Times New Roman" panose="02020603050405020304"/>
                <a:cs typeface="Times New Roman" panose="02020603050405020304"/>
              </a:rPr>
              <a:t>j++)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81000">
              <a:lnSpc>
                <a:spcPct val="100000"/>
              </a:lnSpc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564515">
              <a:lnSpc>
                <a:spcPct val="100000"/>
              </a:lnSpc>
            </a:pP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printf("%d\t",</a:t>
            </a:r>
            <a:r>
              <a:rPr sz="1600" b="1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arr[i][j]);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81000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81000">
              <a:lnSpc>
                <a:spcPct val="100000"/>
              </a:lnSpc>
            </a:pPr>
            <a:r>
              <a:rPr sz="1600" b="1" spc="30" dirty="0">
                <a:latin typeface="Times New Roman" panose="02020603050405020304"/>
                <a:cs typeface="Times New Roman" panose="02020603050405020304"/>
              </a:rPr>
              <a:t>printf("\n");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96850">
              <a:lnSpc>
                <a:spcPct val="100000"/>
              </a:lnSpc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void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ptr_to_array_ver(int</a:t>
            </a:r>
            <a:r>
              <a:rPr sz="1600" b="1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45" dirty="0">
                <a:latin typeface="Times New Roman" panose="02020603050405020304"/>
                <a:cs typeface="Times New Roman" panose="02020603050405020304"/>
              </a:rPr>
              <a:t>(*arr)[COLS])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96850">
              <a:lnSpc>
                <a:spcPct val="100000"/>
              </a:lnSpc>
            </a:pP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int i,</a:t>
            </a:r>
            <a:r>
              <a:rPr sz="1600" b="1" spc="-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95" dirty="0">
                <a:latin typeface="Times New Roman" panose="02020603050405020304"/>
                <a:cs typeface="Times New Roman" panose="02020603050405020304"/>
              </a:rPr>
              <a:t>j;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96850">
              <a:lnSpc>
                <a:spcPct val="100000"/>
              </a:lnSpc>
            </a:pP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6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40" dirty="0">
                <a:latin typeface="Times New Roman" panose="02020603050405020304"/>
                <a:cs typeface="Times New Roman" panose="02020603050405020304"/>
              </a:rPr>
              <a:t>(i</a:t>
            </a:r>
            <a:r>
              <a:rPr sz="16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15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6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95" dirty="0">
                <a:latin typeface="Times New Roman" panose="02020603050405020304"/>
                <a:cs typeface="Times New Roman" panose="02020603050405020304"/>
              </a:rPr>
              <a:t>0; 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150" dirty="0">
                <a:latin typeface="Times New Roman" panose="02020603050405020304"/>
                <a:cs typeface="Times New Roman" panose="02020603050405020304"/>
              </a:rPr>
              <a:t>&lt;</a:t>
            </a:r>
            <a:r>
              <a:rPr sz="16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55" dirty="0">
                <a:latin typeface="Times New Roman" panose="02020603050405020304"/>
                <a:cs typeface="Times New Roman" panose="02020603050405020304"/>
              </a:rPr>
              <a:t>ROWS;</a:t>
            </a:r>
            <a:r>
              <a:rPr sz="1600" b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90" dirty="0">
                <a:latin typeface="Times New Roman" panose="02020603050405020304"/>
                <a:cs typeface="Times New Roman" panose="02020603050405020304"/>
              </a:rPr>
              <a:t>i++)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96850">
              <a:lnSpc>
                <a:spcPct val="100000"/>
              </a:lnSpc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81000">
              <a:lnSpc>
                <a:spcPct val="100000"/>
              </a:lnSpc>
            </a:pP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(j </a:t>
            </a:r>
            <a:r>
              <a:rPr sz="1600" b="1" spc="150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1600" b="1" spc="-95" dirty="0">
                <a:latin typeface="Times New Roman" panose="02020603050405020304"/>
                <a:cs typeface="Times New Roman" panose="02020603050405020304"/>
              </a:rPr>
              <a:t>0; </a:t>
            </a:r>
            <a:r>
              <a:rPr sz="1600" b="1" spc="-70" dirty="0">
                <a:latin typeface="Times New Roman" panose="02020603050405020304"/>
                <a:cs typeface="Times New Roman" panose="02020603050405020304"/>
              </a:rPr>
              <a:t>j </a:t>
            </a:r>
            <a:r>
              <a:rPr sz="1600" b="1" spc="150" dirty="0">
                <a:latin typeface="Times New Roman" panose="02020603050405020304"/>
                <a:cs typeface="Times New Roman" panose="02020603050405020304"/>
              </a:rPr>
              <a:t>&lt;</a:t>
            </a:r>
            <a:r>
              <a:rPr sz="1600" b="1" spc="-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60" dirty="0">
                <a:latin typeface="Times New Roman" panose="02020603050405020304"/>
                <a:cs typeface="Times New Roman" panose="02020603050405020304"/>
              </a:rPr>
              <a:t>COLS; </a:t>
            </a:r>
            <a:r>
              <a:rPr sz="1600" b="1" spc="70" dirty="0">
                <a:latin typeface="Times New Roman" panose="02020603050405020304"/>
                <a:cs typeface="Times New Roman" panose="02020603050405020304"/>
              </a:rPr>
              <a:t>j++)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81000">
              <a:lnSpc>
                <a:spcPct val="100000"/>
              </a:lnSpc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564515">
              <a:lnSpc>
                <a:spcPct val="100000"/>
              </a:lnSpc>
            </a:pP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printf("%d\t",</a:t>
            </a:r>
            <a:r>
              <a:rPr sz="1600" b="1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(*arr)[j]);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81000">
              <a:lnSpc>
                <a:spcPct val="100000"/>
              </a:lnSpc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81000" marR="2103755">
              <a:lnSpc>
                <a:spcPct val="100000"/>
              </a:lnSpc>
              <a:spcBef>
                <a:spcPts val="5"/>
              </a:spcBef>
            </a:pP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arr++;  </a:t>
            </a:r>
            <a:r>
              <a:rPr sz="1600" b="1" spc="-2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600" b="1" spc="-35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1600" b="1" spc="25" dirty="0">
                <a:latin typeface="Times New Roman" panose="02020603050405020304"/>
                <a:cs typeface="Times New Roman" panose="02020603050405020304"/>
              </a:rPr>
              <a:t>"</a:t>
            </a:r>
            <a:r>
              <a:rPr sz="1600" b="1" spc="400" dirty="0">
                <a:latin typeface="Times New Roman" panose="02020603050405020304"/>
                <a:cs typeface="Times New Roman" panose="02020603050405020304"/>
              </a:rPr>
              <a:t>\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</a:rPr>
              <a:t>n"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1600" b="1" spc="-120" dirty="0">
                <a:latin typeface="Times New Roman" panose="02020603050405020304"/>
                <a:cs typeface="Times New Roman" panose="02020603050405020304"/>
              </a:rPr>
              <a:t>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96850">
              <a:lnSpc>
                <a:spcPct val="100000"/>
              </a:lnSpc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14770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80" dirty="0">
                <a:solidFill>
                  <a:srgbClr val="696363"/>
                </a:solidFill>
              </a:rPr>
              <a:t>Output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547116" y="1623774"/>
            <a:ext cx="8049768" cy="450270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400938"/>
            <a:ext cx="31889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65" dirty="0"/>
              <a:t>Double</a:t>
            </a:r>
            <a:r>
              <a:rPr sz="4000" spc="-300" dirty="0"/>
              <a:t> </a:t>
            </a:r>
            <a:r>
              <a:rPr sz="4000" spc="-160" dirty="0"/>
              <a:t>Pointer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068069"/>
            <a:ext cx="6045200" cy="51835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3689350">
              <a:lnSpc>
                <a:spcPct val="103000"/>
              </a:lnSpc>
              <a:spcBef>
                <a:spcPts val="25"/>
              </a:spcBef>
            </a:pPr>
            <a:r>
              <a:rPr sz="2200" b="1" spc="70" dirty="0">
                <a:latin typeface="Times New Roman" panose="02020603050405020304"/>
                <a:cs typeface="Times New Roman" panose="02020603050405020304"/>
              </a:rPr>
              <a:t>#include</a:t>
            </a:r>
            <a:r>
              <a:rPr sz="2200" b="1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55" dirty="0">
                <a:latin typeface="Times New Roman" panose="02020603050405020304"/>
                <a:cs typeface="Times New Roman" panose="02020603050405020304"/>
              </a:rPr>
              <a:t>&lt;stdio.h&gt;  </a:t>
            </a:r>
            <a:r>
              <a:rPr sz="2200" b="1" spc="70" dirty="0">
                <a:latin typeface="Times New Roman" panose="02020603050405020304"/>
                <a:cs typeface="Times New Roman" panose="02020603050405020304"/>
              </a:rPr>
              <a:t>#define </a:t>
            </a:r>
            <a:r>
              <a:rPr sz="2200" b="1" spc="-220" dirty="0">
                <a:latin typeface="Times New Roman" panose="02020603050405020304"/>
                <a:cs typeface="Times New Roman" panose="02020603050405020304"/>
              </a:rPr>
              <a:t>ROWS</a:t>
            </a:r>
            <a:r>
              <a:rPr sz="2200" b="1" spc="-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95" dirty="0">
                <a:latin typeface="Times New Roman" panose="02020603050405020304"/>
                <a:cs typeface="Times New Roman" panose="02020603050405020304"/>
              </a:rPr>
              <a:t>4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200" b="1" spc="70" dirty="0">
                <a:latin typeface="Times New Roman" panose="02020603050405020304"/>
                <a:cs typeface="Times New Roman" panose="02020603050405020304"/>
              </a:rPr>
              <a:t>#define </a:t>
            </a:r>
            <a:r>
              <a:rPr sz="2200" b="1" spc="-235" dirty="0">
                <a:latin typeface="Times New Roman" panose="02020603050405020304"/>
                <a:cs typeface="Times New Roman" panose="02020603050405020304"/>
              </a:rPr>
              <a:t>COLS</a:t>
            </a:r>
            <a:r>
              <a:rPr sz="2200" b="1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95" dirty="0">
                <a:latin typeface="Times New Roman" panose="02020603050405020304"/>
                <a:cs typeface="Times New Roman" panose="02020603050405020304"/>
              </a:rPr>
              <a:t>3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200" b="1" spc="20" dirty="0">
                <a:latin typeface="Times New Roman" panose="02020603050405020304"/>
                <a:cs typeface="Times New Roman" panose="02020603050405020304"/>
              </a:rPr>
              <a:t>int </a:t>
            </a:r>
            <a:r>
              <a:rPr sz="2200" b="1" spc="-35" dirty="0">
                <a:latin typeface="Times New Roman" panose="02020603050405020304"/>
                <a:cs typeface="Times New Roman" panose="02020603050405020304"/>
              </a:rPr>
              <a:t>main</a:t>
            </a:r>
            <a:r>
              <a:rPr sz="2200" b="1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60" dirty="0">
                <a:latin typeface="Times New Roman" panose="02020603050405020304"/>
                <a:cs typeface="Times New Roman" panose="02020603050405020304"/>
              </a:rPr>
              <a:t>()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200" b="1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266700">
              <a:lnSpc>
                <a:spcPct val="100000"/>
              </a:lnSpc>
              <a:spcBef>
                <a:spcPts val="75"/>
              </a:spcBef>
            </a:pPr>
            <a:r>
              <a:rPr sz="2200" b="1" spc="550" dirty="0">
                <a:latin typeface="Times New Roman" panose="02020603050405020304"/>
                <a:cs typeface="Times New Roman" panose="02020603050405020304"/>
              </a:rPr>
              <a:t>//</a:t>
            </a:r>
            <a:r>
              <a:rPr sz="2200" b="1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15" dirty="0">
                <a:latin typeface="Times New Roman" panose="02020603050405020304"/>
                <a:cs typeface="Times New Roman" panose="02020603050405020304"/>
              </a:rPr>
              <a:t>matrix </a:t>
            </a:r>
            <a:r>
              <a:rPr sz="2200" b="1" spc="2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200" b="1" spc="-95" dirty="0">
                <a:latin typeface="Times New Roman" panose="02020603050405020304"/>
                <a:cs typeface="Times New Roman" panose="02020603050405020304"/>
              </a:rPr>
              <a:t>4 </a:t>
            </a:r>
            <a:r>
              <a:rPr sz="2200" b="1" spc="-10" dirty="0">
                <a:latin typeface="Times New Roman" panose="02020603050405020304"/>
                <a:cs typeface="Times New Roman" panose="02020603050405020304"/>
              </a:rPr>
              <a:t>rows </a:t>
            </a:r>
            <a:r>
              <a:rPr sz="2200" b="1" spc="-20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200" b="1" spc="-95" dirty="0">
                <a:latin typeface="Times New Roman" panose="02020603050405020304"/>
                <a:cs typeface="Times New Roman" panose="02020603050405020304"/>
              </a:rPr>
              <a:t>3 </a:t>
            </a:r>
            <a:r>
              <a:rPr sz="2200" b="1" spc="5" dirty="0">
                <a:latin typeface="Times New Roman" panose="02020603050405020304"/>
                <a:cs typeface="Times New Roman" panose="02020603050405020304"/>
              </a:rPr>
              <a:t>columns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266700">
              <a:lnSpc>
                <a:spcPct val="100000"/>
              </a:lnSpc>
              <a:spcBef>
                <a:spcPts val="70"/>
              </a:spcBef>
            </a:pPr>
            <a:r>
              <a:rPr sz="2200" b="1" spc="15" dirty="0">
                <a:latin typeface="Times New Roman" panose="02020603050405020304"/>
                <a:cs typeface="Times New Roman" panose="02020603050405020304"/>
              </a:rPr>
              <a:t>int </a:t>
            </a:r>
            <a:r>
              <a:rPr sz="2200" b="1" spc="-90" dirty="0">
                <a:latin typeface="Times New Roman" panose="02020603050405020304"/>
                <a:cs typeface="Times New Roman" panose="02020603050405020304"/>
              </a:rPr>
              <a:t>matrix[ROWS][COLS] </a:t>
            </a:r>
            <a:r>
              <a:rPr sz="2200" b="1" spc="21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200" b="1" spc="-3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25" dirty="0">
                <a:latin typeface="Times New Roman" panose="02020603050405020304"/>
                <a:cs typeface="Times New Roman" panose="02020603050405020304"/>
              </a:rPr>
              <a:t>{{1, </a:t>
            </a:r>
            <a:r>
              <a:rPr sz="2200" b="1" spc="-40" dirty="0">
                <a:latin typeface="Times New Roman" panose="02020603050405020304"/>
                <a:cs typeface="Times New Roman" panose="02020603050405020304"/>
              </a:rPr>
              <a:t>2, </a:t>
            </a:r>
            <a:r>
              <a:rPr sz="2200" b="1" spc="-25" dirty="0">
                <a:latin typeface="Times New Roman" panose="02020603050405020304"/>
                <a:cs typeface="Times New Roman" panose="02020603050405020304"/>
              </a:rPr>
              <a:t>3},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917065">
              <a:lnSpc>
                <a:spcPct val="100000"/>
              </a:lnSpc>
              <a:spcBef>
                <a:spcPts val="75"/>
              </a:spcBef>
            </a:pPr>
            <a:r>
              <a:rPr sz="2200" b="1" spc="-30" dirty="0">
                <a:latin typeface="Times New Roman" panose="02020603050405020304"/>
                <a:cs typeface="Times New Roman" panose="02020603050405020304"/>
              </a:rPr>
              <a:t>{4, </a:t>
            </a:r>
            <a:r>
              <a:rPr sz="2200" b="1" spc="-40" dirty="0">
                <a:latin typeface="Times New Roman" panose="02020603050405020304"/>
                <a:cs typeface="Times New Roman" panose="02020603050405020304"/>
              </a:rPr>
              <a:t>5,</a:t>
            </a:r>
            <a:r>
              <a:rPr sz="2200" b="1" spc="-3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30" dirty="0">
                <a:latin typeface="Times New Roman" panose="02020603050405020304"/>
                <a:cs typeface="Times New Roman" panose="02020603050405020304"/>
              </a:rPr>
              <a:t>6},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917065">
              <a:lnSpc>
                <a:spcPct val="100000"/>
              </a:lnSpc>
              <a:spcBef>
                <a:spcPts val="70"/>
              </a:spcBef>
            </a:pPr>
            <a:r>
              <a:rPr sz="2200" b="1" spc="-30" dirty="0">
                <a:latin typeface="Times New Roman" panose="02020603050405020304"/>
                <a:cs typeface="Times New Roman" panose="02020603050405020304"/>
              </a:rPr>
              <a:t>{7, </a:t>
            </a:r>
            <a:r>
              <a:rPr sz="2200" b="1" spc="-40" dirty="0">
                <a:latin typeface="Times New Roman" panose="02020603050405020304"/>
                <a:cs typeface="Times New Roman" panose="02020603050405020304"/>
              </a:rPr>
              <a:t>8,</a:t>
            </a:r>
            <a:r>
              <a:rPr sz="2200" b="1" spc="-3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30" dirty="0">
                <a:latin typeface="Times New Roman" panose="02020603050405020304"/>
                <a:cs typeface="Times New Roman" panose="02020603050405020304"/>
              </a:rPr>
              <a:t>9},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917065">
              <a:lnSpc>
                <a:spcPct val="100000"/>
              </a:lnSpc>
              <a:spcBef>
                <a:spcPts val="75"/>
              </a:spcBef>
            </a:pPr>
            <a:r>
              <a:rPr sz="2200" b="1" spc="-45" dirty="0">
                <a:latin typeface="Times New Roman" panose="02020603050405020304"/>
                <a:cs typeface="Times New Roman" panose="02020603050405020304"/>
              </a:rPr>
              <a:t>{10, </a:t>
            </a:r>
            <a:r>
              <a:rPr sz="2200" b="1" spc="-55" dirty="0">
                <a:latin typeface="Times New Roman" panose="02020603050405020304"/>
                <a:cs typeface="Times New Roman" panose="02020603050405020304"/>
              </a:rPr>
              <a:t>11,</a:t>
            </a:r>
            <a:r>
              <a:rPr sz="2200" b="1" spc="-2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75" dirty="0">
                <a:latin typeface="Times New Roman" panose="02020603050405020304"/>
                <a:cs typeface="Times New Roman" panose="02020603050405020304"/>
              </a:rPr>
              <a:t>12}};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266700">
              <a:lnSpc>
                <a:spcPct val="100000"/>
              </a:lnSpc>
              <a:spcBef>
                <a:spcPts val="70"/>
              </a:spcBef>
            </a:pPr>
            <a:r>
              <a:rPr sz="2200" b="1" spc="15" dirty="0">
                <a:latin typeface="Times New Roman" panose="02020603050405020304"/>
                <a:cs typeface="Times New Roman" panose="02020603050405020304"/>
              </a:rPr>
              <a:t>int** </a:t>
            </a:r>
            <a:r>
              <a:rPr sz="2200" b="1" spc="-35" dirty="0">
                <a:latin typeface="Times New Roman" panose="02020603050405020304"/>
                <a:cs typeface="Times New Roman" panose="02020603050405020304"/>
              </a:rPr>
              <a:t>pmat </a:t>
            </a:r>
            <a:r>
              <a:rPr sz="2200" b="1" spc="210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2200" b="1" spc="30" dirty="0">
                <a:latin typeface="Times New Roman" panose="02020603050405020304"/>
                <a:cs typeface="Times New Roman" panose="02020603050405020304"/>
              </a:rPr>
              <a:t>(int</a:t>
            </a:r>
            <a:r>
              <a:rPr sz="2200" b="1" spc="-3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15" dirty="0">
                <a:latin typeface="Times New Roman" panose="02020603050405020304"/>
                <a:cs typeface="Times New Roman" panose="02020603050405020304"/>
              </a:rPr>
              <a:t>**)matrix;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266700">
              <a:lnSpc>
                <a:spcPct val="100000"/>
              </a:lnSpc>
              <a:spcBef>
                <a:spcPts val="75"/>
              </a:spcBef>
            </a:pPr>
            <a:r>
              <a:rPr sz="2200" b="1" spc="-5" dirty="0">
                <a:latin typeface="Times New Roman" panose="02020603050405020304"/>
                <a:cs typeface="Times New Roman" panose="02020603050405020304"/>
              </a:rPr>
              <a:t>printf("&amp;matrix[0][0] </a:t>
            </a:r>
            <a:r>
              <a:rPr sz="2200" b="1" spc="21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200" b="1" spc="-2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20" dirty="0">
                <a:latin typeface="Times New Roman" panose="02020603050405020304"/>
                <a:cs typeface="Times New Roman" panose="02020603050405020304"/>
              </a:rPr>
              <a:t>%u\n", </a:t>
            </a:r>
            <a:r>
              <a:rPr sz="2200" b="1" spc="-20" dirty="0">
                <a:latin typeface="Times New Roman" panose="02020603050405020304"/>
                <a:cs typeface="Times New Roman" panose="02020603050405020304"/>
              </a:rPr>
              <a:t>&amp;matrix[0][0]);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266700" marR="389890">
              <a:lnSpc>
                <a:spcPct val="103000"/>
              </a:lnSpc>
            </a:pPr>
            <a:r>
              <a:rPr sz="2200" b="1" spc="-10" dirty="0">
                <a:latin typeface="Times New Roman" panose="02020603050405020304"/>
                <a:cs typeface="Times New Roman" panose="02020603050405020304"/>
              </a:rPr>
              <a:t>printf("&amp;pmat[0][0] </a:t>
            </a:r>
            <a:r>
              <a:rPr sz="2200" b="1" spc="210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2200" b="1" spc="20" dirty="0">
                <a:latin typeface="Times New Roman" panose="02020603050405020304"/>
                <a:cs typeface="Times New Roman" panose="02020603050405020304"/>
              </a:rPr>
              <a:t>%u\n",</a:t>
            </a:r>
            <a:r>
              <a:rPr sz="2200" b="1" spc="-4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25" dirty="0">
                <a:latin typeface="Times New Roman" panose="02020603050405020304"/>
                <a:cs typeface="Times New Roman" panose="02020603050405020304"/>
              </a:rPr>
              <a:t>&amp;pmat[0][0]);  </a:t>
            </a:r>
            <a:r>
              <a:rPr sz="2200" b="1" spc="-5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22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130" dirty="0">
                <a:latin typeface="Times New Roman" panose="02020603050405020304"/>
                <a:cs typeface="Times New Roman" panose="02020603050405020304"/>
              </a:rPr>
              <a:t>0;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200" b="1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14833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0" dirty="0"/>
              <a:t>O</a:t>
            </a:r>
            <a:r>
              <a:rPr sz="4000" spc="-80" dirty="0"/>
              <a:t>u</a:t>
            </a:r>
            <a:r>
              <a:rPr sz="4000" spc="-190" dirty="0"/>
              <a:t>t</a:t>
            </a:r>
            <a:r>
              <a:rPr sz="4000" spc="-250" dirty="0"/>
              <a:t>p</a:t>
            </a:r>
            <a:r>
              <a:rPr sz="4000" spc="-190" dirty="0"/>
              <a:t>ut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3552825" cy="1291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&amp;matrix[0][0] </a:t>
            </a:r>
            <a:r>
              <a:rPr sz="2600" spc="27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2675498000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600" spc="-175" dirty="0">
                <a:latin typeface="Times New Roman" panose="02020603050405020304"/>
                <a:cs typeface="Times New Roman" panose="02020603050405020304"/>
              </a:rPr>
              <a:t>&amp;pmat[0][0] </a:t>
            </a:r>
            <a:r>
              <a:rPr sz="2600" spc="27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540" y="323545"/>
            <a:ext cx="63779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25" dirty="0"/>
              <a:t>Passing </a:t>
            </a:r>
            <a:r>
              <a:rPr sz="4000" spc="-5" dirty="0"/>
              <a:t>an </a:t>
            </a:r>
            <a:r>
              <a:rPr sz="4000" spc="-165" dirty="0"/>
              <a:t>array </a:t>
            </a:r>
            <a:r>
              <a:rPr sz="4000" spc="-245" dirty="0"/>
              <a:t>to </a:t>
            </a:r>
            <a:r>
              <a:rPr sz="4000" spc="10" dirty="0"/>
              <a:t>a</a:t>
            </a:r>
            <a:r>
              <a:rPr sz="4000" spc="-760" dirty="0"/>
              <a:t> </a:t>
            </a:r>
            <a:r>
              <a:rPr sz="4000" spc="-135" dirty="0"/>
              <a:t>function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86385" marR="57785" indent="-274320">
              <a:lnSpc>
                <a:spcPts val="2300"/>
              </a:lnSpc>
              <a:spcBef>
                <a:spcPts val="660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6385" algn="l"/>
                <a:tab pos="287020" algn="l"/>
              </a:tabLst>
            </a:pPr>
            <a:r>
              <a:rPr spc="-160" dirty="0"/>
              <a:t>Single </a:t>
            </a:r>
            <a:r>
              <a:rPr spc="-90" dirty="0"/>
              <a:t>element </a:t>
            </a:r>
            <a:r>
              <a:rPr spc="-140" dirty="0"/>
              <a:t>of </a:t>
            </a:r>
            <a:r>
              <a:rPr spc="-150" dirty="0"/>
              <a:t>an </a:t>
            </a:r>
            <a:r>
              <a:rPr spc="-120" dirty="0"/>
              <a:t>array </a:t>
            </a:r>
            <a:r>
              <a:rPr spc="-145" dirty="0"/>
              <a:t>can </a:t>
            </a:r>
            <a:r>
              <a:rPr spc="-110" dirty="0"/>
              <a:t>be </a:t>
            </a:r>
            <a:r>
              <a:rPr spc="-145" dirty="0"/>
              <a:t>passed </a:t>
            </a:r>
            <a:r>
              <a:rPr spc="-110" dirty="0"/>
              <a:t>in </a:t>
            </a:r>
            <a:r>
              <a:rPr spc="-120" dirty="0"/>
              <a:t>similar </a:t>
            </a:r>
            <a:r>
              <a:rPr spc="-105" dirty="0"/>
              <a:t>manner </a:t>
            </a:r>
            <a:r>
              <a:rPr spc="-195" dirty="0"/>
              <a:t>as  </a:t>
            </a:r>
            <a:r>
              <a:rPr spc="-155" dirty="0"/>
              <a:t>passing </a:t>
            </a:r>
            <a:r>
              <a:rPr spc="-130" dirty="0"/>
              <a:t>variable </a:t>
            </a:r>
            <a:r>
              <a:rPr spc="-35" dirty="0"/>
              <a:t>to </a:t>
            </a:r>
            <a:r>
              <a:rPr spc="-190" dirty="0"/>
              <a:t>a</a:t>
            </a:r>
            <a:r>
              <a:rPr spc="25" dirty="0"/>
              <a:t> </a:t>
            </a:r>
            <a:r>
              <a:rPr spc="-100" dirty="0"/>
              <a:t>function</a:t>
            </a:r>
            <a:endParaRPr spc="-100" dirty="0"/>
          </a:p>
          <a:p>
            <a:pPr marL="286385" indent="-274320">
              <a:lnSpc>
                <a:spcPts val="2595"/>
              </a:lnSpc>
              <a:spcBef>
                <a:spcPts val="45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6385" algn="l"/>
                <a:tab pos="287020" algn="l"/>
              </a:tabLst>
            </a:pPr>
            <a:r>
              <a:rPr b="1" spc="-260" dirty="0">
                <a:latin typeface="Times New Roman" panose="02020603050405020304"/>
                <a:cs typeface="Times New Roman" panose="02020603050405020304"/>
              </a:rPr>
              <a:t>C </a:t>
            </a:r>
            <a:r>
              <a:rPr b="1" spc="-25" dirty="0">
                <a:latin typeface="Times New Roman" panose="02020603050405020304"/>
                <a:cs typeface="Times New Roman" panose="02020603050405020304"/>
              </a:rPr>
              <a:t>program </a:t>
            </a:r>
            <a:r>
              <a:rPr b="1" spc="6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b="1" spc="-45" dirty="0">
                <a:latin typeface="Times New Roman" panose="02020603050405020304"/>
                <a:cs typeface="Times New Roman" panose="02020603050405020304"/>
              </a:rPr>
              <a:t>pass </a:t>
            </a:r>
            <a:r>
              <a:rPr b="1" spc="-100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b="1" spc="10" dirty="0">
                <a:latin typeface="Times New Roman" panose="02020603050405020304"/>
                <a:cs typeface="Times New Roman" panose="02020603050405020304"/>
              </a:rPr>
              <a:t>single </a:t>
            </a:r>
            <a:r>
              <a:rPr b="1" spc="20" dirty="0">
                <a:latin typeface="Times New Roman" panose="02020603050405020304"/>
                <a:cs typeface="Times New Roman" panose="02020603050405020304"/>
              </a:rPr>
              <a:t>element </a:t>
            </a:r>
            <a:r>
              <a:rPr b="1" spc="1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b="1" spc="-45" dirty="0">
                <a:latin typeface="Times New Roman" panose="02020603050405020304"/>
                <a:cs typeface="Times New Roman" panose="02020603050405020304"/>
              </a:rPr>
              <a:t>an </a:t>
            </a:r>
            <a:r>
              <a:rPr b="1" spc="-80" dirty="0">
                <a:latin typeface="Times New Roman" panose="02020603050405020304"/>
                <a:cs typeface="Times New Roman" panose="02020603050405020304"/>
              </a:rPr>
              <a:t>array</a:t>
            </a:r>
            <a:r>
              <a:rPr b="1" spc="-3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55" dirty="0">
                <a:latin typeface="Times New Roman" panose="02020603050405020304"/>
                <a:cs typeface="Times New Roman" panose="02020603050405020304"/>
              </a:rPr>
              <a:t>to</a:t>
            </a:r>
            <a:endParaRPr b="1" spc="55" dirty="0">
              <a:latin typeface="Times New Roman" panose="02020603050405020304"/>
              <a:cs typeface="Times New Roman" panose="02020603050405020304"/>
            </a:endParaRPr>
          </a:p>
          <a:p>
            <a:pPr marL="286385">
              <a:lnSpc>
                <a:spcPts val="2540"/>
              </a:lnSpc>
            </a:pPr>
            <a:r>
              <a:rPr b="1" spc="25" dirty="0">
                <a:latin typeface="Times New Roman" panose="02020603050405020304"/>
                <a:cs typeface="Times New Roman" panose="02020603050405020304"/>
              </a:rPr>
              <a:t>function</a:t>
            </a:r>
            <a:endParaRPr b="1" spc="25" dirty="0">
              <a:latin typeface="Times New Roman" panose="02020603050405020304"/>
              <a:cs typeface="Times New Roman" panose="02020603050405020304"/>
            </a:endParaRPr>
          </a:p>
          <a:p>
            <a:pPr marL="332105" marR="4631055">
              <a:lnSpc>
                <a:spcPts val="2510"/>
              </a:lnSpc>
              <a:spcBef>
                <a:spcPts val="135"/>
              </a:spcBef>
            </a:pPr>
            <a:r>
              <a:rPr sz="2200" spc="-45" dirty="0"/>
              <a:t>#include</a:t>
            </a:r>
            <a:r>
              <a:rPr sz="2200" spc="-70" dirty="0"/>
              <a:t> </a:t>
            </a:r>
            <a:r>
              <a:rPr sz="2200" spc="-20" dirty="0"/>
              <a:t>&lt;stdio.h&gt;  </a:t>
            </a:r>
            <a:r>
              <a:rPr sz="2200" spc="-135" dirty="0"/>
              <a:t>void </a:t>
            </a:r>
            <a:r>
              <a:rPr sz="2200" spc="-110" dirty="0"/>
              <a:t>display(int</a:t>
            </a:r>
            <a:r>
              <a:rPr sz="2200" spc="-30" dirty="0"/>
              <a:t> </a:t>
            </a:r>
            <a:r>
              <a:rPr sz="2200" spc="-130" dirty="0"/>
              <a:t>age)</a:t>
            </a:r>
            <a:endParaRPr sz="2200"/>
          </a:p>
          <a:p>
            <a:pPr marL="332105">
              <a:lnSpc>
                <a:spcPts val="2385"/>
              </a:lnSpc>
            </a:pPr>
            <a:r>
              <a:rPr sz="2200" spc="-5" dirty="0"/>
              <a:t>{</a:t>
            </a:r>
            <a:endParaRPr sz="2200"/>
          </a:p>
          <a:p>
            <a:pPr marL="586740">
              <a:lnSpc>
                <a:spcPts val="2515"/>
              </a:lnSpc>
            </a:pPr>
            <a:r>
              <a:rPr sz="2200" spc="-50" dirty="0"/>
              <a:t>printf("%d",</a:t>
            </a:r>
            <a:r>
              <a:rPr sz="2200" spc="-135" dirty="0"/>
              <a:t> </a:t>
            </a:r>
            <a:r>
              <a:rPr sz="2200" spc="-95" dirty="0"/>
              <a:t>age);</a:t>
            </a:r>
            <a:endParaRPr sz="2200"/>
          </a:p>
          <a:p>
            <a:pPr marL="332105">
              <a:lnSpc>
                <a:spcPts val="2575"/>
              </a:lnSpc>
            </a:pPr>
            <a:r>
              <a:rPr sz="2200" spc="-5" dirty="0"/>
              <a:t>}</a:t>
            </a:r>
            <a:endParaRPr sz="2200"/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/>
          </a:p>
          <a:p>
            <a:pPr marL="332105">
              <a:lnSpc>
                <a:spcPts val="2575"/>
              </a:lnSpc>
              <a:spcBef>
                <a:spcPts val="5"/>
              </a:spcBef>
            </a:pPr>
            <a:r>
              <a:rPr sz="2200" spc="-60" dirty="0"/>
              <a:t>int</a:t>
            </a:r>
            <a:r>
              <a:rPr sz="2200" spc="-55" dirty="0"/>
              <a:t> </a:t>
            </a:r>
            <a:r>
              <a:rPr sz="2200" spc="-105" dirty="0"/>
              <a:t>main()</a:t>
            </a:r>
            <a:endParaRPr sz="2200"/>
          </a:p>
          <a:p>
            <a:pPr marL="332105">
              <a:lnSpc>
                <a:spcPts val="2510"/>
              </a:lnSpc>
            </a:pPr>
            <a:r>
              <a:rPr sz="2200" spc="-5" dirty="0"/>
              <a:t>{</a:t>
            </a:r>
            <a:endParaRPr sz="2200"/>
          </a:p>
          <a:p>
            <a:pPr marL="586740">
              <a:lnSpc>
                <a:spcPts val="2515"/>
              </a:lnSpc>
            </a:pPr>
            <a:r>
              <a:rPr sz="2200" spc="-60" dirty="0"/>
              <a:t>int </a:t>
            </a:r>
            <a:r>
              <a:rPr sz="2200" spc="-145" dirty="0"/>
              <a:t>ageArray[] </a:t>
            </a:r>
            <a:r>
              <a:rPr sz="2200" spc="225" dirty="0"/>
              <a:t>=</a:t>
            </a:r>
            <a:r>
              <a:rPr sz="2200" spc="-250" dirty="0"/>
              <a:t> </a:t>
            </a:r>
            <a:r>
              <a:rPr sz="2200" spc="-5" dirty="0"/>
              <a:t>{ 2, 3, </a:t>
            </a:r>
            <a:r>
              <a:rPr sz="2200" spc="-95" dirty="0"/>
              <a:t>4 </a:t>
            </a:r>
            <a:r>
              <a:rPr sz="2200" spc="15" dirty="0"/>
              <a:t>};</a:t>
            </a:r>
            <a:endParaRPr sz="2200"/>
          </a:p>
          <a:p>
            <a:pPr marL="586740">
              <a:lnSpc>
                <a:spcPts val="2580"/>
              </a:lnSpc>
            </a:pPr>
            <a:r>
              <a:rPr sz="2200" spc="-125" dirty="0"/>
              <a:t>display(ageArray[2]); </a:t>
            </a:r>
            <a:r>
              <a:rPr sz="2200" spc="-15" dirty="0"/>
              <a:t>//Passing </a:t>
            </a:r>
            <a:r>
              <a:rPr sz="2200" spc="-105" dirty="0"/>
              <a:t>array </a:t>
            </a:r>
            <a:r>
              <a:rPr sz="2200" spc="-85" dirty="0"/>
              <a:t>element </a:t>
            </a:r>
            <a:r>
              <a:rPr sz="2200" spc="-140" dirty="0"/>
              <a:t>ageArray[2]</a:t>
            </a:r>
            <a:r>
              <a:rPr sz="2200" spc="40" dirty="0"/>
              <a:t> </a:t>
            </a:r>
            <a:r>
              <a:rPr sz="2200" spc="-130" dirty="0"/>
              <a:t>only.</a:t>
            </a:r>
            <a:endParaRPr sz="2200"/>
          </a:p>
        </p:txBody>
      </p:sp>
      <p:sp>
        <p:nvSpPr>
          <p:cNvPr id="4" name="object 4"/>
          <p:cNvSpPr txBox="1"/>
          <p:nvPr/>
        </p:nvSpPr>
        <p:spPr>
          <a:xfrm>
            <a:off x="1313433" y="5557215"/>
            <a:ext cx="1202055" cy="678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700">
              <a:lnSpc>
                <a:spcPts val="2575"/>
              </a:lnSpc>
              <a:spcBef>
                <a:spcPts val="95"/>
              </a:spcBef>
            </a:pP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0;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2575"/>
              </a:lnSpc>
            </a:pPr>
            <a:r>
              <a:rPr sz="22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00215" y="5804915"/>
            <a:ext cx="1800225" cy="93599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2895"/>
              </a:lnSpc>
            </a:pP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OUTPUT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92075">
              <a:lnSpc>
                <a:spcPct val="100000"/>
              </a:lnSpc>
              <a:spcBef>
                <a:spcPts val="285"/>
              </a:spcBef>
            </a:pP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00" y="84200"/>
            <a:ext cx="80200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20" dirty="0"/>
              <a:t>Passing </a:t>
            </a:r>
            <a:r>
              <a:rPr sz="2800" spc="-5" dirty="0"/>
              <a:t>an </a:t>
            </a:r>
            <a:r>
              <a:rPr sz="2800" spc="-120" dirty="0"/>
              <a:t>entire </a:t>
            </a:r>
            <a:r>
              <a:rPr sz="2800" spc="-70" dirty="0"/>
              <a:t>one-dimensional </a:t>
            </a:r>
            <a:r>
              <a:rPr sz="2800" spc="-114" dirty="0"/>
              <a:t>array </a:t>
            </a:r>
            <a:r>
              <a:rPr sz="2800" spc="-170" dirty="0"/>
              <a:t>to </a:t>
            </a:r>
            <a:r>
              <a:rPr sz="2800" spc="5" dirty="0"/>
              <a:t>a</a:t>
            </a:r>
            <a:r>
              <a:rPr sz="2800" spc="-605" dirty="0"/>
              <a:t> </a:t>
            </a:r>
            <a:r>
              <a:rPr sz="2800" spc="-95" dirty="0"/>
              <a:t>function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46303" y="643508"/>
            <a:ext cx="2914650" cy="6092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60" dirty="0">
                <a:latin typeface="Times New Roman" panose="02020603050405020304"/>
                <a:cs typeface="Times New Roman" panose="02020603050405020304"/>
              </a:rPr>
              <a:t>#include&lt;stdio.h&gt;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b="1" spc="2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2000" b="1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15" dirty="0">
                <a:latin typeface="Times New Roman" panose="02020603050405020304"/>
                <a:cs typeface="Times New Roman" panose="02020603050405020304"/>
              </a:rPr>
              <a:t>total(int[],int);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b="1" spc="30" dirty="0">
                <a:latin typeface="Times New Roman" panose="02020603050405020304"/>
                <a:cs typeface="Times New Roman" panose="02020603050405020304"/>
              </a:rPr>
              <a:t>void</a:t>
            </a:r>
            <a:r>
              <a:rPr sz="2000" b="1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5" dirty="0">
                <a:latin typeface="Times New Roman" panose="02020603050405020304"/>
                <a:cs typeface="Times New Roman" panose="02020603050405020304"/>
              </a:rPr>
              <a:t>main()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latin typeface="Times New Roman" panose="02020603050405020304"/>
                <a:cs typeface="Times New Roman" panose="02020603050405020304"/>
              </a:rPr>
              <a:t>{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1300" marR="430530">
              <a:lnSpc>
                <a:spcPct val="105000"/>
              </a:lnSpc>
            </a:pPr>
            <a:r>
              <a:rPr sz="2000" b="1" spc="20" dirty="0">
                <a:latin typeface="Times New Roman" panose="02020603050405020304"/>
                <a:cs typeface="Times New Roman" panose="02020603050405020304"/>
              </a:rPr>
              <a:t>int </a:t>
            </a:r>
            <a:r>
              <a:rPr sz="2000" b="1" spc="-20" dirty="0">
                <a:latin typeface="Times New Roman" panose="02020603050405020304"/>
                <a:cs typeface="Times New Roman" panose="02020603050405020304"/>
              </a:rPr>
              <a:t>a[10],n,sum,i;  printf("Enter</a:t>
            </a:r>
            <a:r>
              <a:rPr sz="2000" b="1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75" dirty="0">
                <a:latin typeface="Times New Roman" panose="02020603050405020304"/>
                <a:cs typeface="Times New Roman" panose="02020603050405020304"/>
              </a:rPr>
              <a:t>n\n");  </a:t>
            </a:r>
            <a:r>
              <a:rPr sz="2000" b="1" spc="-45" dirty="0">
                <a:latin typeface="Times New Roman" panose="02020603050405020304"/>
                <a:cs typeface="Times New Roman" panose="02020603050405020304"/>
              </a:rPr>
              <a:t>scanf("%d",&amp;n);  </a:t>
            </a:r>
            <a:r>
              <a:rPr sz="2000" b="1" spc="35" dirty="0">
                <a:latin typeface="Times New Roman" panose="02020603050405020304"/>
                <a:cs typeface="Times New Roman" panose="02020603050405020304"/>
              </a:rPr>
              <a:t>for(i=0;i&lt;n;i++)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1300" marR="5080" indent="228600">
              <a:lnSpc>
                <a:spcPct val="105000"/>
              </a:lnSpc>
            </a:pPr>
            <a:r>
              <a:rPr sz="2000" b="1" spc="-35" dirty="0">
                <a:latin typeface="Times New Roman" panose="02020603050405020304"/>
                <a:cs typeface="Times New Roman" panose="02020603050405020304"/>
              </a:rPr>
              <a:t>scanf("%d",&amp;a[i]);  </a:t>
            </a:r>
            <a:r>
              <a:rPr sz="2000" b="1" spc="5" dirty="0">
                <a:latin typeface="Times New Roman" panose="02020603050405020304"/>
                <a:cs typeface="Times New Roman" panose="02020603050405020304"/>
              </a:rPr>
              <a:t>sum=total(a,n);  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000" b="1" spc="2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000" b="1" spc="5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000" b="1" spc="-55" dirty="0">
                <a:latin typeface="Times New Roman" panose="02020603050405020304"/>
                <a:cs typeface="Times New Roman" panose="02020603050405020304"/>
              </a:rPr>
              <a:t>("Sum=</a:t>
            </a:r>
            <a:r>
              <a:rPr sz="2000" b="1" spc="-100" dirty="0">
                <a:latin typeface="Times New Roman" panose="02020603050405020304"/>
                <a:cs typeface="Times New Roman" panose="02020603050405020304"/>
              </a:rPr>
              <a:t>%</a:t>
            </a:r>
            <a:r>
              <a:rPr sz="2000" b="1" spc="15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000" b="1" spc="20" dirty="0">
                <a:latin typeface="Times New Roman" panose="02020603050405020304"/>
                <a:cs typeface="Times New Roman" panose="02020603050405020304"/>
              </a:rPr>
              <a:t>"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</a:rPr>
              <a:t>,su</a:t>
            </a:r>
            <a:r>
              <a:rPr sz="2000" b="1" spc="-3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000" b="1" spc="-40" dirty="0">
                <a:latin typeface="Times New Roman" panose="02020603050405020304"/>
                <a:cs typeface="Times New Roman" panose="02020603050405020304"/>
              </a:rPr>
              <a:t>);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latin typeface="Times New Roman" panose="02020603050405020304"/>
                <a:cs typeface="Times New Roman" panose="02020603050405020304"/>
              </a:rPr>
              <a:t>}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000" b="1" spc="20" dirty="0">
                <a:latin typeface="Times New Roman" panose="02020603050405020304"/>
                <a:cs typeface="Times New Roman" panose="02020603050405020304"/>
              </a:rPr>
              <a:t>int total(int </a:t>
            </a:r>
            <a:r>
              <a:rPr sz="2000" b="1" spc="15" dirty="0">
                <a:latin typeface="Times New Roman" panose="02020603050405020304"/>
                <a:cs typeface="Times New Roman" panose="02020603050405020304"/>
              </a:rPr>
              <a:t>a[],int</a:t>
            </a:r>
            <a:r>
              <a:rPr sz="2000" b="1" spc="-2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35" dirty="0">
                <a:latin typeface="Times New Roman" panose="02020603050405020304"/>
                <a:cs typeface="Times New Roman" panose="02020603050405020304"/>
              </a:rPr>
              <a:t>n)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latin typeface="Times New Roman" panose="02020603050405020304"/>
                <a:cs typeface="Times New Roman" panose="02020603050405020304"/>
              </a:rPr>
              <a:t>{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1300">
              <a:lnSpc>
                <a:spcPct val="100000"/>
              </a:lnSpc>
              <a:spcBef>
                <a:spcPts val="120"/>
              </a:spcBef>
            </a:pPr>
            <a:r>
              <a:rPr sz="2000" b="1" spc="2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20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</a:rPr>
              <a:t>sum=0,i;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1300">
              <a:lnSpc>
                <a:spcPct val="100000"/>
              </a:lnSpc>
              <a:spcBef>
                <a:spcPts val="120"/>
              </a:spcBef>
            </a:pPr>
            <a:r>
              <a:rPr sz="2000" b="1" spc="35" dirty="0">
                <a:latin typeface="Times New Roman" panose="02020603050405020304"/>
                <a:cs typeface="Times New Roman" panose="02020603050405020304"/>
              </a:rPr>
              <a:t>for(i=0;i&lt;n;i++)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1300" marR="774700" indent="228600">
              <a:lnSpc>
                <a:spcPct val="105000"/>
              </a:lnSpc>
            </a:pPr>
            <a:r>
              <a:rPr sz="2000" b="1" spc="25" dirty="0">
                <a:latin typeface="Times New Roman" panose="02020603050405020304"/>
                <a:cs typeface="Times New Roman" panose="02020603050405020304"/>
              </a:rPr>
              <a:t>sum</a:t>
            </a:r>
            <a:r>
              <a:rPr sz="2000" b="1" spc="1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sum+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000" b="1" spc="6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000" b="1" spc="2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000" b="1" spc="-35" dirty="0">
                <a:latin typeface="Times New Roman" panose="02020603050405020304"/>
                <a:cs typeface="Times New Roman" panose="02020603050405020304"/>
              </a:rPr>
              <a:t>]; 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2000" b="1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65" dirty="0">
                <a:latin typeface="Times New Roman" panose="02020603050405020304"/>
                <a:cs typeface="Times New Roman" panose="02020603050405020304"/>
              </a:rPr>
              <a:t>sum;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latin typeface="Times New Roman" panose="02020603050405020304"/>
                <a:cs typeface="Times New Roman" panose="02020603050405020304"/>
              </a:rPr>
              <a:t>}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323545"/>
            <a:ext cx="14833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0" dirty="0"/>
              <a:t>O</a:t>
            </a:r>
            <a:r>
              <a:rPr sz="4000" spc="-85" dirty="0"/>
              <a:t>u</a:t>
            </a:r>
            <a:r>
              <a:rPr sz="4000" spc="-190" dirty="0"/>
              <a:t>t</a:t>
            </a:r>
            <a:r>
              <a:rPr sz="4000" spc="-254" dirty="0"/>
              <a:t>p</a:t>
            </a:r>
            <a:r>
              <a:rPr sz="4000" spc="-190" dirty="0"/>
              <a:t>ut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34339" y="1121409"/>
            <a:ext cx="890905" cy="459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65" dirty="0"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2000" b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15" dirty="0">
                <a:latin typeface="Times New Roman" panose="02020603050405020304"/>
                <a:cs typeface="Times New Roman" panose="02020603050405020304"/>
              </a:rPr>
              <a:t>n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spc="-85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spc="-85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spc="-85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85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spc="-85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spc="-85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b="1" spc="-9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000" b="1" spc="-10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000" b="1" spc="20" dirty="0">
                <a:latin typeface="Times New Roman" panose="02020603050405020304"/>
                <a:cs typeface="Times New Roman" panose="02020603050405020304"/>
              </a:rPr>
              <a:t>m=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000" b="1" spc="-85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25" dirty="0"/>
              <a:t>Passing </a:t>
            </a:r>
            <a:r>
              <a:rPr spc="-90" dirty="0"/>
              <a:t>Multi-dimensional </a:t>
            </a:r>
            <a:r>
              <a:rPr spc="-125" dirty="0"/>
              <a:t>Arrays</a:t>
            </a:r>
            <a:r>
              <a:rPr spc="-650" dirty="0"/>
              <a:t> </a:t>
            </a:r>
            <a:r>
              <a:rPr spc="-220" dirty="0"/>
              <a:t>to  </a:t>
            </a:r>
            <a:r>
              <a:rPr spc="-114" dirty="0"/>
              <a:t>Function</a:t>
            </a:r>
            <a:endParaRPr spc="-114" dirty="0"/>
          </a:p>
        </p:txBody>
      </p:sp>
      <p:sp>
        <p:nvSpPr>
          <p:cNvPr id="4" name="object 4"/>
          <p:cNvSpPr txBox="1"/>
          <p:nvPr/>
        </p:nvSpPr>
        <p:spPr>
          <a:xfrm>
            <a:off x="820623" y="1423162"/>
            <a:ext cx="7680959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spc="-35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3200" spc="-220" dirty="0">
                <a:latin typeface="Times New Roman" panose="02020603050405020304"/>
                <a:cs typeface="Times New Roman" panose="02020603050405020304"/>
              </a:rPr>
              <a:t>pass </a:t>
            </a:r>
            <a:r>
              <a:rPr sz="3200" spc="-150" dirty="0">
                <a:latin typeface="Times New Roman" panose="02020603050405020304"/>
                <a:cs typeface="Times New Roman" panose="02020603050405020304"/>
              </a:rPr>
              <a:t>two-dimensional array </a:t>
            </a:r>
            <a:r>
              <a:rPr sz="3200" spc="-4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3200" spc="-254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3200" spc="-135" dirty="0">
                <a:latin typeface="Times New Roman" panose="02020603050405020304"/>
                <a:cs typeface="Times New Roman" panose="02020603050405020304"/>
              </a:rPr>
              <a:t>function </a:t>
            </a:r>
            <a:r>
              <a:rPr sz="3200" spc="-245" dirty="0">
                <a:latin typeface="Times New Roman" panose="02020603050405020304"/>
                <a:cs typeface="Times New Roman" panose="02020603050405020304"/>
              </a:rPr>
              <a:t>as </a:t>
            </a:r>
            <a:r>
              <a:rPr sz="3200" spc="-190" dirty="0">
                <a:latin typeface="Times New Roman" panose="02020603050405020304"/>
                <a:cs typeface="Times New Roman" panose="02020603050405020304"/>
              </a:rPr>
              <a:t>an  </a:t>
            </a:r>
            <a:r>
              <a:rPr sz="3200" spc="-105" dirty="0">
                <a:latin typeface="Times New Roman" panose="02020603050405020304"/>
                <a:cs typeface="Times New Roman" panose="02020603050405020304"/>
              </a:rPr>
              <a:t>argument, starting </a:t>
            </a:r>
            <a:r>
              <a:rPr sz="3200" spc="-165" dirty="0">
                <a:latin typeface="Times New Roman" panose="02020603050405020304"/>
                <a:cs typeface="Times New Roman" panose="02020603050405020304"/>
              </a:rPr>
              <a:t>address </a:t>
            </a:r>
            <a:r>
              <a:rPr sz="3200" spc="-19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3200" spc="-140" dirty="0">
                <a:latin typeface="Times New Roman" panose="02020603050405020304"/>
                <a:cs typeface="Times New Roman" panose="02020603050405020304"/>
              </a:rPr>
              <a:t>memory </a:t>
            </a:r>
            <a:r>
              <a:rPr sz="3200" spc="-155" dirty="0">
                <a:latin typeface="Times New Roman" panose="02020603050405020304"/>
                <a:cs typeface="Times New Roman" panose="02020603050405020304"/>
              </a:rPr>
              <a:t>area </a:t>
            </a:r>
            <a:r>
              <a:rPr sz="3200" spc="-114" dirty="0">
                <a:latin typeface="Times New Roman" panose="02020603050405020304"/>
                <a:cs typeface="Times New Roman" panose="02020603050405020304"/>
              </a:rPr>
              <a:t>reserved  </a:t>
            </a:r>
            <a:r>
              <a:rPr sz="3200" spc="-20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3200" spc="-190" dirty="0">
                <a:latin typeface="Times New Roman" panose="02020603050405020304"/>
                <a:cs typeface="Times New Roman" panose="02020603050405020304"/>
              </a:rPr>
              <a:t>passed </a:t>
            </a:r>
            <a:r>
              <a:rPr sz="3200" spc="-250" dirty="0">
                <a:latin typeface="Times New Roman" panose="02020603050405020304"/>
                <a:cs typeface="Times New Roman" panose="02020603050405020304"/>
              </a:rPr>
              <a:t>as </a:t>
            </a:r>
            <a:r>
              <a:rPr sz="3200" spc="-145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3200" spc="-135" dirty="0">
                <a:latin typeface="Times New Roman" panose="02020603050405020304"/>
                <a:cs typeface="Times New Roman" panose="02020603050405020304"/>
              </a:rPr>
              <a:t>one </a:t>
            </a:r>
            <a:r>
              <a:rPr sz="3200" spc="-165" dirty="0">
                <a:latin typeface="Times New Roman" panose="02020603050405020304"/>
                <a:cs typeface="Times New Roman" panose="02020603050405020304"/>
              </a:rPr>
              <a:t>dimensional</a:t>
            </a:r>
            <a:r>
              <a:rPr sz="3200" spc="43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50" dirty="0">
                <a:latin typeface="Times New Roman" panose="02020603050405020304"/>
                <a:cs typeface="Times New Roman" panose="02020603050405020304"/>
              </a:rPr>
              <a:t>array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0473" y="314401"/>
            <a:ext cx="22745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/>
              <a:t>Example</a:t>
            </a:r>
            <a:r>
              <a:rPr sz="4000" spc="-305" dirty="0"/>
              <a:t> </a:t>
            </a:r>
            <a:r>
              <a:rPr sz="4000" spc="245" dirty="0"/>
              <a:t>4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457200" y="1341119"/>
            <a:ext cx="3898900" cy="5328285"/>
          </a:xfrm>
          <a:custGeom>
            <a:avLst/>
            <a:gdLst/>
            <a:ahLst/>
            <a:cxnLst/>
            <a:rect l="l" t="t" r="r" b="b"/>
            <a:pathLst>
              <a:path w="3898900" h="5328284">
                <a:moveTo>
                  <a:pt x="0" y="5327904"/>
                </a:moveTo>
                <a:lnTo>
                  <a:pt x="3898391" y="5327904"/>
                </a:lnTo>
                <a:lnTo>
                  <a:pt x="3898391" y="0"/>
                </a:lnTo>
                <a:lnTo>
                  <a:pt x="0" y="0"/>
                </a:lnTo>
                <a:lnTo>
                  <a:pt x="0" y="5327904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pc="55" dirty="0"/>
              <a:t>#include</a:t>
            </a:r>
            <a:r>
              <a:rPr spc="-45" dirty="0"/>
              <a:t> </a:t>
            </a:r>
            <a:r>
              <a:rPr spc="45" dirty="0"/>
              <a:t>&lt;stdio.h&gt;</a:t>
            </a:r>
            <a:endParaRPr spc="45" dirty="0"/>
          </a:p>
          <a:p>
            <a:pPr marL="12700" marR="54610">
              <a:lnSpc>
                <a:spcPct val="128000"/>
              </a:lnSpc>
            </a:pPr>
            <a:r>
              <a:rPr spc="20" dirty="0"/>
              <a:t>void </a:t>
            </a:r>
            <a:r>
              <a:rPr spc="-10" dirty="0"/>
              <a:t>displayNumbers(int</a:t>
            </a:r>
            <a:r>
              <a:rPr spc="-210" dirty="0"/>
              <a:t> </a:t>
            </a:r>
            <a:r>
              <a:rPr spc="-5" dirty="0"/>
              <a:t>num[2][2]);  </a:t>
            </a:r>
            <a:r>
              <a:rPr spc="15" dirty="0"/>
              <a:t>int</a:t>
            </a:r>
            <a:r>
              <a:rPr spc="-50" dirty="0"/>
              <a:t> </a:t>
            </a:r>
            <a:r>
              <a:rPr dirty="0"/>
              <a:t>main()</a:t>
            </a:r>
            <a:endParaRPr dirty="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/>
              <a:t>{</a:t>
            </a:r>
            <a:endParaRPr dirty="0"/>
          </a:p>
          <a:p>
            <a:pPr marL="216535" marR="492125">
              <a:lnSpc>
                <a:spcPct val="128000"/>
              </a:lnSpc>
            </a:pPr>
            <a:r>
              <a:rPr spc="15" dirty="0"/>
              <a:t>int </a:t>
            </a:r>
            <a:r>
              <a:rPr dirty="0"/>
              <a:t>num[2][2], </a:t>
            </a:r>
            <a:r>
              <a:rPr spc="20" dirty="0"/>
              <a:t>i, </a:t>
            </a:r>
            <a:r>
              <a:rPr spc="-105" dirty="0"/>
              <a:t>j;  </a:t>
            </a:r>
            <a:r>
              <a:rPr spc="-20" dirty="0"/>
              <a:t>printf("Enter </a:t>
            </a:r>
            <a:r>
              <a:rPr spc="-80" dirty="0"/>
              <a:t>4 </a:t>
            </a:r>
            <a:r>
              <a:rPr spc="5" dirty="0"/>
              <a:t>numbers:\n");  </a:t>
            </a:r>
            <a:r>
              <a:rPr spc="-10" dirty="0"/>
              <a:t>for</a:t>
            </a:r>
            <a:r>
              <a:rPr spc="-75" dirty="0"/>
              <a:t> </a:t>
            </a:r>
            <a:r>
              <a:rPr spc="40" dirty="0"/>
              <a:t>(i</a:t>
            </a:r>
            <a:r>
              <a:rPr spc="-55" dirty="0"/>
              <a:t> </a:t>
            </a:r>
            <a:r>
              <a:rPr spc="170" dirty="0"/>
              <a:t>=</a:t>
            </a:r>
            <a:r>
              <a:rPr spc="-50" dirty="0"/>
              <a:t> </a:t>
            </a:r>
            <a:r>
              <a:rPr spc="-105" dirty="0"/>
              <a:t>0;</a:t>
            </a:r>
            <a:r>
              <a:rPr spc="-140" dirty="0"/>
              <a:t> </a:t>
            </a:r>
            <a:r>
              <a:rPr spc="25" dirty="0"/>
              <a:t>i</a:t>
            </a:r>
            <a:r>
              <a:rPr spc="-45" dirty="0"/>
              <a:t> </a:t>
            </a:r>
            <a:r>
              <a:rPr spc="170" dirty="0"/>
              <a:t>&lt;</a:t>
            </a:r>
            <a:r>
              <a:rPr spc="-55" dirty="0"/>
              <a:t> </a:t>
            </a:r>
            <a:r>
              <a:rPr spc="-105" dirty="0"/>
              <a:t>2;</a:t>
            </a:r>
            <a:r>
              <a:rPr spc="-130" dirty="0"/>
              <a:t> </a:t>
            </a:r>
            <a:r>
              <a:rPr spc="105" dirty="0"/>
              <a:t>++i)</a:t>
            </a:r>
            <a:endParaRPr spc="105" dirty="0"/>
          </a:p>
          <a:p>
            <a:pPr marL="419100">
              <a:lnSpc>
                <a:spcPct val="100000"/>
              </a:lnSpc>
              <a:spcBef>
                <a:spcPts val="600"/>
              </a:spcBef>
            </a:pPr>
            <a:r>
              <a:rPr spc="-10" dirty="0"/>
              <a:t>for</a:t>
            </a:r>
            <a:r>
              <a:rPr spc="-60" dirty="0"/>
              <a:t> </a:t>
            </a:r>
            <a:r>
              <a:rPr spc="-10" dirty="0"/>
              <a:t>(j</a:t>
            </a:r>
            <a:r>
              <a:rPr spc="-50" dirty="0"/>
              <a:t> </a:t>
            </a:r>
            <a:r>
              <a:rPr spc="175" dirty="0"/>
              <a:t>=</a:t>
            </a:r>
            <a:r>
              <a:rPr spc="-60" dirty="0"/>
              <a:t> </a:t>
            </a:r>
            <a:r>
              <a:rPr spc="-105" dirty="0"/>
              <a:t>0;</a:t>
            </a:r>
            <a:r>
              <a:rPr spc="-125" dirty="0"/>
              <a:t> </a:t>
            </a:r>
            <a:r>
              <a:rPr spc="-75" dirty="0"/>
              <a:t>j</a:t>
            </a:r>
            <a:r>
              <a:rPr spc="-50" dirty="0"/>
              <a:t> </a:t>
            </a:r>
            <a:r>
              <a:rPr spc="175" dirty="0"/>
              <a:t>&lt;</a:t>
            </a:r>
            <a:r>
              <a:rPr spc="-60" dirty="0"/>
              <a:t> </a:t>
            </a:r>
            <a:r>
              <a:rPr spc="-105" dirty="0"/>
              <a:t>2;</a:t>
            </a:r>
            <a:r>
              <a:rPr spc="-125" dirty="0"/>
              <a:t> </a:t>
            </a:r>
            <a:r>
              <a:rPr spc="80" dirty="0"/>
              <a:t>++j)</a:t>
            </a:r>
            <a:endParaRPr spc="80" dirty="0"/>
          </a:p>
          <a:p>
            <a:pPr marL="623570">
              <a:lnSpc>
                <a:spcPct val="100000"/>
              </a:lnSpc>
              <a:spcBef>
                <a:spcPts val="605"/>
              </a:spcBef>
            </a:pPr>
            <a:r>
              <a:rPr spc="-40" dirty="0"/>
              <a:t>scanf("%d",</a:t>
            </a:r>
            <a:r>
              <a:rPr spc="-135" dirty="0"/>
              <a:t> </a:t>
            </a:r>
            <a:r>
              <a:rPr spc="-10" dirty="0"/>
              <a:t>&amp;num[i][j]);</a:t>
            </a:r>
            <a:endParaRPr spc="-10" dirty="0"/>
          </a:p>
          <a:p>
            <a:pPr marL="216535">
              <a:lnSpc>
                <a:spcPct val="100000"/>
              </a:lnSpc>
              <a:spcBef>
                <a:spcPts val="1400"/>
              </a:spcBef>
            </a:pPr>
            <a:r>
              <a:rPr sz="1000" spc="250" dirty="0"/>
              <a:t>//</a:t>
            </a:r>
            <a:r>
              <a:rPr sz="1000" spc="-75" dirty="0"/>
              <a:t> </a:t>
            </a:r>
            <a:r>
              <a:rPr sz="1000" spc="-10" dirty="0"/>
              <a:t>passing </a:t>
            </a:r>
            <a:r>
              <a:rPr sz="1000" dirty="0"/>
              <a:t>multi-dimensional </a:t>
            </a:r>
            <a:r>
              <a:rPr sz="1000" spc="-35" dirty="0"/>
              <a:t>array </a:t>
            </a:r>
            <a:r>
              <a:rPr sz="1000" spc="20" dirty="0"/>
              <a:t>to </a:t>
            </a:r>
            <a:r>
              <a:rPr sz="1000" spc="-15" dirty="0"/>
              <a:t>displayNumbers </a:t>
            </a:r>
            <a:r>
              <a:rPr sz="1000" spc="5" dirty="0"/>
              <a:t>function</a:t>
            </a:r>
            <a:endParaRPr sz="1000"/>
          </a:p>
          <a:p>
            <a:pPr marL="216535" marR="1202690">
              <a:lnSpc>
                <a:spcPct val="128000"/>
              </a:lnSpc>
              <a:spcBef>
                <a:spcPts val="155"/>
              </a:spcBef>
            </a:pPr>
            <a:r>
              <a:rPr dirty="0"/>
              <a:t>dis</a:t>
            </a:r>
            <a:r>
              <a:rPr spc="-10" dirty="0"/>
              <a:t>pl</a:t>
            </a:r>
            <a:r>
              <a:rPr spc="-65" dirty="0"/>
              <a:t>a</a:t>
            </a:r>
            <a:r>
              <a:rPr spc="-30" dirty="0"/>
              <a:t>yN</a:t>
            </a:r>
            <a:r>
              <a:rPr spc="-40" dirty="0"/>
              <a:t>u</a:t>
            </a:r>
            <a:r>
              <a:rPr spc="-10" dirty="0"/>
              <a:t>mb</a:t>
            </a:r>
            <a:r>
              <a:rPr spc="-10" dirty="0"/>
              <a:t>e</a:t>
            </a:r>
            <a:r>
              <a:rPr spc="-60" dirty="0"/>
              <a:t>r</a:t>
            </a:r>
            <a:r>
              <a:rPr spc="-40" dirty="0"/>
              <a:t>s</a:t>
            </a:r>
            <a:r>
              <a:rPr spc="20" dirty="0"/>
              <a:t>(</a:t>
            </a:r>
            <a:r>
              <a:rPr spc="10" dirty="0"/>
              <a:t>n</a:t>
            </a:r>
            <a:r>
              <a:rPr dirty="0"/>
              <a:t>u</a:t>
            </a:r>
            <a:r>
              <a:rPr spc="-35" dirty="0"/>
              <a:t>m);  </a:t>
            </a:r>
            <a:r>
              <a:rPr spc="-5" dirty="0"/>
              <a:t>return</a:t>
            </a:r>
            <a:r>
              <a:rPr spc="-60" dirty="0"/>
              <a:t> </a:t>
            </a:r>
            <a:r>
              <a:rPr spc="-105" dirty="0"/>
              <a:t>0;</a:t>
            </a:r>
            <a:endParaRPr spc="-105" dirty="0"/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/>
              <a:t>}</a:t>
            </a:r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4572000" y="1341119"/>
            <a:ext cx="4175760" cy="5302250"/>
          </a:xfrm>
          <a:custGeom>
            <a:avLst/>
            <a:gdLst/>
            <a:ahLst/>
            <a:cxnLst/>
            <a:rect l="l" t="t" r="r" b="b"/>
            <a:pathLst>
              <a:path w="4175759" h="5302250">
                <a:moveTo>
                  <a:pt x="0" y="5301996"/>
                </a:moveTo>
                <a:lnTo>
                  <a:pt x="4175759" y="5301996"/>
                </a:lnTo>
                <a:lnTo>
                  <a:pt x="4175759" y="0"/>
                </a:lnTo>
                <a:lnTo>
                  <a:pt x="0" y="0"/>
                </a:lnTo>
                <a:lnTo>
                  <a:pt x="0" y="5301996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651375" y="1342135"/>
            <a:ext cx="3547110" cy="2677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" dirty="0">
                <a:latin typeface="Times New Roman" panose="02020603050405020304"/>
                <a:cs typeface="Times New Roman" panose="02020603050405020304"/>
              </a:rPr>
              <a:t>void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displayNumbers(int</a:t>
            </a:r>
            <a:r>
              <a:rPr sz="1800" b="1" spc="-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num[2][2])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{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14300">
              <a:lnSpc>
                <a:spcPct val="100000"/>
              </a:lnSpc>
              <a:spcBef>
                <a:spcPts val="600"/>
              </a:spcBef>
            </a:pPr>
            <a:r>
              <a:rPr sz="1200" b="1" spc="300" dirty="0">
                <a:latin typeface="Times New Roman" panose="02020603050405020304"/>
                <a:cs typeface="Times New Roman" panose="02020603050405020304"/>
              </a:rPr>
              <a:t>//</a:t>
            </a:r>
            <a:r>
              <a:rPr sz="1200" b="1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Instead </a:t>
            </a:r>
            <a:r>
              <a:rPr sz="1200" b="1" spc="10" dirty="0">
                <a:latin typeface="Times New Roman" panose="02020603050405020304"/>
                <a:cs typeface="Times New Roman" panose="02020603050405020304"/>
              </a:rPr>
              <a:t>of the 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above </a:t>
            </a:r>
            <a:r>
              <a:rPr sz="1200" b="1" spc="10" dirty="0">
                <a:latin typeface="Times New Roman" panose="02020603050405020304"/>
                <a:cs typeface="Times New Roman" panose="02020603050405020304"/>
              </a:rPr>
              <a:t>line,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52400">
              <a:lnSpc>
                <a:spcPts val="1400"/>
              </a:lnSpc>
              <a:spcBef>
                <a:spcPts val="205"/>
              </a:spcBef>
            </a:pPr>
            <a:r>
              <a:rPr sz="1200" b="1" spc="300" dirty="0">
                <a:latin typeface="Times New Roman" panose="02020603050405020304"/>
                <a:cs typeface="Times New Roman" panose="02020603050405020304"/>
              </a:rPr>
              <a:t>//</a:t>
            </a:r>
            <a:r>
              <a:rPr sz="1200" b="1" spc="-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10" dirty="0">
                <a:latin typeface="Times New Roman" panose="02020603050405020304"/>
                <a:cs typeface="Times New Roman" panose="02020603050405020304"/>
              </a:rPr>
              <a:t>void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displayNumbers(int </a:t>
            </a:r>
            <a:r>
              <a:rPr sz="1200" b="1" spc="10" dirty="0">
                <a:latin typeface="Times New Roman" panose="02020603050405020304"/>
                <a:cs typeface="Times New Roman" panose="02020603050405020304"/>
              </a:rPr>
              <a:t>num[][2])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also valid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216535" marR="921385">
              <a:lnSpc>
                <a:spcPts val="2160"/>
              </a:lnSpc>
              <a:spcBef>
                <a:spcPts val="30"/>
              </a:spcBef>
            </a:pPr>
            <a:r>
              <a:rPr sz="1800" b="1" spc="15" dirty="0">
                <a:latin typeface="Times New Roman" panose="02020603050405020304"/>
                <a:cs typeface="Times New Roman" panose="02020603050405020304"/>
              </a:rPr>
              <a:t>int </a:t>
            </a:r>
            <a:r>
              <a:rPr sz="1800" b="1" spc="20" dirty="0">
                <a:latin typeface="Times New Roman" panose="02020603050405020304"/>
                <a:cs typeface="Times New Roman" panose="02020603050405020304"/>
              </a:rPr>
              <a:t>i, </a:t>
            </a:r>
            <a:r>
              <a:rPr sz="1800" b="1" spc="-105" dirty="0">
                <a:latin typeface="Times New Roman" panose="02020603050405020304"/>
                <a:cs typeface="Times New Roman" panose="02020603050405020304"/>
              </a:rPr>
              <a:t>j;  </a:t>
            </a:r>
            <a:r>
              <a:rPr sz="1800" b="1" spc="-2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1800" b="1" spc="1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("Di</a:t>
            </a:r>
            <a:r>
              <a:rPr sz="1800" b="1" spc="1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pl</a:t>
            </a:r>
            <a:r>
              <a:rPr sz="1800" b="1" spc="-6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b="1" spc="10" dirty="0">
                <a:latin typeface="Times New Roman" panose="02020603050405020304"/>
                <a:cs typeface="Times New Roman" panose="02020603050405020304"/>
              </a:rPr>
              <a:t>yin</a:t>
            </a: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1800" b="1" spc="-13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800" b="1" spc="455" dirty="0">
                <a:latin typeface="Times New Roman" panose="02020603050405020304"/>
                <a:cs typeface="Times New Roman" panose="02020603050405020304"/>
              </a:rPr>
              <a:t>\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800" b="1" spc="-30" dirty="0">
                <a:latin typeface="Times New Roman" panose="02020603050405020304"/>
                <a:cs typeface="Times New Roman" panose="02020603050405020304"/>
              </a:rPr>
              <a:t>"); 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800" b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40" dirty="0">
                <a:latin typeface="Times New Roman" panose="02020603050405020304"/>
                <a:cs typeface="Times New Roman" panose="02020603050405020304"/>
              </a:rPr>
              <a:t>(i</a:t>
            </a:r>
            <a:r>
              <a:rPr sz="18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17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8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5" dirty="0">
                <a:latin typeface="Times New Roman" panose="02020603050405020304"/>
                <a:cs typeface="Times New Roman" panose="02020603050405020304"/>
              </a:rPr>
              <a:t>0;</a:t>
            </a:r>
            <a:r>
              <a:rPr sz="1800" b="1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2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8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170" dirty="0">
                <a:latin typeface="Times New Roman" panose="02020603050405020304"/>
                <a:cs typeface="Times New Roman" panose="02020603050405020304"/>
              </a:rPr>
              <a:t>&lt;</a:t>
            </a:r>
            <a:r>
              <a:rPr sz="18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5" dirty="0">
                <a:latin typeface="Times New Roman" panose="02020603050405020304"/>
                <a:cs typeface="Times New Roman" panose="02020603050405020304"/>
              </a:rPr>
              <a:t>2;</a:t>
            </a:r>
            <a:r>
              <a:rPr sz="1800" b="1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105" dirty="0">
                <a:latin typeface="Times New Roman" panose="02020603050405020304"/>
                <a:cs typeface="Times New Roman" panose="02020603050405020304"/>
              </a:rPr>
              <a:t>++i)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623570" marR="295910" indent="-204470">
              <a:lnSpc>
                <a:spcPts val="2160"/>
              </a:lnSpc>
            </a:pP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1800" b="1" spc="-15" dirty="0">
                <a:latin typeface="Times New Roman" panose="02020603050405020304"/>
                <a:cs typeface="Times New Roman" panose="02020603050405020304"/>
              </a:rPr>
              <a:t>(j </a:t>
            </a:r>
            <a:r>
              <a:rPr sz="1800" b="1" spc="170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1800" b="1" spc="-105" dirty="0">
                <a:latin typeface="Times New Roman" panose="02020603050405020304"/>
                <a:cs typeface="Times New Roman" panose="02020603050405020304"/>
              </a:rPr>
              <a:t>0; </a:t>
            </a:r>
            <a:r>
              <a:rPr sz="1800" b="1" spc="-75" dirty="0">
                <a:latin typeface="Times New Roman" panose="02020603050405020304"/>
                <a:cs typeface="Times New Roman" panose="02020603050405020304"/>
              </a:rPr>
              <a:t>j </a:t>
            </a:r>
            <a:r>
              <a:rPr sz="1800" b="1" spc="170" dirty="0">
                <a:latin typeface="Times New Roman" panose="02020603050405020304"/>
                <a:cs typeface="Times New Roman" panose="02020603050405020304"/>
              </a:rPr>
              <a:t>&lt; </a:t>
            </a:r>
            <a:r>
              <a:rPr sz="1800" b="1" spc="-105" dirty="0">
                <a:latin typeface="Times New Roman" panose="02020603050405020304"/>
                <a:cs typeface="Times New Roman" panose="02020603050405020304"/>
              </a:rPr>
              <a:t>2; </a:t>
            </a:r>
            <a:r>
              <a:rPr sz="1800" b="1" spc="80" dirty="0">
                <a:latin typeface="Times New Roman" panose="02020603050405020304"/>
                <a:cs typeface="Times New Roman" panose="02020603050405020304"/>
              </a:rPr>
              <a:t>++j)  </a:t>
            </a:r>
            <a:r>
              <a:rPr sz="1800" b="1" spc="10" dirty="0">
                <a:latin typeface="Times New Roman" panose="02020603050405020304"/>
                <a:cs typeface="Times New Roman" panose="02020603050405020304"/>
              </a:rPr>
              <a:t>printf("%d\n",</a:t>
            </a:r>
            <a:r>
              <a:rPr sz="1800" b="1" spc="-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num[i][j]);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2090"/>
              </a:lnSpc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}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989832" y="6086855"/>
            <a:ext cx="1006475" cy="445134"/>
            <a:chOff x="3989832" y="6086855"/>
            <a:chExt cx="1006475" cy="445134"/>
          </a:xfrm>
        </p:grpSpPr>
        <p:sp>
          <p:nvSpPr>
            <p:cNvPr id="8" name="object 8"/>
            <p:cNvSpPr/>
            <p:nvPr/>
          </p:nvSpPr>
          <p:spPr>
            <a:xfrm>
              <a:off x="4472559" y="6092951"/>
              <a:ext cx="517525" cy="433070"/>
            </a:xfrm>
            <a:custGeom>
              <a:avLst/>
              <a:gdLst/>
              <a:ahLst/>
              <a:cxnLst/>
              <a:rect l="l" t="t" r="r" b="b"/>
              <a:pathLst>
                <a:path w="517525" h="433070">
                  <a:moveTo>
                    <a:pt x="422528" y="0"/>
                  </a:moveTo>
                  <a:lnTo>
                    <a:pt x="300863" y="108204"/>
                  </a:lnTo>
                  <a:lnTo>
                    <a:pt x="354964" y="108204"/>
                  </a:lnTo>
                  <a:lnTo>
                    <a:pt x="340826" y="153774"/>
                  </a:lnTo>
                  <a:lnTo>
                    <a:pt x="322163" y="196884"/>
                  </a:lnTo>
                  <a:lnTo>
                    <a:pt x="299275" y="237261"/>
                  </a:lnTo>
                  <a:lnTo>
                    <a:pt x="272462" y="274632"/>
                  </a:lnTo>
                  <a:lnTo>
                    <a:pt x="242022" y="308727"/>
                  </a:lnTo>
                  <a:lnTo>
                    <a:pt x="208255" y="339273"/>
                  </a:lnTo>
                  <a:lnTo>
                    <a:pt x="171461" y="365998"/>
                  </a:lnTo>
                  <a:lnTo>
                    <a:pt x="131939" y="388629"/>
                  </a:lnTo>
                  <a:lnTo>
                    <a:pt x="89989" y="406896"/>
                  </a:lnTo>
                  <a:lnTo>
                    <a:pt x="45909" y="420526"/>
                  </a:lnTo>
                  <a:lnTo>
                    <a:pt x="0" y="429247"/>
                  </a:lnTo>
                  <a:lnTo>
                    <a:pt x="48482" y="432800"/>
                  </a:lnTo>
                  <a:lnTo>
                    <a:pt x="96150" y="430724"/>
                  </a:lnTo>
                  <a:lnTo>
                    <a:pt x="142644" y="423272"/>
                  </a:lnTo>
                  <a:lnTo>
                    <a:pt x="187598" y="410693"/>
                  </a:lnTo>
                  <a:lnTo>
                    <a:pt x="230652" y="393239"/>
                  </a:lnTo>
                  <a:lnTo>
                    <a:pt x="271444" y="371160"/>
                  </a:lnTo>
                  <a:lnTo>
                    <a:pt x="309609" y="344708"/>
                  </a:lnTo>
                  <a:lnTo>
                    <a:pt x="344787" y="314133"/>
                  </a:lnTo>
                  <a:lnTo>
                    <a:pt x="376614" y="279687"/>
                  </a:lnTo>
                  <a:lnTo>
                    <a:pt x="404728" y="241620"/>
                  </a:lnTo>
                  <a:lnTo>
                    <a:pt x="428767" y="200183"/>
                  </a:lnTo>
                  <a:lnTo>
                    <a:pt x="448368" y="155627"/>
                  </a:lnTo>
                  <a:lnTo>
                    <a:pt x="463168" y="108204"/>
                  </a:lnTo>
                  <a:lnTo>
                    <a:pt x="517270" y="108204"/>
                  </a:lnTo>
                  <a:lnTo>
                    <a:pt x="422528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995928" y="6092951"/>
              <a:ext cx="530860" cy="433070"/>
            </a:xfrm>
            <a:custGeom>
              <a:avLst/>
              <a:gdLst/>
              <a:ahLst/>
              <a:cxnLst/>
              <a:rect l="l" t="t" r="r" b="b"/>
              <a:pathLst>
                <a:path w="530860" h="433070">
                  <a:moveTo>
                    <a:pt x="108204" y="0"/>
                  </a:moveTo>
                  <a:lnTo>
                    <a:pt x="0" y="0"/>
                  </a:lnTo>
                  <a:lnTo>
                    <a:pt x="2480" y="47160"/>
                  </a:lnTo>
                  <a:lnTo>
                    <a:pt x="9748" y="92849"/>
                  </a:lnTo>
                  <a:lnTo>
                    <a:pt x="21546" y="136803"/>
                  </a:lnTo>
                  <a:lnTo>
                    <a:pt x="37616" y="178759"/>
                  </a:lnTo>
                  <a:lnTo>
                    <a:pt x="57700" y="218451"/>
                  </a:lnTo>
                  <a:lnTo>
                    <a:pt x="81540" y="255616"/>
                  </a:lnTo>
                  <a:lnTo>
                    <a:pt x="108877" y="289990"/>
                  </a:lnTo>
                  <a:lnTo>
                    <a:pt x="139454" y="321308"/>
                  </a:lnTo>
                  <a:lnTo>
                    <a:pt x="173013" y="349308"/>
                  </a:lnTo>
                  <a:lnTo>
                    <a:pt x="209295" y="373724"/>
                  </a:lnTo>
                  <a:lnTo>
                    <a:pt x="248043" y="394293"/>
                  </a:lnTo>
                  <a:lnTo>
                    <a:pt x="288999" y="410750"/>
                  </a:lnTo>
                  <a:lnTo>
                    <a:pt x="331903" y="422833"/>
                  </a:lnTo>
                  <a:lnTo>
                    <a:pt x="376499" y="430276"/>
                  </a:lnTo>
                  <a:lnTo>
                    <a:pt x="422529" y="432816"/>
                  </a:lnTo>
                  <a:lnTo>
                    <a:pt x="530733" y="432816"/>
                  </a:lnTo>
                  <a:lnTo>
                    <a:pt x="484703" y="430276"/>
                  </a:lnTo>
                  <a:lnTo>
                    <a:pt x="440107" y="422833"/>
                  </a:lnTo>
                  <a:lnTo>
                    <a:pt x="397203" y="410750"/>
                  </a:lnTo>
                  <a:lnTo>
                    <a:pt x="356247" y="394293"/>
                  </a:lnTo>
                  <a:lnTo>
                    <a:pt x="317500" y="373724"/>
                  </a:lnTo>
                  <a:lnTo>
                    <a:pt x="281217" y="349308"/>
                  </a:lnTo>
                  <a:lnTo>
                    <a:pt x="247658" y="321308"/>
                  </a:lnTo>
                  <a:lnTo>
                    <a:pt x="217081" y="289990"/>
                  </a:lnTo>
                  <a:lnTo>
                    <a:pt x="189744" y="255616"/>
                  </a:lnTo>
                  <a:lnTo>
                    <a:pt x="165904" y="218451"/>
                  </a:lnTo>
                  <a:lnTo>
                    <a:pt x="145820" y="178759"/>
                  </a:lnTo>
                  <a:lnTo>
                    <a:pt x="129750" y="136803"/>
                  </a:lnTo>
                  <a:lnTo>
                    <a:pt x="117952" y="92849"/>
                  </a:lnTo>
                  <a:lnTo>
                    <a:pt x="110684" y="47160"/>
                  </a:lnTo>
                  <a:lnTo>
                    <a:pt x="108204" y="0"/>
                  </a:lnTo>
                  <a:close/>
                </a:path>
              </a:pathLst>
            </a:custGeom>
            <a:solidFill>
              <a:srgbClr val="AA39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995928" y="6092951"/>
              <a:ext cx="994410" cy="433070"/>
            </a:xfrm>
            <a:custGeom>
              <a:avLst/>
              <a:gdLst/>
              <a:ahLst/>
              <a:cxnLst/>
              <a:rect l="l" t="t" r="r" b="b"/>
              <a:pathLst>
                <a:path w="994410" h="433070">
                  <a:moveTo>
                    <a:pt x="476631" y="429247"/>
                  </a:moveTo>
                  <a:lnTo>
                    <a:pt x="522540" y="420526"/>
                  </a:lnTo>
                  <a:lnTo>
                    <a:pt x="566620" y="406896"/>
                  </a:lnTo>
                  <a:lnTo>
                    <a:pt x="608570" y="388629"/>
                  </a:lnTo>
                  <a:lnTo>
                    <a:pt x="648092" y="365998"/>
                  </a:lnTo>
                  <a:lnTo>
                    <a:pt x="684886" y="339273"/>
                  </a:lnTo>
                  <a:lnTo>
                    <a:pt x="718653" y="308727"/>
                  </a:lnTo>
                  <a:lnTo>
                    <a:pt x="749093" y="274632"/>
                  </a:lnTo>
                  <a:lnTo>
                    <a:pt x="775906" y="237261"/>
                  </a:lnTo>
                  <a:lnTo>
                    <a:pt x="798794" y="196884"/>
                  </a:lnTo>
                  <a:lnTo>
                    <a:pt x="817457" y="153774"/>
                  </a:lnTo>
                  <a:lnTo>
                    <a:pt x="831596" y="108204"/>
                  </a:lnTo>
                  <a:lnTo>
                    <a:pt x="777494" y="108204"/>
                  </a:lnTo>
                  <a:lnTo>
                    <a:pt x="899160" y="0"/>
                  </a:lnTo>
                  <a:lnTo>
                    <a:pt x="993901" y="108204"/>
                  </a:lnTo>
                  <a:lnTo>
                    <a:pt x="939800" y="108204"/>
                  </a:lnTo>
                  <a:lnTo>
                    <a:pt x="925319" y="154734"/>
                  </a:lnTo>
                  <a:lnTo>
                    <a:pt x="906164" y="198602"/>
                  </a:lnTo>
                  <a:lnTo>
                    <a:pt x="882669" y="239543"/>
                  </a:lnTo>
                  <a:lnTo>
                    <a:pt x="855166" y="277294"/>
                  </a:lnTo>
                  <a:lnTo>
                    <a:pt x="823986" y="311591"/>
                  </a:lnTo>
                  <a:lnTo>
                    <a:pt x="789463" y="342171"/>
                  </a:lnTo>
                  <a:lnTo>
                    <a:pt x="751929" y="368769"/>
                  </a:lnTo>
                  <a:lnTo>
                    <a:pt x="711717" y="391123"/>
                  </a:lnTo>
                  <a:lnTo>
                    <a:pt x="669159" y="408968"/>
                  </a:lnTo>
                  <a:lnTo>
                    <a:pt x="624587" y="422041"/>
                  </a:lnTo>
                  <a:lnTo>
                    <a:pt x="578334" y="430078"/>
                  </a:lnTo>
                  <a:lnTo>
                    <a:pt x="530733" y="432816"/>
                  </a:lnTo>
                  <a:lnTo>
                    <a:pt x="422529" y="432816"/>
                  </a:lnTo>
                  <a:lnTo>
                    <a:pt x="376499" y="430276"/>
                  </a:lnTo>
                  <a:lnTo>
                    <a:pt x="331903" y="422833"/>
                  </a:lnTo>
                  <a:lnTo>
                    <a:pt x="288999" y="410750"/>
                  </a:lnTo>
                  <a:lnTo>
                    <a:pt x="248043" y="394293"/>
                  </a:lnTo>
                  <a:lnTo>
                    <a:pt x="209295" y="373724"/>
                  </a:lnTo>
                  <a:lnTo>
                    <a:pt x="173013" y="349308"/>
                  </a:lnTo>
                  <a:lnTo>
                    <a:pt x="139454" y="321308"/>
                  </a:lnTo>
                  <a:lnTo>
                    <a:pt x="108877" y="289990"/>
                  </a:lnTo>
                  <a:lnTo>
                    <a:pt x="81540" y="255616"/>
                  </a:lnTo>
                  <a:lnTo>
                    <a:pt x="57700" y="218451"/>
                  </a:lnTo>
                  <a:lnTo>
                    <a:pt x="37616" y="178759"/>
                  </a:lnTo>
                  <a:lnTo>
                    <a:pt x="21546" y="136803"/>
                  </a:lnTo>
                  <a:lnTo>
                    <a:pt x="9748" y="92849"/>
                  </a:lnTo>
                  <a:lnTo>
                    <a:pt x="2480" y="47160"/>
                  </a:lnTo>
                  <a:lnTo>
                    <a:pt x="0" y="0"/>
                  </a:lnTo>
                  <a:lnTo>
                    <a:pt x="108204" y="0"/>
                  </a:lnTo>
                  <a:lnTo>
                    <a:pt x="110684" y="47160"/>
                  </a:lnTo>
                  <a:lnTo>
                    <a:pt x="117952" y="92849"/>
                  </a:lnTo>
                  <a:lnTo>
                    <a:pt x="129750" y="136803"/>
                  </a:lnTo>
                  <a:lnTo>
                    <a:pt x="145820" y="178759"/>
                  </a:lnTo>
                  <a:lnTo>
                    <a:pt x="165904" y="218451"/>
                  </a:lnTo>
                  <a:lnTo>
                    <a:pt x="189744" y="255616"/>
                  </a:lnTo>
                  <a:lnTo>
                    <a:pt x="217081" y="289990"/>
                  </a:lnTo>
                  <a:lnTo>
                    <a:pt x="247658" y="321308"/>
                  </a:lnTo>
                  <a:lnTo>
                    <a:pt x="281217" y="349308"/>
                  </a:lnTo>
                  <a:lnTo>
                    <a:pt x="317500" y="373724"/>
                  </a:lnTo>
                  <a:lnTo>
                    <a:pt x="356247" y="394293"/>
                  </a:lnTo>
                  <a:lnTo>
                    <a:pt x="397203" y="410750"/>
                  </a:lnTo>
                  <a:lnTo>
                    <a:pt x="440107" y="422833"/>
                  </a:lnTo>
                  <a:lnTo>
                    <a:pt x="484703" y="430276"/>
                  </a:lnTo>
                  <a:lnTo>
                    <a:pt x="530733" y="432816"/>
                  </a:lnTo>
                </a:path>
              </a:pathLst>
            </a:custGeom>
            <a:ln w="12192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406" y="98805"/>
            <a:ext cx="14833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0" dirty="0"/>
              <a:t>O</a:t>
            </a:r>
            <a:r>
              <a:rPr sz="4000" spc="-80" dirty="0"/>
              <a:t>u</a:t>
            </a:r>
            <a:r>
              <a:rPr sz="4000" spc="-190" dirty="0"/>
              <a:t>t</a:t>
            </a:r>
            <a:r>
              <a:rPr sz="4000" spc="-250" dirty="0"/>
              <a:t>p</a:t>
            </a:r>
            <a:r>
              <a:rPr sz="4000" spc="-190" dirty="0"/>
              <a:t>ut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2406" y="819658"/>
            <a:ext cx="2573020" cy="4293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90" dirty="0">
                <a:latin typeface="Times New Roman" panose="02020603050405020304"/>
                <a:cs typeface="Times New Roman" panose="02020603050405020304"/>
              </a:rPr>
              <a:t>Enter </a:t>
            </a:r>
            <a:r>
              <a:rPr sz="2800" b="1" spc="-120" dirty="0">
                <a:latin typeface="Times New Roman" panose="02020603050405020304"/>
                <a:cs typeface="Times New Roman" panose="02020603050405020304"/>
              </a:rPr>
              <a:t>4 </a:t>
            </a:r>
            <a:r>
              <a:rPr sz="2800" b="1" spc="-55" dirty="0">
                <a:latin typeface="Times New Roman" panose="02020603050405020304"/>
                <a:cs typeface="Times New Roman" panose="02020603050405020304"/>
              </a:rPr>
              <a:t>numbers: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800" b="1" spc="-120" dirty="0">
                <a:latin typeface="Times New Roman" panose="02020603050405020304"/>
                <a:cs typeface="Times New Roman" panose="02020603050405020304"/>
              </a:rPr>
              <a:t>1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800" b="1" spc="-120" dirty="0">
                <a:latin typeface="Times New Roman" panose="02020603050405020304"/>
                <a:cs typeface="Times New Roman" panose="02020603050405020304"/>
              </a:rPr>
              <a:t>2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800" b="1" spc="-120" dirty="0">
                <a:latin typeface="Times New Roman" panose="02020603050405020304"/>
                <a:cs typeface="Times New Roman" panose="02020603050405020304"/>
              </a:rPr>
              <a:t>3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800" b="1" spc="-120" dirty="0">
                <a:latin typeface="Times New Roman" panose="02020603050405020304"/>
                <a:cs typeface="Times New Roman" panose="02020603050405020304"/>
              </a:rPr>
              <a:t>4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2700" marR="850900">
              <a:lnSpc>
                <a:spcPct val="100000"/>
              </a:lnSpc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Displ</a:t>
            </a:r>
            <a:r>
              <a:rPr sz="2800" b="1" spc="-22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25" dirty="0">
                <a:latin typeface="Times New Roman" panose="02020603050405020304"/>
                <a:cs typeface="Times New Roman" panose="02020603050405020304"/>
              </a:rPr>
              <a:t>ying:  </a:t>
            </a:r>
            <a:r>
              <a:rPr sz="2800" b="1" spc="-120" dirty="0">
                <a:latin typeface="Times New Roman" panose="02020603050405020304"/>
                <a:cs typeface="Times New Roman" panose="02020603050405020304"/>
              </a:rPr>
              <a:t>1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spc="-120" dirty="0">
                <a:latin typeface="Times New Roman" panose="02020603050405020304"/>
                <a:cs typeface="Times New Roman" panose="02020603050405020304"/>
              </a:rPr>
              <a:t>2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800" b="1" spc="-120" dirty="0">
                <a:latin typeface="Times New Roman" panose="02020603050405020304"/>
                <a:cs typeface="Times New Roman" panose="02020603050405020304"/>
              </a:rPr>
              <a:t>3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800" b="1" spc="-120" dirty="0">
                <a:latin typeface="Times New Roman" panose="02020603050405020304"/>
                <a:cs typeface="Times New Roman" panose="02020603050405020304"/>
              </a:rPr>
              <a:t>4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540" y="328371"/>
            <a:ext cx="43478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Pointers </a:t>
            </a:r>
            <a:r>
              <a:rPr sz="4000" spc="-30" dirty="0"/>
              <a:t>and</a:t>
            </a:r>
            <a:r>
              <a:rPr sz="4000" spc="-370" dirty="0"/>
              <a:t> </a:t>
            </a:r>
            <a:r>
              <a:rPr sz="4000" spc="-40" dirty="0"/>
              <a:t>Strings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2406" y="1110741"/>
            <a:ext cx="7776209" cy="2084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marR="432435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b="1" spc="-40" dirty="0">
                <a:latin typeface="Times New Roman" panose="02020603050405020304"/>
                <a:cs typeface="Times New Roman" panose="02020603050405020304"/>
              </a:rPr>
              <a:t>Strings </a:t>
            </a:r>
            <a:r>
              <a:rPr sz="2600" b="1" spc="-85" dirty="0">
                <a:latin typeface="Times New Roman" panose="02020603050405020304"/>
                <a:cs typeface="Times New Roman" panose="02020603050405020304"/>
              </a:rPr>
              <a:t>as </a:t>
            </a:r>
            <a:r>
              <a:rPr sz="2600" b="1" spc="-114" dirty="0">
                <a:latin typeface="Times New Roman" panose="02020603050405020304"/>
                <a:cs typeface="Times New Roman" panose="02020603050405020304"/>
              </a:rPr>
              <a:t>arrays: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2600" spc="-50" dirty="0">
                <a:latin typeface="Times New Roman" panose="02020603050405020304"/>
                <a:cs typeface="Times New Roman" panose="02020603050405020304"/>
              </a:rPr>
              <a:t>C,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abstract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idea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00" spc="-90" dirty="0">
                <a:latin typeface="Times New Roman" panose="02020603050405020304"/>
                <a:cs typeface="Times New Roman" panose="02020603050405020304"/>
              </a:rPr>
              <a:t>string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is 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implemented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with just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an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array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characters. </a:t>
            </a:r>
            <a:r>
              <a:rPr sz="2600" spc="-140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example,  </a:t>
            </a:r>
            <a:r>
              <a:rPr sz="2600" spc="-90" dirty="0">
                <a:latin typeface="Times New Roman" panose="02020603050405020304"/>
                <a:cs typeface="Times New Roman" panose="02020603050405020304"/>
              </a:rPr>
              <a:t>here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string: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87020" marR="508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char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label[] </a:t>
            </a:r>
            <a:r>
              <a:rPr sz="2600" spc="270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"Single";What 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this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array </a:t>
            </a:r>
            <a:r>
              <a:rPr sz="2600" spc="-140" dirty="0">
                <a:latin typeface="Times New Roman" panose="02020603050405020304"/>
                <a:cs typeface="Times New Roman" panose="02020603050405020304"/>
              </a:rPr>
              <a:t>looks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like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in memory </a:t>
            </a:r>
            <a:r>
              <a:rPr sz="2600" spc="-330" dirty="0">
                <a:latin typeface="Times New Roman" panose="02020603050405020304"/>
                <a:cs typeface="Times New Roman" panose="02020603050405020304"/>
              </a:rPr>
              <a:t>is 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6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following: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14755" y="4116323"/>
          <a:ext cx="7614284" cy="962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6485"/>
                <a:gridCol w="1085215"/>
                <a:gridCol w="1086485"/>
                <a:gridCol w="1085214"/>
                <a:gridCol w="1086485"/>
                <a:gridCol w="1082039"/>
                <a:gridCol w="1083309"/>
              </a:tblGrid>
              <a:tr h="9494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0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S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0" marB="0">
                    <a:lnL w="12700">
                      <a:solidFill>
                        <a:srgbClr val="9B310D"/>
                      </a:solidFill>
                      <a:prstDash val="solid"/>
                    </a:lnL>
                    <a:lnR w="12700">
                      <a:solidFill>
                        <a:srgbClr val="9B310D"/>
                      </a:solidFill>
                      <a:prstDash val="solid"/>
                    </a:lnR>
                    <a:lnT w="12700">
                      <a:solidFill>
                        <a:srgbClr val="9B310D"/>
                      </a:solidFill>
                      <a:prstDash val="solid"/>
                    </a:lnT>
                    <a:lnB w="12700">
                      <a:solidFill>
                        <a:srgbClr val="9B310D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0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i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0" marB="0">
                    <a:lnL w="12700">
                      <a:solidFill>
                        <a:srgbClr val="9B310D"/>
                      </a:solidFill>
                      <a:prstDash val="solid"/>
                    </a:lnL>
                    <a:lnR w="12700">
                      <a:solidFill>
                        <a:srgbClr val="9B310D"/>
                      </a:solidFill>
                      <a:prstDash val="solid"/>
                    </a:lnR>
                    <a:lnT w="12700">
                      <a:solidFill>
                        <a:srgbClr val="9B310D"/>
                      </a:solidFill>
                      <a:prstDash val="solid"/>
                    </a:lnT>
                    <a:lnB w="12700">
                      <a:solidFill>
                        <a:srgbClr val="9B310D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0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0" marB="0">
                    <a:lnL w="12700">
                      <a:solidFill>
                        <a:srgbClr val="9B310D"/>
                      </a:solidFill>
                      <a:prstDash val="solid"/>
                    </a:lnL>
                    <a:lnR w="12700">
                      <a:solidFill>
                        <a:srgbClr val="9B310D"/>
                      </a:solidFill>
                      <a:prstDash val="solid"/>
                    </a:lnR>
                    <a:lnT w="12700">
                      <a:solidFill>
                        <a:srgbClr val="9B310D"/>
                      </a:solidFill>
                      <a:prstDash val="solid"/>
                    </a:lnT>
                    <a:lnB w="12700">
                      <a:solidFill>
                        <a:srgbClr val="9B310D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0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g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0" marB="0">
                    <a:lnL w="12700">
                      <a:solidFill>
                        <a:srgbClr val="9B310D"/>
                      </a:solidFill>
                      <a:prstDash val="solid"/>
                    </a:lnL>
                    <a:lnR w="12700">
                      <a:solidFill>
                        <a:srgbClr val="9B310D"/>
                      </a:solidFill>
                      <a:prstDash val="solid"/>
                    </a:lnR>
                    <a:lnT w="12700">
                      <a:solidFill>
                        <a:srgbClr val="9B310D"/>
                      </a:solidFill>
                      <a:prstDash val="solid"/>
                    </a:lnT>
                    <a:lnB w="12700">
                      <a:solidFill>
                        <a:srgbClr val="9B310D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0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l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0" marB="0">
                    <a:lnL w="12700">
                      <a:solidFill>
                        <a:srgbClr val="9B310D"/>
                      </a:solidFill>
                      <a:prstDash val="solid"/>
                    </a:lnL>
                    <a:lnR w="12700">
                      <a:solidFill>
                        <a:srgbClr val="9B310D"/>
                      </a:solidFill>
                      <a:prstDash val="solid"/>
                    </a:lnR>
                    <a:lnT w="12700">
                      <a:solidFill>
                        <a:srgbClr val="9B310D"/>
                      </a:solidFill>
                      <a:prstDash val="solid"/>
                    </a:lnT>
                    <a:lnB w="12700">
                      <a:solidFill>
                        <a:srgbClr val="9B310D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0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0" marB="0">
                    <a:lnL w="12700">
                      <a:solidFill>
                        <a:srgbClr val="9B310D"/>
                      </a:solidFill>
                      <a:prstDash val="solid"/>
                    </a:lnL>
                    <a:lnR w="19050">
                      <a:solidFill>
                        <a:srgbClr val="9B310D"/>
                      </a:solidFill>
                      <a:prstDash val="solid"/>
                    </a:lnR>
                    <a:lnT w="12700">
                      <a:solidFill>
                        <a:srgbClr val="9B310D"/>
                      </a:solidFill>
                      <a:prstDash val="solid"/>
                    </a:lnT>
                    <a:lnB w="12700">
                      <a:solidFill>
                        <a:srgbClr val="9B310D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0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160" dirty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\0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0" marB="0">
                    <a:lnL w="19050">
                      <a:solidFill>
                        <a:srgbClr val="9B310D"/>
                      </a:solidFill>
                      <a:prstDash val="solid"/>
                    </a:lnL>
                    <a:lnR w="12700">
                      <a:solidFill>
                        <a:srgbClr val="9B310D"/>
                      </a:solidFill>
                      <a:prstDash val="solid"/>
                    </a:lnR>
                    <a:lnT w="12700">
                      <a:solidFill>
                        <a:srgbClr val="9B310D"/>
                      </a:solidFill>
                      <a:prstDash val="solid"/>
                    </a:lnT>
                    <a:lnB w="12700">
                      <a:solidFill>
                        <a:srgbClr val="9B310D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4339" y="184785"/>
            <a:ext cx="57892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Pointers </a:t>
            </a:r>
            <a:r>
              <a:rPr sz="4000" spc="-30" dirty="0"/>
              <a:t>and </a:t>
            </a:r>
            <a:r>
              <a:rPr sz="4000" spc="-40" dirty="0"/>
              <a:t>Strings</a:t>
            </a:r>
            <a:r>
              <a:rPr sz="4000" spc="-540" dirty="0"/>
              <a:t> </a:t>
            </a:r>
            <a:r>
              <a:rPr sz="4000" spc="-280" dirty="0"/>
              <a:t>cont...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1255522" y="3565905"/>
            <a:ext cx="4979670" cy="642620"/>
            <a:chOff x="1255522" y="3565905"/>
            <a:chExt cx="4979670" cy="642620"/>
          </a:xfrm>
        </p:grpSpPr>
        <p:sp>
          <p:nvSpPr>
            <p:cNvPr id="4" name="object 4"/>
            <p:cNvSpPr/>
            <p:nvPr/>
          </p:nvSpPr>
          <p:spPr>
            <a:xfrm>
              <a:off x="1261872" y="3572255"/>
              <a:ext cx="718185" cy="629920"/>
            </a:xfrm>
            <a:custGeom>
              <a:avLst/>
              <a:gdLst/>
              <a:ahLst/>
              <a:cxnLst/>
              <a:rect l="l" t="t" r="r" b="b"/>
              <a:pathLst>
                <a:path w="718185" h="629920">
                  <a:moveTo>
                    <a:pt x="612902" y="0"/>
                  </a:moveTo>
                  <a:lnTo>
                    <a:pt x="104902" y="0"/>
                  </a:lnTo>
                  <a:lnTo>
                    <a:pt x="64079" y="8247"/>
                  </a:lnTo>
                  <a:lnTo>
                    <a:pt x="30734" y="30734"/>
                  </a:lnTo>
                  <a:lnTo>
                    <a:pt x="8247" y="64079"/>
                  </a:lnTo>
                  <a:lnTo>
                    <a:pt x="0" y="104902"/>
                  </a:lnTo>
                  <a:lnTo>
                    <a:pt x="0" y="524510"/>
                  </a:lnTo>
                  <a:lnTo>
                    <a:pt x="8247" y="565332"/>
                  </a:lnTo>
                  <a:lnTo>
                    <a:pt x="30734" y="598678"/>
                  </a:lnTo>
                  <a:lnTo>
                    <a:pt x="64079" y="621164"/>
                  </a:lnTo>
                  <a:lnTo>
                    <a:pt x="104902" y="629412"/>
                  </a:lnTo>
                  <a:lnTo>
                    <a:pt x="612902" y="629412"/>
                  </a:lnTo>
                  <a:lnTo>
                    <a:pt x="653724" y="621164"/>
                  </a:lnTo>
                  <a:lnTo>
                    <a:pt x="687070" y="598678"/>
                  </a:lnTo>
                  <a:lnTo>
                    <a:pt x="709556" y="565332"/>
                  </a:lnTo>
                  <a:lnTo>
                    <a:pt x="717804" y="524510"/>
                  </a:lnTo>
                  <a:lnTo>
                    <a:pt x="717804" y="104902"/>
                  </a:lnTo>
                  <a:lnTo>
                    <a:pt x="709556" y="64079"/>
                  </a:lnTo>
                  <a:lnTo>
                    <a:pt x="687069" y="30734"/>
                  </a:lnTo>
                  <a:lnTo>
                    <a:pt x="653724" y="8247"/>
                  </a:lnTo>
                  <a:lnTo>
                    <a:pt x="612902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261872" y="3572255"/>
              <a:ext cx="718185" cy="629920"/>
            </a:xfrm>
            <a:custGeom>
              <a:avLst/>
              <a:gdLst/>
              <a:ahLst/>
              <a:cxnLst/>
              <a:rect l="l" t="t" r="r" b="b"/>
              <a:pathLst>
                <a:path w="718185" h="629920">
                  <a:moveTo>
                    <a:pt x="0" y="104902"/>
                  </a:moveTo>
                  <a:lnTo>
                    <a:pt x="8247" y="64079"/>
                  </a:lnTo>
                  <a:lnTo>
                    <a:pt x="30734" y="30734"/>
                  </a:lnTo>
                  <a:lnTo>
                    <a:pt x="64079" y="8247"/>
                  </a:lnTo>
                  <a:lnTo>
                    <a:pt x="104902" y="0"/>
                  </a:lnTo>
                  <a:lnTo>
                    <a:pt x="612902" y="0"/>
                  </a:lnTo>
                  <a:lnTo>
                    <a:pt x="653724" y="8247"/>
                  </a:lnTo>
                  <a:lnTo>
                    <a:pt x="687069" y="30734"/>
                  </a:lnTo>
                  <a:lnTo>
                    <a:pt x="709556" y="64079"/>
                  </a:lnTo>
                  <a:lnTo>
                    <a:pt x="717804" y="104902"/>
                  </a:lnTo>
                  <a:lnTo>
                    <a:pt x="717804" y="524510"/>
                  </a:lnTo>
                  <a:lnTo>
                    <a:pt x="709556" y="565332"/>
                  </a:lnTo>
                  <a:lnTo>
                    <a:pt x="687070" y="598678"/>
                  </a:lnTo>
                  <a:lnTo>
                    <a:pt x="653724" y="621164"/>
                  </a:lnTo>
                  <a:lnTo>
                    <a:pt x="612902" y="629412"/>
                  </a:lnTo>
                  <a:lnTo>
                    <a:pt x="104902" y="629412"/>
                  </a:lnTo>
                  <a:lnTo>
                    <a:pt x="64079" y="621164"/>
                  </a:lnTo>
                  <a:lnTo>
                    <a:pt x="30734" y="598678"/>
                  </a:lnTo>
                  <a:lnTo>
                    <a:pt x="8247" y="565332"/>
                  </a:lnTo>
                  <a:lnTo>
                    <a:pt x="0" y="524510"/>
                  </a:lnTo>
                  <a:lnTo>
                    <a:pt x="0" y="104902"/>
                  </a:lnTo>
                  <a:close/>
                </a:path>
              </a:pathLst>
            </a:custGeom>
            <a:ln w="12192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909572" y="3572255"/>
              <a:ext cx="718185" cy="629920"/>
            </a:xfrm>
            <a:custGeom>
              <a:avLst/>
              <a:gdLst/>
              <a:ahLst/>
              <a:cxnLst/>
              <a:rect l="l" t="t" r="r" b="b"/>
              <a:pathLst>
                <a:path w="718185" h="629920">
                  <a:moveTo>
                    <a:pt x="612901" y="0"/>
                  </a:moveTo>
                  <a:lnTo>
                    <a:pt x="104901" y="0"/>
                  </a:lnTo>
                  <a:lnTo>
                    <a:pt x="64079" y="8247"/>
                  </a:lnTo>
                  <a:lnTo>
                    <a:pt x="30733" y="30734"/>
                  </a:lnTo>
                  <a:lnTo>
                    <a:pt x="8247" y="64079"/>
                  </a:lnTo>
                  <a:lnTo>
                    <a:pt x="0" y="104902"/>
                  </a:lnTo>
                  <a:lnTo>
                    <a:pt x="0" y="524510"/>
                  </a:lnTo>
                  <a:lnTo>
                    <a:pt x="8247" y="565332"/>
                  </a:lnTo>
                  <a:lnTo>
                    <a:pt x="30734" y="598678"/>
                  </a:lnTo>
                  <a:lnTo>
                    <a:pt x="64079" y="621164"/>
                  </a:lnTo>
                  <a:lnTo>
                    <a:pt x="104901" y="629412"/>
                  </a:lnTo>
                  <a:lnTo>
                    <a:pt x="612901" y="629412"/>
                  </a:lnTo>
                  <a:lnTo>
                    <a:pt x="653724" y="621164"/>
                  </a:lnTo>
                  <a:lnTo>
                    <a:pt x="687069" y="598678"/>
                  </a:lnTo>
                  <a:lnTo>
                    <a:pt x="709556" y="565332"/>
                  </a:lnTo>
                  <a:lnTo>
                    <a:pt x="717803" y="524510"/>
                  </a:lnTo>
                  <a:lnTo>
                    <a:pt x="717803" y="104902"/>
                  </a:lnTo>
                  <a:lnTo>
                    <a:pt x="709556" y="64079"/>
                  </a:lnTo>
                  <a:lnTo>
                    <a:pt x="687069" y="30734"/>
                  </a:lnTo>
                  <a:lnTo>
                    <a:pt x="653724" y="8247"/>
                  </a:lnTo>
                  <a:lnTo>
                    <a:pt x="612901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909572" y="3572255"/>
              <a:ext cx="718185" cy="629920"/>
            </a:xfrm>
            <a:custGeom>
              <a:avLst/>
              <a:gdLst/>
              <a:ahLst/>
              <a:cxnLst/>
              <a:rect l="l" t="t" r="r" b="b"/>
              <a:pathLst>
                <a:path w="718185" h="629920">
                  <a:moveTo>
                    <a:pt x="0" y="104902"/>
                  </a:moveTo>
                  <a:lnTo>
                    <a:pt x="8247" y="64079"/>
                  </a:lnTo>
                  <a:lnTo>
                    <a:pt x="30733" y="30734"/>
                  </a:lnTo>
                  <a:lnTo>
                    <a:pt x="64079" y="8247"/>
                  </a:lnTo>
                  <a:lnTo>
                    <a:pt x="104901" y="0"/>
                  </a:lnTo>
                  <a:lnTo>
                    <a:pt x="612901" y="0"/>
                  </a:lnTo>
                  <a:lnTo>
                    <a:pt x="653724" y="8247"/>
                  </a:lnTo>
                  <a:lnTo>
                    <a:pt x="687069" y="30734"/>
                  </a:lnTo>
                  <a:lnTo>
                    <a:pt x="709556" y="64079"/>
                  </a:lnTo>
                  <a:lnTo>
                    <a:pt x="717803" y="104902"/>
                  </a:lnTo>
                  <a:lnTo>
                    <a:pt x="717803" y="524510"/>
                  </a:lnTo>
                  <a:lnTo>
                    <a:pt x="709556" y="565332"/>
                  </a:lnTo>
                  <a:lnTo>
                    <a:pt x="687069" y="598678"/>
                  </a:lnTo>
                  <a:lnTo>
                    <a:pt x="653724" y="621164"/>
                  </a:lnTo>
                  <a:lnTo>
                    <a:pt x="612901" y="629412"/>
                  </a:lnTo>
                  <a:lnTo>
                    <a:pt x="104901" y="629412"/>
                  </a:lnTo>
                  <a:lnTo>
                    <a:pt x="64079" y="621164"/>
                  </a:lnTo>
                  <a:lnTo>
                    <a:pt x="30734" y="598678"/>
                  </a:lnTo>
                  <a:lnTo>
                    <a:pt x="8247" y="565332"/>
                  </a:lnTo>
                  <a:lnTo>
                    <a:pt x="0" y="524510"/>
                  </a:lnTo>
                  <a:lnTo>
                    <a:pt x="0" y="104902"/>
                  </a:lnTo>
                  <a:close/>
                </a:path>
              </a:pathLst>
            </a:custGeom>
            <a:ln w="12191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630424" y="3572255"/>
              <a:ext cx="718185" cy="629920"/>
            </a:xfrm>
            <a:custGeom>
              <a:avLst/>
              <a:gdLst/>
              <a:ahLst/>
              <a:cxnLst/>
              <a:rect l="l" t="t" r="r" b="b"/>
              <a:pathLst>
                <a:path w="718185" h="629920">
                  <a:moveTo>
                    <a:pt x="612901" y="0"/>
                  </a:moveTo>
                  <a:lnTo>
                    <a:pt x="104901" y="0"/>
                  </a:lnTo>
                  <a:lnTo>
                    <a:pt x="64079" y="8247"/>
                  </a:lnTo>
                  <a:lnTo>
                    <a:pt x="30733" y="30734"/>
                  </a:lnTo>
                  <a:lnTo>
                    <a:pt x="8247" y="64079"/>
                  </a:lnTo>
                  <a:lnTo>
                    <a:pt x="0" y="104902"/>
                  </a:lnTo>
                  <a:lnTo>
                    <a:pt x="0" y="524510"/>
                  </a:lnTo>
                  <a:lnTo>
                    <a:pt x="8247" y="565332"/>
                  </a:lnTo>
                  <a:lnTo>
                    <a:pt x="30734" y="598678"/>
                  </a:lnTo>
                  <a:lnTo>
                    <a:pt x="64079" y="621164"/>
                  </a:lnTo>
                  <a:lnTo>
                    <a:pt x="104901" y="629412"/>
                  </a:lnTo>
                  <a:lnTo>
                    <a:pt x="612901" y="629412"/>
                  </a:lnTo>
                  <a:lnTo>
                    <a:pt x="653724" y="621164"/>
                  </a:lnTo>
                  <a:lnTo>
                    <a:pt x="687069" y="598678"/>
                  </a:lnTo>
                  <a:lnTo>
                    <a:pt x="709556" y="565332"/>
                  </a:lnTo>
                  <a:lnTo>
                    <a:pt x="717803" y="524510"/>
                  </a:lnTo>
                  <a:lnTo>
                    <a:pt x="717803" y="104902"/>
                  </a:lnTo>
                  <a:lnTo>
                    <a:pt x="709556" y="64079"/>
                  </a:lnTo>
                  <a:lnTo>
                    <a:pt x="687070" y="30734"/>
                  </a:lnTo>
                  <a:lnTo>
                    <a:pt x="653724" y="8247"/>
                  </a:lnTo>
                  <a:lnTo>
                    <a:pt x="612901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630424" y="3572255"/>
              <a:ext cx="718185" cy="629920"/>
            </a:xfrm>
            <a:custGeom>
              <a:avLst/>
              <a:gdLst/>
              <a:ahLst/>
              <a:cxnLst/>
              <a:rect l="l" t="t" r="r" b="b"/>
              <a:pathLst>
                <a:path w="718185" h="629920">
                  <a:moveTo>
                    <a:pt x="0" y="104902"/>
                  </a:moveTo>
                  <a:lnTo>
                    <a:pt x="8247" y="64079"/>
                  </a:lnTo>
                  <a:lnTo>
                    <a:pt x="30733" y="30734"/>
                  </a:lnTo>
                  <a:lnTo>
                    <a:pt x="64079" y="8247"/>
                  </a:lnTo>
                  <a:lnTo>
                    <a:pt x="104901" y="0"/>
                  </a:lnTo>
                  <a:lnTo>
                    <a:pt x="612901" y="0"/>
                  </a:lnTo>
                  <a:lnTo>
                    <a:pt x="653724" y="8247"/>
                  </a:lnTo>
                  <a:lnTo>
                    <a:pt x="687070" y="30734"/>
                  </a:lnTo>
                  <a:lnTo>
                    <a:pt x="709556" y="64079"/>
                  </a:lnTo>
                  <a:lnTo>
                    <a:pt x="717803" y="104902"/>
                  </a:lnTo>
                  <a:lnTo>
                    <a:pt x="717803" y="524510"/>
                  </a:lnTo>
                  <a:lnTo>
                    <a:pt x="709556" y="565332"/>
                  </a:lnTo>
                  <a:lnTo>
                    <a:pt x="687069" y="598678"/>
                  </a:lnTo>
                  <a:lnTo>
                    <a:pt x="653724" y="621164"/>
                  </a:lnTo>
                  <a:lnTo>
                    <a:pt x="612901" y="629412"/>
                  </a:lnTo>
                  <a:lnTo>
                    <a:pt x="104901" y="629412"/>
                  </a:lnTo>
                  <a:lnTo>
                    <a:pt x="64079" y="621164"/>
                  </a:lnTo>
                  <a:lnTo>
                    <a:pt x="30734" y="598678"/>
                  </a:lnTo>
                  <a:lnTo>
                    <a:pt x="8247" y="565332"/>
                  </a:lnTo>
                  <a:lnTo>
                    <a:pt x="0" y="524510"/>
                  </a:lnTo>
                  <a:lnTo>
                    <a:pt x="0" y="104902"/>
                  </a:lnTo>
                  <a:close/>
                </a:path>
              </a:pathLst>
            </a:custGeom>
            <a:ln w="12191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349751" y="3572255"/>
              <a:ext cx="718185" cy="629920"/>
            </a:xfrm>
            <a:custGeom>
              <a:avLst/>
              <a:gdLst/>
              <a:ahLst/>
              <a:cxnLst/>
              <a:rect l="l" t="t" r="r" b="b"/>
              <a:pathLst>
                <a:path w="718185" h="629920">
                  <a:moveTo>
                    <a:pt x="612901" y="0"/>
                  </a:moveTo>
                  <a:lnTo>
                    <a:pt x="104901" y="0"/>
                  </a:lnTo>
                  <a:lnTo>
                    <a:pt x="64079" y="8247"/>
                  </a:lnTo>
                  <a:lnTo>
                    <a:pt x="30734" y="30734"/>
                  </a:lnTo>
                  <a:lnTo>
                    <a:pt x="8247" y="64079"/>
                  </a:lnTo>
                  <a:lnTo>
                    <a:pt x="0" y="104902"/>
                  </a:lnTo>
                  <a:lnTo>
                    <a:pt x="0" y="524510"/>
                  </a:lnTo>
                  <a:lnTo>
                    <a:pt x="8247" y="565332"/>
                  </a:lnTo>
                  <a:lnTo>
                    <a:pt x="30733" y="598678"/>
                  </a:lnTo>
                  <a:lnTo>
                    <a:pt x="64079" y="621164"/>
                  </a:lnTo>
                  <a:lnTo>
                    <a:pt x="104901" y="629412"/>
                  </a:lnTo>
                  <a:lnTo>
                    <a:pt x="612901" y="629412"/>
                  </a:lnTo>
                  <a:lnTo>
                    <a:pt x="653724" y="621164"/>
                  </a:lnTo>
                  <a:lnTo>
                    <a:pt x="687069" y="598678"/>
                  </a:lnTo>
                  <a:lnTo>
                    <a:pt x="709556" y="565332"/>
                  </a:lnTo>
                  <a:lnTo>
                    <a:pt x="717803" y="524510"/>
                  </a:lnTo>
                  <a:lnTo>
                    <a:pt x="717803" y="104902"/>
                  </a:lnTo>
                  <a:lnTo>
                    <a:pt x="709556" y="64079"/>
                  </a:lnTo>
                  <a:lnTo>
                    <a:pt x="687070" y="30734"/>
                  </a:lnTo>
                  <a:lnTo>
                    <a:pt x="653724" y="8247"/>
                  </a:lnTo>
                  <a:lnTo>
                    <a:pt x="612901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349751" y="3572255"/>
              <a:ext cx="718185" cy="629920"/>
            </a:xfrm>
            <a:custGeom>
              <a:avLst/>
              <a:gdLst/>
              <a:ahLst/>
              <a:cxnLst/>
              <a:rect l="l" t="t" r="r" b="b"/>
              <a:pathLst>
                <a:path w="718185" h="629920">
                  <a:moveTo>
                    <a:pt x="0" y="104902"/>
                  </a:moveTo>
                  <a:lnTo>
                    <a:pt x="8247" y="64079"/>
                  </a:lnTo>
                  <a:lnTo>
                    <a:pt x="30734" y="30734"/>
                  </a:lnTo>
                  <a:lnTo>
                    <a:pt x="64079" y="8247"/>
                  </a:lnTo>
                  <a:lnTo>
                    <a:pt x="104901" y="0"/>
                  </a:lnTo>
                  <a:lnTo>
                    <a:pt x="612901" y="0"/>
                  </a:lnTo>
                  <a:lnTo>
                    <a:pt x="653724" y="8247"/>
                  </a:lnTo>
                  <a:lnTo>
                    <a:pt x="687070" y="30734"/>
                  </a:lnTo>
                  <a:lnTo>
                    <a:pt x="709556" y="64079"/>
                  </a:lnTo>
                  <a:lnTo>
                    <a:pt x="717803" y="104902"/>
                  </a:lnTo>
                  <a:lnTo>
                    <a:pt x="717803" y="524510"/>
                  </a:lnTo>
                  <a:lnTo>
                    <a:pt x="709556" y="565332"/>
                  </a:lnTo>
                  <a:lnTo>
                    <a:pt x="687069" y="598678"/>
                  </a:lnTo>
                  <a:lnTo>
                    <a:pt x="653724" y="621164"/>
                  </a:lnTo>
                  <a:lnTo>
                    <a:pt x="612901" y="629412"/>
                  </a:lnTo>
                  <a:lnTo>
                    <a:pt x="104901" y="629412"/>
                  </a:lnTo>
                  <a:lnTo>
                    <a:pt x="64079" y="621164"/>
                  </a:lnTo>
                  <a:lnTo>
                    <a:pt x="30733" y="598678"/>
                  </a:lnTo>
                  <a:lnTo>
                    <a:pt x="8247" y="565332"/>
                  </a:lnTo>
                  <a:lnTo>
                    <a:pt x="0" y="524510"/>
                  </a:lnTo>
                  <a:lnTo>
                    <a:pt x="0" y="104902"/>
                  </a:lnTo>
                  <a:close/>
                </a:path>
              </a:pathLst>
            </a:custGeom>
            <a:ln w="12191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070604" y="3572255"/>
              <a:ext cx="718185" cy="629920"/>
            </a:xfrm>
            <a:custGeom>
              <a:avLst/>
              <a:gdLst/>
              <a:ahLst/>
              <a:cxnLst/>
              <a:rect l="l" t="t" r="r" b="b"/>
              <a:pathLst>
                <a:path w="718185" h="629920">
                  <a:moveTo>
                    <a:pt x="612901" y="0"/>
                  </a:moveTo>
                  <a:lnTo>
                    <a:pt x="104901" y="0"/>
                  </a:lnTo>
                  <a:lnTo>
                    <a:pt x="64079" y="8247"/>
                  </a:lnTo>
                  <a:lnTo>
                    <a:pt x="30734" y="30734"/>
                  </a:lnTo>
                  <a:lnTo>
                    <a:pt x="8247" y="64079"/>
                  </a:lnTo>
                  <a:lnTo>
                    <a:pt x="0" y="104902"/>
                  </a:lnTo>
                  <a:lnTo>
                    <a:pt x="0" y="524510"/>
                  </a:lnTo>
                  <a:lnTo>
                    <a:pt x="8247" y="565332"/>
                  </a:lnTo>
                  <a:lnTo>
                    <a:pt x="30734" y="598678"/>
                  </a:lnTo>
                  <a:lnTo>
                    <a:pt x="64079" y="621164"/>
                  </a:lnTo>
                  <a:lnTo>
                    <a:pt x="104901" y="629412"/>
                  </a:lnTo>
                  <a:lnTo>
                    <a:pt x="612901" y="629412"/>
                  </a:lnTo>
                  <a:lnTo>
                    <a:pt x="653724" y="621164"/>
                  </a:lnTo>
                  <a:lnTo>
                    <a:pt x="687070" y="598678"/>
                  </a:lnTo>
                  <a:lnTo>
                    <a:pt x="709556" y="565332"/>
                  </a:lnTo>
                  <a:lnTo>
                    <a:pt x="717804" y="524510"/>
                  </a:lnTo>
                  <a:lnTo>
                    <a:pt x="717804" y="104902"/>
                  </a:lnTo>
                  <a:lnTo>
                    <a:pt x="709556" y="64079"/>
                  </a:lnTo>
                  <a:lnTo>
                    <a:pt x="687070" y="30734"/>
                  </a:lnTo>
                  <a:lnTo>
                    <a:pt x="653724" y="8247"/>
                  </a:lnTo>
                  <a:lnTo>
                    <a:pt x="612901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070604" y="3572255"/>
              <a:ext cx="718185" cy="629920"/>
            </a:xfrm>
            <a:custGeom>
              <a:avLst/>
              <a:gdLst/>
              <a:ahLst/>
              <a:cxnLst/>
              <a:rect l="l" t="t" r="r" b="b"/>
              <a:pathLst>
                <a:path w="718185" h="629920">
                  <a:moveTo>
                    <a:pt x="0" y="104902"/>
                  </a:moveTo>
                  <a:lnTo>
                    <a:pt x="8247" y="64079"/>
                  </a:lnTo>
                  <a:lnTo>
                    <a:pt x="30734" y="30734"/>
                  </a:lnTo>
                  <a:lnTo>
                    <a:pt x="64079" y="8247"/>
                  </a:lnTo>
                  <a:lnTo>
                    <a:pt x="104901" y="0"/>
                  </a:lnTo>
                  <a:lnTo>
                    <a:pt x="612901" y="0"/>
                  </a:lnTo>
                  <a:lnTo>
                    <a:pt x="653724" y="8247"/>
                  </a:lnTo>
                  <a:lnTo>
                    <a:pt x="687070" y="30734"/>
                  </a:lnTo>
                  <a:lnTo>
                    <a:pt x="709556" y="64079"/>
                  </a:lnTo>
                  <a:lnTo>
                    <a:pt x="717804" y="104902"/>
                  </a:lnTo>
                  <a:lnTo>
                    <a:pt x="717804" y="524510"/>
                  </a:lnTo>
                  <a:lnTo>
                    <a:pt x="709556" y="565332"/>
                  </a:lnTo>
                  <a:lnTo>
                    <a:pt x="687070" y="598678"/>
                  </a:lnTo>
                  <a:lnTo>
                    <a:pt x="653724" y="621164"/>
                  </a:lnTo>
                  <a:lnTo>
                    <a:pt x="612901" y="629412"/>
                  </a:lnTo>
                  <a:lnTo>
                    <a:pt x="104901" y="629412"/>
                  </a:lnTo>
                  <a:lnTo>
                    <a:pt x="64079" y="621164"/>
                  </a:lnTo>
                  <a:lnTo>
                    <a:pt x="30734" y="598678"/>
                  </a:lnTo>
                  <a:lnTo>
                    <a:pt x="8247" y="565332"/>
                  </a:lnTo>
                  <a:lnTo>
                    <a:pt x="0" y="524510"/>
                  </a:lnTo>
                  <a:lnTo>
                    <a:pt x="0" y="104902"/>
                  </a:lnTo>
                  <a:close/>
                </a:path>
              </a:pathLst>
            </a:custGeom>
            <a:ln w="12192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789931" y="3572255"/>
              <a:ext cx="718185" cy="629920"/>
            </a:xfrm>
            <a:custGeom>
              <a:avLst/>
              <a:gdLst/>
              <a:ahLst/>
              <a:cxnLst/>
              <a:rect l="l" t="t" r="r" b="b"/>
              <a:pathLst>
                <a:path w="718185" h="629920">
                  <a:moveTo>
                    <a:pt x="612901" y="0"/>
                  </a:moveTo>
                  <a:lnTo>
                    <a:pt x="104901" y="0"/>
                  </a:lnTo>
                  <a:lnTo>
                    <a:pt x="64079" y="8247"/>
                  </a:lnTo>
                  <a:lnTo>
                    <a:pt x="30734" y="30734"/>
                  </a:lnTo>
                  <a:lnTo>
                    <a:pt x="8247" y="64079"/>
                  </a:lnTo>
                  <a:lnTo>
                    <a:pt x="0" y="104902"/>
                  </a:lnTo>
                  <a:lnTo>
                    <a:pt x="0" y="524510"/>
                  </a:lnTo>
                  <a:lnTo>
                    <a:pt x="8247" y="565332"/>
                  </a:lnTo>
                  <a:lnTo>
                    <a:pt x="30733" y="598678"/>
                  </a:lnTo>
                  <a:lnTo>
                    <a:pt x="64079" y="621164"/>
                  </a:lnTo>
                  <a:lnTo>
                    <a:pt x="104901" y="629412"/>
                  </a:lnTo>
                  <a:lnTo>
                    <a:pt x="612901" y="629412"/>
                  </a:lnTo>
                  <a:lnTo>
                    <a:pt x="653724" y="621164"/>
                  </a:lnTo>
                  <a:lnTo>
                    <a:pt x="687069" y="598678"/>
                  </a:lnTo>
                  <a:lnTo>
                    <a:pt x="709556" y="565332"/>
                  </a:lnTo>
                  <a:lnTo>
                    <a:pt x="717803" y="524510"/>
                  </a:lnTo>
                  <a:lnTo>
                    <a:pt x="717803" y="104902"/>
                  </a:lnTo>
                  <a:lnTo>
                    <a:pt x="709556" y="64079"/>
                  </a:lnTo>
                  <a:lnTo>
                    <a:pt x="687070" y="30734"/>
                  </a:lnTo>
                  <a:lnTo>
                    <a:pt x="653724" y="8247"/>
                  </a:lnTo>
                  <a:lnTo>
                    <a:pt x="612901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789931" y="3572255"/>
              <a:ext cx="718185" cy="629920"/>
            </a:xfrm>
            <a:custGeom>
              <a:avLst/>
              <a:gdLst/>
              <a:ahLst/>
              <a:cxnLst/>
              <a:rect l="l" t="t" r="r" b="b"/>
              <a:pathLst>
                <a:path w="718185" h="629920">
                  <a:moveTo>
                    <a:pt x="0" y="104902"/>
                  </a:moveTo>
                  <a:lnTo>
                    <a:pt x="8247" y="64079"/>
                  </a:lnTo>
                  <a:lnTo>
                    <a:pt x="30734" y="30734"/>
                  </a:lnTo>
                  <a:lnTo>
                    <a:pt x="64079" y="8247"/>
                  </a:lnTo>
                  <a:lnTo>
                    <a:pt x="104901" y="0"/>
                  </a:lnTo>
                  <a:lnTo>
                    <a:pt x="612901" y="0"/>
                  </a:lnTo>
                  <a:lnTo>
                    <a:pt x="653724" y="8247"/>
                  </a:lnTo>
                  <a:lnTo>
                    <a:pt x="687070" y="30734"/>
                  </a:lnTo>
                  <a:lnTo>
                    <a:pt x="709556" y="64079"/>
                  </a:lnTo>
                  <a:lnTo>
                    <a:pt x="717803" y="104902"/>
                  </a:lnTo>
                  <a:lnTo>
                    <a:pt x="717803" y="524510"/>
                  </a:lnTo>
                  <a:lnTo>
                    <a:pt x="709556" y="565332"/>
                  </a:lnTo>
                  <a:lnTo>
                    <a:pt x="687069" y="598678"/>
                  </a:lnTo>
                  <a:lnTo>
                    <a:pt x="653724" y="621164"/>
                  </a:lnTo>
                  <a:lnTo>
                    <a:pt x="612901" y="629412"/>
                  </a:lnTo>
                  <a:lnTo>
                    <a:pt x="104901" y="629412"/>
                  </a:lnTo>
                  <a:lnTo>
                    <a:pt x="64079" y="621164"/>
                  </a:lnTo>
                  <a:lnTo>
                    <a:pt x="30733" y="598678"/>
                  </a:lnTo>
                  <a:lnTo>
                    <a:pt x="8247" y="565332"/>
                  </a:lnTo>
                  <a:lnTo>
                    <a:pt x="0" y="524510"/>
                  </a:lnTo>
                  <a:lnTo>
                    <a:pt x="0" y="104902"/>
                  </a:lnTo>
                  <a:close/>
                </a:path>
              </a:pathLst>
            </a:custGeom>
            <a:ln w="12191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510783" y="3572255"/>
              <a:ext cx="718185" cy="629920"/>
            </a:xfrm>
            <a:custGeom>
              <a:avLst/>
              <a:gdLst/>
              <a:ahLst/>
              <a:cxnLst/>
              <a:rect l="l" t="t" r="r" b="b"/>
              <a:pathLst>
                <a:path w="718185" h="629920">
                  <a:moveTo>
                    <a:pt x="612901" y="0"/>
                  </a:moveTo>
                  <a:lnTo>
                    <a:pt x="104901" y="0"/>
                  </a:lnTo>
                  <a:lnTo>
                    <a:pt x="64079" y="8247"/>
                  </a:lnTo>
                  <a:lnTo>
                    <a:pt x="30734" y="30734"/>
                  </a:lnTo>
                  <a:lnTo>
                    <a:pt x="8247" y="64079"/>
                  </a:lnTo>
                  <a:lnTo>
                    <a:pt x="0" y="104902"/>
                  </a:lnTo>
                  <a:lnTo>
                    <a:pt x="0" y="524510"/>
                  </a:lnTo>
                  <a:lnTo>
                    <a:pt x="8247" y="565332"/>
                  </a:lnTo>
                  <a:lnTo>
                    <a:pt x="30733" y="598678"/>
                  </a:lnTo>
                  <a:lnTo>
                    <a:pt x="64079" y="621164"/>
                  </a:lnTo>
                  <a:lnTo>
                    <a:pt x="104901" y="629412"/>
                  </a:lnTo>
                  <a:lnTo>
                    <a:pt x="612901" y="629412"/>
                  </a:lnTo>
                  <a:lnTo>
                    <a:pt x="653724" y="621164"/>
                  </a:lnTo>
                  <a:lnTo>
                    <a:pt x="687069" y="598678"/>
                  </a:lnTo>
                  <a:lnTo>
                    <a:pt x="709556" y="565332"/>
                  </a:lnTo>
                  <a:lnTo>
                    <a:pt x="717803" y="524510"/>
                  </a:lnTo>
                  <a:lnTo>
                    <a:pt x="717803" y="104902"/>
                  </a:lnTo>
                  <a:lnTo>
                    <a:pt x="709556" y="64079"/>
                  </a:lnTo>
                  <a:lnTo>
                    <a:pt x="687070" y="30734"/>
                  </a:lnTo>
                  <a:lnTo>
                    <a:pt x="653724" y="8247"/>
                  </a:lnTo>
                  <a:lnTo>
                    <a:pt x="612901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510783" y="3572255"/>
              <a:ext cx="718185" cy="629920"/>
            </a:xfrm>
            <a:custGeom>
              <a:avLst/>
              <a:gdLst/>
              <a:ahLst/>
              <a:cxnLst/>
              <a:rect l="l" t="t" r="r" b="b"/>
              <a:pathLst>
                <a:path w="718185" h="629920">
                  <a:moveTo>
                    <a:pt x="0" y="104902"/>
                  </a:moveTo>
                  <a:lnTo>
                    <a:pt x="8247" y="64079"/>
                  </a:lnTo>
                  <a:lnTo>
                    <a:pt x="30734" y="30734"/>
                  </a:lnTo>
                  <a:lnTo>
                    <a:pt x="64079" y="8247"/>
                  </a:lnTo>
                  <a:lnTo>
                    <a:pt x="104901" y="0"/>
                  </a:lnTo>
                  <a:lnTo>
                    <a:pt x="612901" y="0"/>
                  </a:lnTo>
                  <a:lnTo>
                    <a:pt x="653724" y="8247"/>
                  </a:lnTo>
                  <a:lnTo>
                    <a:pt x="687070" y="30734"/>
                  </a:lnTo>
                  <a:lnTo>
                    <a:pt x="709556" y="64079"/>
                  </a:lnTo>
                  <a:lnTo>
                    <a:pt x="717803" y="104902"/>
                  </a:lnTo>
                  <a:lnTo>
                    <a:pt x="717803" y="524510"/>
                  </a:lnTo>
                  <a:lnTo>
                    <a:pt x="709556" y="565332"/>
                  </a:lnTo>
                  <a:lnTo>
                    <a:pt x="687069" y="598678"/>
                  </a:lnTo>
                  <a:lnTo>
                    <a:pt x="653724" y="621164"/>
                  </a:lnTo>
                  <a:lnTo>
                    <a:pt x="612901" y="629412"/>
                  </a:lnTo>
                  <a:lnTo>
                    <a:pt x="104901" y="629412"/>
                  </a:lnTo>
                  <a:lnTo>
                    <a:pt x="64079" y="621164"/>
                  </a:lnTo>
                  <a:lnTo>
                    <a:pt x="30733" y="598678"/>
                  </a:lnTo>
                  <a:lnTo>
                    <a:pt x="8247" y="565332"/>
                  </a:lnTo>
                  <a:lnTo>
                    <a:pt x="0" y="524510"/>
                  </a:lnTo>
                  <a:lnTo>
                    <a:pt x="0" y="104902"/>
                  </a:lnTo>
                  <a:close/>
                </a:path>
              </a:pathLst>
            </a:custGeom>
            <a:ln w="12191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34339" y="819658"/>
            <a:ext cx="7510780" cy="5253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292100" indent="-274955">
              <a:lnSpc>
                <a:spcPct val="100000"/>
              </a:lnSpc>
              <a:spcBef>
                <a:spcPts val="95"/>
              </a:spcBef>
              <a:buClr>
                <a:srgbClr val="D24717"/>
              </a:buClr>
              <a:buSzPct val="84000"/>
              <a:buFont typeface="Arial" panose="020B0604020202020204"/>
              <a:buChar char=""/>
              <a:tabLst>
                <a:tab pos="287655" algn="l"/>
              </a:tabLst>
            </a:pPr>
            <a:r>
              <a:rPr sz="2800" spc="-110" dirty="0">
                <a:latin typeface="Times New Roman" panose="02020603050405020304"/>
                <a:cs typeface="Times New Roman" panose="02020603050405020304"/>
              </a:rPr>
              <a:t>where </a:t>
            </a:r>
            <a:r>
              <a:rPr sz="280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800" spc="-150" dirty="0">
                <a:latin typeface="Times New Roman" panose="02020603050405020304"/>
                <a:cs typeface="Times New Roman" panose="02020603050405020304"/>
              </a:rPr>
              <a:t>beginning </a:t>
            </a:r>
            <a:r>
              <a:rPr sz="2800" spc="-16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80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800" spc="-140" dirty="0">
                <a:latin typeface="Times New Roman" panose="02020603050405020304"/>
                <a:cs typeface="Times New Roman" panose="02020603050405020304"/>
              </a:rPr>
              <a:t>array </a:t>
            </a:r>
            <a:r>
              <a:rPr sz="2800" spc="-18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800" spc="-110" dirty="0">
                <a:latin typeface="Times New Roman" panose="02020603050405020304"/>
                <a:cs typeface="Times New Roman" panose="02020603050405020304"/>
              </a:rPr>
              <a:t>at </a:t>
            </a:r>
            <a:r>
              <a:rPr sz="2800" spc="-155" dirty="0">
                <a:latin typeface="Times New Roman" panose="02020603050405020304"/>
                <a:cs typeface="Times New Roman" panose="02020603050405020304"/>
              </a:rPr>
              <a:t>some </a:t>
            </a:r>
            <a:r>
              <a:rPr sz="2800" spc="-125" dirty="0">
                <a:latin typeface="Times New Roman" panose="02020603050405020304"/>
                <a:cs typeface="Times New Roman" panose="02020603050405020304"/>
              </a:rPr>
              <a:t>location </a:t>
            </a:r>
            <a:r>
              <a:rPr sz="2800" spc="-325" dirty="0">
                <a:latin typeface="Times New Roman" panose="02020603050405020304"/>
                <a:cs typeface="Times New Roman" panose="02020603050405020304"/>
              </a:rPr>
              <a:t>in  </a:t>
            </a:r>
            <a:r>
              <a:rPr sz="2800" spc="-90" dirty="0">
                <a:latin typeface="Times New Roman" panose="02020603050405020304"/>
                <a:cs typeface="Times New Roman" panose="02020603050405020304"/>
              </a:rPr>
              <a:t>computer </a:t>
            </a:r>
            <a:r>
              <a:rPr sz="2800" spc="-135" dirty="0">
                <a:latin typeface="Times New Roman" panose="02020603050405020304"/>
                <a:cs typeface="Times New Roman" panose="02020603050405020304"/>
              </a:rPr>
              <a:t>memory, </a:t>
            </a:r>
            <a:r>
              <a:rPr sz="2800" spc="-100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2800" spc="-114" dirty="0">
                <a:latin typeface="Times New Roman" panose="02020603050405020304"/>
                <a:cs typeface="Times New Roman" panose="02020603050405020304"/>
              </a:rPr>
              <a:t>example, </a:t>
            </a:r>
            <a:r>
              <a:rPr sz="2800" spc="-125" dirty="0">
                <a:latin typeface="Times New Roman" panose="02020603050405020304"/>
                <a:cs typeface="Times New Roman" panose="02020603050405020304"/>
              </a:rPr>
              <a:t>location</a:t>
            </a:r>
            <a:r>
              <a:rPr sz="280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75" dirty="0">
                <a:latin typeface="Times New Roman" panose="02020603050405020304"/>
                <a:cs typeface="Times New Roman" panose="02020603050405020304"/>
              </a:rPr>
              <a:t>1000.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287020" indent="-274955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000"/>
              <a:buFont typeface="Arial" panose="020B0604020202020204"/>
              <a:buChar char=""/>
              <a:tabLst>
                <a:tab pos="287655" algn="l"/>
              </a:tabLst>
            </a:pPr>
            <a:r>
              <a:rPr sz="2800" spc="-36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800" spc="-105" dirty="0">
                <a:latin typeface="Times New Roman" panose="02020603050405020304"/>
                <a:cs typeface="Times New Roman" panose="02020603050405020304"/>
              </a:rPr>
              <a:t>character </a:t>
            </a:r>
            <a:r>
              <a:rPr sz="2800" spc="-135" dirty="0">
                <a:latin typeface="Times New Roman" panose="02020603050405020304"/>
                <a:cs typeface="Times New Roman" panose="02020603050405020304"/>
              </a:rPr>
              <a:t>array </a:t>
            </a:r>
            <a:r>
              <a:rPr sz="2800" spc="-170" dirty="0">
                <a:latin typeface="Times New Roman" panose="02020603050405020304"/>
                <a:cs typeface="Times New Roman" panose="02020603050405020304"/>
              </a:rPr>
              <a:t>can </a:t>
            </a:r>
            <a:r>
              <a:rPr sz="2800" spc="-225" dirty="0">
                <a:latin typeface="Times New Roman" panose="02020603050405020304"/>
                <a:cs typeface="Times New Roman" panose="02020603050405020304"/>
              </a:rPr>
              <a:t>have </a:t>
            </a:r>
            <a:r>
              <a:rPr sz="2800" spc="-100" dirty="0">
                <a:latin typeface="Times New Roman" panose="02020603050405020304"/>
                <a:cs typeface="Times New Roman" panose="02020603050405020304"/>
              </a:rPr>
              <a:t>more </a:t>
            </a:r>
            <a:r>
              <a:rPr sz="2800" spc="-110" dirty="0">
                <a:latin typeface="Times New Roman" panose="02020603050405020304"/>
                <a:cs typeface="Times New Roman" panose="02020603050405020304"/>
              </a:rPr>
              <a:t>characters </a:t>
            </a:r>
            <a:r>
              <a:rPr sz="2800" spc="-120" dirty="0">
                <a:latin typeface="Times New Roman" panose="02020603050405020304"/>
                <a:cs typeface="Times New Roman" panose="02020603050405020304"/>
              </a:rPr>
              <a:t>than</a:t>
            </a:r>
            <a:r>
              <a:rPr sz="280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85" dirty="0">
                <a:latin typeface="Times New Roman" panose="02020603050405020304"/>
                <a:cs typeface="Times New Roman" panose="02020603050405020304"/>
              </a:rPr>
              <a:t>the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287020">
              <a:lnSpc>
                <a:spcPct val="100000"/>
              </a:lnSpc>
            </a:pPr>
            <a:r>
              <a:rPr sz="2800" i="1" spc="-285" dirty="0">
                <a:latin typeface="Times New Roman" panose="02020603050405020304"/>
                <a:cs typeface="Times New Roman" panose="02020603050405020304"/>
              </a:rPr>
              <a:t>abstract </a:t>
            </a:r>
            <a:r>
              <a:rPr sz="2800" i="1" spc="-229" dirty="0">
                <a:latin typeface="Times New Roman" panose="02020603050405020304"/>
                <a:cs typeface="Times New Roman" panose="02020603050405020304"/>
              </a:rPr>
              <a:t>string </a:t>
            </a:r>
            <a:r>
              <a:rPr sz="2800" spc="-130" dirty="0">
                <a:latin typeface="Times New Roman" panose="02020603050405020304"/>
                <a:cs typeface="Times New Roman" panose="02020603050405020304"/>
              </a:rPr>
              <a:t>held </a:t>
            </a:r>
            <a:r>
              <a:rPr sz="2800" spc="-135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it, </a:t>
            </a:r>
            <a:r>
              <a:rPr sz="2800" spc="-225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2800" spc="-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14" dirty="0">
                <a:latin typeface="Times New Roman" panose="02020603050405020304"/>
                <a:cs typeface="Times New Roman" panose="02020603050405020304"/>
              </a:rPr>
              <a:t>below: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287020" indent="-274955">
              <a:lnSpc>
                <a:spcPct val="100000"/>
              </a:lnSpc>
              <a:spcBef>
                <a:spcPts val="595"/>
              </a:spcBef>
              <a:buClr>
                <a:srgbClr val="D24717"/>
              </a:buClr>
              <a:buSzPct val="84000"/>
              <a:buFont typeface="Arial" panose="020B0604020202020204"/>
              <a:buChar char=""/>
              <a:tabLst>
                <a:tab pos="287655" algn="l"/>
              </a:tabLst>
            </a:pPr>
            <a:r>
              <a:rPr sz="2800" spc="-120" dirty="0">
                <a:latin typeface="Times New Roman" panose="02020603050405020304"/>
                <a:cs typeface="Times New Roman" panose="02020603050405020304"/>
              </a:rPr>
              <a:t>char </a:t>
            </a:r>
            <a:r>
              <a:rPr sz="2800" spc="-155" dirty="0">
                <a:latin typeface="Times New Roman" panose="02020603050405020304"/>
                <a:cs typeface="Times New Roman" panose="02020603050405020304"/>
              </a:rPr>
              <a:t>label[10] </a:t>
            </a:r>
            <a:r>
              <a:rPr sz="2800" spc="285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2800" spc="-125" dirty="0">
                <a:latin typeface="Times New Roman" panose="02020603050405020304"/>
                <a:cs typeface="Times New Roman" panose="02020603050405020304"/>
              </a:rPr>
              <a:t>"Single"; </a:t>
            </a:r>
            <a:r>
              <a:rPr sz="2800" spc="-180" dirty="0">
                <a:latin typeface="Times New Roman" panose="02020603050405020304"/>
                <a:cs typeface="Times New Roman" panose="02020603050405020304"/>
              </a:rPr>
              <a:t>giving </a:t>
            </a:r>
            <a:r>
              <a:rPr sz="2800" spc="-175" dirty="0">
                <a:latin typeface="Times New Roman" panose="02020603050405020304"/>
                <a:cs typeface="Times New Roman" panose="02020603050405020304"/>
              </a:rPr>
              <a:t>an </a:t>
            </a:r>
            <a:r>
              <a:rPr sz="2800" spc="-135" dirty="0">
                <a:latin typeface="Times New Roman" panose="02020603050405020304"/>
                <a:cs typeface="Times New Roman" panose="02020603050405020304"/>
              </a:rPr>
              <a:t>array </a:t>
            </a:r>
            <a:r>
              <a:rPr sz="2800" spc="-90" dirty="0">
                <a:latin typeface="Times New Roman" panose="02020603050405020304"/>
                <a:cs typeface="Times New Roman" panose="02020603050405020304"/>
              </a:rPr>
              <a:t>that </a:t>
            </a:r>
            <a:r>
              <a:rPr sz="2800" spc="-155" dirty="0">
                <a:latin typeface="Times New Roman" panose="02020603050405020304"/>
                <a:cs typeface="Times New Roman" panose="02020603050405020304"/>
              </a:rPr>
              <a:t>looks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70" dirty="0">
                <a:latin typeface="Times New Roman" panose="02020603050405020304"/>
                <a:cs typeface="Times New Roman" panose="02020603050405020304"/>
              </a:rPr>
              <a:t>like: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D24717"/>
              </a:buClr>
              <a:buFont typeface="Arial" panose="020B0604020202020204"/>
              <a:buChar char=""/>
            </a:pPr>
            <a:endParaRPr sz="4100">
              <a:latin typeface="Times New Roman" panose="02020603050405020304"/>
              <a:cs typeface="Times New Roman" panose="02020603050405020304"/>
            </a:endParaRPr>
          </a:p>
          <a:p>
            <a:pPr marL="737235">
              <a:lnSpc>
                <a:spcPct val="100000"/>
              </a:lnSpc>
              <a:tabLst>
                <a:tab pos="1408430" algn="l"/>
                <a:tab pos="2101215" algn="l"/>
                <a:tab pos="2825750" algn="l"/>
                <a:tab pos="3566795" algn="l"/>
                <a:tab pos="4267835" algn="l"/>
                <a:tab pos="4925060" algn="l"/>
              </a:tabLst>
            </a:pPr>
            <a:r>
              <a:rPr sz="1800" spc="-2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	</a:t>
            </a:r>
            <a:r>
              <a:rPr sz="1800" spc="-9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	</a:t>
            </a:r>
            <a:r>
              <a:rPr sz="1800" spc="-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n	</a:t>
            </a:r>
            <a:r>
              <a:rPr sz="1800" spc="-1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g	</a:t>
            </a:r>
            <a:r>
              <a:rPr sz="1800" spc="-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l	e	</a:t>
            </a:r>
            <a:r>
              <a:rPr sz="1800" spc="16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\0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287020" marR="52070" indent="-274955">
              <a:lnSpc>
                <a:spcPct val="100000"/>
              </a:lnSpc>
              <a:spcBef>
                <a:spcPts val="1635"/>
              </a:spcBef>
              <a:buClr>
                <a:srgbClr val="D24717"/>
              </a:buClr>
              <a:buSzPct val="84000"/>
              <a:buFont typeface="Arial" panose="020B0604020202020204"/>
              <a:buChar char=""/>
              <a:tabLst>
                <a:tab pos="287655" algn="l"/>
              </a:tabLst>
            </a:pPr>
            <a:r>
              <a:rPr sz="2800" spc="-190" dirty="0">
                <a:latin typeface="Times New Roman" panose="02020603050405020304"/>
                <a:cs typeface="Times New Roman" panose="02020603050405020304"/>
              </a:rPr>
              <a:t>we </a:t>
            </a:r>
            <a:r>
              <a:rPr sz="2800" spc="-170" dirty="0">
                <a:latin typeface="Times New Roman" panose="02020603050405020304"/>
                <a:cs typeface="Times New Roman" panose="02020603050405020304"/>
              </a:rPr>
              <a:t>can </a:t>
            </a:r>
            <a:r>
              <a:rPr sz="2800" spc="-185" dirty="0">
                <a:latin typeface="Times New Roman" panose="02020603050405020304"/>
                <a:cs typeface="Times New Roman" panose="02020603050405020304"/>
              </a:rPr>
              <a:t>access </a:t>
            </a:r>
            <a:r>
              <a:rPr sz="2800" spc="-155" dirty="0">
                <a:latin typeface="Times New Roman" panose="02020603050405020304"/>
                <a:cs typeface="Times New Roman" panose="02020603050405020304"/>
              </a:rPr>
              <a:t>each </a:t>
            </a:r>
            <a:r>
              <a:rPr sz="2800" spc="-105" dirty="0">
                <a:latin typeface="Times New Roman" panose="02020603050405020304"/>
                <a:cs typeface="Times New Roman" panose="02020603050405020304"/>
              </a:rPr>
              <a:t>character </a:t>
            </a:r>
            <a:r>
              <a:rPr sz="2800" spc="-130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280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800" spc="-140" dirty="0">
                <a:latin typeface="Times New Roman" panose="02020603050405020304"/>
                <a:cs typeface="Times New Roman" panose="02020603050405020304"/>
              </a:rPr>
              <a:t>array </a:t>
            </a:r>
            <a:r>
              <a:rPr sz="2800" spc="-165" dirty="0">
                <a:latin typeface="Times New Roman" panose="02020603050405020304"/>
                <a:cs typeface="Times New Roman" panose="02020603050405020304"/>
              </a:rPr>
              <a:t>using </a:t>
            </a:r>
            <a:r>
              <a:rPr sz="2800" spc="-160" dirty="0">
                <a:latin typeface="Times New Roman" panose="02020603050405020304"/>
                <a:cs typeface="Times New Roman" panose="02020603050405020304"/>
              </a:rPr>
              <a:t>subscript  </a:t>
            </a:r>
            <a:r>
              <a:rPr sz="2800" spc="-75" dirty="0">
                <a:latin typeface="Times New Roman" panose="02020603050405020304"/>
                <a:cs typeface="Times New Roman" panose="02020603050405020304"/>
              </a:rPr>
              <a:t>notation, </a:t>
            </a:r>
            <a:r>
              <a:rPr sz="2800" spc="-220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2800" spc="-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75" dirty="0">
                <a:latin typeface="Times New Roman" panose="02020603050405020304"/>
                <a:cs typeface="Times New Roman" panose="02020603050405020304"/>
              </a:rPr>
              <a:t>in: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ct val="100000"/>
              </a:lnSpc>
              <a:spcBef>
                <a:spcPts val="605"/>
              </a:spcBef>
            </a:pPr>
            <a:r>
              <a:rPr sz="2800" spc="-85" dirty="0">
                <a:latin typeface="Times New Roman" panose="02020603050405020304"/>
                <a:cs typeface="Times New Roman" panose="02020603050405020304"/>
              </a:rPr>
              <a:t>printf("Third </a:t>
            </a:r>
            <a:r>
              <a:rPr sz="2800" spc="-120" dirty="0">
                <a:latin typeface="Times New Roman" panose="02020603050405020304"/>
                <a:cs typeface="Times New Roman" panose="02020603050405020304"/>
              </a:rPr>
              <a:t>char </a:t>
            </a:r>
            <a:r>
              <a:rPr sz="2800" spc="-105" dirty="0">
                <a:latin typeface="Times New Roman" panose="02020603050405020304"/>
                <a:cs typeface="Times New Roman" panose="02020603050405020304"/>
              </a:rPr>
              <a:t>is: </a:t>
            </a:r>
            <a:r>
              <a:rPr sz="2800" spc="35" dirty="0">
                <a:latin typeface="Times New Roman" panose="02020603050405020304"/>
                <a:cs typeface="Times New Roman" panose="02020603050405020304"/>
              </a:rPr>
              <a:t>%c\n",</a:t>
            </a:r>
            <a:r>
              <a:rPr sz="2800" spc="-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25" dirty="0">
                <a:latin typeface="Times New Roman" panose="02020603050405020304"/>
                <a:cs typeface="Times New Roman" panose="02020603050405020304"/>
              </a:rPr>
              <a:t>label[2]);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287020" indent="-27495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000"/>
              <a:buFont typeface="Arial" panose="020B0604020202020204"/>
              <a:buChar char=""/>
              <a:tabLst>
                <a:tab pos="287655" algn="l"/>
              </a:tabLst>
            </a:pPr>
            <a:r>
              <a:rPr sz="2800" spc="-155" dirty="0">
                <a:latin typeface="Times New Roman" panose="02020603050405020304"/>
                <a:cs typeface="Times New Roman" panose="02020603050405020304"/>
              </a:rPr>
              <a:t>which </a:t>
            </a:r>
            <a:r>
              <a:rPr sz="2800" spc="-80" dirty="0">
                <a:latin typeface="Times New Roman" panose="02020603050405020304"/>
                <a:cs typeface="Times New Roman" panose="02020603050405020304"/>
              </a:rPr>
              <a:t>prints </a:t>
            </a:r>
            <a:r>
              <a:rPr sz="2800" spc="-70" dirty="0">
                <a:latin typeface="Times New Roman" panose="02020603050405020304"/>
                <a:cs typeface="Times New Roman" panose="02020603050405020304"/>
              </a:rPr>
              <a:t>out </a:t>
            </a:r>
            <a:r>
              <a:rPr sz="280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800" spc="-75" dirty="0">
                <a:latin typeface="Times New Roman" panose="02020603050405020304"/>
                <a:cs typeface="Times New Roman" panose="02020603050405020304"/>
              </a:rPr>
              <a:t>third </a:t>
            </a:r>
            <a:r>
              <a:rPr sz="2800" spc="-105" dirty="0">
                <a:latin typeface="Times New Roman" panose="02020603050405020304"/>
                <a:cs typeface="Times New Roman" panose="02020603050405020304"/>
              </a:rPr>
              <a:t>character, </a:t>
            </a:r>
            <a:r>
              <a:rPr sz="2800" b="1" spc="6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spc="60" dirty="0">
                <a:latin typeface="Times New Roman" panose="02020603050405020304"/>
                <a:cs typeface="Times New Roman" panose="02020603050405020304"/>
              </a:rPr>
              <a:t>.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24015" y="3566159"/>
            <a:ext cx="2170430" cy="641985"/>
            <a:chOff x="6224015" y="3566159"/>
            <a:chExt cx="2170430" cy="641985"/>
          </a:xfrm>
        </p:grpSpPr>
        <p:sp>
          <p:nvSpPr>
            <p:cNvPr id="20" name="object 20"/>
            <p:cNvSpPr/>
            <p:nvPr/>
          </p:nvSpPr>
          <p:spPr>
            <a:xfrm>
              <a:off x="6230111" y="3572255"/>
              <a:ext cx="718185" cy="629920"/>
            </a:xfrm>
            <a:custGeom>
              <a:avLst/>
              <a:gdLst/>
              <a:ahLst/>
              <a:cxnLst/>
              <a:rect l="l" t="t" r="r" b="b"/>
              <a:pathLst>
                <a:path w="718184" h="629920">
                  <a:moveTo>
                    <a:pt x="612902" y="0"/>
                  </a:moveTo>
                  <a:lnTo>
                    <a:pt x="104901" y="0"/>
                  </a:lnTo>
                  <a:lnTo>
                    <a:pt x="64079" y="8247"/>
                  </a:lnTo>
                  <a:lnTo>
                    <a:pt x="30734" y="30734"/>
                  </a:lnTo>
                  <a:lnTo>
                    <a:pt x="8247" y="64079"/>
                  </a:lnTo>
                  <a:lnTo>
                    <a:pt x="0" y="104902"/>
                  </a:lnTo>
                  <a:lnTo>
                    <a:pt x="0" y="524510"/>
                  </a:lnTo>
                  <a:lnTo>
                    <a:pt x="8247" y="565332"/>
                  </a:lnTo>
                  <a:lnTo>
                    <a:pt x="30733" y="598678"/>
                  </a:lnTo>
                  <a:lnTo>
                    <a:pt x="64079" y="621164"/>
                  </a:lnTo>
                  <a:lnTo>
                    <a:pt x="104901" y="629412"/>
                  </a:lnTo>
                  <a:lnTo>
                    <a:pt x="612902" y="629412"/>
                  </a:lnTo>
                  <a:lnTo>
                    <a:pt x="653724" y="621164"/>
                  </a:lnTo>
                  <a:lnTo>
                    <a:pt x="687070" y="598678"/>
                  </a:lnTo>
                  <a:lnTo>
                    <a:pt x="709556" y="565332"/>
                  </a:lnTo>
                  <a:lnTo>
                    <a:pt x="717804" y="524510"/>
                  </a:lnTo>
                  <a:lnTo>
                    <a:pt x="717804" y="104902"/>
                  </a:lnTo>
                  <a:lnTo>
                    <a:pt x="709556" y="64079"/>
                  </a:lnTo>
                  <a:lnTo>
                    <a:pt x="687070" y="30734"/>
                  </a:lnTo>
                  <a:lnTo>
                    <a:pt x="653724" y="8247"/>
                  </a:lnTo>
                  <a:lnTo>
                    <a:pt x="612902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230111" y="3572255"/>
              <a:ext cx="718185" cy="629920"/>
            </a:xfrm>
            <a:custGeom>
              <a:avLst/>
              <a:gdLst/>
              <a:ahLst/>
              <a:cxnLst/>
              <a:rect l="l" t="t" r="r" b="b"/>
              <a:pathLst>
                <a:path w="718184" h="629920">
                  <a:moveTo>
                    <a:pt x="0" y="104902"/>
                  </a:moveTo>
                  <a:lnTo>
                    <a:pt x="8247" y="64079"/>
                  </a:lnTo>
                  <a:lnTo>
                    <a:pt x="30734" y="30734"/>
                  </a:lnTo>
                  <a:lnTo>
                    <a:pt x="64079" y="8247"/>
                  </a:lnTo>
                  <a:lnTo>
                    <a:pt x="104901" y="0"/>
                  </a:lnTo>
                  <a:lnTo>
                    <a:pt x="612902" y="0"/>
                  </a:lnTo>
                  <a:lnTo>
                    <a:pt x="653724" y="8247"/>
                  </a:lnTo>
                  <a:lnTo>
                    <a:pt x="687070" y="30734"/>
                  </a:lnTo>
                  <a:lnTo>
                    <a:pt x="709556" y="64079"/>
                  </a:lnTo>
                  <a:lnTo>
                    <a:pt x="717804" y="104902"/>
                  </a:lnTo>
                  <a:lnTo>
                    <a:pt x="717804" y="524510"/>
                  </a:lnTo>
                  <a:lnTo>
                    <a:pt x="709556" y="565332"/>
                  </a:lnTo>
                  <a:lnTo>
                    <a:pt x="687070" y="598678"/>
                  </a:lnTo>
                  <a:lnTo>
                    <a:pt x="653724" y="621164"/>
                  </a:lnTo>
                  <a:lnTo>
                    <a:pt x="612902" y="629412"/>
                  </a:lnTo>
                  <a:lnTo>
                    <a:pt x="104901" y="629412"/>
                  </a:lnTo>
                  <a:lnTo>
                    <a:pt x="64079" y="621164"/>
                  </a:lnTo>
                  <a:lnTo>
                    <a:pt x="30733" y="598678"/>
                  </a:lnTo>
                  <a:lnTo>
                    <a:pt x="8247" y="565332"/>
                  </a:lnTo>
                  <a:lnTo>
                    <a:pt x="0" y="524510"/>
                  </a:lnTo>
                  <a:lnTo>
                    <a:pt x="0" y="104902"/>
                  </a:lnTo>
                  <a:close/>
                </a:path>
              </a:pathLst>
            </a:custGeom>
            <a:ln w="12192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950963" y="3572255"/>
              <a:ext cx="718185" cy="629920"/>
            </a:xfrm>
            <a:custGeom>
              <a:avLst/>
              <a:gdLst/>
              <a:ahLst/>
              <a:cxnLst/>
              <a:rect l="l" t="t" r="r" b="b"/>
              <a:pathLst>
                <a:path w="718184" h="629920">
                  <a:moveTo>
                    <a:pt x="612901" y="0"/>
                  </a:moveTo>
                  <a:lnTo>
                    <a:pt x="104901" y="0"/>
                  </a:lnTo>
                  <a:lnTo>
                    <a:pt x="64079" y="8247"/>
                  </a:lnTo>
                  <a:lnTo>
                    <a:pt x="30733" y="30734"/>
                  </a:lnTo>
                  <a:lnTo>
                    <a:pt x="8247" y="64079"/>
                  </a:lnTo>
                  <a:lnTo>
                    <a:pt x="0" y="104902"/>
                  </a:lnTo>
                  <a:lnTo>
                    <a:pt x="0" y="524510"/>
                  </a:lnTo>
                  <a:lnTo>
                    <a:pt x="8247" y="565332"/>
                  </a:lnTo>
                  <a:lnTo>
                    <a:pt x="30733" y="598678"/>
                  </a:lnTo>
                  <a:lnTo>
                    <a:pt x="64079" y="621164"/>
                  </a:lnTo>
                  <a:lnTo>
                    <a:pt x="104901" y="629412"/>
                  </a:lnTo>
                  <a:lnTo>
                    <a:pt x="612901" y="629412"/>
                  </a:lnTo>
                  <a:lnTo>
                    <a:pt x="653724" y="621164"/>
                  </a:lnTo>
                  <a:lnTo>
                    <a:pt x="687070" y="598678"/>
                  </a:lnTo>
                  <a:lnTo>
                    <a:pt x="709556" y="565332"/>
                  </a:lnTo>
                  <a:lnTo>
                    <a:pt x="717803" y="524510"/>
                  </a:lnTo>
                  <a:lnTo>
                    <a:pt x="717803" y="104902"/>
                  </a:lnTo>
                  <a:lnTo>
                    <a:pt x="709556" y="64079"/>
                  </a:lnTo>
                  <a:lnTo>
                    <a:pt x="687070" y="30734"/>
                  </a:lnTo>
                  <a:lnTo>
                    <a:pt x="653724" y="8247"/>
                  </a:lnTo>
                  <a:lnTo>
                    <a:pt x="612901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950963" y="3572255"/>
              <a:ext cx="718185" cy="629920"/>
            </a:xfrm>
            <a:custGeom>
              <a:avLst/>
              <a:gdLst/>
              <a:ahLst/>
              <a:cxnLst/>
              <a:rect l="l" t="t" r="r" b="b"/>
              <a:pathLst>
                <a:path w="718184" h="629920">
                  <a:moveTo>
                    <a:pt x="0" y="104902"/>
                  </a:moveTo>
                  <a:lnTo>
                    <a:pt x="8247" y="64079"/>
                  </a:lnTo>
                  <a:lnTo>
                    <a:pt x="30733" y="30734"/>
                  </a:lnTo>
                  <a:lnTo>
                    <a:pt x="64079" y="8247"/>
                  </a:lnTo>
                  <a:lnTo>
                    <a:pt x="104901" y="0"/>
                  </a:lnTo>
                  <a:lnTo>
                    <a:pt x="612901" y="0"/>
                  </a:lnTo>
                  <a:lnTo>
                    <a:pt x="653724" y="8247"/>
                  </a:lnTo>
                  <a:lnTo>
                    <a:pt x="687070" y="30734"/>
                  </a:lnTo>
                  <a:lnTo>
                    <a:pt x="709556" y="64079"/>
                  </a:lnTo>
                  <a:lnTo>
                    <a:pt x="717803" y="104902"/>
                  </a:lnTo>
                  <a:lnTo>
                    <a:pt x="717803" y="524510"/>
                  </a:lnTo>
                  <a:lnTo>
                    <a:pt x="709556" y="565332"/>
                  </a:lnTo>
                  <a:lnTo>
                    <a:pt x="687070" y="598678"/>
                  </a:lnTo>
                  <a:lnTo>
                    <a:pt x="653724" y="621164"/>
                  </a:lnTo>
                  <a:lnTo>
                    <a:pt x="612901" y="629412"/>
                  </a:lnTo>
                  <a:lnTo>
                    <a:pt x="104901" y="629412"/>
                  </a:lnTo>
                  <a:lnTo>
                    <a:pt x="64079" y="621164"/>
                  </a:lnTo>
                  <a:lnTo>
                    <a:pt x="30733" y="598678"/>
                  </a:lnTo>
                  <a:lnTo>
                    <a:pt x="8247" y="565332"/>
                  </a:lnTo>
                  <a:lnTo>
                    <a:pt x="0" y="524510"/>
                  </a:lnTo>
                  <a:lnTo>
                    <a:pt x="0" y="104902"/>
                  </a:lnTo>
                  <a:close/>
                </a:path>
              </a:pathLst>
            </a:custGeom>
            <a:ln w="12191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670291" y="3572255"/>
              <a:ext cx="718185" cy="629920"/>
            </a:xfrm>
            <a:custGeom>
              <a:avLst/>
              <a:gdLst/>
              <a:ahLst/>
              <a:cxnLst/>
              <a:rect l="l" t="t" r="r" b="b"/>
              <a:pathLst>
                <a:path w="718184" h="629920">
                  <a:moveTo>
                    <a:pt x="612901" y="0"/>
                  </a:moveTo>
                  <a:lnTo>
                    <a:pt x="104901" y="0"/>
                  </a:lnTo>
                  <a:lnTo>
                    <a:pt x="64079" y="8247"/>
                  </a:lnTo>
                  <a:lnTo>
                    <a:pt x="30733" y="30734"/>
                  </a:lnTo>
                  <a:lnTo>
                    <a:pt x="8247" y="64079"/>
                  </a:lnTo>
                  <a:lnTo>
                    <a:pt x="0" y="104902"/>
                  </a:lnTo>
                  <a:lnTo>
                    <a:pt x="0" y="524510"/>
                  </a:lnTo>
                  <a:lnTo>
                    <a:pt x="8247" y="565332"/>
                  </a:lnTo>
                  <a:lnTo>
                    <a:pt x="30733" y="598678"/>
                  </a:lnTo>
                  <a:lnTo>
                    <a:pt x="64079" y="621164"/>
                  </a:lnTo>
                  <a:lnTo>
                    <a:pt x="104901" y="629412"/>
                  </a:lnTo>
                  <a:lnTo>
                    <a:pt x="612901" y="629412"/>
                  </a:lnTo>
                  <a:lnTo>
                    <a:pt x="653724" y="621164"/>
                  </a:lnTo>
                  <a:lnTo>
                    <a:pt x="687070" y="598678"/>
                  </a:lnTo>
                  <a:lnTo>
                    <a:pt x="709556" y="565332"/>
                  </a:lnTo>
                  <a:lnTo>
                    <a:pt x="717803" y="524510"/>
                  </a:lnTo>
                  <a:lnTo>
                    <a:pt x="717803" y="104902"/>
                  </a:lnTo>
                  <a:lnTo>
                    <a:pt x="709556" y="64079"/>
                  </a:lnTo>
                  <a:lnTo>
                    <a:pt x="687070" y="30734"/>
                  </a:lnTo>
                  <a:lnTo>
                    <a:pt x="653724" y="8247"/>
                  </a:lnTo>
                  <a:lnTo>
                    <a:pt x="612901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670291" y="3572255"/>
              <a:ext cx="718185" cy="629920"/>
            </a:xfrm>
            <a:custGeom>
              <a:avLst/>
              <a:gdLst/>
              <a:ahLst/>
              <a:cxnLst/>
              <a:rect l="l" t="t" r="r" b="b"/>
              <a:pathLst>
                <a:path w="718184" h="629920">
                  <a:moveTo>
                    <a:pt x="0" y="104902"/>
                  </a:moveTo>
                  <a:lnTo>
                    <a:pt x="8247" y="64079"/>
                  </a:lnTo>
                  <a:lnTo>
                    <a:pt x="30733" y="30734"/>
                  </a:lnTo>
                  <a:lnTo>
                    <a:pt x="64079" y="8247"/>
                  </a:lnTo>
                  <a:lnTo>
                    <a:pt x="104901" y="0"/>
                  </a:lnTo>
                  <a:lnTo>
                    <a:pt x="612901" y="0"/>
                  </a:lnTo>
                  <a:lnTo>
                    <a:pt x="653724" y="8247"/>
                  </a:lnTo>
                  <a:lnTo>
                    <a:pt x="687070" y="30734"/>
                  </a:lnTo>
                  <a:lnTo>
                    <a:pt x="709556" y="64079"/>
                  </a:lnTo>
                  <a:lnTo>
                    <a:pt x="717803" y="104902"/>
                  </a:lnTo>
                  <a:lnTo>
                    <a:pt x="717803" y="524510"/>
                  </a:lnTo>
                  <a:lnTo>
                    <a:pt x="709556" y="565332"/>
                  </a:lnTo>
                  <a:lnTo>
                    <a:pt x="687070" y="598678"/>
                  </a:lnTo>
                  <a:lnTo>
                    <a:pt x="653724" y="621164"/>
                  </a:lnTo>
                  <a:lnTo>
                    <a:pt x="612901" y="629412"/>
                  </a:lnTo>
                  <a:lnTo>
                    <a:pt x="104901" y="629412"/>
                  </a:lnTo>
                  <a:lnTo>
                    <a:pt x="64079" y="621164"/>
                  </a:lnTo>
                  <a:lnTo>
                    <a:pt x="30733" y="598678"/>
                  </a:lnTo>
                  <a:lnTo>
                    <a:pt x="8247" y="565332"/>
                  </a:lnTo>
                  <a:lnTo>
                    <a:pt x="0" y="524510"/>
                  </a:lnTo>
                  <a:lnTo>
                    <a:pt x="0" y="104902"/>
                  </a:lnTo>
                  <a:close/>
                </a:path>
              </a:pathLst>
            </a:custGeom>
            <a:ln w="12191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940" y="0"/>
            <a:ext cx="7291070" cy="1120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0" marR="5080">
              <a:lnSpc>
                <a:spcPct val="100000"/>
              </a:lnSpc>
              <a:spcBef>
                <a:spcPts val="100"/>
              </a:spcBef>
            </a:pPr>
            <a:r>
              <a:rPr sz="3600" spc="-45" dirty="0"/>
              <a:t>Disadvantage </a:t>
            </a:r>
            <a:r>
              <a:rPr sz="3600" spc="-204" dirty="0"/>
              <a:t>Of </a:t>
            </a:r>
            <a:r>
              <a:rPr sz="3600" spc="-114" dirty="0"/>
              <a:t>Creating </a:t>
            </a:r>
            <a:r>
              <a:rPr sz="3600" spc="-35" dirty="0"/>
              <a:t>Strings</a:t>
            </a:r>
            <a:r>
              <a:rPr sz="3600" spc="-535" dirty="0"/>
              <a:t> </a:t>
            </a:r>
            <a:r>
              <a:rPr sz="3600" spc="-35" dirty="0"/>
              <a:t>Using  </a:t>
            </a:r>
            <a:r>
              <a:rPr sz="3600" spc="-150" dirty="0"/>
              <a:t>The </a:t>
            </a:r>
            <a:r>
              <a:rPr sz="3600" spc="-120" dirty="0"/>
              <a:t>Character</a:t>
            </a:r>
            <a:r>
              <a:rPr sz="3600" spc="-280" dirty="0"/>
              <a:t> </a:t>
            </a:r>
            <a:r>
              <a:rPr sz="3600" spc="-195" dirty="0"/>
              <a:t>Array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34339" y="1433830"/>
            <a:ext cx="7812405" cy="4640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marR="5080" indent="-274955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337185" algn="l"/>
                <a:tab pos="337820" algn="l"/>
              </a:tabLst>
            </a:pPr>
            <a:r>
              <a:rPr dirty="0"/>
              <a:t>	</a:t>
            </a:r>
            <a:r>
              <a:rPr sz="2600" spc="-33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disadvantage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creating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strings </a:t>
            </a:r>
            <a:r>
              <a:rPr sz="2600" spc="-155" dirty="0">
                <a:latin typeface="Times New Roman" panose="02020603050405020304"/>
                <a:cs typeface="Times New Roman" panose="02020603050405020304"/>
              </a:rPr>
              <a:t>using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95" dirty="0">
                <a:latin typeface="Times New Roman" panose="02020603050405020304"/>
                <a:cs typeface="Times New Roman" panose="02020603050405020304"/>
              </a:rPr>
              <a:t>character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array  </a:t>
            </a:r>
            <a:r>
              <a:rPr sz="2600" i="1" spc="-229" dirty="0">
                <a:latin typeface="Times New Roman" panose="02020603050405020304"/>
                <a:cs typeface="Times New Roman" panose="02020603050405020304"/>
              </a:rPr>
              <a:t>syntax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that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you </a:t>
            </a: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must </a:t>
            </a:r>
            <a:r>
              <a:rPr sz="2600" spc="-240" dirty="0">
                <a:latin typeface="Times New Roman" panose="02020603050405020304"/>
                <a:cs typeface="Times New Roman" panose="02020603050405020304"/>
              </a:rPr>
              <a:t>say </a:t>
            </a:r>
            <a:r>
              <a:rPr sz="2600" spc="-155" dirty="0">
                <a:latin typeface="Times New Roman" panose="02020603050405020304"/>
                <a:cs typeface="Times New Roman" panose="02020603050405020304"/>
              </a:rPr>
              <a:t>ahead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how </a:t>
            </a:r>
            <a:r>
              <a:rPr sz="2600" spc="-190" dirty="0">
                <a:latin typeface="Times New Roman" panose="02020603050405020304"/>
                <a:cs typeface="Times New Roman" panose="02020603050405020304"/>
              </a:rPr>
              <a:t>many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characters 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array </a:t>
            </a:r>
            <a:r>
              <a:rPr sz="2600" spc="-225" dirty="0">
                <a:latin typeface="Times New Roman" panose="02020603050405020304"/>
                <a:cs typeface="Times New Roman" panose="02020603050405020304"/>
              </a:rPr>
              <a:t>may </a:t>
            </a: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hold. </a:t>
            </a:r>
            <a:r>
              <a:rPr sz="2600" spc="-140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example,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45" dirty="0">
                <a:latin typeface="Times New Roman" panose="02020603050405020304"/>
                <a:cs typeface="Times New Roman" panose="02020603050405020304"/>
              </a:rPr>
              <a:t>following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array 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definitions, </a:t>
            </a:r>
            <a:r>
              <a:rPr sz="2600" spc="-170" dirty="0">
                <a:latin typeface="Times New Roman" panose="02020603050405020304"/>
                <a:cs typeface="Times New Roman" panose="02020603050405020304"/>
              </a:rPr>
              <a:t>we </a:t>
            </a:r>
            <a:r>
              <a:rPr sz="2600" spc="-95" dirty="0">
                <a:latin typeface="Times New Roman" panose="02020603050405020304"/>
                <a:cs typeface="Times New Roman" panose="02020603050405020304"/>
              </a:rPr>
              <a:t>state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number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characters </a:t>
            </a:r>
            <a:r>
              <a:rPr sz="2600" spc="-70" dirty="0">
                <a:latin typeface="Times New Roman" panose="02020603050405020304"/>
                <a:cs typeface="Times New Roman" panose="02020603050405020304"/>
              </a:rPr>
              <a:t>(either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implicitly  </a:t>
            </a:r>
            <a:r>
              <a:rPr sz="2600" spc="-40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explicitly) </a:t>
            </a:r>
            <a:r>
              <a:rPr sz="260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allocated </a:t>
            </a:r>
            <a:r>
              <a:rPr sz="2600" spc="-9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array.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332740" marR="2415540">
              <a:lnSpc>
                <a:spcPts val="3530"/>
              </a:lnSpc>
              <a:spcBef>
                <a:spcPts val="170"/>
              </a:spcBef>
            </a:pPr>
            <a:r>
              <a:rPr sz="2600" spc="-114" dirty="0">
                <a:solidFill>
                  <a:srgbClr val="6F493C"/>
                </a:solidFill>
                <a:latin typeface="Times New Roman" panose="02020603050405020304"/>
                <a:cs typeface="Times New Roman" panose="02020603050405020304"/>
              </a:rPr>
              <a:t>char </a:t>
            </a:r>
            <a:r>
              <a:rPr sz="2600" spc="-150" dirty="0">
                <a:solidFill>
                  <a:srgbClr val="6F493C"/>
                </a:solidFill>
                <a:latin typeface="Times New Roman" panose="02020603050405020304"/>
                <a:cs typeface="Times New Roman" panose="02020603050405020304"/>
              </a:rPr>
              <a:t>label[] </a:t>
            </a:r>
            <a:r>
              <a:rPr sz="2600" spc="270" dirty="0">
                <a:solidFill>
                  <a:srgbClr val="6F493C"/>
                </a:solidFill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2600" spc="-114" dirty="0">
                <a:solidFill>
                  <a:srgbClr val="6F493C"/>
                </a:solidFill>
                <a:latin typeface="Times New Roman" panose="02020603050405020304"/>
                <a:cs typeface="Times New Roman" panose="02020603050405020304"/>
              </a:rPr>
              <a:t>"Single"; </a:t>
            </a:r>
            <a:r>
              <a:rPr sz="2600" spc="235" dirty="0">
                <a:solidFill>
                  <a:srgbClr val="6F493C"/>
                </a:solidFill>
                <a:latin typeface="Times New Roman" panose="02020603050405020304"/>
                <a:cs typeface="Times New Roman" panose="02020603050405020304"/>
              </a:rPr>
              <a:t>/*</a:t>
            </a:r>
            <a:r>
              <a:rPr sz="2600" spc="-195" dirty="0">
                <a:solidFill>
                  <a:srgbClr val="6F49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10" dirty="0">
                <a:solidFill>
                  <a:srgbClr val="6F493C"/>
                </a:solidFill>
                <a:latin typeface="Times New Roman" panose="02020603050405020304"/>
                <a:cs typeface="Times New Roman" panose="02020603050405020304"/>
              </a:rPr>
              <a:t>7 </a:t>
            </a:r>
            <a:r>
              <a:rPr sz="2600" spc="-105" dirty="0">
                <a:solidFill>
                  <a:srgbClr val="6F493C"/>
                </a:solidFill>
                <a:latin typeface="Times New Roman" panose="02020603050405020304"/>
                <a:cs typeface="Times New Roman" panose="02020603050405020304"/>
              </a:rPr>
              <a:t>characters </a:t>
            </a:r>
            <a:r>
              <a:rPr sz="2600" spc="235" dirty="0">
                <a:solidFill>
                  <a:srgbClr val="6F493C"/>
                </a:solidFill>
                <a:latin typeface="Times New Roman" panose="02020603050405020304"/>
                <a:cs typeface="Times New Roman" panose="02020603050405020304"/>
              </a:rPr>
              <a:t>*/  </a:t>
            </a:r>
            <a:r>
              <a:rPr sz="2600" spc="-114" dirty="0">
                <a:solidFill>
                  <a:srgbClr val="6F493C"/>
                </a:solidFill>
                <a:latin typeface="Times New Roman" panose="02020603050405020304"/>
                <a:cs typeface="Times New Roman" panose="02020603050405020304"/>
              </a:rPr>
              <a:t>char </a:t>
            </a:r>
            <a:r>
              <a:rPr sz="2600" spc="-145" dirty="0">
                <a:solidFill>
                  <a:srgbClr val="6F493C"/>
                </a:solidFill>
                <a:latin typeface="Times New Roman" panose="02020603050405020304"/>
                <a:cs typeface="Times New Roman" panose="02020603050405020304"/>
              </a:rPr>
              <a:t>label[10] </a:t>
            </a:r>
            <a:r>
              <a:rPr sz="2600" spc="270" dirty="0">
                <a:solidFill>
                  <a:srgbClr val="6F493C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600" spc="60" dirty="0">
                <a:solidFill>
                  <a:srgbClr val="6F49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14" dirty="0">
                <a:solidFill>
                  <a:srgbClr val="6F493C"/>
                </a:solidFill>
                <a:latin typeface="Times New Roman" panose="02020603050405020304"/>
                <a:cs typeface="Times New Roman" panose="02020603050405020304"/>
              </a:rPr>
              <a:t>"Single";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87020" marR="450850" indent="-274955">
              <a:lnSpc>
                <a:spcPct val="100000"/>
              </a:lnSpc>
              <a:spcBef>
                <a:spcPts val="415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655" algn="l"/>
              </a:tabLst>
            </a:pP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Thus,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you 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must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specify </a:t>
            </a: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maximum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number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140" dirty="0">
                <a:latin typeface="Times New Roman" panose="02020603050405020304"/>
                <a:cs typeface="Times New Roman" panose="02020603050405020304"/>
              </a:rPr>
              <a:t>characters 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you 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will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ever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need </a:t>
            </a:r>
            <a:r>
              <a:rPr sz="260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store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26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array.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87020" marR="652145" indent="-274955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655" algn="l"/>
              </a:tabLst>
            </a:pPr>
            <a:r>
              <a:rPr sz="2600" spc="-155" dirty="0">
                <a:latin typeface="Times New Roman" panose="02020603050405020304"/>
                <a:cs typeface="Times New Roman" panose="02020603050405020304"/>
              </a:rPr>
              <a:t>This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type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array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allocation,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where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size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array </a:t>
            </a:r>
            <a:r>
              <a:rPr sz="2600" spc="-345" dirty="0">
                <a:latin typeface="Times New Roman" panose="02020603050405020304"/>
                <a:cs typeface="Times New Roman" panose="02020603050405020304"/>
              </a:rPr>
              <a:t>is  </a:t>
            </a: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determined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at </a:t>
            </a:r>
            <a:r>
              <a:rPr sz="2600" spc="-95" dirty="0">
                <a:latin typeface="Times New Roman" panose="02020603050405020304"/>
                <a:cs typeface="Times New Roman" panose="02020603050405020304"/>
              </a:rPr>
              <a:t>compile-time,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called </a:t>
            </a:r>
            <a:r>
              <a:rPr sz="2600" i="1" spc="-204" dirty="0">
                <a:latin typeface="Times New Roman" panose="02020603050405020304"/>
                <a:cs typeface="Times New Roman" panose="02020603050405020304"/>
              </a:rPr>
              <a:t>static</a:t>
            </a:r>
            <a:r>
              <a:rPr sz="2600" i="1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i="1" spc="-195" dirty="0">
                <a:latin typeface="Times New Roman" panose="02020603050405020304"/>
                <a:cs typeface="Times New Roman" panose="02020603050405020304"/>
              </a:rPr>
              <a:t>allocation</a:t>
            </a:r>
            <a:r>
              <a:rPr sz="2600" spc="-195" dirty="0">
                <a:latin typeface="Times New Roman" panose="02020603050405020304"/>
                <a:cs typeface="Times New Roman" panose="02020603050405020304"/>
              </a:rPr>
              <a:t>.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328371"/>
            <a:ext cx="37934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5" dirty="0"/>
              <a:t>String </a:t>
            </a:r>
            <a:r>
              <a:rPr sz="4000" spc="120" dirty="0"/>
              <a:t>as</a:t>
            </a:r>
            <a:r>
              <a:rPr sz="4000" spc="-400" dirty="0"/>
              <a:t> </a:t>
            </a:r>
            <a:r>
              <a:rPr sz="4000" spc="-110" dirty="0"/>
              <a:t>Pointers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02437" y="1038859"/>
            <a:ext cx="8208009" cy="48431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6350" indent="-274320" algn="just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Another </a:t>
            </a:r>
            <a:r>
              <a:rPr sz="2600" spc="-229" dirty="0">
                <a:latin typeface="Times New Roman" panose="02020603050405020304"/>
                <a:cs typeface="Times New Roman" panose="02020603050405020304"/>
              </a:rPr>
              <a:t>way </a:t>
            </a:r>
            <a:r>
              <a:rPr sz="2600" spc="-15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accessing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00" i="1" spc="-254" dirty="0">
                <a:latin typeface="Times New Roman" panose="02020603050405020304"/>
                <a:cs typeface="Times New Roman" panose="02020603050405020304"/>
              </a:rPr>
              <a:t>contiguous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chunk </a:t>
            </a:r>
            <a:r>
              <a:rPr sz="2600" spc="-15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memory, 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instead </a:t>
            </a:r>
            <a:r>
              <a:rPr sz="2600" spc="-335" dirty="0">
                <a:latin typeface="Times New Roman" panose="02020603050405020304"/>
                <a:cs typeface="Times New Roman" panose="02020603050405020304"/>
              </a:rPr>
              <a:t>of 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an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array, </a:t>
            </a:r>
            <a:r>
              <a:rPr sz="2600" spc="-16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0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i="1" spc="-190" dirty="0">
                <a:latin typeface="Times New Roman" panose="02020603050405020304"/>
                <a:cs typeface="Times New Roman" panose="02020603050405020304"/>
              </a:rPr>
              <a:t>pointer</a:t>
            </a:r>
            <a:r>
              <a:rPr sz="2600" spc="-190" dirty="0">
                <a:latin typeface="Times New Roman" panose="02020603050405020304"/>
                <a:cs typeface="Times New Roman" panose="02020603050405020304"/>
              </a:rPr>
              <a:t>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595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However, 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pointers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only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hold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an </a:t>
            </a:r>
            <a:r>
              <a:rPr sz="2600" spc="-105" dirty="0">
                <a:latin typeface="Times New Roman" panose="02020603050405020304"/>
                <a:cs typeface="Times New Roman" panose="02020603050405020304"/>
              </a:rPr>
              <a:t>address,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they </a:t>
            </a: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cannot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hold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all </a:t>
            </a:r>
            <a:r>
              <a:rPr sz="2600" spc="-195" dirty="0">
                <a:latin typeface="Times New Roman" panose="02020603050405020304"/>
                <a:cs typeface="Times New Roman" panose="02020603050405020304"/>
              </a:rPr>
              <a:t>the 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characters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00" spc="-95" dirty="0">
                <a:latin typeface="Times New Roman" panose="02020603050405020304"/>
                <a:cs typeface="Times New Roman" panose="02020603050405020304"/>
              </a:rPr>
              <a:t>character</a:t>
            </a:r>
            <a:r>
              <a:rPr sz="260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30" dirty="0">
                <a:latin typeface="Times New Roman" panose="02020603050405020304"/>
                <a:cs typeface="Times New Roman" panose="02020603050405020304"/>
              </a:rPr>
              <a:t>array.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5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600" spc="-155" dirty="0">
                <a:latin typeface="Times New Roman" panose="02020603050405020304"/>
                <a:cs typeface="Times New Roman" panose="02020603050405020304"/>
              </a:rPr>
              <a:t>This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means 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that </a:t>
            </a:r>
            <a:r>
              <a:rPr sz="2600" spc="-130" dirty="0">
                <a:latin typeface="Times New Roman" panose="02020603050405020304"/>
                <a:cs typeface="Times New Roman" panose="02020603050405020304"/>
              </a:rPr>
              <a:t>when </a:t>
            </a:r>
            <a:r>
              <a:rPr sz="2600" spc="-170" dirty="0">
                <a:latin typeface="Times New Roman" panose="02020603050405020304"/>
                <a:cs typeface="Times New Roman" panose="02020603050405020304"/>
              </a:rPr>
              <a:t>we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use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char </a:t>
            </a: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* </a:t>
            </a:r>
            <a:r>
              <a:rPr sz="2600" spc="-4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00" spc="-130" dirty="0">
                <a:latin typeface="Times New Roman" panose="02020603050405020304"/>
                <a:cs typeface="Times New Roman" panose="02020603050405020304"/>
              </a:rPr>
              <a:t>keep 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track </a:t>
            </a:r>
            <a:r>
              <a:rPr sz="2600" spc="-15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00" spc="-70" dirty="0">
                <a:latin typeface="Times New Roman" panose="02020603050405020304"/>
                <a:cs typeface="Times New Roman" panose="02020603050405020304"/>
              </a:rPr>
              <a:t>string, </a:t>
            </a:r>
            <a:r>
              <a:rPr sz="2600" spc="-195" dirty="0">
                <a:latin typeface="Times New Roman" panose="02020603050405020304"/>
                <a:cs typeface="Times New Roman" panose="02020603050405020304"/>
              </a:rPr>
              <a:t>the  </a:t>
            </a:r>
            <a:r>
              <a:rPr sz="2600" spc="-95" dirty="0">
                <a:latin typeface="Times New Roman" panose="02020603050405020304"/>
                <a:cs typeface="Times New Roman" panose="02020603050405020304"/>
              </a:rPr>
              <a:t>character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array containing 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00" spc="-90" dirty="0">
                <a:latin typeface="Times New Roman" panose="02020603050405020304"/>
                <a:cs typeface="Times New Roman" panose="02020603050405020304"/>
              </a:rPr>
              <a:t>string 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must </a:t>
            </a:r>
            <a:r>
              <a:rPr sz="2600" spc="-140" dirty="0">
                <a:latin typeface="Times New Roman" panose="02020603050405020304"/>
                <a:cs typeface="Times New Roman" panose="02020603050405020304"/>
              </a:rPr>
              <a:t>already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exist </a:t>
            </a:r>
            <a:r>
              <a:rPr sz="2600" spc="-170" dirty="0">
                <a:latin typeface="Times New Roman" panose="02020603050405020304"/>
                <a:cs typeface="Times New Roman" panose="02020603050405020304"/>
              </a:rPr>
              <a:t>(having  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been </a:t>
            </a:r>
            <a:r>
              <a:rPr sz="2600" spc="-70" dirty="0">
                <a:latin typeface="Times New Roman" panose="02020603050405020304"/>
                <a:cs typeface="Times New Roman" panose="02020603050405020304"/>
              </a:rPr>
              <a:t>either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statically- </a:t>
            </a:r>
            <a:r>
              <a:rPr sz="2600" spc="-45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30" dirty="0">
                <a:latin typeface="Times New Roman" panose="02020603050405020304"/>
                <a:cs typeface="Times New Roman" panose="02020603050405020304"/>
              </a:rPr>
              <a:t>dynamically-allocated).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600" b="1" spc="-35" dirty="0">
                <a:latin typeface="Times New Roman" panose="02020603050405020304"/>
                <a:cs typeface="Times New Roman" panose="02020603050405020304"/>
              </a:rPr>
              <a:t>char </a:t>
            </a:r>
            <a:r>
              <a:rPr sz="2600" b="1" spc="20" dirty="0">
                <a:latin typeface="Times New Roman" panose="02020603050405020304"/>
                <a:cs typeface="Times New Roman" panose="02020603050405020304"/>
              </a:rPr>
              <a:t>label[] </a:t>
            </a:r>
            <a:r>
              <a:rPr sz="2600" b="1" spc="254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600" b="1" spc="-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30" dirty="0">
                <a:latin typeface="Times New Roman" panose="02020603050405020304"/>
                <a:cs typeface="Times New Roman" panose="02020603050405020304"/>
              </a:rPr>
              <a:t>"Single";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927100" marR="3205480">
              <a:lnSpc>
                <a:spcPct val="119000"/>
              </a:lnSpc>
              <a:spcBef>
                <a:spcPts val="5"/>
              </a:spcBef>
            </a:pPr>
            <a:r>
              <a:rPr sz="2600" b="1" spc="-35" dirty="0">
                <a:latin typeface="Times New Roman" panose="02020603050405020304"/>
                <a:cs typeface="Times New Roman" panose="02020603050405020304"/>
              </a:rPr>
              <a:t>char </a:t>
            </a:r>
            <a:r>
              <a:rPr sz="2600" b="1" spc="-20" dirty="0">
                <a:latin typeface="Times New Roman" panose="02020603050405020304"/>
                <a:cs typeface="Times New Roman" panose="02020603050405020304"/>
              </a:rPr>
              <a:t>label2[10] </a:t>
            </a:r>
            <a:r>
              <a:rPr sz="2600" b="1" spc="254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600" b="1" spc="-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40" dirty="0">
                <a:latin typeface="Times New Roman" panose="02020603050405020304"/>
                <a:cs typeface="Times New Roman" panose="02020603050405020304"/>
              </a:rPr>
              <a:t>"Married";  </a:t>
            </a:r>
            <a:r>
              <a:rPr sz="2600" b="1" spc="-35" dirty="0">
                <a:latin typeface="Times New Roman" panose="02020603050405020304"/>
                <a:cs typeface="Times New Roman" panose="02020603050405020304"/>
              </a:rPr>
              <a:t>char</a:t>
            </a:r>
            <a:r>
              <a:rPr sz="2600" b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40" dirty="0">
                <a:latin typeface="Times New Roman" panose="02020603050405020304"/>
                <a:cs typeface="Times New Roman" panose="02020603050405020304"/>
              </a:rPr>
              <a:t>*labelPtr;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600" b="1" spc="-35" dirty="0">
                <a:latin typeface="Times New Roman" panose="02020603050405020304"/>
                <a:cs typeface="Times New Roman" panose="02020603050405020304"/>
              </a:rPr>
              <a:t>labelPtr </a:t>
            </a:r>
            <a:r>
              <a:rPr sz="2600" b="1" spc="254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600" b="1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35" dirty="0">
                <a:latin typeface="Times New Roman" panose="02020603050405020304"/>
                <a:cs typeface="Times New Roman" panose="02020603050405020304"/>
              </a:rPr>
              <a:t>label;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6576" y="328371"/>
            <a:ext cx="21513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70" dirty="0"/>
              <a:t>Example1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444" y="1106593"/>
            <a:ext cx="6279515" cy="5224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850640">
              <a:lnSpc>
                <a:spcPct val="119000"/>
              </a:lnSpc>
              <a:spcBef>
                <a:spcPts val="100"/>
              </a:spcBef>
            </a:pPr>
            <a:r>
              <a:rPr sz="2600" spc="-50" dirty="0">
                <a:latin typeface="Times New Roman" panose="02020603050405020304"/>
                <a:cs typeface="Times New Roman" panose="02020603050405020304"/>
              </a:rPr>
              <a:t>#include</a:t>
            </a:r>
            <a:r>
              <a:rPr sz="2600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20" dirty="0">
                <a:latin typeface="Times New Roman" panose="02020603050405020304"/>
                <a:cs typeface="Times New Roman" panose="02020603050405020304"/>
              </a:rPr>
              <a:t>&lt;stdio.h&gt;  </a:t>
            </a:r>
            <a:r>
              <a:rPr sz="2600" spc="-7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26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main()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{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86995" marR="5080">
              <a:lnSpc>
                <a:spcPts val="3720"/>
              </a:lnSpc>
              <a:spcBef>
                <a:spcPts val="225"/>
              </a:spcBef>
            </a:pP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char </a:t>
            </a:r>
            <a:r>
              <a:rPr sz="2600" spc="-140" dirty="0">
                <a:latin typeface="Times New Roman" panose="02020603050405020304"/>
                <a:cs typeface="Times New Roman" panose="02020603050405020304"/>
              </a:rPr>
              <a:t>*sample </a:t>
            </a:r>
            <a:r>
              <a:rPr sz="2600" spc="270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"From </a:t>
            </a:r>
            <a:r>
              <a:rPr sz="2600" spc="-130" dirty="0">
                <a:latin typeface="Times New Roman" panose="02020603050405020304"/>
                <a:cs typeface="Times New Roman" panose="02020603050405020304"/>
              </a:rPr>
              <a:t>whence </a:t>
            </a: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cometh </a:t>
            </a:r>
            <a:r>
              <a:rPr sz="2600" spc="-235" dirty="0">
                <a:latin typeface="Times New Roman" panose="02020603050405020304"/>
                <a:cs typeface="Times New Roman" panose="02020603050405020304"/>
              </a:rPr>
              <a:t>my </a:t>
            </a:r>
            <a:r>
              <a:rPr sz="2600" spc="-110" dirty="0">
                <a:latin typeface="Times New Roman" panose="02020603050405020304"/>
                <a:cs typeface="Times New Roman" panose="02020603050405020304"/>
              </a:rPr>
              <a:t>help?n";  </a:t>
            </a: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while(putchar(*sample++))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86995">
              <a:lnSpc>
                <a:spcPct val="100000"/>
              </a:lnSpc>
              <a:spcBef>
                <a:spcPts val="380"/>
              </a:spcBef>
            </a:pPr>
            <a:r>
              <a:rPr sz="2600" spc="35" dirty="0">
                <a:latin typeface="Times New Roman" panose="02020603050405020304"/>
                <a:cs typeface="Times New Roman" panose="02020603050405020304"/>
              </a:rPr>
              <a:t>;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86995">
              <a:lnSpc>
                <a:spcPct val="100000"/>
              </a:lnSpc>
              <a:spcBef>
                <a:spcPts val="600"/>
              </a:spcBef>
            </a:pPr>
            <a:r>
              <a:rPr sz="2600" spc="-40" dirty="0">
                <a:latin typeface="Times New Roman" panose="02020603050405020304"/>
                <a:cs typeface="Times New Roman" panose="02020603050405020304"/>
              </a:rPr>
              <a:t>return(0);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}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600" b="1" spc="-35" dirty="0">
                <a:latin typeface="Times New Roman" panose="02020603050405020304"/>
                <a:cs typeface="Times New Roman" panose="02020603050405020304"/>
              </a:rPr>
              <a:t>Output: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600" spc="-130" dirty="0">
                <a:latin typeface="Times New Roman" panose="02020603050405020304"/>
                <a:cs typeface="Times New Roman" panose="02020603050405020304"/>
              </a:rPr>
              <a:t>From whence </a:t>
            </a:r>
            <a:r>
              <a:rPr sz="2600" spc="-114" dirty="0">
                <a:latin typeface="Times New Roman" panose="02020603050405020304"/>
                <a:cs typeface="Times New Roman" panose="02020603050405020304"/>
              </a:rPr>
              <a:t>cometh </a:t>
            </a:r>
            <a:r>
              <a:rPr sz="2600" spc="-240" dirty="0">
                <a:latin typeface="Times New Roman" panose="02020603050405020304"/>
                <a:cs typeface="Times New Roman" panose="02020603050405020304"/>
              </a:rPr>
              <a:t>my</a:t>
            </a:r>
            <a:r>
              <a:rPr sz="2600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55" dirty="0">
                <a:latin typeface="Times New Roman" panose="02020603050405020304"/>
                <a:cs typeface="Times New Roman" panose="02020603050405020304"/>
              </a:rPr>
              <a:t>help?n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303" y="184785"/>
            <a:ext cx="33140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25" dirty="0"/>
              <a:t>Passing</a:t>
            </a:r>
            <a:r>
              <a:rPr sz="4000" spc="-254" dirty="0"/>
              <a:t> </a:t>
            </a:r>
            <a:r>
              <a:rPr sz="4000" spc="-40" dirty="0"/>
              <a:t>Strings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18540" y="996187"/>
            <a:ext cx="7127875" cy="476250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620"/>
              </a:spcBef>
            </a:pPr>
            <a:r>
              <a:rPr sz="2200" spc="-165" dirty="0">
                <a:latin typeface="Times New Roman" panose="02020603050405020304"/>
                <a:cs typeface="Times New Roman" panose="02020603050405020304"/>
              </a:rPr>
              <a:t>Below </a:t>
            </a:r>
            <a:r>
              <a:rPr sz="2200" spc="-14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200" spc="-7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definition </a:t>
            </a:r>
            <a:r>
              <a:rPr sz="2200" spc="-13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200" spc="-17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function </a:t>
            </a:r>
            <a:r>
              <a:rPr sz="2200" spc="-75" dirty="0">
                <a:latin typeface="Times New Roman" panose="02020603050405020304"/>
                <a:cs typeface="Times New Roman" panose="02020603050405020304"/>
              </a:rPr>
              <a:t>that </a:t>
            </a:r>
            <a:r>
              <a:rPr sz="2200" spc="-65" dirty="0">
                <a:latin typeface="Times New Roman" panose="02020603050405020304"/>
                <a:cs typeface="Times New Roman" panose="02020603050405020304"/>
              </a:rPr>
              <a:t>prints </a:t>
            </a:r>
            <a:r>
              <a:rPr sz="2200" spc="-17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200" spc="-114" dirty="0">
                <a:latin typeface="Times New Roman" panose="02020603050405020304"/>
                <a:cs typeface="Times New Roman" panose="02020603050405020304"/>
              </a:rPr>
              <a:t>label </a:t>
            </a: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200" spc="-17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200" spc="-120" dirty="0">
                <a:latin typeface="Times New Roman" panose="02020603050405020304"/>
                <a:cs typeface="Times New Roman" panose="02020603050405020304"/>
              </a:rPr>
              <a:t>call 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200" spc="-75" dirty="0">
                <a:latin typeface="Times New Roman" panose="02020603050405020304"/>
                <a:cs typeface="Times New Roman" panose="02020603050405020304"/>
              </a:rPr>
              <a:t>that  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function: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200" spc="-135" dirty="0">
                <a:latin typeface="Times New Roman" panose="02020603050405020304"/>
                <a:cs typeface="Times New Roman" panose="02020603050405020304"/>
              </a:rPr>
              <a:t>void 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PrintLabel(char</a:t>
            </a:r>
            <a:r>
              <a:rPr sz="22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the_label[])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200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200" spc="-80" dirty="0">
                <a:latin typeface="Times New Roman" panose="02020603050405020304"/>
                <a:cs typeface="Times New Roman" panose="02020603050405020304"/>
              </a:rPr>
              <a:t>printf("Label: </a:t>
            </a:r>
            <a:r>
              <a:rPr sz="2200" spc="20" dirty="0">
                <a:latin typeface="Times New Roman" panose="02020603050405020304"/>
                <a:cs typeface="Times New Roman" panose="02020603050405020304"/>
              </a:rPr>
              <a:t>%s\n",</a:t>
            </a:r>
            <a:r>
              <a:rPr sz="2200" spc="-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75" dirty="0">
                <a:latin typeface="Times New Roman" panose="02020603050405020304"/>
                <a:cs typeface="Times New Roman" panose="02020603050405020304"/>
              </a:rPr>
              <a:t>the_label);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76200">
              <a:lnSpc>
                <a:spcPct val="100000"/>
              </a:lnSpc>
              <a:spcBef>
                <a:spcPts val="75"/>
              </a:spcBef>
            </a:pPr>
            <a:r>
              <a:rPr sz="22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200" spc="85" dirty="0">
                <a:latin typeface="Times New Roman" panose="02020603050405020304"/>
                <a:cs typeface="Times New Roman" panose="02020603050405020304"/>
              </a:rPr>
              <a:t>...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200" spc="-6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14" dirty="0">
                <a:latin typeface="Times New Roman" panose="02020603050405020304"/>
                <a:cs typeface="Times New Roman" panose="02020603050405020304"/>
              </a:rPr>
              <a:t>main(void)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200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char </a:t>
            </a:r>
            <a:r>
              <a:rPr sz="2200" spc="-130" dirty="0">
                <a:latin typeface="Times New Roman" panose="02020603050405020304"/>
                <a:cs typeface="Times New Roman" panose="02020603050405020304"/>
              </a:rPr>
              <a:t>label[] </a:t>
            </a:r>
            <a:r>
              <a:rPr sz="2200" spc="22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2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"Single";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76200">
              <a:lnSpc>
                <a:spcPct val="100000"/>
              </a:lnSpc>
              <a:spcBef>
                <a:spcPts val="70"/>
              </a:spcBef>
            </a:pPr>
            <a:r>
              <a:rPr sz="2200" spc="85" dirty="0">
                <a:latin typeface="Times New Roman" panose="02020603050405020304"/>
                <a:cs typeface="Times New Roman" panose="02020603050405020304"/>
              </a:rPr>
              <a:t>...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PrintLabel(label);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76200">
              <a:lnSpc>
                <a:spcPct val="100000"/>
              </a:lnSpc>
              <a:spcBef>
                <a:spcPts val="70"/>
              </a:spcBef>
            </a:pPr>
            <a:r>
              <a:rPr sz="2200" spc="85" dirty="0">
                <a:latin typeface="Times New Roman" panose="02020603050405020304"/>
                <a:cs typeface="Times New Roman" panose="02020603050405020304"/>
              </a:rPr>
              <a:t>...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2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406" y="247269"/>
            <a:ext cx="4330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25" dirty="0"/>
              <a:t>Passing </a:t>
            </a:r>
            <a:r>
              <a:rPr sz="3600" spc="-35" dirty="0"/>
              <a:t>Strings</a:t>
            </a:r>
            <a:r>
              <a:rPr sz="3600" spc="-525" dirty="0"/>
              <a:t> </a:t>
            </a:r>
            <a:r>
              <a:rPr sz="3600" spc="-245" dirty="0"/>
              <a:t>Cont...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90473" y="1179398"/>
            <a:ext cx="7694295" cy="3744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363855" indent="-274320">
              <a:lnSpc>
                <a:spcPct val="100000"/>
              </a:lnSpc>
              <a:spcBef>
                <a:spcPts val="95"/>
              </a:spcBef>
              <a:buClr>
                <a:srgbClr val="D24717"/>
              </a:buClr>
              <a:buSzPct val="84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800" spc="-185" dirty="0">
                <a:latin typeface="Times New Roman" panose="02020603050405020304"/>
                <a:cs typeface="Times New Roman" panose="02020603050405020304"/>
              </a:rPr>
              <a:t>Since </a:t>
            </a:r>
            <a:r>
              <a:rPr sz="2800" spc="-145" dirty="0">
                <a:latin typeface="Times New Roman" panose="02020603050405020304"/>
                <a:cs typeface="Times New Roman" panose="02020603050405020304"/>
              </a:rPr>
              <a:t>label </a:t>
            </a:r>
            <a:r>
              <a:rPr sz="2800" spc="-18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800" spc="-22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800" spc="-105" dirty="0">
                <a:latin typeface="Times New Roman" panose="02020603050405020304"/>
                <a:cs typeface="Times New Roman" panose="02020603050405020304"/>
              </a:rPr>
              <a:t>character </a:t>
            </a:r>
            <a:r>
              <a:rPr sz="2800" spc="-145" dirty="0">
                <a:latin typeface="Times New Roman" panose="02020603050405020304"/>
                <a:cs typeface="Times New Roman" panose="02020603050405020304"/>
              </a:rPr>
              <a:t>array, </a:t>
            </a:r>
            <a:r>
              <a:rPr sz="2800" spc="-160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80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800" spc="-120" dirty="0">
                <a:latin typeface="Times New Roman" panose="02020603050405020304"/>
                <a:cs typeface="Times New Roman" panose="02020603050405020304"/>
              </a:rPr>
              <a:t>function  </a:t>
            </a:r>
            <a:r>
              <a:rPr sz="2800" spc="-110" dirty="0">
                <a:latin typeface="Times New Roman" panose="02020603050405020304"/>
                <a:cs typeface="Times New Roman" panose="02020603050405020304"/>
              </a:rPr>
              <a:t>PrintLabel() </a:t>
            </a:r>
            <a:r>
              <a:rPr sz="2800" spc="-114" dirty="0">
                <a:latin typeface="Times New Roman" panose="02020603050405020304"/>
                <a:cs typeface="Times New Roman" panose="02020603050405020304"/>
              </a:rPr>
              <a:t>expects </a:t>
            </a:r>
            <a:r>
              <a:rPr sz="2800" spc="-22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800" spc="-100" dirty="0">
                <a:latin typeface="Times New Roman" panose="02020603050405020304"/>
                <a:cs typeface="Times New Roman" panose="02020603050405020304"/>
              </a:rPr>
              <a:t>character </a:t>
            </a:r>
            <a:r>
              <a:rPr sz="2800" spc="-145" dirty="0">
                <a:latin typeface="Times New Roman" panose="02020603050405020304"/>
                <a:cs typeface="Times New Roman" panose="02020603050405020304"/>
              </a:rPr>
              <a:t>array, </a:t>
            </a:r>
            <a:r>
              <a:rPr sz="280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800" spc="-200" dirty="0">
                <a:latin typeface="Times New Roman" panose="02020603050405020304"/>
                <a:cs typeface="Times New Roman" panose="02020603050405020304"/>
              </a:rPr>
              <a:t>above </a:t>
            </a:r>
            <a:r>
              <a:rPr sz="2800" spc="-190" dirty="0">
                <a:latin typeface="Times New Roman" panose="02020603050405020304"/>
                <a:cs typeface="Times New Roman" panose="02020603050405020304"/>
              </a:rPr>
              <a:t>makes  </a:t>
            </a:r>
            <a:r>
              <a:rPr sz="2800" spc="-120" dirty="0">
                <a:latin typeface="Times New Roman" panose="02020603050405020304"/>
                <a:cs typeface="Times New Roman" panose="02020603050405020304"/>
              </a:rPr>
              <a:t>sense.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287020" marR="5080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800" spc="-165" dirty="0">
                <a:latin typeface="Times New Roman" panose="02020603050405020304"/>
                <a:cs typeface="Times New Roman" panose="02020603050405020304"/>
              </a:rPr>
              <a:t>However, </a:t>
            </a:r>
            <a:r>
              <a:rPr sz="2800" spc="-180" dirty="0">
                <a:latin typeface="Times New Roman" panose="02020603050405020304"/>
                <a:cs typeface="Times New Roman" panose="02020603050405020304"/>
              </a:rPr>
              <a:t>if </a:t>
            </a:r>
            <a:r>
              <a:rPr sz="2800" spc="-190" dirty="0">
                <a:latin typeface="Times New Roman" panose="02020603050405020304"/>
                <a:cs typeface="Times New Roman" panose="02020603050405020304"/>
              </a:rPr>
              <a:t>we </a:t>
            </a:r>
            <a:r>
              <a:rPr sz="2800" spc="-225" dirty="0">
                <a:latin typeface="Times New Roman" panose="02020603050405020304"/>
                <a:cs typeface="Times New Roman" panose="02020603050405020304"/>
              </a:rPr>
              <a:t>have a </a:t>
            </a:r>
            <a:r>
              <a:rPr sz="2800" spc="-80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80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800" spc="-105" dirty="0">
                <a:latin typeface="Times New Roman" panose="02020603050405020304"/>
                <a:cs typeface="Times New Roman" panose="02020603050405020304"/>
              </a:rPr>
              <a:t>character </a:t>
            </a:r>
            <a:r>
              <a:rPr sz="2800" spc="-135" dirty="0">
                <a:latin typeface="Times New Roman" panose="02020603050405020304"/>
                <a:cs typeface="Times New Roman" panose="02020603050405020304"/>
              </a:rPr>
              <a:t>array </a:t>
            </a:r>
            <a:r>
              <a:rPr sz="2800" spc="-170" dirty="0">
                <a:latin typeface="Times New Roman" panose="02020603050405020304"/>
                <a:cs typeface="Times New Roman" panose="02020603050405020304"/>
              </a:rPr>
              <a:t>label,  </a:t>
            </a:r>
            <a:r>
              <a:rPr sz="2800" spc="-225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2800" spc="-80" dirty="0">
                <a:latin typeface="Times New Roman" panose="02020603050405020304"/>
                <a:cs typeface="Times New Roman" panose="02020603050405020304"/>
              </a:rPr>
              <a:t> in: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287020">
              <a:lnSpc>
                <a:spcPct val="100000"/>
              </a:lnSpc>
              <a:spcBef>
                <a:spcPts val="600"/>
              </a:spcBef>
            </a:pPr>
            <a:r>
              <a:rPr sz="2800" spc="-120" dirty="0">
                <a:latin typeface="Times New Roman" panose="02020603050405020304"/>
                <a:cs typeface="Times New Roman" panose="02020603050405020304"/>
              </a:rPr>
              <a:t>char </a:t>
            </a:r>
            <a:r>
              <a:rPr sz="2800" spc="-105" dirty="0">
                <a:latin typeface="Times New Roman" panose="02020603050405020304"/>
                <a:cs typeface="Times New Roman" panose="02020603050405020304"/>
              </a:rPr>
              <a:t>*labelPtr </a:t>
            </a:r>
            <a:r>
              <a:rPr sz="2800" spc="28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14" dirty="0">
                <a:latin typeface="Times New Roman" panose="02020603050405020304"/>
                <a:cs typeface="Times New Roman" panose="02020603050405020304"/>
              </a:rPr>
              <a:t>label;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287020">
              <a:lnSpc>
                <a:spcPct val="100000"/>
              </a:lnSpc>
              <a:spcBef>
                <a:spcPts val="600"/>
              </a:spcBef>
            </a:pPr>
            <a:r>
              <a:rPr sz="2800" spc="-95" dirty="0">
                <a:latin typeface="Times New Roman" panose="02020603050405020304"/>
                <a:cs typeface="Times New Roman" panose="02020603050405020304"/>
              </a:rPr>
              <a:t>then </a:t>
            </a:r>
            <a:r>
              <a:rPr sz="2800" spc="-185" dirty="0">
                <a:latin typeface="Times New Roman" panose="02020603050405020304"/>
                <a:cs typeface="Times New Roman" panose="02020603050405020304"/>
              </a:rPr>
              <a:t>we </a:t>
            </a:r>
            <a:r>
              <a:rPr sz="2800" spc="-170" dirty="0">
                <a:latin typeface="Times New Roman" panose="02020603050405020304"/>
                <a:cs typeface="Times New Roman" panose="02020603050405020304"/>
              </a:rPr>
              <a:t>can also </a:t>
            </a:r>
            <a:r>
              <a:rPr sz="2800" spc="-195" dirty="0">
                <a:latin typeface="Times New Roman" panose="02020603050405020304"/>
                <a:cs typeface="Times New Roman" panose="02020603050405020304"/>
              </a:rPr>
              <a:t>pass </a:t>
            </a:r>
            <a:r>
              <a:rPr sz="280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800" spc="-80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80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800" spc="-95" dirty="0">
                <a:latin typeface="Times New Roman" panose="02020603050405020304"/>
                <a:cs typeface="Times New Roman" panose="02020603050405020304"/>
              </a:rPr>
              <a:t>function, </a:t>
            </a:r>
            <a:r>
              <a:rPr sz="2800" spc="-225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2800" spc="-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75" dirty="0">
                <a:latin typeface="Times New Roman" panose="02020603050405020304"/>
                <a:cs typeface="Times New Roman" panose="02020603050405020304"/>
              </a:rPr>
              <a:t>in: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000"/>
              <a:buFont typeface="Arial" panose="020B0604020202020204"/>
              <a:buChar char=""/>
              <a:tabLst>
                <a:tab pos="287020" algn="l"/>
              </a:tabLst>
            </a:pPr>
            <a:r>
              <a:rPr sz="2800" spc="-100" dirty="0">
                <a:latin typeface="Times New Roman" panose="02020603050405020304"/>
                <a:cs typeface="Times New Roman" panose="02020603050405020304"/>
              </a:rPr>
              <a:t>PrintLabel(labelPtr);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4339" y="247269"/>
            <a:ext cx="31737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95" dirty="0"/>
              <a:t>Array </a:t>
            </a:r>
            <a:r>
              <a:rPr sz="3600" spc="-155" dirty="0"/>
              <a:t>of</a:t>
            </a:r>
            <a:r>
              <a:rPr sz="3600" spc="-270" dirty="0"/>
              <a:t> </a:t>
            </a:r>
            <a:r>
              <a:rPr sz="3600" spc="-100" dirty="0"/>
              <a:t>Pointers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18540" y="894714"/>
            <a:ext cx="7724140" cy="1970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105"/>
              </a:spcBef>
            </a:pPr>
            <a:r>
              <a:rPr sz="2200" spc="-570" dirty="0">
                <a:solidFill>
                  <a:srgbClr val="D24717"/>
                </a:solidFill>
                <a:latin typeface="Arial" panose="020B0604020202020204"/>
                <a:cs typeface="Arial" panose="020B0604020202020204"/>
              </a:rPr>
              <a:t></a:t>
            </a:r>
            <a:r>
              <a:rPr sz="2200" spc="-530" dirty="0">
                <a:solidFill>
                  <a:srgbClr val="D2471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Pointers are </a:t>
            </a:r>
            <a:r>
              <a:rPr sz="2600" spc="-135" dirty="0">
                <a:latin typeface="Times New Roman" panose="02020603050405020304"/>
                <a:cs typeface="Times New Roman" panose="02020603050405020304"/>
              </a:rPr>
              <a:t>very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helpful </a:t>
            </a:r>
            <a:r>
              <a:rPr sz="2600" spc="-120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2600" spc="-145" dirty="0">
                <a:latin typeface="Times New Roman" panose="02020603050405020304"/>
                <a:cs typeface="Times New Roman" panose="02020603050405020304"/>
              </a:rPr>
              <a:t>handling </a:t>
            </a:r>
            <a:r>
              <a:rPr sz="2600" spc="-95" dirty="0">
                <a:latin typeface="Times New Roman" panose="02020603050405020304"/>
                <a:cs typeface="Times New Roman" panose="02020603050405020304"/>
              </a:rPr>
              <a:t>character </a:t>
            </a:r>
            <a:r>
              <a:rPr sz="2600" spc="-125" dirty="0">
                <a:latin typeface="Times New Roman" panose="02020603050405020304"/>
                <a:cs typeface="Times New Roman" panose="02020603050405020304"/>
              </a:rPr>
              <a:t>array </a:t>
            </a:r>
            <a:r>
              <a:rPr sz="2600" spc="-100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2600" spc="-225" dirty="0">
                <a:latin typeface="Times New Roman" panose="02020603050405020304"/>
                <a:cs typeface="Times New Roman" panose="02020603050405020304"/>
              </a:rPr>
              <a:t>rows  </a:t>
            </a:r>
            <a:r>
              <a:rPr sz="2600" spc="-15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00" spc="-160" dirty="0">
                <a:latin typeface="Times New Roman" panose="02020603050405020304"/>
                <a:cs typeface="Times New Roman" panose="02020603050405020304"/>
              </a:rPr>
              <a:t>varying</a:t>
            </a:r>
            <a:r>
              <a:rPr sz="2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length.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560705" marR="128270">
              <a:lnSpc>
                <a:spcPct val="100000"/>
              </a:lnSpc>
              <a:spcBef>
                <a:spcPts val="430"/>
              </a:spcBef>
            </a:pP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char </a:t>
            </a:r>
            <a:r>
              <a:rPr sz="2400" spc="-90" dirty="0">
                <a:latin typeface="Times New Roman" panose="02020603050405020304"/>
                <a:cs typeface="Times New Roman" panose="02020603050405020304"/>
              </a:rPr>
              <a:t>*name[3]={ 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"Adam", 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"chris", 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"Deniel" </a:t>
            </a:r>
            <a:r>
              <a:rPr sz="2400" spc="15" dirty="0">
                <a:latin typeface="Times New Roman" panose="02020603050405020304"/>
                <a:cs typeface="Times New Roman" panose="02020603050405020304"/>
              </a:rPr>
              <a:t>}; </a:t>
            </a:r>
            <a:r>
              <a:rPr sz="2400" i="1" spc="35" dirty="0">
                <a:latin typeface="Times New Roman" panose="02020603050405020304"/>
                <a:cs typeface="Times New Roman" panose="02020603050405020304"/>
              </a:rPr>
              <a:t>//Now </a:t>
            </a:r>
            <a:r>
              <a:rPr sz="2400" i="1" spc="-325" dirty="0">
                <a:latin typeface="Times New Roman" panose="02020603050405020304"/>
                <a:cs typeface="Times New Roman" panose="02020603050405020304"/>
              </a:rPr>
              <a:t>see </a:t>
            </a:r>
            <a:r>
              <a:rPr sz="2400" i="1" spc="-315" dirty="0">
                <a:latin typeface="Times New Roman" panose="02020603050405020304"/>
                <a:cs typeface="Times New Roman" panose="02020603050405020304"/>
              </a:rPr>
              <a:t>same  </a:t>
            </a:r>
            <a:r>
              <a:rPr sz="2400" i="1" spc="-265" dirty="0">
                <a:latin typeface="Times New Roman" panose="02020603050405020304"/>
                <a:cs typeface="Times New Roman" panose="02020603050405020304"/>
              </a:rPr>
              <a:t>array </a:t>
            </a:r>
            <a:r>
              <a:rPr sz="2400" i="1" spc="-185" dirty="0">
                <a:latin typeface="Times New Roman" panose="02020603050405020304"/>
                <a:cs typeface="Times New Roman" panose="02020603050405020304"/>
              </a:rPr>
              <a:t>without </a:t>
            </a:r>
            <a:r>
              <a:rPr sz="2400" i="1" spc="-225" dirty="0">
                <a:latin typeface="Times New Roman" panose="02020603050405020304"/>
                <a:cs typeface="Times New Roman" panose="02020603050405020304"/>
              </a:rPr>
              <a:t>using </a:t>
            </a:r>
            <a:r>
              <a:rPr sz="2400" i="1" spc="-215" dirty="0">
                <a:latin typeface="Times New Roman" panose="02020603050405020304"/>
                <a:cs typeface="Times New Roman" panose="02020603050405020304"/>
              </a:rPr>
              <a:t>pointer </a:t>
            </a:r>
            <a:r>
              <a:rPr sz="2400" spc="-105" dirty="0">
                <a:latin typeface="Times New Roman" panose="02020603050405020304"/>
                <a:cs typeface="Times New Roman" panose="02020603050405020304"/>
              </a:rPr>
              <a:t>char </a:t>
            </a:r>
            <a:r>
              <a:rPr sz="2400" spc="-110" dirty="0">
                <a:latin typeface="Times New Roman" panose="02020603050405020304"/>
                <a:cs typeface="Times New Roman" panose="02020603050405020304"/>
              </a:rPr>
              <a:t>name[3][20]=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{ 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"Adam", </a:t>
            </a:r>
            <a:r>
              <a:rPr sz="2400" spc="-45" dirty="0">
                <a:latin typeface="Times New Roman" panose="02020603050405020304"/>
                <a:cs typeface="Times New Roman" panose="02020603050405020304"/>
              </a:rPr>
              <a:t>"chris",  </a:t>
            </a:r>
            <a:r>
              <a:rPr sz="2400" spc="-80" dirty="0">
                <a:latin typeface="Times New Roman" panose="02020603050405020304"/>
                <a:cs typeface="Times New Roman" panose="02020603050405020304"/>
              </a:rPr>
              <a:t>"Deniel"</a:t>
            </a:r>
            <a:r>
              <a:rPr sz="24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15" dirty="0">
                <a:latin typeface="Times New Roman" panose="02020603050405020304"/>
                <a:cs typeface="Times New Roman" panose="02020603050405020304"/>
              </a:rPr>
              <a:t>};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43836" y="3217986"/>
            <a:ext cx="5534024" cy="2643347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406" y="112903"/>
            <a:ext cx="21513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70" dirty="0"/>
              <a:t>Example1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64793" y="913003"/>
            <a:ext cx="3020060" cy="5390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99845">
              <a:lnSpc>
                <a:spcPct val="100000"/>
              </a:lnSpc>
              <a:spcBef>
                <a:spcPts val="95"/>
              </a:spcBef>
            </a:pPr>
            <a:r>
              <a:rPr sz="1600" b="1" spc="50" dirty="0">
                <a:latin typeface="Times New Roman" panose="02020603050405020304"/>
                <a:cs typeface="Times New Roman" panose="02020603050405020304"/>
              </a:rPr>
              <a:t>#include</a:t>
            </a:r>
            <a:r>
              <a:rPr sz="16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40" dirty="0">
                <a:latin typeface="Times New Roman" panose="02020603050405020304"/>
                <a:cs typeface="Times New Roman" panose="02020603050405020304"/>
              </a:rPr>
              <a:t>&lt;stdio.h&gt;  </a:t>
            </a:r>
            <a:r>
              <a:rPr sz="1600" b="1" spc="50" dirty="0">
                <a:latin typeface="Times New Roman" panose="02020603050405020304"/>
                <a:cs typeface="Times New Roman" panose="02020603050405020304"/>
              </a:rPr>
              <a:t>#define </a:t>
            </a:r>
            <a:r>
              <a:rPr sz="1600" b="1" spc="-140" dirty="0">
                <a:latin typeface="Times New Roman" panose="02020603050405020304"/>
                <a:cs typeface="Times New Roman" panose="02020603050405020304"/>
              </a:rPr>
              <a:t>SIZE</a:t>
            </a:r>
            <a:r>
              <a:rPr sz="1600" b="1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70" dirty="0">
                <a:latin typeface="Times New Roman" panose="02020603050405020304"/>
                <a:cs typeface="Times New Roman" panose="02020603050405020304"/>
              </a:rPr>
              <a:t>3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6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main()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57785" marR="605790">
              <a:lnSpc>
                <a:spcPct val="100000"/>
              </a:lnSpc>
            </a:pPr>
            <a:r>
              <a:rPr sz="1600" b="1" spc="-25" dirty="0">
                <a:latin typeface="Times New Roman" panose="02020603050405020304"/>
                <a:cs typeface="Times New Roman" panose="02020603050405020304"/>
              </a:rPr>
              <a:t>char 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president[SIZE][8] </a:t>
            </a:r>
            <a:r>
              <a:rPr sz="1600" b="1" spc="15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600" b="1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{  "Clinton",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57785" marR="2121535">
              <a:lnSpc>
                <a:spcPct val="100000"/>
              </a:lnSpc>
            </a:pP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"Bush", 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"</a:t>
            </a:r>
            <a:r>
              <a:rPr sz="1600" b="1" spc="-70" dirty="0">
                <a:latin typeface="Times New Roman" panose="02020603050405020304"/>
                <a:cs typeface="Times New Roman" panose="02020603050405020304"/>
              </a:rPr>
              <a:t>Obam</a:t>
            </a:r>
            <a:r>
              <a:rPr sz="1600" b="1" spc="-4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"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57785">
              <a:lnSpc>
                <a:spcPct val="100000"/>
              </a:lnSpc>
            </a:pPr>
            <a:r>
              <a:rPr sz="1600" b="1" spc="-70" dirty="0">
                <a:latin typeface="Times New Roman" panose="02020603050405020304"/>
                <a:cs typeface="Times New Roman" panose="02020603050405020304"/>
              </a:rPr>
              <a:t>};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57785" marR="1075690">
              <a:lnSpc>
                <a:spcPct val="100000"/>
              </a:lnSpc>
              <a:spcBef>
                <a:spcPts val="5"/>
              </a:spcBef>
            </a:pP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int x,index; 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for(x=0;x&lt;SIZE;x++)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57785">
              <a:lnSpc>
                <a:spcPct val="100000"/>
              </a:lnSpc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57785" marR="5080">
              <a:lnSpc>
                <a:spcPct val="100000"/>
              </a:lnSpc>
            </a:pPr>
            <a:r>
              <a:rPr sz="1600" b="1" spc="30" dirty="0">
                <a:latin typeface="Times New Roman" panose="02020603050405020304"/>
                <a:cs typeface="Times New Roman" panose="02020603050405020304"/>
              </a:rPr>
              <a:t>index </a:t>
            </a:r>
            <a:r>
              <a:rPr sz="1600" b="1" spc="150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1600" b="1" spc="-95" dirty="0">
                <a:latin typeface="Times New Roman" panose="02020603050405020304"/>
                <a:cs typeface="Times New Roman" panose="02020603050405020304"/>
              </a:rPr>
              <a:t>0;  </a:t>
            </a:r>
            <a:r>
              <a:rPr sz="1600" b="1" spc="25" dirty="0">
                <a:latin typeface="Times New Roman" panose="02020603050405020304"/>
                <a:cs typeface="Times New Roman" panose="02020603050405020304"/>
              </a:rPr>
              <a:t>while(president[x][index] 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!=</a:t>
            </a:r>
            <a:r>
              <a:rPr sz="1600" b="1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75" dirty="0">
                <a:latin typeface="Times New Roman" panose="02020603050405020304"/>
                <a:cs typeface="Times New Roman" panose="02020603050405020304"/>
              </a:rPr>
              <a:t>'\0')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57785">
              <a:lnSpc>
                <a:spcPct val="100000"/>
              </a:lnSpc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57785">
              <a:lnSpc>
                <a:spcPct val="100000"/>
              </a:lnSpc>
            </a:pP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putchar(president[x][index]);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57785">
              <a:lnSpc>
                <a:spcPct val="100000"/>
              </a:lnSpc>
            </a:pPr>
            <a:r>
              <a:rPr sz="1600" b="1" spc="40" dirty="0">
                <a:latin typeface="Times New Roman" panose="02020603050405020304"/>
                <a:cs typeface="Times New Roman" panose="02020603050405020304"/>
              </a:rPr>
              <a:t>index++;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57785">
              <a:lnSpc>
                <a:spcPct val="100000"/>
              </a:lnSpc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57785">
              <a:lnSpc>
                <a:spcPct val="100000"/>
              </a:lnSpc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putchar('n');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57785">
              <a:lnSpc>
                <a:spcPct val="100000"/>
              </a:lnSpc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57785">
              <a:lnSpc>
                <a:spcPct val="100000"/>
              </a:lnSpc>
            </a:pP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return(0);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8744" y="4652771"/>
            <a:ext cx="4247515" cy="158496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4145">
              <a:lnSpc>
                <a:spcPts val="3760"/>
              </a:lnSpc>
            </a:pPr>
            <a:r>
              <a:rPr sz="3200" b="1" spc="-4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Output: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44145">
              <a:lnSpc>
                <a:spcPct val="100000"/>
              </a:lnSpc>
            </a:pPr>
            <a:r>
              <a:rPr sz="3200" spc="-170" dirty="0">
                <a:latin typeface="Times New Roman" panose="02020603050405020304"/>
                <a:cs typeface="Times New Roman" panose="02020603050405020304"/>
              </a:rPr>
              <a:t>ClintonnBushnObaman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283964" y="836675"/>
            <a:ext cx="4232147" cy="259232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8775" y="2850007"/>
            <a:ext cx="30537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00" dirty="0">
                <a:solidFill>
                  <a:srgbClr val="336600"/>
                </a:solidFill>
              </a:rPr>
              <a:t>THANK</a:t>
            </a:r>
            <a:r>
              <a:rPr sz="4400" spc="-680" dirty="0">
                <a:solidFill>
                  <a:srgbClr val="336600"/>
                </a:solidFill>
              </a:rPr>
              <a:t> </a:t>
            </a:r>
            <a:r>
              <a:rPr sz="4400" spc="-735" dirty="0">
                <a:solidFill>
                  <a:srgbClr val="336600"/>
                </a:solidFill>
              </a:rPr>
              <a:t>Y</a:t>
            </a:r>
            <a:r>
              <a:rPr sz="4400" spc="-140" dirty="0">
                <a:solidFill>
                  <a:srgbClr val="336600"/>
                </a:solidFill>
              </a:rPr>
              <a:t>OU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52190</Words>
  <Application>WPS Presentation</Application>
  <PresentationFormat>On-screen Show (4:3)</PresentationFormat>
  <Paragraphs>2660</Paragraphs>
  <Slides>206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206</vt:i4>
      </vt:variant>
    </vt:vector>
  </HeadingPairs>
  <TitlesOfParts>
    <vt:vector size="223" baseType="lpstr">
      <vt:lpstr>Arial</vt:lpstr>
      <vt:lpstr>SimSun</vt:lpstr>
      <vt:lpstr>Wingdings</vt:lpstr>
      <vt:lpstr>Times New Roman</vt:lpstr>
      <vt:lpstr>Cambria</vt:lpstr>
      <vt:lpstr>Microsoft YaHei</vt:lpstr>
      <vt:lpstr>Arial Unicode MS</vt:lpstr>
      <vt:lpstr>Calibri</vt:lpstr>
      <vt:lpstr>Wingdings</vt:lpstr>
      <vt:lpstr>Trebuchet MS</vt:lpstr>
      <vt:lpstr>Calibri</vt:lpstr>
      <vt:lpstr>Symbol</vt:lpstr>
      <vt:lpstr>Microsoft Sans Serif</vt:lpstr>
      <vt:lpstr>Arial Black</vt:lpstr>
      <vt:lpstr>Bahnschrift</vt:lpstr>
      <vt:lpstr>Arial</vt:lpstr>
      <vt:lpstr>Office Theme</vt:lpstr>
      <vt:lpstr>SRM</vt:lpstr>
      <vt:lpstr>SRM</vt:lpstr>
      <vt:lpstr>SRM</vt:lpstr>
      <vt:lpstr>SRM</vt:lpstr>
      <vt:lpstr>SRM</vt:lpstr>
      <vt:lpstr>SRM</vt:lpstr>
      <vt:lpstr>PowerPoint 演示文稿</vt:lpstr>
      <vt:lpstr>PowerPoint 演示文稿</vt:lpstr>
      <vt:lpstr>SRM</vt:lpstr>
      <vt:lpstr>SRM</vt:lpstr>
      <vt:lpstr>SRM</vt:lpstr>
      <vt:lpstr>PowerPoint 演示文稿</vt:lpstr>
      <vt:lpstr>PowerPoint 演示文稿</vt:lpstr>
      <vt:lpstr>SRM</vt:lpstr>
      <vt:lpstr>SRM</vt:lpstr>
      <vt:lpstr>PowerPoint 演示文稿</vt:lpstr>
      <vt:lpstr>PowerPoint 演示文稿</vt:lpstr>
      <vt:lpstr>PowerPoint 演示文稿</vt:lpstr>
      <vt:lpstr>PowerPoint 演示文稿</vt:lpstr>
      <vt:lpstr>SRM</vt:lpstr>
      <vt:lpstr>SRM</vt:lpstr>
      <vt:lpstr>SRM</vt:lpstr>
      <vt:lpstr>SRM</vt:lpstr>
      <vt:lpstr>PowerPoint 演示文稿</vt:lpstr>
      <vt:lpstr>PowerPoint 演示文稿</vt:lpstr>
      <vt:lpstr>PowerPoint 演示文稿</vt:lpstr>
      <vt:lpstr>PowerPoint 演示文稿</vt:lpstr>
      <vt:lpstr>/* Expresssions using Increment / Decrement Operators*/</vt:lpstr>
      <vt:lpstr>PowerPoint 演示文稿</vt:lpstr>
      <vt:lpstr>SRM</vt:lpstr>
      <vt:lpstr>PowerPoint 演示文稿</vt:lpstr>
      <vt:lpstr>PowerPoint 演示文稿</vt:lpstr>
      <vt:lpstr>PowerPoint 演示文稿</vt:lpstr>
      <vt:lpstr>SRM</vt:lpstr>
      <vt:lpstr>PowerPoint 演示文稿</vt:lpstr>
      <vt:lpstr>SRM</vt:lpstr>
      <vt:lpstr>SRM</vt:lpstr>
      <vt:lpstr>SRM</vt:lpstr>
      <vt:lpstr>SRM</vt:lpstr>
      <vt:lpstr>SRM</vt:lpstr>
      <vt:lpstr>SRM</vt:lpstr>
      <vt:lpstr>SRM</vt:lpstr>
      <vt:lpstr>SRM</vt:lpstr>
      <vt:lpstr>SRM</vt:lpstr>
      <vt:lpstr>SRM</vt:lpstr>
      <vt:lpstr>PowerPoint 演示文稿</vt:lpstr>
      <vt:lpstr>PowerPoint 演示文稿</vt:lpstr>
      <vt:lpstr>SRM</vt:lpstr>
      <vt:lpstr>SRM</vt:lpstr>
      <vt:lpstr>PowerPoint 演示文稿</vt:lpstr>
      <vt:lpstr>PowerPoint 演示文稿</vt:lpstr>
      <vt:lpstr>PowerPoint 演示文稿</vt:lpstr>
      <vt:lpstr>SRM</vt:lpstr>
      <vt:lpstr>SRM</vt:lpstr>
      <vt:lpstr>PowerPoint 演示文稿</vt:lpstr>
      <vt:lpstr>/*Program for Nested if else */</vt:lpstr>
      <vt:lpstr>PowerPoint 演示文稿</vt:lpstr>
      <vt:lpstr>PowerPoint 演示文稿</vt:lpstr>
      <vt:lpstr>SRM</vt:lpstr>
      <vt:lpstr>SRM</vt:lpstr>
      <vt:lpstr>SRM</vt:lpstr>
      <vt:lpstr>SRM</vt:lpstr>
      <vt:lpstr>SRM</vt:lpstr>
      <vt:lpstr>PowerPoint 演示文稿</vt:lpstr>
      <vt:lpstr>PowerPoint 演示文稿</vt:lpstr>
      <vt:lpstr>PowerPoint 演示文稿</vt:lpstr>
      <vt:lpstr>SRM</vt:lpstr>
      <vt:lpstr>PowerPoint 演示文稿</vt:lpstr>
      <vt:lpstr>PowerPoint 演示文稿</vt:lpstr>
      <vt:lpstr>PowerPoint 演示文稿</vt:lpstr>
      <vt:lpstr>PowerPoint 演示文稿</vt:lpstr>
      <vt:lpstr>SRM</vt:lpstr>
      <vt:lpstr>SRM</vt:lpstr>
      <vt:lpstr>SRM</vt:lpstr>
      <vt:lpstr>SRM</vt:lpstr>
      <vt:lpstr>PowerPoint 演示文稿</vt:lpstr>
      <vt:lpstr>PowerPoint 演示文稿</vt:lpstr>
      <vt:lpstr>PowerPoint 演示文稿</vt:lpstr>
      <vt:lpstr>SRM</vt:lpstr>
      <vt:lpstr>SRM</vt:lpstr>
      <vt:lpstr>SRM</vt:lpstr>
      <vt:lpstr>SRM</vt:lpstr>
      <vt:lpstr>SRM</vt:lpstr>
      <vt:lpstr>SRM</vt:lpstr>
      <vt:lpstr>SRM</vt:lpstr>
      <vt:lpstr>SRM</vt:lpstr>
      <vt:lpstr>PowerPoint 演示文稿</vt:lpstr>
      <vt:lpstr>PowerPoint 演示文稿</vt:lpstr>
      <vt:lpstr>SRM</vt:lpstr>
      <vt:lpstr>SRM</vt:lpstr>
      <vt:lpstr>SRM</vt:lpstr>
      <vt:lpstr>SRM</vt:lpstr>
      <vt:lpstr>SRM</vt:lpstr>
      <vt:lpstr>SRM</vt:lpstr>
      <vt:lpstr>SRM</vt:lpstr>
      <vt:lpstr>SRM</vt:lpstr>
      <vt:lpstr>SRM</vt:lpstr>
      <vt:lpstr>SRM</vt:lpstr>
      <vt:lpstr>SRM</vt:lpstr>
      <vt:lpstr>SRM</vt:lpstr>
      <vt:lpstr>SRM</vt:lpstr>
      <vt:lpstr>SRM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SRM</vt:lpstr>
      <vt:lpstr>SRM</vt:lpstr>
      <vt:lpstr>/* Program 1 : One Dimensional Array*/</vt:lpstr>
      <vt:lpstr>a [10]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Consider the below program –</vt:lpstr>
      <vt:lpstr>PowerPoint 演示文稿</vt:lpstr>
      <vt:lpstr>Method 2 : COMBINE ASSIGNMENT</vt:lpstr>
      <vt:lpstr>1 4</vt:lpstr>
      <vt:lpstr>PowerPoint 演示文稿</vt:lpstr>
      <vt:lpstr>Consider the below program 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3.3 ARRAY PROGRAMS – 2D</vt:lpstr>
      <vt:lpstr>PowerPoint 演示文稿</vt:lpstr>
      <vt:lpstr>PowerPoint 演示文稿</vt:lpstr>
      <vt:lpstr>PowerPoint 演示文稿</vt:lpstr>
      <vt:lpstr>PowerPoint 演示文稿</vt:lpstr>
      <vt:lpstr>elements	of	2nd</vt:lpstr>
      <vt:lpstr>for(j=0; j&lt;2; ++j)</vt:lpstr>
      <vt:lpstr>PowerPoint 演示文稿</vt:lpstr>
      <vt:lpstr>output</vt:lpstr>
      <vt:lpstr>{</vt:lpstr>
      <vt:lpstr>printf("Product	of	the  matrices:\n");</vt:lpstr>
      <vt:lpstr>PowerPoint 演示文稿</vt:lpstr>
      <vt:lpstr>How to allocate contiguous memory:</vt:lpstr>
      <vt:lpstr>PowerPoint 演示文稿</vt:lpstr>
      <vt:lpstr>3.5 ADVANTAGE AND LIMITATIONS OF ARRAY</vt:lpstr>
      <vt:lpstr>3.5.2 Limitations of Array: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#include&lt;stdio.h&gt;  void main()</vt:lpstr>
      <vt:lpstr>PowerPoint 演示文稿</vt:lpstr>
      <vt:lpstr>PowerPoint 演示文稿</vt:lpstr>
      <vt:lpstr>POINTERS</vt:lpstr>
      <vt:lpstr>POINTERS</vt:lpstr>
      <vt:lpstr>POINTERS</vt:lpstr>
      <vt:lpstr>POINTERS</vt:lpstr>
      <vt:lpstr>Pointer to Pointer</vt:lpstr>
      <vt:lpstr>Example 1</vt:lpstr>
      <vt:lpstr>Pointer to Constant Objects</vt:lpstr>
      <vt:lpstr>The pointer variable is declared as a const. We  can change address of such pointer so that it will  point to new memory location, but pointer to such  object cannot be modified (*ptr).</vt:lpstr>
      <vt:lpstr>Example</vt:lpstr>
      <vt:lpstr>Constant Pointers</vt:lpstr>
      <vt:lpstr>Null pointer</vt:lpstr>
      <vt:lpstr>Example</vt:lpstr>
      <vt:lpstr>Pointer Arithmetic</vt:lpstr>
      <vt:lpstr>Pointer Arithmetic</vt:lpstr>
      <vt:lpstr>Limitations of Pointer Arithmetic</vt:lpstr>
      <vt:lpstr>Void pointer</vt:lpstr>
      <vt:lpstr>2.A pointer to any type of object can be assigned to a void  pointer.</vt:lpstr>
      <vt:lpstr>3. A void pointer cannot be dereferenced</vt:lpstr>
      <vt:lpstr>Relational operations</vt:lpstr>
      <vt:lpstr>Example</vt:lpstr>
      <vt:lpstr>Pointers and Arrays</vt:lpstr>
      <vt:lpstr>Pointers and Arrays Cont…</vt:lpstr>
      <vt:lpstr>Pointers and Arrays Cont…</vt:lpstr>
      <vt:lpstr>Pointers and Arrays Cont…</vt:lpstr>
      <vt:lpstr>Pointers and Arrays Cont…</vt:lpstr>
      <vt:lpstr>Example 1</vt:lpstr>
      <vt:lpstr>Output</vt:lpstr>
      <vt:lpstr>Pointer to Multidimensional Array</vt:lpstr>
      <vt:lpstr>Example 2</vt:lpstr>
      <vt:lpstr>Output</vt:lpstr>
      <vt:lpstr>PowerPoint 演示文稿</vt:lpstr>
      <vt:lpstr>Example 3</vt:lpstr>
      <vt:lpstr>Output</vt:lpstr>
      <vt:lpstr>Double Pointer</vt:lpstr>
      <vt:lpstr>Output</vt:lpstr>
      <vt:lpstr>Passing an array to a function</vt:lpstr>
      <vt:lpstr>Passing an entire one-dimensional array to a function</vt:lpstr>
      <vt:lpstr>Output</vt:lpstr>
      <vt:lpstr>Passing Multi-dimensional Arrays to  Function</vt:lpstr>
      <vt:lpstr>Example 4</vt:lpstr>
      <vt:lpstr>Output</vt:lpstr>
      <vt:lpstr>Pointers and Strings</vt:lpstr>
      <vt:lpstr>Pointers and Strings cont...</vt:lpstr>
      <vt:lpstr>Disadvantage Of Creating Strings Using  The Character Array</vt:lpstr>
      <vt:lpstr>String as Pointers</vt:lpstr>
      <vt:lpstr>Example1</vt:lpstr>
      <vt:lpstr>Passing Strings</vt:lpstr>
      <vt:lpstr>Passing Strings Cont...</vt:lpstr>
      <vt:lpstr>Array of Pointers</vt:lpstr>
      <vt:lpstr>Example1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DFT REPORT</dc:title>
  <dc:creator>prabhu</dc:creator>
  <cp:lastModifiedBy>Admin</cp:lastModifiedBy>
  <cp:revision>7</cp:revision>
  <dcterms:created xsi:type="dcterms:W3CDTF">2021-03-18T04:27:00Z</dcterms:created>
  <dcterms:modified xsi:type="dcterms:W3CDTF">2023-10-16T05:54:23Z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2018-09-01T05:30:00Z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2021-03-18T05:30:00Z</vt:filetime>
  </property>
  <property fmtid="{D5CDD505-2E9C-101B-9397-08002B2CF9AE}" pid="5" name="ICV">
    <vt:lpwstr>464559FD31714075B28366CDF88D6107_13</vt:lpwstr>
  </property>
  <property fmtid="{D5CDD505-2E9C-101B-9397-08002B2CF9AE}" pid="6" name="KSOProductBuildVer">
    <vt:lpwstr>1033-12.2.0.13215</vt:lpwstr>
  </property>
</Properties>
</file>